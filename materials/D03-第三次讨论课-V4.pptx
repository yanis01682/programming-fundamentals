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62" r:id="rId3"/>
  </p:sldMasterIdLst>
  <p:notesMasterIdLst>
    <p:notesMasterId r:id="rId28"/>
  </p:notesMasterIdLst>
  <p:sldIdLst>
    <p:sldId id="256" r:id="rId4"/>
    <p:sldId id="685" r:id="rId5"/>
    <p:sldId id="681" r:id="rId6"/>
    <p:sldId id="294" r:id="rId7"/>
    <p:sldId id="707" r:id="rId8"/>
    <p:sldId id="709" r:id="rId9"/>
    <p:sldId id="291" r:id="rId10"/>
    <p:sldId id="292" r:id="rId11"/>
    <p:sldId id="708" r:id="rId12"/>
    <p:sldId id="297" r:id="rId13"/>
    <p:sldId id="295" r:id="rId14"/>
    <p:sldId id="296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680" r:id="rId25"/>
    <p:sldId id="710" r:id="rId26"/>
    <p:sldId id="305" r:id="rId2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2" pos="51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F6EC"/>
    <a:srgbClr val="EE230C"/>
    <a:srgbClr val="FF9999"/>
    <a:srgbClr val="DFF7D7"/>
    <a:srgbClr val="00A2FF"/>
    <a:srgbClr val="A0E886"/>
    <a:srgbClr val="2728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058" autoAdjust="0"/>
  </p:normalViewPr>
  <p:slideViewPr>
    <p:cSldViewPr snapToGrid="0">
      <p:cViewPr varScale="1">
        <p:scale>
          <a:sx n="71" d="100"/>
          <a:sy n="71" d="100"/>
        </p:scale>
        <p:origin x="990" y="48"/>
      </p:cViewPr>
      <p:guideLst>
        <p:guide pos="5185"/>
        <p:guide orient="horz" pos="3072"/>
      </p:guideLst>
    </p:cSldViewPr>
  </p:slideViewPr>
  <p:notesTextViewPr>
    <p:cViewPr>
      <p:scale>
        <a:sx n="133" d="100"/>
        <a:sy n="133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749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830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624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ar.jpg" descr="b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82" y="1756551"/>
            <a:ext cx="12458418" cy="17385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87945" y="9176053"/>
            <a:ext cx="478081" cy="460247"/>
          </a:xfrm>
          <a:prstGeom prst="rect">
            <a:avLst/>
          </a:prstGeom>
        </p:spPr>
        <p:txBody>
          <a:bodyPr lIns="65022" tIns="65022" rIns="65022" bIns="65022"/>
          <a:lstStyle>
            <a:lvl1pPr marL="487680" indent="-487680" algn="r" defTabSz="1300480">
              <a:lnSpc>
                <a:spcPct val="100000"/>
              </a:lnSpc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xfrm>
            <a:off x="547201" y="354125"/>
            <a:ext cx="8033048" cy="115204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effectLst>
            <a:outerShdw blurRad="190500" dist="8455" dir="5400000" rotWithShape="0">
              <a:srgbClr val="000000"/>
            </a:outerShdw>
          </a:effectLst>
        </p:spPr>
        <p:txBody>
          <a:bodyPr lIns="65022" tIns="65022" rIns="65022" bIns="65022">
            <a:no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CA1311-84B3-44A4-ABAE-FC9E78BF2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721885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ar.jpg" descr="b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82" y="1756551"/>
            <a:ext cx="12458418" cy="1738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87945" y="9176053"/>
            <a:ext cx="478081" cy="460247"/>
          </a:xfrm>
          <a:prstGeom prst="rect">
            <a:avLst/>
          </a:prstGeom>
        </p:spPr>
        <p:txBody>
          <a:bodyPr lIns="65022" tIns="65022" rIns="65022" bIns="65022"/>
          <a:lstStyle>
            <a:lvl1pPr marL="487680" indent="-487680" algn="r" defTabSz="1300480">
              <a:lnSpc>
                <a:spcPct val="100000"/>
              </a:lnSpc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547201" y="354125"/>
            <a:ext cx="8033048" cy="1152045"/>
          </a:xfrm>
          <a:prstGeom prst="rect">
            <a:avLst/>
          </a:prstGeom>
          <a:solidFill>
            <a:schemeClr val="accent5">
              <a:hueOff val="-82419"/>
              <a:satOff val="-9512"/>
              <a:lumOff val="-16342"/>
            </a:schemeClr>
          </a:solidFill>
          <a:effectLst>
            <a:outerShdw blurRad="190500" dist="8455" dir="5400000" rotWithShape="0">
              <a:srgbClr val="000000"/>
            </a:outerShdw>
          </a:effectLst>
        </p:spPr>
        <p:txBody>
          <a:bodyPr lIns="65022" tIns="65022" rIns="65022" bIns="65022">
            <a:no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</p:spTree>
    <p:extLst>
      <p:ext uri="{BB962C8B-B14F-4D97-AF65-F5344CB8AC3E}">
        <p14:creationId xmlns:p14="http://schemas.microsoft.com/office/powerpoint/2010/main" val="415200609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D7AA31-4572-4F41-ACEA-733F28F86E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922170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775488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ar.jpg" descr="b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82" y="1756551"/>
            <a:ext cx="12458418" cy="17385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87945" y="9176053"/>
            <a:ext cx="478081" cy="460247"/>
          </a:xfrm>
          <a:prstGeom prst="rect">
            <a:avLst/>
          </a:prstGeom>
        </p:spPr>
        <p:txBody>
          <a:bodyPr lIns="65022" tIns="65022" rIns="65022" bIns="65022"/>
          <a:lstStyle>
            <a:lvl1pPr marL="487680" indent="-487680" algn="r" defTabSz="1300480">
              <a:lnSpc>
                <a:spcPct val="100000"/>
              </a:lnSpc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xfrm>
            <a:off x="547201" y="354125"/>
            <a:ext cx="8033048" cy="115204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effectLst>
            <a:outerShdw blurRad="190500" dist="8455" dir="5400000" rotWithShape="0">
              <a:srgbClr val="000000"/>
            </a:outerShdw>
          </a:effectLst>
        </p:spPr>
        <p:txBody>
          <a:bodyPr lIns="65022" tIns="65022" rIns="65022" bIns="65022">
            <a:no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</p:spTree>
    <p:extLst>
      <p:ext uri="{BB962C8B-B14F-4D97-AF65-F5344CB8AC3E}">
        <p14:creationId xmlns:p14="http://schemas.microsoft.com/office/powerpoint/2010/main" val="420610461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53DF17-6043-4F8F-8122-759CF2702D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5056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lnSpc>
                <a:spcPct val="90000"/>
              </a:lnSpc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1pPr>
      <a:lvl2pPr marL="0" marR="0" indent="228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2pPr>
      <a:lvl3pPr marL="0" marR="0" indent="457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3pPr>
      <a:lvl4pPr marL="0" marR="0" indent="685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4pPr>
      <a:lvl5pPr marL="0" marR="0" indent="914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5pPr>
      <a:lvl6pPr marL="0" marR="0" indent="11430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6pPr>
      <a:lvl7pPr marL="0" marR="0" indent="1371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7pPr>
      <a:lvl8pPr marL="0" marR="0" indent="1600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8pPr>
      <a:lvl9pPr marL="0" marR="0" indent="1828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accent6">
                    <a:satOff val="-15807"/>
                    <a:lumOff val="-17556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  <p:extLst>
      <p:ext uri="{BB962C8B-B14F-4D97-AF65-F5344CB8AC3E}">
        <p14:creationId xmlns:p14="http://schemas.microsoft.com/office/powerpoint/2010/main" val="2645966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1pPr>
      <a:lvl2pPr marL="0" marR="0" indent="228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2pPr>
      <a:lvl3pPr marL="0" marR="0" indent="457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3pPr>
      <a:lvl4pPr marL="0" marR="0" indent="685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4pPr>
      <a:lvl5pPr marL="0" marR="0" indent="914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5pPr>
      <a:lvl6pPr marL="0" marR="0" indent="11430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6pPr>
      <a:lvl7pPr marL="0" marR="0" indent="1371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7pPr>
      <a:lvl8pPr marL="0" marR="0" indent="1600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8pPr>
      <a:lvl9pPr marL="0" marR="0" indent="1828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lnSpc>
                <a:spcPct val="90000"/>
              </a:lnSpc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  <p:extLst>
      <p:ext uri="{BB962C8B-B14F-4D97-AF65-F5344CB8AC3E}">
        <p14:creationId xmlns:p14="http://schemas.microsoft.com/office/powerpoint/2010/main" val="341879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1pPr>
      <a:lvl2pPr marL="0" marR="0" indent="228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2pPr>
      <a:lvl3pPr marL="0" marR="0" indent="457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3pPr>
      <a:lvl4pPr marL="0" marR="0" indent="685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4pPr>
      <a:lvl5pPr marL="0" marR="0" indent="914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5pPr>
      <a:lvl6pPr marL="0" marR="0" indent="11430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6pPr>
      <a:lvl7pPr marL="0" marR="0" indent="1371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7pPr>
      <a:lvl8pPr marL="0" marR="0" indent="1600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8pPr>
      <a:lvl9pPr marL="0" marR="0" indent="1828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tif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tif"/><Relationship Id="rId11" Type="http://schemas.openxmlformats.org/officeDocument/2006/relationships/image" Target="../media/image22.tif"/><Relationship Id="rId5" Type="http://schemas.openxmlformats.org/officeDocument/2006/relationships/image" Target="../media/image16.png"/><Relationship Id="rId15" Type="http://schemas.openxmlformats.org/officeDocument/2006/relationships/image" Target="../media/image26.tif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tif"/><Relationship Id="rId14" Type="http://schemas.openxmlformats.org/officeDocument/2006/relationships/image" Target="../media/image25.ti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程序设计基础"/>
          <p:cNvSpPr txBox="1">
            <a:spLocks noGrp="1"/>
          </p:cNvSpPr>
          <p:nvPr>
            <p:ph type="title" idx="4294967295"/>
          </p:nvPr>
        </p:nvSpPr>
        <p:spPr>
          <a:xfrm>
            <a:off x="1514968" y="4005396"/>
            <a:ext cx="9974864" cy="1742808"/>
          </a:xfrm>
          <a:prstGeom prst="rect">
            <a:avLst/>
          </a:prstGeom>
          <a:solidFill>
            <a:srgbClr val="00A37A"/>
          </a:solidFill>
          <a:effectLst>
            <a:outerShdw blurRad="266700" dir="5400000" rotWithShape="0">
              <a:srgbClr val="000000"/>
            </a:outerShdw>
          </a:effectLst>
        </p:spPr>
        <p:txBody>
          <a:bodyPr lIns="65022" tIns="65022" rIns="65022" bIns="65022"/>
          <a:lstStyle>
            <a:lvl1pPr marL="487680" indent="-487680" defTabSz="1300480">
              <a:defRPr sz="89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程序设计基础</a:t>
            </a:r>
          </a:p>
        </p:txBody>
      </p:sp>
      <p:sp>
        <p:nvSpPr>
          <p:cNvPr id="7" name="清华大学计算机科学与技术系…">
            <a:extLst>
              <a:ext uri="{FF2B5EF4-FFF2-40B4-BE49-F238E27FC236}">
                <a16:creationId xmlns:a16="http://schemas.microsoft.com/office/drawing/2014/main" id="{C33CAFDC-FE7F-4087-A92D-450090B9B4B2}"/>
              </a:ext>
            </a:extLst>
          </p:cNvPr>
          <p:cNvSpPr txBox="1">
            <a:spLocks/>
          </p:cNvSpPr>
          <p:nvPr/>
        </p:nvSpPr>
        <p:spPr>
          <a:xfrm>
            <a:off x="1762727" y="7171153"/>
            <a:ext cx="9479346" cy="1635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t">
            <a:normAutofit fontScale="77500" lnSpcReduction="20000"/>
          </a:bodyPr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algn="ctr" defTabSz="531495" hangingPunct="1">
              <a:lnSpc>
                <a:spcPct val="140000"/>
              </a:lnSpc>
              <a:spcBef>
                <a:spcPts val="0"/>
              </a:spcBef>
              <a:buSzTx/>
              <a:buFontTx/>
              <a:buNone/>
              <a:defRPr sz="3365"/>
            </a:pPr>
            <a:r>
              <a:rPr lang="zh-CN" altLang="en-US" sz="3365">
                <a:latin typeface="华文中宋" panose="02010600040101010101" pitchFamily="2" charset="-122"/>
                <a:ea typeface="华文中宋" panose="02010600040101010101" pitchFamily="2" charset="-122"/>
              </a:rPr>
              <a:t>徐</a:t>
            </a:r>
            <a:r>
              <a:rPr lang="zh-CN" altLang="en-US" sz="3365">
                <a:latin typeface="华文中宋" panose="02010600040101010101" pitchFamily="2" charset="-122"/>
                <a:ea typeface="华文中宋" panose="02010600040101010101" pitchFamily="2" charset="-122"/>
                <a:sym typeface="標楷體"/>
              </a:rPr>
              <a:t> </a:t>
            </a:r>
            <a:r>
              <a:rPr lang="zh-CN" altLang="en-US" sz="3365">
                <a:latin typeface="华文中宋" panose="02010600040101010101" pitchFamily="2" charset="-122"/>
                <a:ea typeface="华文中宋" panose="02010600040101010101" pitchFamily="2" charset="-122"/>
              </a:rPr>
              <a:t>明</a:t>
            </a:r>
            <a:r>
              <a:rPr lang="zh-CN" altLang="en-US" sz="3365">
                <a:latin typeface="华文中宋" panose="02010600040101010101" pitchFamily="2" charset="-122"/>
                <a:ea typeface="华文中宋" panose="02010600040101010101" pitchFamily="2" charset="-122"/>
                <a:sym typeface="標楷體"/>
              </a:rPr>
              <a:t> </a:t>
            </a:r>
            <a:r>
              <a:rPr lang="zh-CN" altLang="en-US" sz="3365">
                <a:latin typeface="华文中宋" panose="02010600040101010101" pitchFamily="2" charset="-122"/>
                <a:ea typeface="华文中宋" panose="02010600040101010101" pitchFamily="2" charset="-122"/>
              </a:rPr>
              <a:t>星</a:t>
            </a:r>
            <a:endParaRPr lang="zh-CN" altLang="en-US" sz="3365">
              <a:latin typeface="华文中宋" panose="02010600040101010101" pitchFamily="2" charset="-122"/>
              <a:ea typeface="华文中宋" panose="02010600040101010101" pitchFamily="2" charset="-122"/>
              <a:sym typeface="標楷體"/>
            </a:endParaRPr>
          </a:p>
          <a:p>
            <a:pPr marL="0" indent="0" algn="ctr" defTabSz="531495" hangingPunct="1">
              <a:lnSpc>
                <a:spcPct val="140000"/>
              </a:lnSpc>
              <a:spcBef>
                <a:spcPts val="0"/>
              </a:spcBef>
              <a:buSzTx/>
              <a:buFontTx/>
              <a:buNone/>
              <a:defRPr sz="3365"/>
            </a:pPr>
            <a:r>
              <a:rPr lang="en-US" sz="3365">
                <a:latin typeface="华文中宋" panose="02010600040101010101" pitchFamily="2" charset="-122"/>
                <a:ea typeface="华文中宋" panose="02010600040101010101" pitchFamily="2" charset="-122"/>
              </a:rPr>
              <a:t>xumx@tsinghua.edu.cn</a:t>
            </a:r>
            <a:endParaRPr lang="en-US" altLang="zh-CN" sz="3365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 defTabSz="531495" hangingPunct="1">
              <a:lnSpc>
                <a:spcPct val="140000"/>
              </a:lnSpc>
              <a:spcBef>
                <a:spcPts val="0"/>
              </a:spcBef>
              <a:buSzTx/>
              <a:buFontTx/>
              <a:buNone/>
              <a:defRPr sz="3365"/>
            </a:pPr>
            <a:r>
              <a:rPr lang="en-US" altLang="zh-CN" sz="3365">
                <a:latin typeface="华文中宋" panose="02010600040101010101" pitchFamily="2" charset="-122"/>
                <a:ea typeface="华文中宋" panose="02010600040101010101" pitchFamily="2" charset="-122"/>
              </a:rPr>
              <a:t>2024</a:t>
            </a:r>
            <a:r>
              <a:rPr lang="zh-CN" altLang="en-US" sz="3365">
                <a:latin typeface="华文中宋" panose="02010600040101010101" pitchFamily="2" charset="-122"/>
                <a:ea typeface="华文中宋" panose="02010600040101010101" pitchFamily="2" charset="-122"/>
              </a:rPr>
              <a:t>秋，六教</a:t>
            </a:r>
            <a:r>
              <a:rPr lang="en-US" altLang="zh-CN" sz="3365">
                <a:latin typeface="华文中宋" panose="02010600040101010101" pitchFamily="2" charset="-122"/>
                <a:ea typeface="华文中宋" panose="02010600040101010101" pitchFamily="2" charset="-122"/>
              </a:rPr>
              <a:t>6C300</a:t>
            </a:r>
            <a:endParaRPr lang="zh-CN" altLang="en-US" sz="3365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考核要求">
            <a:extLst>
              <a:ext uri="{FF2B5EF4-FFF2-40B4-BE49-F238E27FC236}">
                <a16:creationId xmlns:a16="http://schemas.microsoft.com/office/drawing/2014/main" id="{4F220A39-816F-454B-B204-65BC7BDDC861}"/>
              </a:ext>
            </a:extLst>
          </p:cNvPr>
          <p:cNvSpPr txBox="1">
            <a:spLocks/>
          </p:cNvSpPr>
          <p:nvPr/>
        </p:nvSpPr>
        <p:spPr>
          <a:xfrm>
            <a:off x="1016000" y="3632440"/>
            <a:ext cx="10972800" cy="2089150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ffectLst>
            <a:outerShdw blurRad="266700" dir="5400000" rotWithShape="0">
              <a:srgbClr val="000000"/>
            </a:outerShdw>
          </a:effectLst>
        </p:spPr>
        <p:txBody>
          <a:bodyPr lIns="65022" tIns="65022" rIns="65022" bIns="65022" anchor="ctr">
            <a:normAutofit/>
          </a:bodyPr>
          <a:lstStyle>
            <a:lvl1pPr marL="0" marR="0" indent="0" algn="ctr" defTabSz="537463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520" b="0" i="0" u="none" strike="noStrike" cap="none" spc="0" baseline="0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  <a:effectLst>
                  <a:outerShdw blurRad="11684" dist="58420" dir="18900000" rotWithShape="0">
                    <a:srgbClr val="000000"/>
                  </a:outerShdw>
                </a:effectLst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zh-CN" altLang="en-US"/>
              <a:t>专题讨论 </a:t>
            </a:r>
            <a:r>
              <a:rPr lang="en-US" altLang="zh-CN"/>
              <a:t>(3)</a:t>
            </a:r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4F073A7-9035-4614-9383-22BDAB7843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3" b="7526"/>
          <a:stretch/>
        </p:blipFill>
        <p:spPr>
          <a:xfrm>
            <a:off x="85725" y="114300"/>
            <a:ext cx="2809804" cy="176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9759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07" y="2319645"/>
            <a:ext cx="6247617" cy="2976559"/>
          </a:xfrm>
          <a:prstGeom prst="rect">
            <a:avLst/>
          </a:prstGeom>
          <a:ln w="12700">
            <a:miter lim="400000"/>
          </a:ln>
        </p:spPr>
      </p:pic>
      <p:pic>
        <p:nvPicPr>
          <p:cNvPr id="89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89" y="5989956"/>
            <a:ext cx="6247617" cy="36599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00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724" y="6210605"/>
            <a:ext cx="6531252" cy="3549827"/>
          </a:xfrm>
          <a:prstGeom prst="rect">
            <a:avLst/>
          </a:prstGeom>
          <a:ln w="12700">
            <a:miter lim="400000"/>
          </a:ln>
        </p:spPr>
      </p:pic>
      <p:sp>
        <p:nvSpPr>
          <p:cNvPr id="90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pic>
        <p:nvPicPr>
          <p:cNvPr id="903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661" y="2268265"/>
            <a:ext cx="6247617" cy="3059840"/>
          </a:xfrm>
          <a:prstGeom prst="rect">
            <a:avLst/>
          </a:prstGeom>
          <a:ln w="12700">
            <a:miter lim="400000"/>
          </a:ln>
        </p:spPr>
      </p:pic>
      <p:sp>
        <p:nvSpPr>
          <p:cNvPr id="904" name="如何使用统一的算法框架，求解下楼跳马分书八皇后？"/>
          <p:cNvSpPr txBox="1"/>
          <p:nvPr/>
        </p:nvSpPr>
        <p:spPr>
          <a:xfrm>
            <a:off x="1672108" y="5360881"/>
            <a:ext cx="9660584" cy="533479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defRPr sz="2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 algn="r"/>
            <a:r>
              <a:t>如何使用统一的算法框架，求解</a:t>
            </a:r>
            <a:r>
              <a:rPr lang="en-US"/>
              <a:t> </a:t>
            </a:r>
            <a:r>
              <a:rPr b="1">
                <a:solidFill>
                  <a:srgbClr val="FFFF00"/>
                </a:solidFill>
              </a:rPr>
              <a:t>下楼</a:t>
            </a:r>
            <a:r>
              <a:rPr lang="en-US" b="1">
                <a:solidFill>
                  <a:srgbClr val="FFFF00"/>
                </a:solidFill>
              </a:rPr>
              <a:t> </a:t>
            </a:r>
            <a:r>
              <a:rPr lang="en-US" altLang="zh-CN" b="1">
                <a:solidFill>
                  <a:srgbClr val="FFFF00"/>
                </a:solidFill>
              </a:rPr>
              <a:t>/ </a:t>
            </a:r>
            <a:r>
              <a:rPr b="1">
                <a:solidFill>
                  <a:srgbClr val="FFFF00"/>
                </a:solidFill>
              </a:rPr>
              <a:t>跳马</a:t>
            </a:r>
            <a:r>
              <a:rPr lang="en-US" altLang="zh-CN" b="1">
                <a:solidFill>
                  <a:srgbClr val="FFFF00"/>
                </a:solidFill>
              </a:rPr>
              <a:t> / </a:t>
            </a:r>
            <a:r>
              <a:rPr b="1">
                <a:solidFill>
                  <a:srgbClr val="FFFF00"/>
                </a:solidFill>
              </a:rPr>
              <a:t>分书</a:t>
            </a:r>
            <a:r>
              <a:rPr lang="en-US" altLang="zh-CN" b="1">
                <a:solidFill>
                  <a:srgbClr val="FFFF00"/>
                </a:solidFill>
              </a:rPr>
              <a:t> / </a:t>
            </a:r>
            <a:r>
              <a:rPr b="1">
                <a:solidFill>
                  <a:srgbClr val="FFFF00"/>
                </a:solidFill>
              </a:rPr>
              <a:t>八皇后</a:t>
            </a:r>
            <a:r>
              <a:t>？</a:t>
            </a:r>
          </a:p>
        </p:txBody>
      </p:sp>
      <p:sp>
        <p:nvSpPr>
          <p:cNvPr id="9" name="对比分书与八皇后解题思路（与或图）">
            <a:extLst>
              <a:ext uri="{FF2B5EF4-FFF2-40B4-BE49-F238E27FC236}">
                <a16:creationId xmlns:a16="http://schemas.microsoft.com/office/drawing/2014/main" id="{49F851B2-D8B8-4946-9411-81EFD1C1E876}"/>
              </a:ext>
            </a:extLst>
          </p:cNvPr>
          <p:cNvSpPr txBox="1">
            <a:spLocks/>
          </p:cNvSpPr>
          <p:nvPr/>
        </p:nvSpPr>
        <p:spPr>
          <a:xfrm>
            <a:off x="3189238" y="354223"/>
            <a:ext cx="8233946" cy="115204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zh-CN" altLang="en-US"/>
              <a:t>下楼、跳马、分书、八皇后的</a:t>
            </a:r>
            <a:r>
              <a:rPr lang="zh-CN" altLang="en-US" b="1">
                <a:solidFill>
                  <a:srgbClr val="FF0000"/>
                </a:solidFill>
              </a:rPr>
              <a:t>算法框架</a:t>
            </a:r>
          </a:p>
        </p:txBody>
      </p:sp>
      <p:sp>
        <p:nvSpPr>
          <p:cNvPr id="10" name="思考题">
            <a:extLst>
              <a:ext uri="{FF2B5EF4-FFF2-40B4-BE49-F238E27FC236}">
                <a16:creationId xmlns:a16="http://schemas.microsoft.com/office/drawing/2014/main" id="{198AB612-C08A-4A85-9022-44E2CCCD27FB}"/>
              </a:ext>
            </a:extLst>
          </p:cNvPr>
          <p:cNvSpPr txBox="1">
            <a:spLocks/>
          </p:cNvSpPr>
          <p:nvPr/>
        </p:nvSpPr>
        <p:spPr>
          <a:xfrm>
            <a:off x="547201" y="354125"/>
            <a:ext cx="2436119" cy="1152045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zh-CN" altLang="en-US"/>
              <a:t>思考题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pic>
        <p:nvPicPr>
          <p:cNvPr id="400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64" y="5963461"/>
            <a:ext cx="7442201" cy="3644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1" name="线条" descr="线条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56730" y="5780244"/>
            <a:ext cx="8109248" cy="76201"/>
          </a:xfrm>
          <a:prstGeom prst="rect">
            <a:avLst/>
          </a:prstGeom>
        </p:spPr>
      </p:pic>
      <p:sp>
        <p:nvSpPr>
          <p:cNvPr id="403" name="这两题的与或图基本相同！这说明：它们在算法上是同一类问题，可以使用基本相同的程序来求解。"/>
          <p:cNvSpPr txBox="1"/>
          <p:nvPr/>
        </p:nvSpPr>
        <p:spPr>
          <a:xfrm>
            <a:off x="9007079" y="4186647"/>
            <a:ext cx="3551817" cy="3263394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lang="zh-CN" altLang="en-US"/>
              <a:t>这两题的</a:t>
            </a:r>
            <a:r>
              <a:t>与或图基本相同！</a:t>
            </a:r>
            <a:r>
              <a:rPr lang="zh-CN" altLang="en-US"/>
              <a:t>这说明：它们</a:t>
            </a:r>
            <a:r>
              <a:rPr lang="zh-CN" altLang="en-US">
                <a:solidFill>
                  <a:srgbClr val="00B0F0"/>
                </a:solidFill>
                <a:highlight>
                  <a:srgbClr val="FFFF00"/>
                </a:highlight>
              </a:rPr>
              <a:t>在算法上是同一类问题</a:t>
            </a:r>
            <a:r>
              <a:rPr lang="zh-CN" altLang="en-US"/>
              <a:t>，可以使用基本相同的程序来求解。</a:t>
            </a:r>
            <a:endParaRPr/>
          </a:p>
        </p:txBody>
      </p:sp>
      <p:pic>
        <p:nvPicPr>
          <p:cNvPr id="404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11" y="2124481"/>
            <a:ext cx="7650427" cy="36449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思考题">
            <a:extLst>
              <a:ext uri="{FF2B5EF4-FFF2-40B4-BE49-F238E27FC236}">
                <a16:creationId xmlns:a16="http://schemas.microsoft.com/office/drawing/2014/main" id="{06C216AA-64E6-46EF-96E5-87541A666D04}"/>
              </a:ext>
            </a:extLst>
          </p:cNvPr>
          <p:cNvSpPr txBox="1">
            <a:spLocks/>
          </p:cNvSpPr>
          <p:nvPr/>
        </p:nvSpPr>
        <p:spPr>
          <a:xfrm>
            <a:off x="547200" y="354125"/>
            <a:ext cx="8109248" cy="1152045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l" hangingPunct="1"/>
            <a:r>
              <a:rPr lang="en-US" altLang="zh-CN"/>
              <a:t>【</a:t>
            </a:r>
            <a:r>
              <a:rPr lang="zh-CN" altLang="en-US"/>
              <a:t>任务</a:t>
            </a:r>
            <a:r>
              <a:rPr lang="en-US" altLang="zh-CN"/>
              <a:t>15.1】</a:t>
            </a:r>
            <a:r>
              <a:rPr lang="zh-CN" altLang="en-US"/>
              <a:t>下楼跳马的统一算法框架</a:t>
            </a:r>
          </a:p>
        </p:txBody>
      </p:sp>
      <p:sp>
        <p:nvSpPr>
          <p:cNvPr id="399" name="对比下楼与跳马的解题思路（与或图）"/>
          <p:cNvSpPr>
            <a:spLocks noGrp="1"/>
          </p:cNvSpPr>
          <p:nvPr>
            <p:ph type="title"/>
          </p:nvPr>
        </p:nvSpPr>
        <p:spPr>
          <a:xfrm>
            <a:off x="9007079" y="664655"/>
            <a:ext cx="3551818" cy="530984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sz="2400" b="1">
                <a:solidFill>
                  <a:srgbClr val="00A2FF"/>
                </a:solidFill>
              </a:rPr>
              <a:t>对比下楼与跳马的与或图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10" name="思考题">
            <a:extLst>
              <a:ext uri="{FF2B5EF4-FFF2-40B4-BE49-F238E27FC236}">
                <a16:creationId xmlns:a16="http://schemas.microsoft.com/office/drawing/2014/main" id="{198AB612-C08A-4A85-9022-44E2CCCD27FB}"/>
              </a:ext>
            </a:extLst>
          </p:cNvPr>
          <p:cNvSpPr txBox="1">
            <a:spLocks/>
          </p:cNvSpPr>
          <p:nvPr/>
        </p:nvSpPr>
        <p:spPr>
          <a:xfrm>
            <a:off x="547200" y="354125"/>
            <a:ext cx="5900665" cy="1152045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r" hangingPunct="1"/>
            <a:r>
              <a:rPr lang="zh-CN" altLang="en-US"/>
              <a:t>算法差异（变化）在哪里？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80916E-9660-439F-A391-D0F7951194E2}"/>
              </a:ext>
            </a:extLst>
          </p:cNvPr>
          <p:cNvSpPr/>
          <p:nvPr/>
        </p:nvSpPr>
        <p:spPr>
          <a:xfrm>
            <a:off x="443753" y="7530353"/>
            <a:ext cx="248771" cy="56477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4B798B-0D3A-4C7D-8812-41545889AAF7}"/>
              </a:ext>
            </a:extLst>
          </p:cNvPr>
          <p:cNvSpPr txBox="1"/>
          <p:nvPr/>
        </p:nvSpPr>
        <p:spPr>
          <a:xfrm>
            <a:off x="2941544" y="2148670"/>
            <a:ext cx="2870979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2400">
                <a:solidFill>
                  <a:srgbClr val="00B050"/>
                </a:solidFill>
              </a:defRPr>
            </a:lvl1pPr>
          </a:lstStyle>
          <a:p>
            <a:r>
              <a:rPr lang="zh-CN" altLang="en-US">
                <a:highlight>
                  <a:srgbClr val="FFFF00"/>
                </a:highlight>
              </a:rPr>
              <a:t>函数</a:t>
            </a:r>
            <a:r>
              <a:rPr lang="en-US" altLang="zh-CN">
                <a:highlight>
                  <a:srgbClr val="FFFF00"/>
                </a:highlight>
              </a:rPr>
              <a:t>1</a:t>
            </a:r>
            <a:r>
              <a:rPr lang="zh-CN" altLang="en-US">
                <a:highlight>
                  <a:srgbClr val="FFFF00"/>
                </a:highlight>
              </a:rPr>
              <a:t>：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IsDone(…)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latin typeface="Lucida Console" panose="020B060904050402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3443A9-9EFD-4231-A0C5-EA35E2CFEBDD}"/>
              </a:ext>
            </a:extLst>
          </p:cNvPr>
          <p:cNvSpPr txBox="1"/>
          <p:nvPr/>
        </p:nvSpPr>
        <p:spPr>
          <a:xfrm>
            <a:off x="6917846" y="477841"/>
            <a:ext cx="3786013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>
                <a:solidFill>
                  <a:srgbClr val="00B050"/>
                </a:solidFill>
              </a:rPr>
              <a:t>通过函数，把变化“封装”起来。不同任务使用不同的函数定义。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4C4694-243E-4D65-9443-131B52954740}"/>
              </a:ext>
            </a:extLst>
          </p:cNvPr>
          <p:cNvSpPr txBox="1"/>
          <p:nvPr/>
        </p:nvSpPr>
        <p:spPr>
          <a:xfrm>
            <a:off x="316006" y="8801591"/>
            <a:ext cx="164147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下楼问题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BDB991-ECC2-492C-8644-A20BF29AE1E4}"/>
              </a:ext>
            </a:extLst>
          </p:cNvPr>
          <p:cNvSpPr txBox="1"/>
          <p:nvPr/>
        </p:nvSpPr>
        <p:spPr>
          <a:xfrm>
            <a:off x="11066930" y="2064615"/>
            <a:ext cx="164147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跳马问题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E2E8675A-8F55-4858-8757-3CC410A03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23" y="3845854"/>
            <a:ext cx="4262718" cy="434302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9E90A7E9-FEA3-4E8C-861F-E06737D2B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362" y="3910194"/>
            <a:ext cx="4660845" cy="5095944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83FD1549-8C7C-4F5F-8F25-B05D3409CDF6}"/>
              </a:ext>
            </a:extLst>
          </p:cNvPr>
          <p:cNvSpPr/>
          <p:nvPr/>
        </p:nvSpPr>
        <p:spPr>
          <a:xfrm>
            <a:off x="1584054" y="4829099"/>
            <a:ext cx="1871840" cy="1215303"/>
          </a:xfrm>
          <a:prstGeom prst="roundRect">
            <a:avLst>
              <a:gd name="adj" fmla="val 8270"/>
            </a:avLst>
          </a:prstGeom>
          <a:solidFill>
            <a:srgbClr val="A0E886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381A707C-5E2C-4B5C-9E99-509E6C2E8FDA}"/>
              </a:ext>
            </a:extLst>
          </p:cNvPr>
          <p:cNvSpPr/>
          <p:nvPr/>
        </p:nvSpPr>
        <p:spPr>
          <a:xfrm>
            <a:off x="7077177" y="4938232"/>
            <a:ext cx="1878564" cy="1419761"/>
          </a:xfrm>
          <a:prstGeom prst="roundRect">
            <a:avLst>
              <a:gd name="adj" fmla="val 8270"/>
            </a:avLst>
          </a:prstGeom>
          <a:solidFill>
            <a:srgbClr val="A0E886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5" name="弧形 14">
            <a:extLst>
              <a:ext uri="{FF2B5EF4-FFF2-40B4-BE49-F238E27FC236}">
                <a16:creationId xmlns:a16="http://schemas.microsoft.com/office/drawing/2014/main" id="{DB4880D0-B7AF-4C4A-92EE-61FF0E7AE90A}"/>
              </a:ext>
            </a:extLst>
          </p:cNvPr>
          <p:cNvSpPr/>
          <p:nvPr/>
        </p:nvSpPr>
        <p:spPr>
          <a:xfrm rot="18536118">
            <a:off x="1668325" y="3296642"/>
            <a:ext cx="3284720" cy="1568183"/>
          </a:xfrm>
          <a:prstGeom prst="arc">
            <a:avLst>
              <a:gd name="adj1" fmla="val 11964166"/>
              <a:gd name="adj2" fmla="val 20596569"/>
            </a:avLst>
          </a:prstGeom>
          <a:noFill/>
          <a:ln w="25400" cap="flat">
            <a:solidFill>
              <a:srgbClr val="EE230C"/>
            </a:solidFill>
            <a:prstDash val="dash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A702408A-A3DA-4CCE-A09F-46CDC647A4B6}"/>
              </a:ext>
            </a:extLst>
          </p:cNvPr>
          <p:cNvSpPr/>
          <p:nvPr/>
        </p:nvSpPr>
        <p:spPr>
          <a:xfrm rot="13657616">
            <a:off x="4303599" y="2393676"/>
            <a:ext cx="4219074" cy="2459997"/>
          </a:xfrm>
          <a:prstGeom prst="arc">
            <a:avLst>
              <a:gd name="adj1" fmla="val 12173521"/>
              <a:gd name="adj2" fmla="val 20440862"/>
            </a:avLst>
          </a:prstGeom>
          <a:noFill/>
          <a:ln w="25400" cap="flat">
            <a:solidFill>
              <a:srgbClr val="EE230C"/>
            </a:solidFill>
            <a:prstDash val="dash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6D6C6A4-F1A4-45C8-A4D0-3B8ED7D3C7CB}"/>
              </a:ext>
            </a:extLst>
          </p:cNvPr>
          <p:cNvSpPr/>
          <p:nvPr/>
        </p:nvSpPr>
        <p:spPr>
          <a:xfrm>
            <a:off x="1584054" y="6044403"/>
            <a:ext cx="1878563" cy="602702"/>
          </a:xfrm>
          <a:prstGeom prst="roundRect">
            <a:avLst>
              <a:gd name="adj" fmla="val 8270"/>
            </a:avLst>
          </a:prstGeom>
          <a:solidFill>
            <a:schemeClr val="tx2">
              <a:lumMod val="40000"/>
              <a:lumOff val="60000"/>
              <a:alpha val="5019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0C9287E-F7BF-4FB0-90FD-4EF0984A6994}"/>
              </a:ext>
            </a:extLst>
          </p:cNvPr>
          <p:cNvSpPr/>
          <p:nvPr/>
        </p:nvSpPr>
        <p:spPr>
          <a:xfrm>
            <a:off x="7077177" y="6357993"/>
            <a:ext cx="1878563" cy="602702"/>
          </a:xfrm>
          <a:prstGeom prst="roundRect">
            <a:avLst>
              <a:gd name="adj" fmla="val 8270"/>
            </a:avLst>
          </a:prstGeom>
          <a:solidFill>
            <a:schemeClr val="tx2">
              <a:lumMod val="40000"/>
              <a:lumOff val="60000"/>
              <a:alpha val="5019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8" name="弧形 37">
            <a:extLst>
              <a:ext uri="{FF2B5EF4-FFF2-40B4-BE49-F238E27FC236}">
                <a16:creationId xmlns:a16="http://schemas.microsoft.com/office/drawing/2014/main" id="{EC4273EB-84A5-4B25-AF37-AFBE7DAD5031}"/>
              </a:ext>
            </a:extLst>
          </p:cNvPr>
          <p:cNvSpPr/>
          <p:nvPr/>
        </p:nvSpPr>
        <p:spPr>
          <a:xfrm rot="13657616">
            <a:off x="1834263" y="6540999"/>
            <a:ext cx="3313087" cy="1632519"/>
          </a:xfrm>
          <a:prstGeom prst="arc">
            <a:avLst>
              <a:gd name="adj1" fmla="val 12525100"/>
              <a:gd name="adj2" fmla="val 20440862"/>
            </a:avLst>
          </a:prstGeom>
          <a:noFill/>
          <a:ln w="25400" cap="flat">
            <a:solidFill>
              <a:srgbClr val="EE230C"/>
            </a:solidFill>
            <a:prstDash val="dash"/>
            <a:miter lim="400000"/>
            <a:headEnd type="arrow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3" name="弧形 42">
            <a:extLst>
              <a:ext uri="{FF2B5EF4-FFF2-40B4-BE49-F238E27FC236}">
                <a16:creationId xmlns:a16="http://schemas.microsoft.com/office/drawing/2014/main" id="{9ED376C1-5758-44E3-AB98-3B7797AE6865}"/>
              </a:ext>
            </a:extLst>
          </p:cNvPr>
          <p:cNvSpPr/>
          <p:nvPr/>
        </p:nvSpPr>
        <p:spPr>
          <a:xfrm rot="8846243">
            <a:off x="4312250" y="6595287"/>
            <a:ext cx="3284720" cy="1885901"/>
          </a:xfrm>
          <a:prstGeom prst="arc">
            <a:avLst>
              <a:gd name="adj1" fmla="val 11519290"/>
              <a:gd name="adj2" fmla="val 18198265"/>
            </a:avLst>
          </a:prstGeom>
          <a:noFill/>
          <a:ln w="25400" cap="flat">
            <a:solidFill>
              <a:srgbClr val="EE230C"/>
            </a:solidFill>
            <a:prstDash val="dash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2EEB251-90F2-4A81-AE77-FC9F2271E66F}"/>
              </a:ext>
            </a:extLst>
          </p:cNvPr>
          <p:cNvSpPr txBox="1"/>
          <p:nvPr/>
        </p:nvSpPr>
        <p:spPr>
          <a:xfrm>
            <a:off x="3455894" y="8489595"/>
            <a:ext cx="2870979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2400">
                <a:solidFill>
                  <a:srgbClr val="00B050"/>
                </a:solidFill>
              </a:defRPr>
            </a:lvl1pPr>
          </a:lstStyle>
          <a:p>
            <a:r>
              <a:rPr lang="zh-CN" altLang="en-US">
                <a:highlight>
                  <a:srgbClr val="FFFF00"/>
                </a:highlight>
              </a:rPr>
              <a:t>函数</a:t>
            </a:r>
            <a:r>
              <a:rPr lang="en-US" altLang="zh-CN">
                <a:highlight>
                  <a:srgbClr val="FFFF00"/>
                </a:highlight>
              </a:rPr>
              <a:t>2</a:t>
            </a:r>
            <a:r>
              <a:rPr lang="zh-CN" altLang="en-US">
                <a:highlight>
                  <a:srgbClr val="FFFF00"/>
                </a:highlight>
              </a:rPr>
              <a:t>：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Output(…)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53411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图像" descr="图像"/>
          <p:cNvPicPr>
            <a:picLocks noChangeAspect="1"/>
          </p:cNvPicPr>
          <p:nvPr/>
        </p:nvPicPr>
        <p:blipFill rotWithShape="1">
          <a:blip r:embed="rId2"/>
          <a:srcRect l="38656" t="3975"/>
          <a:stretch/>
        </p:blipFill>
        <p:spPr>
          <a:xfrm>
            <a:off x="547201" y="3601309"/>
            <a:ext cx="7807597" cy="6034991"/>
          </a:xfrm>
          <a:prstGeom prst="rect">
            <a:avLst/>
          </a:prstGeom>
          <a:ln w="12700">
            <a:miter lim="400000"/>
          </a:ln>
        </p:spPr>
      </p:pic>
      <p:sp>
        <p:nvSpPr>
          <p:cNvPr id="90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903" name="图像" descr="图像"/>
          <p:cNvPicPr>
            <a:picLocks noChangeAspect="1"/>
          </p:cNvPicPr>
          <p:nvPr/>
        </p:nvPicPr>
        <p:blipFill rotWithShape="1">
          <a:blip r:embed="rId3"/>
          <a:srcRect l="43372"/>
          <a:stretch/>
        </p:blipFill>
        <p:spPr>
          <a:xfrm>
            <a:off x="6166039" y="1986979"/>
            <a:ext cx="6665323" cy="5611406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思考题">
            <a:extLst>
              <a:ext uri="{FF2B5EF4-FFF2-40B4-BE49-F238E27FC236}">
                <a16:creationId xmlns:a16="http://schemas.microsoft.com/office/drawing/2014/main" id="{198AB612-C08A-4A85-9022-44E2CCCD27FB}"/>
              </a:ext>
            </a:extLst>
          </p:cNvPr>
          <p:cNvSpPr txBox="1">
            <a:spLocks/>
          </p:cNvSpPr>
          <p:nvPr/>
        </p:nvSpPr>
        <p:spPr>
          <a:xfrm>
            <a:off x="547200" y="354125"/>
            <a:ext cx="5900665" cy="1152045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r" hangingPunct="1"/>
            <a:r>
              <a:rPr lang="zh-CN" altLang="en-US"/>
              <a:t>算法差异（变化）在哪里？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3FD1549-8C7C-4F5F-8F25-B05D3409CDF6}"/>
              </a:ext>
            </a:extLst>
          </p:cNvPr>
          <p:cNvSpPr/>
          <p:nvPr/>
        </p:nvSpPr>
        <p:spPr>
          <a:xfrm>
            <a:off x="316006" y="4876800"/>
            <a:ext cx="1921596" cy="2216524"/>
          </a:xfrm>
          <a:prstGeom prst="roundRect">
            <a:avLst>
              <a:gd name="adj" fmla="val 8270"/>
            </a:avLst>
          </a:prstGeom>
          <a:solidFill>
            <a:srgbClr val="A0E886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77D378C-D994-4364-962E-778D16B6899E}"/>
              </a:ext>
            </a:extLst>
          </p:cNvPr>
          <p:cNvSpPr/>
          <p:nvPr/>
        </p:nvSpPr>
        <p:spPr>
          <a:xfrm>
            <a:off x="7987553" y="4040841"/>
            <a:ext cx="2595282" cy="887506"/>
          </a:xfrm>
          <a:prstGeom prst="roundRect">
            <a:avLst/>
          </a:prstGeom>
          <a:solidFill>
            <a:srgbClr val="00A2FF">
              <a:alpha val="47843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3E9BD1B-87F6-4F64-B9EB-2C7CAF1AEFC9}"/>
              </a:ext>
            </a:extLst>
          </p:cNvPr>
          <p:cNvSpPr/>
          <p:nvPr/>
        </p:nvSpPr>
        <p:spPr>
          <a:xfrm>
            <a:off x="2679051" y="5985062"/>
            <a:ext cx="2595282" cy="887506"/>
          </a:xfrm>
          <a:prstGeom prst="roundRect">
            <a:avLst/>
          </a:prstGeom>
          <a:solidFill>
            <a:srgbClr val="00A2FF">
              <a:alpha val="47843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C3EFC1-020C-497E-A6E1-E00772401065}"/>
              </a:ext>
            </a:extLst>
          </p:cNvPr>
          <p:cNvSpPr/>
          <p:nvPr/>
        </p:nvSpPr>
        <p:spPr>
          <a:xfrm>
            <a:off x="6078071" y="6320118"/>
            <a:ext cx="424329" cy="126825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80916E-9660-439F-A391-D0F7951194E2}"/>
              </a:ext>
            </a:extLst>
          </p:cNvPr>
          <p:cNvSpPr/>
          <p:nvPr/>
        </p:nvSpPr>
        <p:spPr>
          <a:xfrm>
            <a:off x="443753" y="7530353"/>
            <a:ext cx="248771" cy="56477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A702408A-A3DA-4CCE-A09F-46CDC647A4B6}"/>
              </a:ext>
            </a:extLst>
          </p:cNvPr>
          <p:cNvSpPr/>
          <p:nvPr/>
        </p:nvSpPr>
        <p:spPr>
          <a:xfrm rot="12379937">
            <a:off x="3191270" y="2269259"/>
            <a:ext cx="3284720" cy="1568183"/>
          </a:xfrm>
          <a:prstGeom prst="arc">
            <a:avLst>
              <a:gd name="adj1" fmla="val 12054713"/>
              <a:gd name="adj2" fmla="val 20440862"/>
            </a:avLst>
          </a:prstGeom>
          <a:noFill/>
          <a:ln w="25400" cap="flat">
            <a:solidFill>
              <a:srgbClr val="EE230C"/>
            </a:solidFill>
            <a:prstDash val="dash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5" name="弧形 14">
            <a:extLst>
              <a:ext uri="{FF2B5EF4-FFF2-40B4-BE49-F238E27FC236}">
                <a16:creationId xmlns:a16="http://schemas.microsoft.com/office/drawing/2014/main" id="{DB4880D0-B7AF-4C4A-92EE-61FF0E7AE90A}"/>
              </a:ext>
            </a:extLst>
          </p:cNvPr>
          <p:cNvSpPr/>
          <p:nvPr/>
        </p:nvSpPr>
        <p:spPr>
          <a:xfrm rot="18536118">
            <a:off x="829212" y="3312092"/>
            <a:ext cx="3284720" cy="1568183"/>
          </a:xfrm>
          <a:prstGeom prst="arc">
            <a:avLst>
              <a:gd name="adj1" fmla="val 12054713"/>
              <a:gd name="adj2" fmla="val 20151661"/>
            </a:avLst>
          </a:prstGeom>
          <a:noFill/>
          <a:ln w="25400" cap="flat">
            <a:solidFill>
              <a:srgbClr val="EE230C"/>
            </a:solidFill>
            <a:prstDash val="dash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4B798B-0D3A-4C7D-8812-41545889AAF7}"/>
              </a:ext>
            </a:extLst>
          </p:cNvPr>
          <p:cNvSpPr txBox="1"/>
          <p:nvPr/>
        </p:nvSpPr>
        <p:spPr>
          <a:xfrm>
            <a:off x="1415843" y="2226893"/>
            <a:ext cx="3300584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2400">
                <a:solidFill>
                  <a:srgbClr val="00B050"/>
                </a:solidFill>
              </a:defRPr>
            </a:lvl1pPr>
          </a:lstStyle>
          <a:p>
            <a:r>
              <a:rPr lang="zh-CN" altLang="en-US">
                <a:highlight>
                  <a:srgbClr val="FFFF00"/>
                </a:highlight>
              </a:rPr>
              <a:t>函数</a:t>
            </a:r>
            <a:r>
              <a:rPr lang="en-US" altLang="zh-CN">
                <a:highlight>
                  <a:srgbClr val="FFFF00"/>
                </a:highlight>
              </a:rPr>
              <a:t>3: 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GetNewPos(…)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latin typeface="Lucida Console" panose="020B0609040504020204" pitchFamily="49" charset="0"/>
            </a:endParaRPr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60126B5D-2E88-4E85-BC82-1B5D3EFEB12E}"/>
              </a:ext>
            </a:extLst>
          </p:cNvPr>
          <p:cNvSpPr/>
          <p:nvPr/>
        </p:nvSpPr>
        <p:spPr>
          <a:xfrm rot="1966159">
            <a:off x="4523679" y="6796324"/>
            <a:ext cx="3284720" cy="1568183"/>
          </a:xfrm>
          <a:prstGeom prst="arc">
            <a:avLst>
              <a:gd name="adj1" fmla="val 12054713"/>
              <a:gd name="adj2" fmla="val 19956384"/>
            </a:avLst>
          </a:prstGeom>
          <a:noFill/>
          <a:ln w="25400" cap="flat">
            <a:solidFill>
              <a:srgbClr val="7030A0"/>
            </a:solidFill>
            <a:prstDash val="dash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</a:endParaRPr>
          </a:p>
        </p:txBody>
      </p:sp>
      <p:sp>
        <p:nvSpPr>
          <p:cNvPr id="18" name="弧形 17">
            <a:extLst>
              <a:ext uri="{FF2B5EF4-FFF2-40B4-BE49-F238E27FC236}">
                <a16:creationId xmlns:a16="http://schemas.microsoft.com/office/drawing/2014/main" id="{AECEA203-012F-4D0A-B456-145683440E35}"/>
              </a:ext>
            </a:extLst>
          </p:cNvPr>
          <p:cNvSpPr/>
          <p:nvPr/>
        </p:nvSpPr>
        <p:spPr>
          <a:xfrm rot="6040324">
            <a:off x="5880498" y="5419657"/>
            <a:ext cx="3284720" cy="1568183"/>
          </a:xfrm>
          <a:prstGeom prst="arc">
            <a:avLst>
              <a:gd name="adj1" fmla="val 12054713"/>
              <a:gd name="adj2" fmla="val 20723762"/>
            </a:avLst>
          </a:prstGeom>
          <a:noFill/>
          <a:ln w="25400" cap="flat">
            <a:solidFill>
              <a:srgbClr val="7030A0"/>
            </a:solidFill>
            <a:prstDash val="dash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F7E4A2B-6273-466D-9DDE-622AC0AFF9C2}"/>
              </a:ext>
            </a:extLst>
          </p:cNvPr>
          <p:cNvSpPr txBox="1"/>
          <p:nvPr/>
        </p:nvSpPr>
        <p:spPr>
          <a:xfrm>
            <a:off x="6360191" y="7595273"/>
            <a:ext cx="2936701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2400">
                <a:solidFill>
                  <a:srgbClr val="00B050"/>
                </a:solidFill>
              </a:defRPr>
            </a:lvl1pPr>
          </a:lstStyle>
          <a:p>
            <a:r>
              <a:rPr lang="zh-CN" altLang="en-US">
                <a:highlight>
                  <a:srgbClr val="FFFF00"/>
                </a:highlight>
              </a:rPr>
              <a:t>函数</a:t>
            </a:r>
            <a:r>
              <a:rPr lang="en-US" altLang="zh-CN">
                <a:highlight>
                  <a:srgbClr val="FFFF00"/>
                </a:highlight>
              </a:rPr>
              <a:t>4: 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IsValid(…)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latin typeface="Lucida Console" panose="020B060904050402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3443A9-9EFD-4231-A0C5-EA35E2CFEBDD}"/>
              </a:ext>
            </a:extLst>
          </p:cNvPr>
          <p:cNvSpPr txBox="1"/>
          <p:nvPr/>
        </p:nvSpPr>
        <p:spPr>
          <a:xfrm>
            <a:off x="6917846" y="477841"/>
            <a:ext cx="3786013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>
                <a:solidFill>
                  <a:srgbClr val="00B050"/>
                </a:solidFill>
              </a:rPr>
              <a:t>通过函数，把变化“封装”起来。不同任务使用不同的函数定义。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4C4694-243E-4D65-9443-131B52954740}"/>
              </a:ext>
            </a:extLst>
          </p:cNvPr>
          <p:cNvSpPr txBox="1"/>
          <p:nvPr/>
        </p:nvSpPr>
        <p:spPr>
          <a:xfrm>
            <a:off x="316006" y="8801591"/>
            <a:ext cx="164147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下楼问题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BDB991-ECC2-492C-8644-A20BF29AE1E4}"/>
              </a:ext>
            </a:extLst>
          </p:cNvPr>
          <p:cNvSpPr txBox="1"/>
          <p:nvPr/>
        </p:nvSpPr>
        <p:spPr>
          <a:xfrm>
            <a:off x="11066930" y="2064615"/>
            <a:ext cx="164147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跳马问题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0B3AD86-0111-4E5E-A9F1-7E1A095D3FB7}"/>
              </a:ext>
            </a:extLst>
          </p:cNvPr>
          <p:cNvSpPr/>
          <p:nvPr/>
        </p:nvSpPr>
        <p:spPr>
          <a:xfrm>
            <a:off x="5711651" y="2064615"/>
            <a:ext cx="7141743" cy="5398130"/>
          </a:xfrm>
          <a:prstGeom prst="roundRect">
            <a:avLst>
              <a:gd name="adj" fmla="val 4635"/>
            </a:avLst>
          </a:prstGeom>
          <a:solidFill>
            <a:srgbClr val="FF9999">
              <a:alpha val="21961"/>
            </a:srgbClr>
          </a:solidFill>
          <a:ln w="19050" cap="flat">
            <a:solidFill>
              <a:srgbClr val="00B0F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469FF13-FC82-4D3E-8B4A-8097640E10F1}"/>
              </a:ext>
            </a:extLst>
          </p:cNvPr>
          <p:cNvSpPr/>
          <p:nvPr/>
        </p:nvSpPr>
        <p:spPr>
          <a:xfrm>
            <a:off x="5829300" y="3128682"/>
            <a:ext cx="1921596" cy="2216524"/>
          </a:xfrm>
          <a:prstGeom prst="roundRect">
            <a:avLst>
              <a:gd name="adj" fmla="val 8270"/>
            </a:avLst>
          </a:prstGeom>
          <a:solidFill>
            <a:srgbClr val="A0E886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79434083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bool IsValid(position pos) {…"/>
          <p:cNvSpPr txBox="1"/>
          <p:nvPr/>
        </p:nvSpPr>
        <p:spPr>
          <a:xfrm>
            <a:off x="797627" y="2163053"/>
            <a:ext cx="11817338" cy="7390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IsValid(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&gt;=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&amp;&amp;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) &amp;&amp;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&gt;=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&amp;&amp;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</a:t>
            </a:r>
            <a:r>
              <a:rPr lang="en-US">
                <a:latin typeface="Lucida Console" panose="020B0609040504020204" pitchFamily="49" charset="0"/>
              </a:rPr>
              <a:t>Done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pos) {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== goal_pos.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) &amp;&amp;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== goal_pos.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);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Jump(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step) {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</a:t>
            </a:r>
            <a:r>
              <a:rPr lang="en-US">
                <a:solidFill>
                  <a:srgbClr val="31595D"/>
                </a:solidFill>
                <a:latin typeface="Lucida Console" panose="020B0609040504020204" pitchFamily="49" charset="0"/>
              </a:rPr>
              <a:t>Done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(pos)) { </a:t>
            </a:r>
            <a:r>
              <a:rPr>
                <a:latin typeface="Lucida Console" panose="020B0609040504020204" pitchFamily="49" charset="0"/>
              </a:rPr>
              <a:t>// 是否</a:t>
            </a:r>
            <a:r>
              <a:rPr lang="zh-CN" altLang="en-US">
                <a:latin typeface="Lucida Console" panose="020B0609040504020204" pitchFamily="49" charset="0"/>
              </a:rPr>
              <a:t>完成任务</a:t>
            </a:r>
            <a:r>
              <a:rPr>
                <a:latin typeface="Lucida Console" panose="020B0609040504020204" pitchFamily="49" charset="0"/>
              </a:rPr>
              <a:t>？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++;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方案数加1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i&lt;step; i++)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从起点开始输出各步的坐标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"("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", "</a:t>
            </a:r>
            <a:r>
              <a:rPr>
                <a:latin typeface="Lucida Console" panose="020B0609040504020204" pitchFamily="49" charset="0"/>
              </a:rPr>
              <a:t>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")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k=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k&lt;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k++) { </a:t>
            </a:r>
            <a:r>
              <a:rPr>
                <a:latin typeface="Lucida Console" panose="020B0609040504020204" pitchFamily="49" charset="0"/>
              </a:rPr>
              <a:t>// 遍历四种跳步方向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next_pos = {pos.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[k].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, 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[k].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};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(!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IsValid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(next_pos))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>
                <a:latin typeface="Lucida Console" panose="020B0609040504020204" pitchFamily="49" charset="0"/>
              </a:rPr>
              <a:t>// 检查next_pos是否可行？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[step] = next_pos;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记录这一步的方案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latin typeface="Lucida Console" panose="020B0609040504020204" pitchFamily="49" charset="0"/>
              </a:rPr>
              <a:t>(next_pos, step+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从</a:t>
            </a:r>
            <a:r>
              <a:rPr lang="en-US" altLang="zh-CN">
                <a:solidFill>
                  <a:srgbClr val="008400"/>
                </a:solidFill>
                <a:latin typeface="Lucida Console" panose="020B0609040504020204" pitchFamily="49" charset="0"/>
              </a:rPr>
              <a:t>next_pos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出发到目标点，有多少种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跳步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方案？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CC74820-8C0D-41A2-BA95-DA606A8367BC}"/>
              </a:ext>
            </a:extLst>
          </p:cNvPr>
          <p:cNvSpPr/>
          <p:nvPr/>
        </p:nvSpPr>
        <p:spPr>
          <a:xfrm>
            <a:off x="1839204" y="5224182"/>
            <a:ext cx="8098172" cy="1324536"/>
          </a:xfrm>
          <a:prstGeom prst="roundRect">
            <a:avLst>
              <a:gd name="adj" fmla="val 11033"/>
            </a:avLst>
          </a:prstGeom>
          <a:solidFill>
            <a:srgbClr val="DFF7D7">
              <a:alpha val="36078"/>
            </a:srgbClr>
          </a:solidFill>
          <a:ln w="12700" cap="flat">
            <a:solidFill>
              <a:schemeClr val="accent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378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38025" y="2125187"/>
            <a:ext cx="11976940" cy="1920844"/>
          </a:xfrm>
          <a:prstGeom prst="rect">
            <a:avLst/>
          </a:prstGeom>
        </p:spPr>
      </p:pic>
      <p:sp>
        <p:nvSpPr>
          <p:cNvPr id="380" name="矩形"/>
          <p:cNvSpPr/>
          <p:nvPr/>
        </p:nvSpPr>
        <p:spPr>
          <a:xfrm>
            <a:off x="2530250" y="8146789"/>
            <a:ext cx="2484202" cy="54978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81" name="矩形"/>
          <p:cNvSpPr/>
          <p:nvPr/>
        </p:nvSpPr>
        <p:spPr>
          <a:xfrm>
            <a:off x="1839204" y="4845066"/>
            <a:ext cx="1690284" cy="4571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093E549-DC8E-498D-86A7-CEA304408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5663476" cy="1152045"/>
          </a:xfrm>
        </p:spPr>
        <p:txBody>
          <a:bodyPr/>
          <a:lstStyle/>
          <a:p>
            <a:r>
              <a:rPr lang="zh-CN" altLang="en-US"/>
              <a:t>重构：定义落点检查函数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AB8B63-28EA-49D3-B744-1F2DA7012E8D}"/>
              </a:ext>
            </a:extLst>
          </p:cNvPr>
          <p:cNvSpPr txBox="1"/>
          <p:nvPr/>
        </p:nvSpPr>
        <p:spPr>
          <a:xfrm>
            <a:off x="11159024" y="2163053"/>
            <a:ext cx="1333698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跳马问题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bool IsValid(position pos) {…"/>
          <p:cNvSpPr txBox="1"/>
          <p:nvPr/>
        </p:nvSpPr>
        <p:spPr>
          <a:xfrm>
            <a:off x="537454" y="2064986"/>
            <a:ext cx="11144076" cy="756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IsValid(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&gt;=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&amp;&amp;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) &amp;&amp;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&gt;=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&amp;&amp;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</a:t>
            </a:r>
            <a:r>
              <a:rPr lang="en-US">
                <a:latin typeface="Lucida Console" panose="020B0609040504020204" pitchFamily="49" charset="0"/>
              </a:rPr>
              <a:t>Done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pos) {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==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goal_pos</a:t>
            </a:r>
            <a:r>
              <a:rPr>
                <a:latin typeface="Lucida Console" panose="020B0609040504020204" pitchFamily="49" charset="0"/>
              </a:rPr>
              <a:t>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) &amp;&amp;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==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goal_pos</a:t>
            </a:r>
            <a:r>
              <a:rPr>
                <a:latin typeface="Lucida Console" panose="020B0609040504020204" pitchFamily="49" charset="0"/>
              </a:rPr>
              <a:t>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);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Output(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step)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i&lt;step; i++)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从起点开始输出各步的坐标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"("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", "</a:t>
            </a:r>
            <a:r>
              <a:rPr>
                <a:latin typeface="Lucida Console" panose="020B0609040504020204" pitchFamily="49" charset="0"/>
              </a:rPr>
              <a:t>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")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Jump(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step) {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</a:t>
            </a:r>
            <a:r>
              <a:rPr lang="en-US">
                <a:solidFill>
                  <a:srgbClr val="31595D"/>
                </a:solidFill>
                <a:latin typeface="Lucida Console" panose="020B0609040504020204" pitchFamily="49" charset="0"/>
              </a:rPr>
              <a:t>Done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(pos)) { </a:t>
            </a:r>
            <a:r>
              <a:rPr>
                <a:latin typeface="Lucida Console" panose="020B0609040504020204" pitchFamily="49" charset="0"/>
              </a:rPr>
              <a:t>// 是否</a:t>
            </a:r>
            <a:r>
              <a:rPr lang="zh-CN" altLang="en-US">
                <a:latin typeface="Lucida Console" panose="020B0609040504020204" pitchFamily="49" charset="0"/>
              </a:rPr>
              <a:t>完成任务</a:t>
            </a:r>
            <a:r>
              <a:rPr>
                <a:latin typeface="Lucida Console" panose="020B0609040504020204" pitchFamily="49" charset="0"/>
              </a:rPr>
              <a:t>？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++;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方案数加1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Output</a:t>
            </a:r>
            <a:r>
              <a:rPr>
                <a:latin typeface="Lucida Console" panose="020B0609040504020204" pitchFamily="49" charset="0"/>
              </a:rPr>
              <a:t>(step);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k=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k&lt;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k++) { </a:t>
            </a:r>
            <a:r>
              <a:rPr>
                <a:latin typeface="Lucida Console" panose="020B0609040504020204" pitchFamily="49" charset="0"/>
              </a:rPr>
              <a:t>// 遍历四种跳步方向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next_pos = {pos.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[k].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, 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[k].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};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(!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IsValid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(next_pos))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>
                <a:latin typeface="Lucida Console" panose="020B0609040504020204" pitchFamily="49" charset="0"/>
              </a:rPr>
              <a:t>// 检查next_pos是否可行？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[step] = next_pos;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记录这一步的方案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latin typeface="Lucida Console" panose="020B0609040504020204" pitchFamily="49" charset="0"/>
              </a:rPr>
              <a:t>(next_pos, step+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 </a:t>
            </a:r>
            <a:r>
              <a:rPr lang="en-US" altLang="zh-CN"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从</a:t>
            </a:r>
            <a:r>
              <a:rPr lang="en-US" altLang="zh-CN">
                <a:solidFill>
                  <a:srgbClr val="008400"/>
                </a:solidFill>
                <a:latin typeface="Lucida Console" panose="020B0609040504020204" pitchFamily="49" charset="0"/>
              </a:rPr>
              <a:t>next_pos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出发到目标点，有多少种跳步方案？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10000"/>
              </a:lnSpc>
              <a:tabLst>
                <a:tab pos="3683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38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386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07915" y="3738979"/>
            <a:ext cx="8524179" cy="1967141"/>
          </a:xfrm>
          <a:prstGeom prst="rect">
            <a:avLst/>
          </a:prstGeom>
        </p:spPr>
      </p:pic>
      <p:sp>
        <p:nvSpPr>
          <p:cNvPr id="388" name="矩形"/>
          <p:cNvSpPr/>
          <p:nvPr/>
        </p:nvSpPr>
        <p:spPr>
          <a:xfrm>
            <a:off x="1587568" y="6987111"/>
            <a:ext cx="1760070" cy="6466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" name="弧形 1">
            <a:extLst>
              <a:ext uri="{FF2B5EF4-FFF2-40B4-BE49-F238E27FC236}">
                <a16:creationId xmlns:a16="http://schemas.microsoft.com/office/drawing/2014/main" id="{28174E4B-2EBB-405A-83B0-C330B01886CA}"/>
              </a:ext>
            </a:extLst>
          </p:cNvPr>
          <p:cNvSpPr/>
          <p:nvPr/>
        </p:nvSpPr>
        <p:spPr>
          <a:xfrm rot="9868441" flipH="1">
            <a:off x="1680233" y="5950535"/>
            <a:ext cx="5569393" cy="900546"/>
          </a:xfrm>
          <a:prstGeom prst="arc">
            <a:avLst>
              <a:gd name="adj1" fmla="val 13198202"/>
              <a:gd name="adj2" fmla="val 21404338"/>
            </a:avLst>
          </a:prstGeom>
          <a:noFill/>
          <a:ln w="38100" cap="flat">
            <a:solidFill>
              <a:schemeClr val="accent6">
                <a:lumMod val="75000"/>
              </a:schemeClr>
            </a:solidFill>
            <a:prstDash val="dashDot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03F30B3-43A9-4769-BA2D-C9145F49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36940" cy="1152045"/>
          </a:xfrm>
        </p:spPr>
        <p:txBody>
          <a:bodyPr/>
          <a:lstStyle/>
          <a:p>
            <a:r>
              <a:rPr lang="zh-CN" altLang="en-US"/>
              <a:t>重构：“抽取”定义方案输出函数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0C8EA7-C722-4929-9FBD-571A1BD36593}"/>
              </a:ext>
            </a:extLst>
          </p:cNvPr>
          <p:cNvSpPr txBox="1"/>
          <p:nvPr/>
        </p:nvSpPr>
        <p:spPr>
          <a:xfrm>
            <a:off x="5794999" y="6313111"/>
            <a:ext cx="4786587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提炼成函数，使“算法框架”与具体细节“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无关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”，从而使“算法框架”更加通用。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F0D34D-1401-4298-8C4C-311C7AAFE7FA}"/>
              </a:ext>
            </a:extLst>
          </p:cNvPr>
          <p:cNvSpPr txBox="1"/>
          <p:nvPr/>
        </p:nvSpPr>
        <p:spPr>
          <a:xfrm>
            <a:off x="7454359" y="3738979"/>
            <a:ext cx="1333698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跳马问题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195F9A1-2E30-4E6E-844B-8AD6E38F18D1}"/>
              </a:ext>
            </a:extLst>
          </p:cNvPr>
          <p:cNvSpPr/>
          <p:nvPr/>
        </p:nvSpPr>
        <p:spPr>
          <a:xfrm>
            <a:off x="1503029" y="7836294"/>
            <a:ext cx="7694760" cy="302567"/>
          </a:xfrm>
          <a:prstGeom prst="roundRect">
            <a:avLst>
              <a:gd name="adj" fmla="val 11033"/>
            </a:avLst>
          </a:prstGeom>
          <a:solidFill>
            <a:schemeClr val="accent5">
              <a:lumMod val="60000"/>
              <a:lumOff val="40000"/>
              <a:alpha val="36078"/>
            </a:schemeClr>
          </a:solidFill>
          <a:ln w="12700" cap="flat">
            <a:solidFill>
              <a:schemeClr val="accent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4" name="弧形 13">
            <a:extLst>
              <a:ext uri="{FF2B5EF4-FFF2-40B4-BE49-F238E27FC236}">
                <a16:creationId xmlns:a16="http://schemas.microsoft.com/office/drawing/2014/main" id="{BC918E03-0E6F-459E-81B2-4AF00769D33E}"/>
              </a:ext>
            </a:extLst>
          </p:cNvPr>
          <p:cNvSpPr/>
          <p:nvPr/>
        </p:nvSpPr>
        <p:spPr>
          <a:xfrm rot="9868441" flipH="1">
            <a:off x="6662113" y="6916236"/>
            <a:ext cx="6527702" cy="900546"/>
          </a:xfrm>
          <a:prstGeom prst="arc">
            <a:avLst>
              <a:gd name="adj1" fmla="val 13198202"/>
              <a:gd name="adj2" fmla="val 21423189"/>
            </a:avLst>
          </a:prstGeom>
          <a:noFill/>
          <a:ln w="38100" cap="flat">
            <a:solidFill>
              <a:schemeClr val="accent6">
                <a:lumMod val="75000"/>
              </a:schemeClr>
            </a:solidFill>
            <a:prstDash val="dashDot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6C6B74-CB12-4A9F-B04D-0A6FB65AFA92}"/>
              </a:ext>
            </a:extLst>
          </p:cNvPr>
          <p:cNvSpPr txBox="1"/>
          <p:nvPr/>
        </p:nvSpPr>
        <p:spPr>
          <a:xfrm>
            <a:off x="12292076" y="6090979"/>
            <a:ext cx="718145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下页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B6E54AD-AE9A-4BC8-A458-8ABC2FB3C8F2}"/>
              </a:ext>
            </a:extLst>
          </p:cNvPr>
          <p:cNvSpPr/>
          <p:nvPr/>
        </p:nvSpPr>
        <p:spPr>
          <a:xfrm>
            <a:off x="1503029" y="8407185"/>
            <a:ext cx="7694760" cy="302567"/>
          </a:xfrm>
          <a:prstGeom prst="roundRect">
            <a:avLst>
              <a:gd name="adj" fmla="val 11033"/>
            </a:avLst>
          </a:prstGeom>
          <a:solidFill>
            <a:schemeClr val="accent5">
              <a:lumMod val="60000"/>
              <a:lumOff val="40000"/>
              <a:alpha val="36078"/>
            </a:schemeClr>
          </a:solidFill>
          <a:ln w="12700" cap="flat">
            <a:solidFill>
              <a:schemeClr val="accent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6694047E-D255-48E4-9563-BAE43475E11D}"/>
              </a:ext>
            </a:extLst>
          </p:cNvPr>
          <p:cNvSpPr/>
          <p:nvPr/>
        </p:nvSpPr>
        <p:spPr>
          <a:xfrm rot="9230076" flipH="1">
            <a:off x="6602399" y="7482666"/>
            <a:ext cx="6527702" cy="900546"/>
          </a:xfrm>
          <a:prstGeom prst="arc">
            <a:avLst>
              <a:gd name="adj1" fmla="val 12942359"/>
              <a:gd name="adj2" fmla="val 21309153"/>
            </a:avLst>
          </a:prstGeom>
          <a:noFill/>
          <a:ln w="38100" cap="flat">
            <a:solidFill>
              <a:schemeClr val="accent6">
                <a:lumMod val="75000"/>
              </a:schemeClr>
            </a:solidFill>
            <a:prstDash val="dashDot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oid Jump(position pos, int step) {…">
            <a:extLst>
              <a:ext uri="{FF2B5EF4-FFF2-40B4-BE49-F238E27FC236}">
                <a16:creationId xmlns:a16="http://schemas.microsoft.com/office/drawing/2014/main" id="{0C72E06A-BAA3-433F-8D29-838D29ACB7F3}"/>
              </a:ext>
            </a:extLst>
          </p:cNvPr>
          <p:cNvSpPr txBox="1"/>
          <p:nvPr/>
        </p:nvSpPr>
        <p:spPr>
          <a:xfrm>
            <a:off x="519535" y="3738979"/>
            <a:ext cx="8412559" cy="5950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 sz="2000">
                <a:solidFill>
                  <a:srgbClr val="000000"/>
                </a:solidFill>
                <a:latin typeface="Lucida Console" panose="020B0609040504020204" pitchFamily="49" charset="0"/>
              </a:rPr>
              <a:t> Jump(</a:t>
            </a:r>
            <a:r>
              <a:rPr sz="2000">
                <a:latin typeface="Lucida Console" panose="020B0609040504020204" pitchFamily="49" charset="0"/>
              </a:rPr>
              <a:t>position</a:t>
            </a:r>
            <a:r>
              <a:rPr sz="2000">
                <a:solidFill>
                  <a:srgbClr val="000000"/>
                </a:solidFill>
                <a:latin typeface="Lucida Console" panose="020B0609040504020204" pitchFamily="49" charset="0"/>
              </a:rPr>
              <a:t> pos, </a:t>
            </a:r>
            <a:r>
              <a:rPr sz="20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sz="2000">
                <a:solidFill>
                  <a:srgbClr val="000000"/>
                </a:solidFill>
                <a:latin typeface="Lucida Console" panose="020B0609040504020204" pitchFamily="49" charset="0"/>
              </a:rPr>
              <a:t> step) {</a:t>
            </a:r>
            <a:endParaRPr sz="18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Lucida Console" panose="020B0609040504020204" pitchFamily="49" charset="0"/>
              </a:rPr>
              <a:t>    </a:t>
            </a:r>
            <a:r>
              <a:rPr sz="200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sz="2000">
                <a:latin typeface="Lucida Console" panose="020B0609040504020204" pitchFamily="49" charset="0"/>
              </a:rPr>
              <a:t> (</a:t>
            </a:r>
            <a:r>
              <a:rPr sz="2000">
                <a:solidFill>
                  <a:srgbClr val="31595D"/>
                </a:solidFill>
                <a:latin typeface="Lucida Console" panose="020B0609040504020204" pitchFamily="49" charset="0"/>
              </a:rPr>
              <a:t>IsDone</a:t>
            </a:r>
            <a:r>
              <a:rPr sz="2000">
                <a:latin typeface="Lucida Console" panose="020B0609040504020204" pitchFamily="49" charset="0"/>
              </a:rPr>
              <a:t>(pos)) {  </a:t>
            </a:r>
            <a:r>
              <a:rPr sz="2000">
                <a:solidFill>
                  <a:srgbClr val="008400"/>
                </a:solidFill>
                <a:latin typeface="Lucida Console" panose="020B0609040504020204" pitchFamily="49" charset="0"/>
              </a:rPr>
              <a:t>// 是否</a:t>
            </a:r>
            <a:r>
              <a:rPr lang="zh-CN" altLang="en-US" sz="2000">
                <a:solidFill>
                  <a:srgbClr val="008400"/>
                </a:solidFill>
                <a:latin typeface="Lucida Console" panose="020B0609040504020204" pitchFamily="49" charset="0"/>
              </a:rPr>
              <a:t>完成任务</a:t>
            </a:r>
            <a:r>
              <a:rPr sz="2000">
                <a:solidFill>
                  <a:srgbClr val="008400"/>
                </a:solidFill>
                <a:latin typeface="Lucida Console" panose="020B0609040504020204" pitchFamily="49" charset="0"/>
              </a:rPr>
              <a:t>？</a:t>
            </a:r>
            <a:endParaRPr sz="18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Lucida Console" panose="020B0609040504020204" pitchFamily="49" charset="0"/>
              </a:rPr>
              <a:t>        </a:t>
            </a:r>
            <a:r>
              <a:rPr sz="200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sz="2000">
                <a:latin typeface="Lucida Console" panose="020B0609040504020204" pitchFamily="49" charset="0"/>
              </a:rPr>
              <a:t>++;          </a:t>
            </a:r>
            <a:r>
              <a:rPr sz="2000">
                <a:solidFill>
                  <a:srgbClr val="008400"/>
                </a:solidFill>
                <a:latin typeface="Lucida Console" panose="020B0609040504020204" pitchFamily="49" charset="0"/>
              </a:rPr>
              <a:t>// 方案数加1</a:t>
            </a:r>
            <a:endParaRPr sz="18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Lucida Console" panose="020B0609040504020204" pitchFamily="49" charset="0"/>
              </a:rPr>
              <a:t>        </a:t>
            </a:r>
            <a:endParaRPr sz="18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Lucida Console" panose="020B0609040504020204" pitchFamily="49" charset="0"/>
              </a:rPr>
              <a:t>        </a:t>
            </a:r>
            <a:r>
              <a:rPr sz="2000">
                <a:solidFill>
                  <a:srgbClr val="31595D"/>
                </a:solidFill>
                <a:latin typeface="Lucida Console" panose="020B0609040504020204" pitchFamily="49" charset="0"/>
              </a:rPr>
              <a:t>OutAll</a:t>
            </a:r>
            <a:r>
              <a:rPr sz="2000">
                <a:latin typeface="Lucida Console" panose="020B0609040504020204" pitchFamily="49" charset="0"/>
              </a:rPr>
              <a:t>(step);   </a:t>
            </a:r>
            <a:r>
              <a:rPr sz="2000">
                <a:solidFill>
                  <a:srgbClr val="008400"/>
                </a:solidFill>
                <a:latin typeface="Lucida Console" panose="020B0609040504020204" pitchFamily="49" charset="0"/>
              </a:rPr>
              <a:t>// 输出方案</a:t>
            </a:r>
            <a:endParaRPr sz="18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Lucida Console" panose="020B0609040504020204" pitchFamily="49" charset="0"/>
              </a:rPr>
              <a:t>        </a:t>
            </a:r>
            <a:r>
              <a:rPr sz="2000"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 sz="2000">
                <a:latin typeface="Lucida Console" panose="020B0609040504020204" pitchFamily="49" charset="0"/>
              </a:rPr>
              <a:t>;</a:t>
            </a:r>
            <a:endParaRPr sz="18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Lucida Console" panose="020B0609040504020204" pitchFamily="49" charset="0"/>
              </a:rPr>
              <a:t>    }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1800"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 sz="2000">
                <a:latin typeface="Lucida Console" panose="020B0609040504020204" pitchFamily="49" charset="0"/>
              </a:rPr>
              <a:t>   </a:t>
            </a:r>
            <a:r>
              <a:rPr sz="2000">
                <a:solidFill>
                  <a:srgbClr val="008400"/>
                </a:solidFill>
                <a:latin typeface="Lucida Console" panose="020B0609040504020204" pitchFamily="49" charset="0"/>
              </a:rPr>
              <a:t>// 遍历N种方案</a:t>
            </a:r>
            <a:endParaRPr sz="18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Lucida Console" panose="020B0609040504020204" pitchFamily="49" charset="0"/>
              </a:rPr>
              <a:t>    </a:t>
            </a:r>
            <a:r>
              <a:rPr sz="200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sz="2000">
                <a:latin typeface="Lucida Console" panose="020B0609040504020204" pitchFamily="49" charset="0"/>
              </a:rPr>
              <a:t> (</a:t>
            </a:r>
            <a:r>
              <a:rPr sz="20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sz="2000">
                <a:latin typeface="Lucida Console" panose="020B0609040504020204" pitchFamily="49" charset="0"/>
              </a:rPr>
              <a:t> k=</a:t>
            </a:r>
            <a:r>
              <a:rPr sz="200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sz="2000">
                <a:latin typeface="Lucida Console" panose="020B0609040504020204" pitchFamily="49" charset="0"/>
              </a:rPr>
              <a:t>; k&lt;</a:t>
            </a:r>
            <a:r>
              <a:rPr sz="2000">
                <a:solidFill>
                  <a:srgbClr val="BA2DA2"/>
                </a:solidFill>
                <a:latin typeface="Lucida Console" panose="020B0609040504020204" pitchFamily="49" charset="0"/>
              </a:rPr>
              <a:t>sizeof</a:t>
            </a:r>
            <a:r>
              <a:rPr sz="2000">
                <a:latin typeface="Lucida Console" panose="020B0609040504020204" pitchFamily="49" charset="0"/>
              </a:rPr>
              <a:t>(</a:t>
            </a:r>
            <a:r>
              <a:rPr sz="2000"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 sz="2000">
                <a:latin typeface="Lucida Console" panose="020B0609040504020204" pitchFamily="49" charset="0"/>
              </a:rPr>
              <a:t>)/</a:t>
            </a:r>
            <a:r>
              <a:rPr sz="2000">
                <a:solidFill>
                  <a:srgbClr val="BA2DA2"/>
                </a:solidFill>
                <a:latin typeface="Lucida Console" panose="020B0609040504020204" pitchFamily="49" charset="0"/>
              </a:rPr>
              <a:t>sizeof</a:t>
            </a:r>
            <a:r>
              <a:rPr sz="2000">
                <a:latin typeface="Lucida Console" panose="020B0609040504020204" pitchFamily="49" charset="0"/>
              </a:rPr>
              <a:t>(</a:t>
            </a:r>
            <a:r>
              <a:rPr sz="2000"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 sz="2000">
                <a:latin typeface="Lucida Console" panose="020B0609040504020204" pitchFamily="49" charset="0"/>
              </a:rPr>
              <a:t>[</a:t>
            </a:r>
            <a:r>
              <a:rPr sz="200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sz="2000">
                <a:latin typeface="Lucida Console" panose="020B0609040504020204" pitchFamily="49" charset="0"/>
              </a:rPr>
              <a:t>]); k++) {</a:t>
            </a:r>
            <a:endParaRPr sz="18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Lucida Console" panose="020B0609040504020204" pitchFamily="49" charset="0"/>
              </a:rPr>
              <a:t>        </a:t>
            </a:r>
            <a:r>
              <a:rPr sz="2000"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 sz="2000">
                <a:latin typeface="Lucida Console" panose="020B0609040504020204" pitchFamily="49" charset="0"/>
              </a:rPr>
              <a:t> next_pos = </a:t>
            </a:r>
            <a:r>
              <a:rPr sz="2000">
                <a:solidFill>
                  <a:srgbClr val="31595D"/>
                </a:solidFill>
                <a:latin typeface="Lucida Console" panose="020B0609040504020204" pitchFamily="49" charset="0"/>
              </a:rPr>
              <a:t>GetNewPos</a:t>
            </a:r>
            <a:r>
              <a:rPr sz="2000">
                <a:latin typeface="Lucida Console" panose="020B0609040504020204" pitchFamily="49" charset="0"/>
              </a:rPr>
              <a:t>(pos, k);</a:t>
            </a:r>
            <a:endParaRPr sz="18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sz="200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sz="2000">
                <a:solidFill>
                  <a:srgbClr val="000000"/>
                </a:solidFill>
                <a:latin typeface="Lucida Console" panose="020B0609040504020204" pitchFamily="49" charset="0"/>
              </a:rPr>
              <a:t> (!</a:t>
            </a:r>
            <a:r>
              <a:rPr sz="2000">
                <a:solidFill>
                  <a:srgbClr val="31595D"/>
                </a:solidFill>
                <a:latin typeface="Lucida Console" panose="020B0609040504020204" pitchFamily="49" charset="0"/>
              </a:rPr>
              <a:t>IsValid</a:t>
            </a:r>
            <a:r>
              <a:rPr sz="2000">
                <a:solidFill>
                  <a:srgbClr val="000000"/>
                </a:solidFill>
                <a:latin typeface="Lucida Console" panose="020B0609040504020204" pitchFamily="49" charset="0"/>
              </a:rPr>
              <a:t>(next_pos))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solidFill>
                  <a:srgbClr val="000000"/>
                </a:solidFill>
                <a:latin typeface="Lucida Console" panose="020B0609040504020204" pitchFamily="49" charset="0"/>
              </a:rPr>
              <a:t>            </a:t>
            </a:r>
            <a:r>
              <a:rPr sz="2000"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 sz="200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sz="2000">
                <a:latin typeface="Lucida Console" panose="020B0609040504020204" pitchFamily="49" charset="0"/>
              </a:rPr>
              <a:t>// next_pos是否可行？</a:t>
            </a:r>
            <a:endParaRPr sz="18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Lucida Console" panose="020B0609040504020204" pitchFamily="49" charset="0"/>
              </a:rPr>
              <a:t>        </a:t>
            </a:r>
            <a:r>
              <a:rPr sz="2000">
                <a:solidFill>
                  <a:srgbClr val="31595D"/>
                </a:solidFill>
                <a:latin typeface="Lucida Console" panose="020B0609040504020204" pitchFamily="49" charset="0"/>
              </a:rPr>
              <a:t>LogStep</a:t>
            </a:r>
            <a:r>
              <a:rPr sz="2000">
                <a:latin typeface="Lucida Console" panose="020B0609040504020204" pitchFamily="49" charset="0"/>
              </a:rPr>
              <a:t>(step, next_pos); </a:t>
            </a:r>
            <a:r>
              <a:rPr sz="2000">
                <a:solidFill>
                  <a:srgbClr val="008400"/>
                </a:solidFill>
                <a:latin typeface="Lucida Console" panose="020B0609040504020204" pitchFamily="49" charset="0"/>
              </a:rPr>
              <a:t>// 记录方案</a:t>
            </a:r>
            <a:endParaRPr sz="18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Lucida Console" panose="020B0609040504020204" pitchFamily="49" charset="0"/>
              </a:rPr>
              <a:t>        </a:t>
            </a:r>
            <a:r>
              <a:rPr sz="2000"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 sz="2000">
                <a:latin typeface="Lucida Console" panose="020B0609040504020204" pitchFamily="49" charset="0"/>
              </a:rPr>
              <a:t>(next_pos, step+</a:t>
            </a:r>
            <a:r>
              <a:rPr sz="200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sz="2000">
                <a:latin typeface="Lucida Console" panose="020B0609040504020204" pitchFamily="49" charset="0"/>
              </a:rPr>
              <a:t>); </a:t>
            </a:r>
            <a:r>
              <a:rPr lang="en-US" altLang="zh-CN" sz="2000"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 sz="2000">
                <a:solidFill>
                  <a:srgbClr val="008400"/>
                </a:solidFill>
                <a:latin typeface="Lucida Console" panose="020B0609040504020204" pitchFamily="49" charset="0"/>
              </a:rPr>
              <a:t>新点到目标的所方案</a:t>
            </a:r>
            <a:endParaRPr sz="2000">
              <a:solidFill>
                <a:srgbClr val="008400"/>
              </a:solidFill>
              <a:latin typeface="Lucida Console" panose="020B0609040504020204" pitchFamily="49" charset="0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Lucida Console" panose="020B0609040504020204" pitchFamily="49" charset="0"/>
              </a:rPr>
              <a:t>    }</a:t>
            </a:r>
            <a:endParaRPr sz="18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2000">
                <a:latin typeface="Lucida Console" panose="020B0609040504020204" pitchFamily="49" charset="0"/>
              </a:rPr>
              <a:t>}</a:t>
            </a:r>
            <a:endParaRPr sz="18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</p:txBody>
      </p:sp>
      <p:sp>
        <p:nvSpPr>
          <p:cNvPr id="38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pic>
        <p:nvPicPr>
          <p:cNvPr id="386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63723" y="2005192"/>
            <a:ext cx="8468371" cy="1640642"/>
          </a:xfrm>
          <a:prstGeom prst="rect">
            <a:avLst/>
          </a:prstGeom>
        </p:spPr>
      </p:pic>
      <p:sp>
        <p:nvSpPr>
          <p:cNvPr id="388" name="矩形"/>
          <p:cNvSpPr/>
          <p:nvPr/>
        </p:nvSpPr>
        <p:spPr>
          <a:xfrm>
            <a:off x="4814861" y="7430864"/>
            <a:ext cx="2769279" cy="4571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" name="弧形 1">
            <a:extLst>
              <a:ext uri="{FF2B5EF4-FFF2-40B4-BE49-F238E27FC236}">
                <a16:creationId xmlns:a16="http://schemas.microsoft.com/office/drawing/2014/main" id="{28174E4B-2EBB-405A-83B0-C330B01886CA}"/>
              </a:ext>
            </a:extLst>
          </p:cNvPr>
          <p:cNvSpPr/>
          <p:nvPr/>
        </p:nvSpPr>
        <p:spPr>
          <a:xfrm rot="6433098" flipH="1">
            <a:off x="4387177" y="6136390"/>
            <a:ext cx="6061815" cy="900546"/>
          </a:xfrm>
          <a:prstGeom prst="arc">
            <a:avLst>
              <a:gd name="adj1" fmla="val 13198202"/>
              <a:gd name="adj2" fmla="val 21440908"/>
            </a:avLst>
          </a:prstGeom>
          <a:noFill/>
          <a:ln w="38100" cap="flat">
            <a:solidFill>
              <a:schemeClr val="accent6">
                <a:lumMod val="75000"/>
              </a:schemeClr>
            </a:solidFill>
            <a:prstDash val="dashDot"/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03F30B3-43A9-4769-BA2D-C9145F49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36940" cy="1152045"/>
          </a:xfrm>
        </p:spPr>
        <p:txBody>
          <a:bodyPr/>
          <a:lstStyle/>
          <a:p>
            <a:r>
              <a:rPr lang="zh-CN" altLang="en-US"/>
              <a:t>重构：“抽取”定义新落点的计算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0C8EA7-C722-4929-9FBD-571A1BD36593}"/>
              </a:ext>
            </a:extLst>
          </p:cNvPr>
          <p:cNvSpPr txBox="1"/>
          <p:nvPr/>
        </p:nvSpPr>
        <p:spPr>
          <a:xfrm>
            <a:off x="8231188" y="5358844"/>
            <a:ext cx="3541712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提炼函数，消除 “算法”差异，使“框架”更通用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4B177BE-C8F9-45E1-A290-D6B9402D7632}"/>
              </a:ext>
            </a:extLst>
          </p:cNvPr>
          <p:cNvSpPr txBox="1"/>
          <p:nvPr/>
        </p:nvSpPr>
        <p:spPr>
          <a:xfrm>
            <a:off x="548051" y="2016020"/>
            <a:ext cx="8355525" cy="15422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2000"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 lang="en-US" altLang="zh-CN" sz="2000">
                <a:latin typeface="Lucida Console" panose="020B0609040504020204" pitchFamily="49" charset="0"/>
              </a:rPr>
              <a:t> GetNewPos(</a:t>
            </a:r>
            <a:r>
              <a:rPr lang="en-US" altLang="zh-CN" sz="2000"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 lang="en-US" altLang="zh-CN" sz="2000">
                <a:latin typeface="Lucida Console" panose="020B0609040504020204" pitchFamily="49" charset="0"/>
              </a:rPr>
              <a:t> pos, </a:t>
            </a:r>
            <a:r>
              <a:rPr lang="en-US" altLang="zh-CN" sz="20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CN" sz="2000">
                <a:latin typeface="Lucida Console" panose="020B0609040504020204" pitchFamily="49" charset="0"/>
              </a:rPr>
              <a:t> k) {</a:t>
            </a:r>
            <a:endParaRPr lang="en-US" altLang="zh-CN" sz="40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2000">
                <a:latin typeface="Lucida Console" panose="020B0609040504020204" pitchFamily="49" charset="0"/>
              </a:rPr>
              <a:t>    </a:t>
            </a:r>
            <a:r>
              <a:rPr lang="en-US" altLang="zh-CN" sz="2000"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 lang="en-US" altLang="zh-CN" sz="2000">
                <a:latin typeface="Lucida Console" panose="020B0609040504020204" pitchFamily="49" charset="0"/>
              </a:rPr>
              <a:t> next_pos = {pos.</a:t>
            </a:r>
            <a:r>
              <a:rPr lang="en-US" altLang="zh-CN" sz="2000"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CN" sz="2000">
                <a:latin typeface="Lucida Console" panose="020B0609040504020204" pitchFamily="49" charset="0"/>
              </a:rPr>
              <a:t> + </a:t>
            </a:r>
            <a:r>
              <a:rPr lang="en-US" altLang="zh-CN" sz="2000"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 lang="en-US" altLang="zh-CN" sz="2000">
                <a:latin typeface="Lucida Console" panose="020B0609040504020204" pitchFamily="49" charset="0"/>
              </a:rPr>
              <a:t>[k].</a:t>
            </a:r>
            <a:r>
              <a:rPr lang="en-US" altLang="zh-CN" sz="2000"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CN" sz="2000">
                <a:latin typeface="Lucida Console" panose="020B0609040504020204" pitchFamily="49" charset="0"/>
              </a:rPr>
              <a:t>};</a:t>
            </a:r>
            <a:endParaRPr lang="en-US" altLang="zh-CN" sz="40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2000">
                <a:latin typeface="Lucida Console" panose="020B0609040504020204" pitchFamily="49" charset="0"/>
              </a:rPr>
              <a:t>    </a:t>
            </a:r>
            <a:r>
              <a:rPr lang="en-US" altLang="zh-CN" sz="2000"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CN" sz="2000">
                <a:latin typeface="Lucida Console" panose="020B0609040504020204" pitchFamily="49" charset="0"/>
              </a:rPr>
              <a:t> next_pos;</a:t>
            </a:r>
            <a:endParaRPr lang="en-US" altLang="zh-CN" sz="40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2000">
                <a:latin typeface="Lucida Console" panose="020B0609040504020204" pitchFamily="49" charset="0"/>
              </a:rPr>
              <a:t>}</a:t>
            </a:r>
            <a:endParaRPr lang="en-US" altLang="zh-CN" sz="40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835E2A-3EA6-46D2-9CF4-63B33DD93CEE}"/>
              </a:ext>
            </a:extLst>
          </p:cNvPr>
          <p:cNvSpPr txBox="1"/>
          <p:nvPr/>
        </p:nvSpPr>
        <p:spPr>
          <a:xfrm>
            <a:off x="7411669" y="2949970"/>
            <a:ext cx="1333698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下楼问题</a:t>
            </a:r>
          </a:p>
        </p:txBody>
      </p:sp>
    </p:spTree>
    <p:extLst>
      <p:ext uri="{BB962C8B-B14F-4D97-AF65-F5344CB8AC3E}">
        <p14:creationId xmlns:p14="http://schemas.microsoft.com/office/powerpoint/2010/main" val="392777875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矩形"/>
          <p:cNvSpPr/>
          <p:nvPr/>
        </p:nvSpPr>
        <p:spPr>
          <a:xfrm>
            <a:off x="7208035" y="2516388"/>
            <a:ext cx="5607854" cy="6580904"/>
          </a:xfrm>
          <a:prstGeom prst="roundRect">
            <a:avLst>
              <a:gd name="adj" fmla="val 0"/>
            </a:avLst>
          </a:prstGeom>
          <a:ln w="25400">
            <a:solidFill>
              <a:schemeClr val="accent3">
                <a:hueOff val="362282"/>
                <a:satOff val="31803"/>
                <a:lumOff val="-18242"/>
              </a:schemeClr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sp>
        <p:nvSpPr>
          <p:cNvPr id="422" name="不同的任务，相同的算法框架！"/>
          <p:cNvSpPr>
            <a:spLocks noGrp="1"/>
          </p:cNvSpPr>
          <p:nvPr>
            <p:ph type="title"/>
          </p:nvPr>
        </p:nvSpPr>
        <p:spPr>
          <a:xfrm>
            <a:off x="547201" y="354125"/>
            <a:ext cx="6788173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不同的任务，相同的</a:t>
            </a:r>
            <a:r>
              <a:rPr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算法框架</a:t>
            </a:r>
            <a:r>
              <a:t>！</a:t>
            </a:r>
          </a:p>
        </p:txBody>
      </p:sp>
      <p:sp>
        <p:nvSpPr>
          <p:cNvPr id="424" name="void Jump(position pos, int step) {…"/>
          <p:cNvSpPr txBox="1"/>
          <p:nvPr/>
        </p:nvSpPr>
        <p:spPr>
          <a:xfrm>
            <a:off x="516138" y="2516388"/>
            <a:ext cx="6609177" cy="65809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Jump(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step) {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IsDone</a:t>
            </a:r>
            <a:r>
              <a:rPr>
                <a:latin typeface="Lucida Console" panose="020B0609040504020204" pitchFamily="49" charset="0"/>
              </a:rPr>
              <a:t>(pos)) {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是否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完成任务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？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++;  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方案数加1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OutAll</a:t>
            </a:r>
            <a:r>
              <a:rPr>
                <a:latin typeface="Lucida Console" panose="020B0609040504020204" pitchFamily="49" charset="0"/>
              </a:rPr>
              <a:t>(step);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输出方案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latin typeface="Lucida Console" panose="020B0609040504020204" pitchFamily="49" charset="0"/>
              </a:rPr>
              <a:t>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遍历N种方案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k&lt;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sizeof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)/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sizeof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]); k++)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next_pos =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GetNewPos</a:t>
            </a:r>
            <a:r>
              <a:rPr>
                <a:latin typeface="Lucida Console" panose="020B0609040504020204" pitchFamily="49" charset="0"/>
              </a:rPr>
              <a:t>(pos, k);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(!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IsValid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(next_pos))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>
                <a:latin typeface="Lucida Console" panose="020B0609040504020204" pitchFamily="49" charset="0"/>
              </a:rPr>
              <a:t>// next_pos是否可行？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LogStep</a:t>
            </a:r>
            <a:r>
              <a:rPr>
                <a:latin typeface="Lucida Console" panose="020B0609040504020204" pitchFamily="49" charset="0"/>
              </a:rPr>
              <a:t>(step, next_pos);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记录方案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latin typeface="Lucida Console" panose="020B0609040504020204" pitchFamily="49" charset="0"/>
              </a:rPr>
              <a:t>(next_pos, step+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走下一步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初始方案数置0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>
                <a:latin typeface="Lucida Console" panose="020B0609040504020204" pitchFamily="49" charset="0"/>
              </a:rPr>
              <a:t>start_pos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走第一步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pic>
        <p:nvPicPr>
          <p:cNvPr id="426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374" y="6170689"/>
            <a:ext cx="5420349" cy="26546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7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043" y="2788239"/>
            <a:ext cx="5299010" cy="25246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sp>
        <p:nvSpPr>
          <p:cNvPr id="407" name="#include &lt;iostream&gt;        // cout…"/>
          <p:cNvSpPr txBox="1"/>
          <p:nvPr/>
        </p:nvSpPr>
        <p:spPr>
          <a:xfrm>
            <a:off x="261168" y="-105374"/>
            <a:ext cx="5334794" cy="9489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cout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/// ### task-dependent</a:t>
            </a:r>
            <a:endParaRPr sz="1200"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struct</a:t>
            </a:r>
            <a:r>
              <a:rPr>
                <a:latin typeface="Lucida Console" panose="020B0609040504020204" pitchFamily="49" charset="0"/>
              </a:rPr>
              <a:t> position {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x; };</a:t>
            </a: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dxy[] = {{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},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},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}};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start_pos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}, goal_pos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};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path[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100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/// ### task-dependent</a:t>
            </a:r>
            <a:endParaRPr sz="1200"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IsEq(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pos1, 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pos2) {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(pos1.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== pos2.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);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IsDone(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IsEq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(pos, </a:t>
            </a:r>
            <a:r>
              <a:rPr>
                <a:latin typeface="Lucida Console" panose="020B0609040504020204" pitchFamily="49" charset="0"/>
              </a:rPr>
              <a:t>goal_pos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/// ### task-dependent</a:t>
            </a:r>
            <a:endParaRPr sz="1200"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IsValid(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&gt;=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&amp;&amp;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);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/// ### task-dependent</a:t>
            </a:r>
            <a:endParaRPr sz="1200"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GetNewPos(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next_pos = {pos.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[k].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};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next_pos;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LogStep(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step,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[step] = pos;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/// ### task-dependent</a:t>
            </a:r>
            <a:endParaRPr sz="1200"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OutStep(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OutAll(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step) {</a:t>
            </a:r>
            <a:endParaRPr lang="en-US" sz="1400"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1400">
                <a:solidFill>
                  <a:srgbClr val="703DAA"/>
                </a:solidFill>
                <a:latin typeface="Lucida Console" panose="020B0609040504020204" pitchFamily="49" charset="0"/>
              </a:rPr>
              <a:t>    cout</a:t>
            </a:r>
            <a:r>
              <a:rPr lang="en-US" altLang="zh-CN" sz="1400">
                <a:latin typeface="Lucida Console" panose="020B0609040504020204" pitchFamily="49" charset="0"/>
              </a:rPr>
              <a:t> &lt;&lt; </a:t>
            </a:r>
            <a:r>
              <a:rPr lang="en-US" altLang="zh-CN" sz="140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lang="en-US" altLang="zh-CN" sz="1400">
                <a:latin typeface="Lucida Console" panose="020B0609040504020204" pitchFamily="49" charset="0"/>
              </a:rPr>
              <a:t> &lt;&lt; </a:t>
            </a:r>
            <a:r>
              <a:rPr lang="en-US" altLang="zh-CN" sz="1400"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 lang="en-US" altLang="zh-CN" sz="1400">
                <a:latin typeface="Lucida Console" panose="020B0609040504020204" pitchFamily="49" charset="0"/>
              </a:rPr>
              <a:t>;</a:t>
            </a:r>
            <a:endParaRPr sz="1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i&lt;step; i++)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OutStep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[i]);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408" name="下楼问题的算法重构"/>
          <p:cNvSpPr txBox="1"/>
          <p:nvPr/>
        </p:nvSpPr>
        <p:spPr>
          <a:xfrm>
            <a:off x="8169190" y="7889320"/>
            <a:ext cx="3672480" cy="678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u="sng">
                <a:solidFill>
                  <a:schemeClr val="accent1"/>
                </a:solidFill>
              </a:rPr>
              <a:t>下楼</a:t>
            </a:r>
            <a:r>
              <a:rPr lang="en-US" altLang="zh-CN">
                <a:solidFill>
                  <a:schemeClr val="accent1"/>
                </a:solidFill>
              </a:rPr>
              <a:t> </a:t>
            </a:r>
            <a:r>
              <a:t>问题的算法重构</a:t>
            </a:r>
          </a:p>
        </p:txBody>
      </p:sp>
      <p:pic>
        <p:nvPicPr>
          <p:cNvPr id="409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1163" y="598663"/>
            <a:ext cx="4778725" cy="1071036"/>
          </a:xfrm>
          <a:prstGeom prst="rect">
            <a:avLst/>
          </a:prstGeom>
        </p:spPr>
      </p:pic>
      <p:sp>
        <p:nvSpPr>
          <p:cNvPr id="11" name="void Jump(position pos, int step) {…">
            <a:extLst>
              <a:ext uri="{FF2B5EF4-FFF2-40B4-BE49-F238E27FC236}">
                <a16:creationId xmlns:a16="http://schemas.microsoft.com/office/drawing/2014/main" id="{FCF93A63-545D-43FB-9FFB-244DDE3370FE}"/>
              </a:ext>
            </a:extLst>
          </p:cNvPr>
          <p:cNvSpPr txBox="1"/>
          <p:nvPr/>
        </p:nvSpPr>
        <p:spPr>
          <a:xfrm>
            <a:off x="6821016" y="232614"/>
            <a:ext cx="5937052" cy="740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Jump(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step) {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IsDone</a:t>
            </a:r>
            <a:r>
              <a:rPr>
                <a:latin typeface="Lucida Console" panose="020B0609040504020204" pitchFamily="49" charset="0"/>
              </a:rPr>
              <a:t>(pos)) {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是否到达目标？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++;  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方案数加1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OutAll</a:t>
            </a:r>
            <a:r>
              <a:rPr>
                <a:latin typeface="Lucida Console" panose="020B0609040504020204" pitchFamily="49" charset="0"/>
              </a:rPr>
              <a:t>(step);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输出方案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1200"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latin typeface="Lucida Console" panose="020B0609040504020204" pitchFamily="49" charset="0"/>
              </a:rPr>
              <a:t>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遍历N种方案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k&lt;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sizeof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)/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sizeof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]); k++)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next_pos =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GetNewPos</a:t>
            </a:r>
            <a:r>
              <a:rPr>
                <a:latin typeface="Lucida Console" panose="020B0609040504020204" pitchFamily="49" charset="0"/>
              </a:rPr>
              <a:t>(pos, k);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(!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IsValid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(next_pos))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>
                <a:latin typeface="Lucida Console" panose="020B0609040504020204" pitchFamily="49" charset="0"/>
              </a:rPr>
              <a:t>// next_pos是否可行？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LogStep</a:t>
            </a:r>
            <a:r>
              <a:rPr>
                <a:latin typeface="Lucida Console" panose="020B0609040504020204" pitchFamily="49" charset="0"/>
              </a:rPr>
              <a:t>(step, next_pos);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记录方案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latin typeface="Lucida Console" panose="020B0609040504020204" pitchFamily="49" charset="0"/>
              </a:rPr>
              <a:t>(next_pos, step+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 </a:t>
            </a:r>
            <a:r>
              <a:rPr lang="en-US" altLang="zh-CN" sz="1400"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 sz="1400">
                <a:solidFill>
                  <a:srgbClr val="008400"/>
                </a:solidFill>
                <a:latin typeface="Lucida Console" panose="020B0609040504020204" pitchFamily="49" charset="0"/>
              </a:rPr>
              <a:t>新点到目标的所方案</a:t>
            </a:r>
            <a:endParaRPr sz="1400">
              <a:solidFill>
                <a:srgbClr val="008400"/>
              </a:solidFill>
              <a:latin typeface="Lucida Console" panose="020B0609040504020204" pitchFamily="49" charset="0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初始方案数置0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>
                <a:latin typeface="Lucida Console" panose="020B0609040504020204" pitchFamily="49" charset="0"/>
              </a:rPr>
              <a:t>start_pos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走第一步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10" name="void Jump(position pos, int step) {…">
            <a:extLst>
              <a:ext uri="{FF2B5EF4-FFF2-40B4-BE49-F238E27FC236}">
                <a16:creationId xmlns:a16="http://schemas.microsoft.com/office/drawing/2014/main" id="{FC3927D8-3453-4BE7-9390-5C9C57A1D730}"/>
              </a:ext>
            </a:extLst>
          </p:cNvPr>
          <p:cNvSpPr txBox="1"/>
          <p:nvPr/>
        </p:nvSpPr>
        <p:spPr>
          <a:xfrm>
            <a:off x="6148891" y="232614"/>
            <a:ext cx="6609177" cy="74673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Jump(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step) {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IsDone</a:t>
            </a:r>
            <a:r>
              <a:rPr>
                <a:latin typeface="Lucida Console" panose="020B0609040504020204" pitchFamily="49" charset="0"/>
              </a:rPr>
              <a:t>(pos)) {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是否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完成任务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？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++;  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方案数加1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OutAll</a:t>
            </a:r>
            <a:r>
              <a:rPr>
                <a:latin typeface="Lucida Console" panose="020B0609040504020204" pitchFamily="49" charset="0"/>
              </a:rPr>
              <a:t>(step);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输出方案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latin typeface="Lucida Console" panose="020B0609040504020204" pitchFamily="49" charset="0"/>
              </a:rPr>
              <a:t>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遍历N种方案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k&lt;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sizeof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)/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sizeof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]); k++)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next_pos =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GetNewPos</a:t>
            </a:r>
            <a:r>
              <a:rPr>
                <a:latin typeface="Lucida Console" panose="020B0609040504020204" pitchFamily="49" charset="0"/>
              </a:rPr>
              <a:t>(pos, k);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(!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IsValid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(next_pos))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>
                <a:latin typeface="Lucida Console" panose="020B0609040504020204" pitchFamily="49" charset="0"/>
              </a:rPr>
              <a:t>// next_pos是否可行？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LogStep</a:t>
            </a:r>
            <a:r>
              <a:rPr>
                <a:latin typeface="Lucida Console" panose="020B0609040504020204" pitchFamily="49" charset="0"/>
              </a:rPr>
              <a:t>(step, next_pos);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记录方案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latin typeface="Lucida Console" panose="020B0609040504020204" pitchFamily="49" charset="0"/>
              </a:rPr>
              <a:t>(next_pos, step+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走下一步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初始方案数置0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>
                <a:latin typeface="Lucida Console" panose="020B0609040504020204" pitchFamily="49" charset="0"/>
              </a:rPr>
              <a:t>start_pos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走第一步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endParaRPr lang="en-US"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endParaRPr lang="en-US"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sp>
        <p:nvSpPr>
          <p:cNvPr id="414" name="跳马问题的算法重构"/>
          <p:cNvSpPr txBox="1"/>
          <p:nvPr/>
        </p:nvSpPr>
        <p:spPr>
          <a:xfrm>
            <a:off x="8169190" y="7889320"/>
            <a:ext cx="3672480" cy="678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跳马</a:t>
            </a:r>
            <a:r>
              <a:rPr lang="en-US" altLang="zh-CN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</a:t>
            </a:r>
            <a:r>
              <a:t>问题的算法重构</a:t>
            </a:r>
          </a:p>
        </p:txBody>
      </p:sp>
      <p:sp>
        <p:nvSpPr>
          <p:cNvPr id="415" name="#include &lt;iostream&gt;        // cout…"/>
          <p:cNvSpPr txBox="1"/>
          <p:nvPr/>
        </p:nvSpPr>
        <p:spPr>
          <a:xfrm>
            <a:off x="261168" y="-228485"/>
            <a:ext cx="7950895" cy="9735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cout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/// ### task-dependent</a:t>
            </a:r>
            <a:endParaRPr sz="1200"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struct</a:t>
            </a:r>
            <a:r>
              <a:rPr>
                <a:latin typeface="Lucida Console" panose="020B0609040504020204" pitchFamily="49" charset="0"/>
              </a:rPr>
              <a:t> position {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x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, y</a:t>
            </a:r>
            <a:r>
              <a:rPr>
                <a:latin typeface="Lucida Console" panose="020B0609040504020204" pitchFamily="49" charset="0"/>
              </a:rPr>
              <a:t>; };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dxy[] = {{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  <a:r>
              <a:rPr lang="en-US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},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  <a:r>
              <a:rPr lang="en-US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},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, -1</a:t>
            </a:r>
            <a:r>
              <a:rPr>
                <a:latin typeface="Lucida Console" panose="020B0609040504020204" pitchFamily="49" charset="0"/>
              </a:rPr>
              <a:t>},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, -2</a:t>
            </a:r>
            <a:r>
              <a:rPr>
                <a:latin typeface="Lucida Console" panose="020B0609040504020204" pitchFamily="49" charset="0"/>
              </a:rPr>
              <a:t>}};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start_pos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, 0</a:t>
            </a:r>
            <a:r>
              <a:rPr>
                <a:latin typeface="Lucida Console" panose="020B0609040504020204" pitchFamily="49" charset="0"/>
              </a:rPr>
              <a:t>}, goal_pos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FF0000"/>
                </a:solidFill>
                <a:latin typeface="Lucida Console" panose="020B0609040504020204" pitchFamily="49" charset="0"/>
              </a:rPr>
              <a:t>, 4</a:t>
            </a:r>
            <a:r>
              <a:rPr>
                <a:latin typeface="Lucida Console" panose="020B0609040504020204" pitchFamily="49" charset="0"/>
              </a:rPr>
              <a:t>};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path[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100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/// ### task-dependent</a:t>
            </a:r>
            <a:endParaRPr sz="1200"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IsEq(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pos1, 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pos2) {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(pos1.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== pos2.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)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&amp;&amp; (pos1.y == pos2.y)</a:t>
            </a:r>
            <a:r>
              <a:rPr>
                <a:latin typeface="Lucida Console" panose="020B0609040504020204" pitchFamily="49" charset="0"/>
              </a:rPr>
              <a:t>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IsDone(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IsEq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(pos, </a:t>
            </a:r>
            <a:r>
              <a:rPr>
                <a:latin typeface="Lucida Console" panose="020B0609040504020204" pitchFamily="49" charset="0"/>
              </a:rPr>
              <a:t>goal_pos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/// ### task-dependent</a:t>
            </a:r>
            <a:endParaRPr sz="1200"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IsValid(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&gt;=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&amp;&amp;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)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&amp;&amp; (pos.y &gt;= 0) &amp;&amp; (pos.y &lt;= 4)</a:t>
            </a:r>
            <a:r>
              <a:rPr>
                <a:latin typeface="Lucida Console" panose="020B0609040504020204" pitchFamily="49" charset="0"/>
              </a:rPr>
              <a:t>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/// ### task-dependent</a:t>
            </a:r>
            <a:endParaRPr sz="1200"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GetNewPos(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next_pos = {pos.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[k].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, pos.y + dxy[k].y</a:t>
            </a:r>
            <a:r>
              <a:rPr>
                <a:latin typeface="Lucida Console" panose="020B0609040504020204" pitchFamily="49" charset="0"/>
              </a:rPr>
              <a:t>};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next_pos;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LogStep(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step,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[step] = pos;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/// ### task-dependent</a:t>
            </a:r>
            <a:endParaRPr sz="1200"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OutStep(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pos)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&lt;&lt; ' '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&lt;&lt; pos.y &lt;&lt; "| "</a:t>
            </a:r>
            <a:r>
              <a:rPr>
                <a:latin typeface="Lucida Console" panose="020B0609040504020204" pitchFamily="49" charset="0"/>
              </a:rPr>
              <a:t>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OutAll(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step) {</a:t>
            </a:r>
            <a:endParaRPr lang="en-US">
              <a:latin typeface="Lucida Console" panose="020B0609040504020204" pitchFamily="49" charset="0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1400">
                <a:solidFill>
                  <a:srgbClr val="703DAA"/>
                </a:solidFill>
                <a:latin typeface="Lucida Console" panose="020B0609040504020204" pitchFamily="49" charset="0"/>
              </a:rPr>
              <a:t>    cout</a:t>
            </a:r>
            <a:r>
              <a:rPr lang="en-US" altLang="zh-CN" sz="1400">
                <a:latin typeface="Lucida Console" panose="020B0609040504020204" pitchFamily="49" charset="0"/>
              </a:rPr>
              <a:t> &lt;&lt; </a:t>
            </a:r>
            <a:r>
              <a:rPr lang="en-US" altLang="zh-CN" sz="140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lang="en-US" altLang="zh-CN" sz="1400">
                <a:latin typeface="Lucida Console" panose="020B0609040504020204" pitchFamily="49" charset="0"/>
              </a:rPr>
              <a:t> &lt;&lt; </a:t>
            </a:r>
            <a:r>
              <a:rPr lang="en-US" altLang="zh-CN" sz="1400"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 lang="en-US" altLang="zh-CN" sz="1400">
                <a:latin typeface="Lucida Console" panose="020B0609040504020204" pitchFamily="49" charset="0"/>
              </a:rPr>
              <a:t>;</a:t>
            </a:r>
            <a:endParaRPr sz="1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i&lt;step; i++)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OutStep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[i]);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0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416" name="void Jump(position pos, int step) {…"/>
          <p:cNvSpPr txBox="1"/>
          <p:nvPr/>
        </p:nvSpPr>
        <p:spPr>
          <a:xfrm>
            <a:off x="6821016" y="232614"/>
            <a:ext cx="5937052" cy="740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Jump(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step) {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IsDone</a:t>
            </a:r>
            <a:r>
              <a:rPr>
                <a:latin typeface="Lucida Console" panose="020B0609040504020204" pitchFamily="49" charset="0"/>
              </a:rPr>
              <a:t>(pos)) {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是否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完成任务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？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++;  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方案数加1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OutAll</a:t>
            </a:r>
            <a:r>
              <a:rPr>
                <a:latin typeface="Lucida Console" panose="020B0609040504020204" pitchFamily="49" charset="0"/>
              </a:rPr>
              <a:t>(step);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输出方案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 sz="1200"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latin typeface="Lucida Console" panose="020B0609040504020204" pitchFamily="49" charset="0"/>
              </a:rPr>
              <a:t>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遍历N种方案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k&lt;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sizeof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)/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sizeof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dxy</a:t>
            </a:r>
            <a:r>
              <a:rPr>
                <a:latin typeface="Lucida Console" panose="020B0609040504020204" pitchFamily="49" charset="0"/>
              </a:rPr>
              <a:t>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]); k++)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>
                <a:latin typeface="Lucida Console" panose="020B0609040504020204" pitchFamily="49" charset="0"/>
              </a:rPr>
              <a:t> next_pos =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GetNewPos</a:t>
            </a:r>
            <a:r>
              <a:rPr>
                <a:latin typeface="Lucida Console" panose="020B0609040504020204" pitchFamily="49" charset="0"/>
              </a:rPr>
              <a:t>(pos, k);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(!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IsValid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(next_pos))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>
                <a:latin typeface="Lucida Console" panose="020B0609040504020204" pitchFamily="49" charset="0"/>
              </a:rPr>
              <a:t>// next_pos是否可行？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LogStep</a:t>
            </a:r>
            <a:r>
              <a:rPr>
                <a:latin typeface="Lucida Console" panose="020B0609040504020204" pitchFamily="49" charset="0"/>
              </a:rPr>
              <a:t>(step, next_pos);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记录方案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latin typeface="Lucida Console" panose="020B0609040504020204" pitchFamily="49" charset="0"/>
              </a:rPr>
              <a:t>(next_pos, step+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 </a:t>
            </a:r>
            <a:r>
              <a:rPr lang="en-US" altLang="zh-CN" sz="1400"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 sz="1400">
                <a:solidFill>
                  <a:srgbClr val="008400"/>
                </a:solidFill>
                <a:latin typeface="Lucida Console" panose="020B0609040504020204" pitchFamily="49" charset="0"/>
              </a:rPr>
              <a:t>新点到目标的所方案</a:t>
            </a:r>
            <a:endParaRPr sz="1400">
              <a:solidFill>
                <a:srgbClr val="008400"/>
              </a:solidFill>
              <a:latin typeface="Lucida Console" panose="020B0609040504020204" pitchFamily="49" charset="0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初始方案数置0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>
                <a:latin typeface="Lucida Console" panose="020B0609040504020204" pitchFamily="49" charset="0"/>
              </a:rPr>
              <a:t>start_pos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走第一步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sz="12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pic>
        <p:nvPicPr>
          <p:cNvPr id="417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69498" y="602082"/>
            <a:ext cx="5789893" cy="107103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794" name="线条" descr="线条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6730" y="5780244"/>
            <a:ext cx="8109248" cy="76201"/>
          </a:xfrm>
          <a:prstGeom prst="rect">
            <a:avLst/>
          </a:prstGeom>
        </p:spPr>
      </p:pic>
      <p:sp>
        <p:nvSpPr>
          <p:cNvPr id="796" name="分书问题（上）和八皇后问题（下）的与或图基本相同，说明它们在算法上是同一类问题，可以使用基本相同的程序来求解。"/>
          <p:cNvSpPr txBox="1"/>
          <p:nvPr/>
        </p:nvSpPr>
        <p:spPr>
          <a:xfrm>
            <a:off x="9007079" y="3825381"/>
            <a:ext cx="3551817" cy="3909725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分书问题（上）和八皇后问题（下）的与或图基本相同，说明它们在算法上是同一类问题，可</a:t>
            </a:r>
            <a:r>
              <a:rPr>
                <a:solidFill>
                  <a:srgbClr val="FF0000"/>
                </a:solidFill>
              </a:rPr>
              <a:t>使用基本相同的程序</a:t>
            </a:r>
            <a:r>
              <a:rPr lang="zh-CN" altLang="en-US"/>
              <a:t>来</a:t>
            </a:r>
            <a:r>
              <a:t>求解。</a:t>
            </a:r>
          </a:p>
        </p:txBody>
      </p:sp>
      <p:pic>
        <p:nvPicPr>
          <p:cNvPr id="797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564" y="2180782"/>
            <a:ext cx="5928322" cy="347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798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728" y="5983045"/>
            <a:ext cx="6531252" cy="3549827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思考题">
            <a:extLst>
              <a:ext uri="{FF2B5EF4-FFF2-40B4-BE49-F238E27FC236}">
                <a16:creationId xmlns:a16="http://schemas.microsoft.com/office/drawing/2014/main" id="{56E4D6D4-5A86-40D1-934A-73F20FDB42DA}"/>
              </a:ext>
            </a:extLst>
          </p:cNvPr>
          <p:cNvSpPr txBox="1">
            <a:spLocks/>
          </p:cNvSpPr>
          <p:nvPr/>
        </p:nvSpPr>
        <p:spPr>
          <a:xfrm>
            <a:off x="547200" y="354125"/>
            <a:ext cx="8563182" cy="1152045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l" hangingPunct="1"/>
            <a:r>
              <a:rPr lang="en-US" altLang="zh-CN"/>
              <a:t>【</a:t>
            </a:r>
            <a:r>
              <a:rPr lang="zh-CN" altLang="en-US"/>
              <a:t>任务</a:t>
            </a:r>
            <a:r>
              <a:rPr lang="en-US" altLang="zh-CN"/>
              <a:t>15.2】</a:t>
            </a:r>
            <a:r>
              <a:rPr lang="zh-CN" altLang="en-US"/>
              <a:t>分书八皇后的统一算法框架</a:t>
            </a:r>
          </a:p>
        </p:txBody>
      </p:sp>
      <p:sp>
        <p:nvSpPr>
          <p:cNvPr id="11" name="对比下楼与跳马的解题思路（与或图）">
            <a:extLst>
              <a:ext uri="{FF2B5EF4-FFF2-40B4-BE49-F238E27FC236}">
                <a16:creationId xmlns:a16="http://schemas.microsoft.com/office/drawing/2014/main" id="{F54D5DDD-0EB5-49AB-A38A-62D3921AD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5671" y="664655"/>
            <a:ext cx="2823226" cy="530984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sz="2400" b="1">
                <a:solidFill>
                  <a:srgbClr val="00A2FF"/>
                </a:solidFill>
              </a:rPr>
              <a:t>对比</a:t>
            </a:r>
            <a:r>
              <a:rPr lang="zh-CN" altLang="en-US" sz="2400" b="1">
                <a:solidFill>
                  <a:srgbClr val="00A2FF"/>
                </a:solidFill>
              </a:rPr>
              <a:t>算法的</a:t>
            </a:r>
            <a:r>
              <a:rPr sz="2400" b="1">
                <a:solidFill>
                  <a:srgbClr val="00A2FF"/>
                </a:solidFill>
              </a:rPr>
              <a:t>与或图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803" name="线条" descr="线条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47201" y="5817446"/>
            <a:ext cx="5880759" cy="45719"/>
          </a:xfrm>
          <a:prstGeom prst="rect">
            <a:avLst/>
          </a:prstGeom>
        </p:spPr>
      </p:pic>
      <p:grpSp>
        <p:nvGrpSpPr>
          <p:cNvPr id="807" name="图像"/>
          <p:cNvGrpSpPr/>
          <p:nvPr/>
        </p:nvGrpSpPr>
        <p:grpSpPr>
          <a:xfrm>
            <a:off x="1260653" y="2349113"/>
            <a:ext cx="4666820" cy="3479231"/>
            <a:chOff x="0" y="0"/>
            <a:chExt cx="4666818" cy="3479230"/>
          </a:xfrm>
        </p:grpSpPr>
        <p:pic>
          <p:nvPicPr>
            <p:cNvPr id="806" name="图像" descr="图像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900" y="50800"/>
              <a:ext cx="4489019" cy="3250631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05" name="图像" descr="图像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4666819" cy="3479231"/>
            </a:xfrm>
            <a:prstGeom prst="rect">
              <a:avLst/>
            </a:prstGeom>
            <a:effectLst/>
          </p:spPr>
        </p:pic>
      </p:grpSp>
      <p:pic>
        <p:nvPicPr>
          <p:cNvPr id="808" name="图像" descr="图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9177" y="1954662"/>
            <a:ext cx="587120" cy="474414"/>
          </a:xfrm>
          <a:prstGeom prst="rect">
            <a:avLst/>
          </a:prstGeom>
          <a:ln w="12700">
            <a:miter lim="400000"/>
          </a:ln>
        </p:spPr>
      </p:pic>
      <p:pic>
        <p:nvPicPr>
          <p:cNvPr id="809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0189" y="3152561"/>
            <a:ext cx="510165" cy="5124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0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6775" y="2463323"/>
            <a:ext cx="510165" cy="512484"/>
          </a:xfrm>
          <a:prstGeom prst="rect">
            <a:avLst/>
          </a:prstGeom>
          <a:ln w="12700">
            <a:miter lim="400000"/>
          </a:ln>
        </p:spPr>
      </p:pic>
      <p:sp>
        <p:nvSpPr>
          <p:cNvPr id="811" name="V"/>
          <p:cNvSpPr txBox="1"/>
          <p:nvPr/>
        </p:nvSpPr>
        <p:spPr>
          <a:xfrm>
            <a:off x="2402590" y="3071820"/>
            <a:ext cx="478537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5200">
                <a:solidFill>
                  <a:srgbClr val="00882B"/>
                </a:solidFill>
                <a:latin typeface="Marker Felt"/>
                <a:ea typeface="Marker Felt"/>
                <a:cs typeface="Marker Felt"/>
                <a:sym typeface="Marker Felt"/>
              </a:defRPr>
            </a:lvl1pPr>
          </a:lstStyle>
          <a:p>
            <a:r>
              <a:t>V</a:t>
            </a:r>
          </a:p>
        </p:txBody>
      </p:sp>
      <p:pic>
        <p:nvPicPr>
          <p:cNvPr id="812" name="图像" descr="图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2589" y="1973765"/>
            <a:ext cx="587120" cy="47441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3" name="图像" descr="图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6002" y="1954662"/>
            <a:ext cx="587120" cy="47441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4" name="图像" descr="图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9091" y="1954662"/>
            <a:ext cx="587120" cy="47441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5" name="图像" descr="图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829" y="1954662"/>
            <a:ext cx="587120" cy="474414"/>
          </a:xfrm>
          <a:prstGeom prst="rect">
            <a:avLst/>
          </a:prstGeom>
          <a:ln w="12700">
            <a:miter lim="400000"/>
          </a:ln>
        </p:spPr>
      </p:pic>
      <p:sp>
        <p:nvSpPr>
          <p:cNvPr id="821" name="A"/>
          <p:cNvSpPr txBox="1"/>
          <p:nvPr/>
        </p:nvSpPr>
        <p:spPr>
          <a:xfrm>
            <a:off x="793558" y="5895348"/>
            <a:ext cx="27233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</a:t>
            </a:r>
          </a:p>
        </p:txBody>
      </p:sp>
      <p:sp>
        <p:nvSpPr>
          <p:cNvPr id="822" name="B"/>
          <p:cNvSpPr txBox="1"/>
          <p:nvPr/>
        </p:nvSpPr>
        <p:spPr>
          <a:xfrm>
            <a:off x="780616" y="6368855"/>
            <a:ext cx="27233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B</a:t>
            </a:r>
          </a:p>
        </p:txBody>
      </p:sp>
      <p:sp>
        <p:nvSpPr>
          <p:cNvPr id="823" name="C"/>
          <p:cNvSpPr txBox="1"/>
          <p:nvPr/>
        </p:nvSpPr>
        <p:spPr>
          <a:xfrm>
            <a:off x="791127" y="6852054"/>
            <a:ext cx="27233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</a:t>
            </a:r>
          </a:p>
        </p:txBody>
      </p:sp>
      <p:sp>
        <p:nvSpPr>
          <p:cNvPr id="824" name="D"/>
          <p:cNvSpPr txBox="1"/>
          <p:nvPr/>
        </p:nvSpPr>
        <p:spPr>
          <a:xfrm>
            <a:off x="799186" y="7330464"/>
            <a:ext cx="27233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</a:t>
            </a:r>
          </a:p>
        </p:txBody>
      </p:sp>
      <p:sp>
        <p:nvSpPr>
          <p:cNvPr id="825" name="E"/>
          <p:cNvSpPr txBox="1"/>
          <p:nvPr/>
        </p:nvSpPr>
        <p:spPr>
          <a:xfrm>
            <a:off x="787671" y="7822121"/>
            <a:ext cx="25831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</a:t>
            </a:r>
          </a:p>
        </p:txBody>
      </p:sp>
      <p:sp>
        <p:nvSpPr>
          <p:cNvPr id="826" name="F"/>
          <p:cNvSpPr txBox="1"/>
          <p:nvPr/>
        </p:nvSpPr>
        <p:spPr>
          <a:xfrm>
            <a:off x="791127" y="8263294"/>
            <a:ext cx="244054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</a:t>
            </a:r>
          </a:p>
        </p:txBody>
      </p:sp>
      <p:sp>
        <p:nvSpPr>
          <p:cNvPr id="827" name="G"/>
          <p:cNvSpPr txBox="1"/>
          <p:nvPr/>
        </p:nvSpPr>
        <p:spPr>
          <a:xfrm>
            <a:off x="779493" y="8732837"/>
            <a:ext cx="28647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G</a:t>
            </a:r>
          </a:p>
        </p:txBody>
      </p:sp>
      <p:sp>
        <p:nvSpPr>
          <p:cNvPr id="828" name="H"/>
          <p:cNvSpPr txBox="1"/>
          <p:nvPr/>
        </p:nvSpPr>
        <p:spPr>
          <a:xfrm>
            <a:off x="779816" y="9215332"/>
            <a:ext cx="27233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H</a:t>
            </a:r>
          </a:p>
        </p:txBody>
      </p:sp>
      <p:graphicFrame>
        <p:nvGraphicFramePr>
          <p:cNvPr id="829" name="表格"/>
          <p:cNvGraphicFramePr/>
          <p:nvPr>
            <p:extLst>
              <p:ext uri="{D42A27DB-BD31-4B8C-83A1-F6EECF244321}">
                <p14:modId xmlns:p14="http://schemas.microsoft.com/office/powerpoint/2010/main" val="889456295"/>
              </p:ext>
            </p:extLst>
          </p:nvPr>
        </p:nvGraphicFramePr>
        <p:xfrm>
          <a:off x="1277484" y="5897420"/>
          <a:ext cx="3727912" cy="3738880"/>
        </p:xfrm>
        <a:graphic>
          <a:graphicData uri="http://schemas.openxmlformats.org/drawingml/2006/table">
            <a:tbl>
              <a:tblPr>
                <a:tableStyleId>{C7B018BB-80A7-4F77-B60F-C8B233D01FF8}</a:tableStyleId>
              </a:tblPr>
              <a:tblGrid>
                <a:gridCol w="465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9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9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692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692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692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692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692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692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692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692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30" name="V"/>
          <p:cNvSpPr txBox="1"/>
          <p:nvPr/>
        </p:nvSpPr>
        <p:spPr>
          <a:xfrm>
            <a:off x="2402590" y="3766474"/>
            <a:ext cx="478537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5200">
                <a:solidFill>
                  <a:srgbClr val="00882B"/>
                </a:solidFill>
                <a:latin typeface="Marker Felt"/>
                <a:ea typeface="Marker Felt"/>
                <a:cs typeface="Marker Felt"/>
                <a:sym typeface="Marker Felt"/>
              </a:defRPr>
            </a:lvl1pPr>
          </a:lstStyle>
          <a:p>
            <a:r>
              <a:t>V</a:t>
            </a:r>
          </a:p>
        </p:txBody>
      </p:sp>
      <p:sp>
        <p:nvSpPr>
          <p:cNvPr id="831" name="V"/>
          <p:cNvSpPr txBox="1"/>
          <p:nvPr/>
        </p:nvSpPr>
        <p:spPr>
          <a:xfrm>
            <a:off x="3280840" y="2306815"/>
            <a:ext cx="478537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5200">
                <a:solidFill>
                  <a:srgbClr val="00882B"/>
                </a:solidFill>
                <a:latin typeface="Marker Felt"/>
                <a:ea typeface="Marker Felt"/>
                <a:cs typeface="Marker Felt"/>
                <a:sym typeface="Marker Felt"/>
              </a:defRPr>
            </a:lvl1pPr>
          </a:lstStyle>
          <a:p>
            <a:r>
              <a:t>V</a:t>
            </a:r>
          </a:p>
        </p:txBody>
      </p:sp>
      <p:sp>
        <p:nvSpPr>
          <p:cNvPr id="832" name="V"/>
          <p:cNvSpPr txBox="1"/>
          <p:nvPr/>
        </p:nvSpPr>
        <p:spPr>
          <a:xfrm>
            <a:off x="4095355" y="2301321"/>
            <a:ext cx="478537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5200">
                <a:solidFill>
                  <a:srgbClr val="00882B"/>
                </a:solidFill>
                <a:latin typeface="Marker Felt"/>
                <a:ea typeface="Marker Felt"/>
                <a:cs typeface="Marker Felt"/>
                <a:sym typeface="Marker Felt"/>
              </a:defRPr>
            </a:lvl1pPr>
          </a:lstStyle>
          <a:p>
            <a:r>
              <a:t>V</a:t>
            </a:r>
          </a:p>
        </p:txBody>
      </p:sp>
      <p:pic>
        <p:nvPicPr>
          <p:cNvPr id="833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9509" y="2463323"/>
            <a:ext cx="510165" cy="512484"/>
          </a:xfrm>
          <a:prstGeom prst="rect">
            <a:avLst/>
          </a:prstGeom>
          <a:ln w="12700">
            <a:miter lim="400000"/>
          </a:ln>
        </p:spPr>
      </p:pic>
      <p:sp>
        <p:nvSpPr>
          <p:cNvPr id="834" name="V"/>
          <p:cNvSpPr txBox="1"/>
          <p:nvPr/>
        </p:nvSpPr>
        <p:spPr>
          <a:xfrm>
            <a:off x="1519177" y="3090923"/>
            <a:ext cx="478537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5200">
                <a:solidFill>
                  <a:srgbClr val="00882B"/>
                </a:solidFill>
                <a:latin typeface="Marker Felt"/>
                <a:ea typeface="Marker Felt"/>
                <a:cs typeface="Marker Felt"/>
                <a:sym typeface="Marker Felt"/>
              </a:defRPr>
            </a:lvl1pPr>
          </a:lstStyle>
          <a:p>
            <a:r>
              <a:t>V</a:t>
            </a:r>
          </a:p>
        </p:txBody>
      </p:sp>
      <p:sp>
        <p:nvSpPr>
          <p:cNvPr id="835" name="V"/>
          <p:cNvSpPr txBox="1"/>
          <p:nvPr/>
        </p:nvSpPr>
        <p:spPr>
          <a:xfrm>
            <a:off x="5091831" y="3090923"/>
            <a:ext cx="478537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5200">
                <a:solidFill>
                  <a:srgbClr val="00882B"/>
                </a:solidFill>
                <a:latin typeface="Marker Felt"/>
                <a:ea typeface="Marker Felt"/>
                <a:cs typeface="Marker Felt"/>
                <a:sym typeface="Marker Felt"/>
              </a:defRPr>
            </a:lvl1pPr>
          </a:lstStyle>
          <a:p>
            <a:r>
              <a:t>V</a:t>
            </a:r>
          </a:p>
        </p:txBody>
      </p:sp>
      <p:pic>
        <p:nvPicPr>
          <p:cNvPr id="836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7015" y="2423963"/>
            <a:ext cx="510165" cy="5124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37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8061" y="3152561"/>
            <a:ext cx="510165" cy="512484"/>
          </a:xfrm>
          <a:prstGeom prst="rect">
            <a:avLst/>
          </a:prstGeom>
          <a:ln w="12700">
            <a:miter lim="400000"/>
          </a:ln>
        </p:spPr>
      </p:pic>
      <p:sp>
        <p:nvSpPr>
          <p:cNvPr id="838" name="V"/>
          <p:cNvSpPr txBox="1"/>
          <p:nvPr/>
        </p:nvSpPr>
        <p:spPr>
          <a:xfrm>
            <a:off x="3286002" y="3803030"/>
            <a:ext cx="478537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5200">
                <a:solidFill>
                  <a:srgbClr val="00882B"/>
                </a:solidFill>
                <a:latin typeface="Marker Felt"/>
                <a:ea typeface="Marker Felt"/>
                <a:cs typeface="Marker Felt"/>
                <a:sym typeface="Marker Felt"/>
              </a:defRPr>
            </a:lvl1pPr>
          </a:lstStyle>
          <a:p>
            <a:r>
              <a:t>V</a:t>
            </a:r>
          </a:p>
        </p:txBody>
      </p:sp>
      <p:sp>
        <p:nvSpPr>
          <p:cNvPr id="839" name="V"/>
          <p:cNvSpPr txBox="1"/>
          <p:nvPr/>
        </p:nvSpPr>
        <p:spPr>
          <a:xfrm>
            <a:off x="5052828" y="3802421"/>
            <a:ext cx="478537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5200">
                <a:solidFill>
                  <a:srgbClr val="00882B"/>
                </a:solidFill>
                <a:latin typeface="Marker Felt"/>
                <a:ea typeface="Marker Felt"/>
                <a:cs typeface="Marker Felt"/>
                <a:sym typeface="Marker Felt"/>
              </a:defRPr>
            </a:lvl1pPr>
          </a:lstStyle>
          <a:p>
            <a:r>
              <a:t>V</a:t>
            </a:r>
          </a:p>
        </p:txBody>
      </p:sp>
      <p:pic>
        <p:nvPicPr>
          <p:cNvPr id="840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5858" y="3922983"/>
            <a:ext cx="510165" cy="5124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41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3000" y="3874634"/>
            <a:ext cx="510165" cy="512484"/>
          </a:xfrm>
          <a:prstGeom prst="rect">
            <a:avLst/>
          </a:prstGeom>
          <a:ln w="12700">
            <a:miter lim="400000"/>
          </a:ln>
        </p:spPr>
      </p:pic>
      <p:sp>
        <p:nvSpPr>
          <p:cNvPr id="842" name="V"/>
          <p:cNvSpPr txBox="1"/>
          <p:nvPr/>
        </p:nvSpPr>
        <p:spPr>
          <a:xfrm>
            <a:off x="4161673" y="4417128"/>
            <a:ext cx="478537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5200">
                <a:solidFill>
                  <a:srgbClr val="00882B"/>
                </a:solidFill>
                <a:latin typeface="Marker Felt"/>
                <a:ea typeface="Marker Felt"/>
                <a:cs typeface="Marker Felt"/>
                <a:sym typeface="Marker Felt"/>
              </a:defRPr>
            </a:lvl1pPr>
          </a:lstStyle>
          <a:p>
            <a:r>
              <a:t>V</a:t>
            </a:r>
          </a:p>
        </p:txBody>
      </p:sp>
      <p:sp>
        <p:nvSpPr>
          <p:cNvPr id="843" name="V"/>
          <p:cNvSpPr txBox="1"/>
          <p:nvPr/>
        </p:nvSpPr>
        <p:spPr>
          <a:xfrm>
            <a:off x="2402590" y="5027719"/>
            <a:ext cx="478537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5200">
                <a:solidFill>
                  <a:srgbClr val="00882B"/>
                </a:solidFill>
                <a:latin typeface="Marker Felt"/>
                <a:ea typeface="Marker Felt"/>
                <a:cs typeface="Marker Felt"/>
                <a:sym typeface="Marker Felt"/>
              </a:defRPr>
            </a:lvl1pPr>
          </a:lstStyle>
          <a:p>
            <a:r>
              <a:t>V</a:t>
            </a:r>
          </a:p>
        </p:txBody>
      </p:sp>
      <p:sp>
        <p:nvSpPr>
          <p:cNvPr id="844" name="V"/>
          <p:cNvSpPr txBox="1"/>
          <p:nvPr/>
        </p:nvSpPr>
        <p:spPr>
          <a:xfrm>
            <a:off x="5091831" y="5041369"/>
            <a:ext cx="478537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ctr" defTabSz="415431">
              <a:lnSpc>
                <a:spcPct val="100000"/>
              </a:lnSpc>
              <a:defRPr sz="5200">
                <a:solidFill>
                  <a:srgbClr val="00882B"/>
                </a:solidFill>
                <a:latin typeface="Marker Felt"/>
                <a:ea typeface="Marker Felt"/>
                <a:cs typeface="Marker Felt"/>
                <a:sym typeface="Marker Felt"/>
              </a:defRPr>
            </a:lvl1pPr>
          </a:lstStyle>
          <a:p>
            <a:r>
              <a:t>V</a:t>
            </a:r>
          </a:p>
        </p:txBody>
      </p:sp>
      <p:pic>
        <p:nvPicPr>
          <p:cNvPr id="845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7015" y="4536344"/>
            <a:ext cx="510165" cy="5124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46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8061" y="5135434"/>
            <a:ext cx="510165" cy="5124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47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1619" y="5104807"/>
            <a:ext cx="510165" cy="5124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48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6317" y="4568729"/>
            <a:ext cx="510165" cy="5124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49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6775" y="4568729"/>
            <a:ext cx="510165" cy="5124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0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3000" y="4563491"/>
            <a:ext cx="510165" cy="5124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1" name="图像" descr="图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7230" y="5181319"/>
            <a:ext cx="510165" cy="5124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2" name="圆形" descr="圆形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934858" y="3076962"/>
            <a:ext cx="778935" cy="778935"/>
          </a:xfrm>
          <a:prstGeom prst="rect">
            <a:avLst/>
          </a:prstGeom>
          <a:effectLst>
            <a:outerShdw blurRad="25400" dist="12700" dir="5400000" rotWithShape="0">
              <a:srgbClr val="000000">
                <a:alpha val="50000"/>
              </a:srgbClr>
            </a:outerShdw>
          </a:effectLst>
        </p:spPr>
      </p:pic>
      <p:grpSp>
        <p:nvGrpSpPr>
          <p:cNvPr id="855" name="图像"/>
          <p:cNvGrpSpPr/>
          <p:nvPr/>
        </p:nvGrpSpPr>
        <p:grpSpPr>
          <a:xfrm>
            <a:off x="3160569" y="6400426"/>
            <a:ext cx="433494" cy="387235"/>
            <a:chOff x="0" y="0"/>
            <a:chExt cx="433493" cy="387233"/>
          </a:xfrm>
        </p:grpSpPr>
        <p:pic>
          <p:nvPicPr>
            <p:cNvPr id="854" name="图像" descr="图像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400" y="25400"/>
              <a:ext cx="382694" cy="33643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53" name="图像" descr="图像"/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433494" cy="387234"/>
            </a:xfrm>
            <a:prstGeom prst="rect">
              <a:avLst/>
            </a:prstGeom>
            <a:effectLst/>
          </p:spPr>
        </p:pic>
      </p:grpSp>
      <p:pic>
        <p:nvPicPr>
          <p:cNvPr id="856" name="图像" descr="图像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48513" y="2457408"/>
            <a:ext cx="624724" cy="592906"/>
          </a:xfrm>
          <a:prstGeom prst="rect">
            <a:avLst/>
          </a:prstGeom>
          <a:ln w="12700">
            <a:miter lim="400000"/>
          </a:ln>
        </p:spPr>
      </p:pic>
      <p:pic>
        <p:nvPicPr>
          <p:cNvPr id="857" name="图像" descr="图像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888" y="3072429"/>
            <a:ext cx="604633" cy="604633"/>
          </a:xfrm>
          <a:prstGeom prst="rect">
            <a:avLst/>
          </a:prstGeom>
          <a:ln w="12700">
            <a:miter lim="400000"/>
          </a:ln>
        </p:spPr>
      </p:pic>
      <p:pic>
        <p:nvPicPr>
          <p:cNvPr id="858" name="图像" descr="图像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614888" y="3687245"/>
            <a:ext cx="604633" cy="638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9" name="图像" descr="图像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66" y="4341222"/>
            <a:ext cx="604568" cy="658708"/>
          </a:xfrm>
          <a:prstGeom prst="rect">
            <a:avLst/>
          </a:prstGeom>
          <a:ln w="12700">
            <a:miter lim="400000"/>
          </a:ln>
        </p:spPr>
      </p:pic>
      <p:pic>
        <p:nvPicPr>
          <p:cNvPr id="860" name="图像" descr="图像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0779" y="5015853"/>
            <a:ext cx="615944" cy="681470"/>
          </a:xfrm>
          <a:prstGeom prst="rect">
            <a:avLst/>
          </a:prstGeom>
          <a:ln w="12700">
            <a:miter lim="400000"/>
          </a:ln>
        </p:spPr>
      </p:pic>
      <p:sp>
        <p:nvSpPr>
          <p:cNvPr id="861" name="箭头"/>
          <p:cNvSpPr/>
          <p:nvPr/>
        </p:nvSpPr>
        <p:spPr>
          <a:xfrm>
            <a:off x="6539614" y="5384771"/>
            <a:ext cx="1270001" cy="88108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aphicFrame>
        <p:nvGraphicFramePr>
          <p:cNvPr id="862" name="表格"/>
          <p:cNvGraphicFramePr/>
          <p:nvPr/>
        </p:nvGraphicFramePr>
        <p:xfrm>
          <a:off x="8264256" y="3856794"/>
          <a:ext cx="4483714" cy="4415875"/>
        </p:xfrm>
        <a:graphic>
          <a:graphicData uri="http://schemas.openxmlformats.org/drawingml/2006/table">
            <a:tbl>
              <a:tblPr firstRow="1" firstCol="1">
                <a:tableStyleId>{C7B018BB-80A7-4F77-B60F-C8B233D01FF8}</a:tableStyleId>
              </a:tblPr>
              <a:tblGrid>
                <a:gridCol w="761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1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0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9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93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77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2400" b="1"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000" b="1">
                          <a:solidFill>
                            <a:srgbClr val="C82506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70BF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82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29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8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65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18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92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L>
                    <a:lnR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R>
                    <a:lnT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T>
                    <a:lnB w="127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3" name="抽取算法共性，隔离问题差异（1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7482370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抽取算法共性，</a:t>
            </a:r>
            <a:r>
              <a:rPr lang="zh-CN" altLang="en-US"/>
              <a:t>剥</a:t>
            </a:r>
            <a:r>
              <a:t>离问题差异（1）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5BFD62-13C6-4B78-B7D8-6DA37BA88EF9}"/>
              </a:ext>
            </a:extLst>
          </p:cNvPr>
          <p:cNvSpPr txBox="1"/>
          <p:nvPr/>
        </p:nvSpPr>
        <p:spPr>
          <a:xfrm>
            <a:off x="6353876" y="4782516"/>
            <a:ext cx="1538883" cy="70583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提取共性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graphicFrame>
        <p:nvGraphicFramePr>
          <p:cNvPr id="866" name="表格"/>
          <p:cNvGraphicFramePr/>
          <p:nvPr>
            <p:extLst>
              <p:ext uri="{D42A27DB-BD31-4B8C-83A1-F6EECF244321}">
                <p14:modId xmlns:p14="http://schemas.microsoft.com/office/powerpoint/2010/main" val="3096574470"/>
              </p:ext>
            </p:extLst>
          </p:nvPr>
        </p:nvGraphicFramePr>
        <p:xfrm>
          <a:off x="605998" y="2171474"/>
          <a:ext cx="5271372" cy="2888322"/>
        </p:xfrm>
        <a:graphic>
          <a:graphicData uri="http://schemas.openxmlformats.org/drawingml/2006/table">
            <a:tbl>
              <a:tblPr firstRow="1" firstCol="1">
                <a:tableStyleId>{C7B018BB-80A7-4F77-B60F-C8B233D01FF8}</a:tableStyleId>
              </a:tblPr>
              <a:tblGrid>
                <a:gridCol w="87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8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8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13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2400" b="1"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3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3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3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3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D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3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67" name="表格"/>
          <p:cNvGraphicFramePr/>
          <p:nvPr>
            <p:extLst>
              <p:ext uri="{D42A27DB-BD31-4B8C-83A1-F6EECF244321}">
                <p14:modId xmlns:p14="http://schemas.microsoft.com/office/powerpoint/2010/main" val="3629740668"/>
              </p:ext>
            </p:extLst>
          </p:nvPr>
        </p:nvGraphicFramePr>
        <p:xfrm>
          <a:off x="605998" y="5162215"/>
          <a:ext cx="5271372" cy="4289605"/>
        </p:xfrm>
        <a:graphic>
          <a:graphicData uri="http://schemas.openxmlformats.org/drawingml/2006/table">
            <a:tbl>
              <a:tblPr firstRow="1" firstCol="1">
                <a:tableStyleId>{C7B018BB-80A7-4F77-B60F-C8B233D01FF8}</a:tableStyleId>
              </a:tblPr>
              <a:tblGrid>
                <a:gridCol w="585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441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 b="1"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73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B36AE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88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B36AE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83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B36AE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83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D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83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B36AE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83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F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B36AE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G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B36AE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24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H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8" name="上图分书问题，下图八皇后问题。…"/>
          <p:cNvSpPr txBox="1"/>
          <p:nvPr/>
        </p:nvSpPr>
        <p:spPr>
          <a:xfrm>
            <a:off x="6158345" y="2171474"/>
            <a:ext cx="6629399" cy="7232873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normAutofit fontScale="92500"/>
          </a:bodyPr>
          <a:lstStyle/>
          <a:p>
            <a:pPr defTabSz="415431">
              <a:lnSpc>
                <a:spcPct val="150000"/>
              </a:lnSpc>
              <a:defRPr sz="3200" b="0">
                <a:latin typeface="FZDaHei-B02S"/>
                <a:ea typeface="FZDaHei-B02S"/>
                <a:cs typeface="FZDaHei-B02S"/>
                <a:sym typeface="FZDaHei-B02S"/>
              </a:defRPr>
            </a:pPr>
            <a:r>
              <a:t>上图分书</a:t>
            </a:r>
            <a:r>
              <a:rPr lang="zh-CN" altLang="en-US"/>
              <a:t>任务</a:t>
            </a:r>
            <a:r>
              <a:t>，下图八皇后</a:t>
            </a:r>
            <a:r>
              <a:rPr lang="zh-CN" altLang="en-US"/>
              <a:t>任务</a:t>
            </a:r>
            <a:r>
              <a:t>。</a:t>
            </a:r>
          </a:p>
          <a:p>
            <a:pPr defTabSz="415431">
              <a:lnSpc>
                <a:spcPct val="150000"/>
              </a:lnSpc>
              <a:defRPr sz="3200" b="0">
                <a:latin typeface="FZDaHei-B02S"/>
                <a:ea typeface="FZDaHei-B02S"/>
                <a:cs typeface="FZDaHei-B02S"/>
                <a:sym typeface="FZDaHei-B02S"/>
              </a:defRPr>
            </a:pPr>
            <a:endParaRPr lang="en-US"/>
          </a:p>
          <a:p>
            <a:pPr defTabSz="415431">
              <a:lnSpc>
                <a:spcPct val="150000"/>
              </a:lnSpc>
              <a:defRPr sz="3200" b="0">
                <a:latin typeface="FZDaHei-B02S"/>
                <a:ea typeface="FZDaHei-B02S"/>
                <a:cs typeface="FZDaHei-B02S"/>
                <a:sym typeface="FZDaHei-B02S"/>
              </a:defRPr>
            </a:pPr>
            <a:r>
              <a:t>经过对比，发现它们可抽象成同一问题，即</a:t>
            </a:r>
            <a:r>
              <a:rPr lang="en-US" altLang="zh-CN"/>
              <a:t>【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在限定条件下设置矩阵元素</a:t>
            </a:r>
            <a:r>
              <a:rPr lang="en-US" altLang="zh-CN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】</a:t>
            </a:r>
            <a:r>
              <a:t>。</a:t>
            </a:r>
          </a:p>
          <a:p>
            <a:pPr defTabSz="415431">
              <a:lnSpc>
                <a:spcPct val="150000"/>
              </a:lnSpc>
              <a:defRPr sz="3200" b="0">
                <a:latin typeface="FZDaHei-B02S"/>
                <a:ea typeface="FZDaHei-B02S"/>
                <a:cs typeface="FZDaHei-B02S"/>
                <a:sym typeface="FZDaHei-B02S"/>
              </a:defRPr>
            </a:pPr>
            <a:endParaRPr/>
          </a:p>
          <a:p>
            <a:pPr defTabSz="415431">
              <a:lnSpc>
                <a:spcPct val="150000"/>
              </a:lnSpc>
              <a:defRPr sz="3200" b="0">
                <a:latin typeface="FZDaHei-B02S"/>
                <a:ea typeface="FZDaHei-B02S"/>
                <a:cs typeface="FZDaHei-B02S"/>
                <a:sym typeface="FZDaHei-B02S"/>
              </a:defRPr>
            </a:pPr>
            <a:r>
              <a:rPr lang="zh-CN" altLang="en-US"/>
              <a:t>关于限定条件，</a:t>
            </a:r>
            <a:r>
              <a:t>共同都有的是：</a:t>
            </a:r>
            <a:r>
              <a:rPr>
                <a:solidFill>
                  <a:schemeClr val="accent1"/>
                </a:solidFill>
              </a:rPr>
              <a:t>行</a:t>
            </a:r>
            <a:r>
              <a:rPr lang="zh-CN" altLang="en-US">
                <a:solidFill>
                  <a:schemeClr val="accent1"/>
                </a:solidFill>
              </a:rPr>
              <a:t>和</a:t>
            </a:r>
            <a:r>
              <a:rPr>
                <a:solidFill>
                  <a:schemeClr val="accent1"/>
                </a:solidFill>
              </a:rPr>
              <a:t>列</a:t>
            </a:r>
            <a:r>
              <a:rPr lang="zh-CN" altLang="en-US">
                <a:solidFill>
                  <a:schemeClr val="accent1"/>
                </a:solidFill>
              </a:rPr>
              <a:t>的元素</a:t>
            </a:r>
            <a:r>
              <a:rPr>
                <a:solidFill>
                  <a:schemeClr val="accent1"/>
                </a:solidFill>
              </a:rPr>
              <a:t>不</a:t>
            </a:r>
            <a:r>
              <a:rPr lang="zh-CN" altLang="en-US">
                <a:solidFill>
                  <a:schemeClr val="accent1"/>
                </a:solidFill>
              </a:rPr>
              <a:t>能</a:t>
            </a:r>
            <a:r>
              <a:rPr>
                <a:solidFill>
                  <a:schemeClr val="accent1"/>
                </a:solidFill>
              </a:rPr>
              <a:t>重复、不</a:t>
            </a:r>
            <a:r>
              <a:rPr lang="zh-CN" altLang="en-US">
                <a:solidFill>
                  <a:schemeClr val="accent1"/>
                </a:solidFill>
              </a:rPr>
              <a:t>能</a:t>
            </a:r>
            <a:r>
              <a:rPr>
                <a:solidFill>
                  <a:schemeClr val="accent1"/>
                </a:solidFill>
              </a:rPr>
              <a:t>遗漏</a:t>
            </a:r>
            <a:r>
              <a:t>。</a:t>
            </a:r>
          </a:p>
          <a:p>
            <a:pPr defTabSz="415431">
              <a:lnSpc>
                <a:spcPct val="150000"/>
              </a:lnSpc>
              <a:defRPr sz="3200" b="0">
                <a:latin typeface="FZDaHei-B02S"/>
                <a:ea typeface="FZDaHei-B02S"/>
                <a:cs typeface="FZDaHei-B02S"/>
                <a:sym typeface="FZDaHei-B02S"/>
              </a:defRPr>
            </a:pPr>
            <a:endParaRPr/>
          </a:p>
          <a:p>
            <a:pPr defTabSz="415431">
              <a:lnSpc>
                <a:spcPct val="150000"/>
              </a:lnSpc>
              <a:defRPr sz="3200" b="0">
                <a:latin typeface="FZDaHei-B02S"/>
                <a:ea typeface="FZDaHei-B02S"/>
                <a:cs typeface="FZDaHei-B02S"/>
                <a:sym typeface="FZDaHei-B02S"/>
              </a:defRPr>
            </a:pPr>
            <a:r>
              <a:rPr lang="zh-CN" altLang="en-US"/>
              <a:t>但在</a:t>
            </a:r>
            <a:r>
              <a:t>八皇后任务</a:t>
            </a:r>
            <a:r>
              <a:rPr lang="zh-CN" altLang="en-US"/>
              <a:t>中</a:t>
            </a:r>
            <a:r>
              <a:t>，又增加了一条限定</a:t>
            </a:r>
            <a:r>
              <a:rPr lang="zh-CN" altLang="en-US"/>
              <a:t>条件：</a:t>
            </a:r>
            <a:r>
              <a:rPr>
                <a:solidFill>
                  <a:schemeClr val="accent1"/>
                </a:solidFill>
              </a:rPr>
              <a:t>每条斜线上只能设置一个元素</a:t>
            </a:r>
            <a:r>
              <a:t>。</a:t>
            </a:r>
          </a:p>
        </p:txBody>
      </p:sp>
      <p:sp>
        <p:nvSpPr>
          <p:cNvPr id="869" name="抽取算法共性，隔离问题差异（2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7503012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抽取算法共性，</a:t>
            </a:r>
            <a:r>
              <a:rPr lang="zh-CN" altLang="en-US"/>
              <a:t>剥</a:t>
            </a:r>
            <a:r>
              <a:t>离问题差异（2）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sp>
        <p:nvSpPr>
          <p:cNvPr id="873" name="当然， 二个问题也有区别：…"/>
          <p:cNvSpPr txBox="1"/>
          <p:nvPr/>
        </p:nvSpPr>
        <p:spPr>
          <a:xfrm>
            <a:off x="6286427" y="2951429"/>
            <a:ext cx="6016409" cy="5585989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>
            <a:normAutofit fontScale="92500" lnSpcReduction="10000"/>
          </a:bodyPr>
          <a:lstStyle/>
          <a:p>
            <a:pPr defTabSz="415431">
              <a:lnSpc>
                <a:spcPct val="150000"/>
              </a:lnSpc>
              <a:defRPr sz="3200" b="0">
                <a:latin typeface="FZDaHei-B02S"/>
                <a:ea typeface="FZDaHei-B02S"/>
                <a:cs typeface="FZDaHei-B02S"/>
                <a:sym typeface="FZDaHei-B02S"/>
              </a:defRPr>
            </a:pPr>
            <a:r>
              <a:t>当然， </a:t>
            </a:r>
            <a:r>
              <a:rPr lang="zh-CN" altLang="en-US"/>
              <a:t>这两</a:t>
            </a:r>
            <a:r>
              <a:t>个</a:t>
            </a:r>
            <a:r>
              <a:rPr lang="zh-CN" altLang="en-US"/>
              <a:t>任务</a:t>
            </a:r>
            <a:r>
              <a:t>也有区别：</a:t>
            </a:r>
          </a:p>
          <a:p>
            <a:pPr defTabSz="415431">
              <a:lnSpc>
                <a:spcPct val="150000"/>
              </a:lnSpc>
              <a:defRPr sz="3200" b="0">
                <a:latin typeface="FZDaHei-B02S"/>
                <a:ea typeface="FZDaHei-B02S"/>
                <a:cs typeface="FZDaHei-B02S"/>
                <a:sym typeface="FZDaHei-B02S"/>
              </a:defRPr>
            </a:pPr>
            <a:endParaRPr/>
          </a:p>
          <a:p>
            <a:pPr marL="833437" indent="-833437" defTabSz="415431">
              <a:lnSpc>
                <a:spcPct val="150000"/>
              </a:lnSpc>
              <a:buSzPct val="100000"/>
              <a:buAutoNum type="arabicPeriod"/>
              <a:defRPr sz="3200" b="0">
                <a:latin typeface="FZDaHei-B02S"/>
                <a:ea typeface="FZDaHei-B02S"/>
                <a:cs typeface="FZDaHei-B02S"/>
                <a:sym typeface="FZDaHei-B02S"/>
              </a:defRPr>
            </a:pPr>
            <a:r>
              <a:t>分书</a:t>
            </a:r>
            <a:r>
              <a:rPr lang="zh-CN" altLang="en-US"/>
              <a:t>任务</a:t>
            </a:r>
            <a:r>
              <a:t>中，可以设置元素的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位置</a:t>
            </a:r>
            <a:r>
              <a:rPr lang="zh-CN" altLang="en-US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集合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是矩阵</a:t>
            </a:r>
            <a:r>
              <a:rPr lang="zh-CN" altLang="en-US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所有位置集合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的</a:t>
            </a:r>
            <a:r>
              <a:rPr lang="zh-CN" altLang="en-US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一个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子集</a:t>
            </a:r>
            <a:r>
              <a:t>，即题目中用户与图书喜好关系表。</a:t>
            </a:r>
          </a:p>
          <a:p>
            <a:pPr marL="833437" indent="-833437" defTabSz="415431">
              <a:lnSpc>
                <a:spcPct val="150000"/>
              </a:lnSpc>
              <a:spcBef>
                <a:spcPts val="2000"/>
              </a:spcBef>
              <a:buSzPct val="100000"/>
              <a:buAutoNum type="arabicPeriod"/>
              <a:defRPr sz="3200" b="0">
                <a:latin typeface="FZDaHei-B02S"/>
                <a:ea typeface="FZDaHei-B02S"/>
                <a:cs typeface="FZDaHei-B02S"/>
                <a:sym typeface="FZDaHei-B02S"/>
              </a:defRPr>
            </a:pPr>
            <a:r>
              <a:t>八皇后</a:t>
            </a:r>
            <a:r>
              <a:rPr lang="zh-CN" altLang="en-US"/>
              <a:t>任务</a:t>
            </a:r>
            <a:r>
              <a:t>中，所有位置均可以</a:t>
            </a:r>
            <a:r>
              <a:rPr lang="zh-CN" altLang="en-US"/>
              <a:t>被</a:t>
            </a:r>
            <a:r>
              <a:t>选择，没有限制。</a:t>
            </a:r>
          </a:p>
        </p:txBody>
      </p:sp>
      <p:sp>
        <p:nvSpPr>
          <p:cNvPr id="875" name="抽取算法共性，隔离问题差异（3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7503012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抽取算法共性，</a:t>
            </a:r>
            <a:r>
              <a:rPr lang="zh-CN" altLang="en-US"/>
              <a:t>剥</a:t>
            </a:r>
            <a:r>
              <a:t>离问题差异（3）</a:t>
            </a:r>
          </a:p>
        </p:txBody>
      </p:sp>
      <p:graphicFrame>
        <p:nvGraphicFramePr>
          <p:cNvPr id="7" name="表格">
            <a:extLst>
              <a:ext uri="{FF2B5EF4-FFF2-40B4-BE49-F238E27FC236}">
                <a16:creationId xmlns:a16="http://schemas.microsoft.com/office/drawing/2014/main" id="{11BF34EE-E53D-48EB-8049-7C8ABC7C84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927068"/>
              </p:ext>
            </p:extLst>
          </p:nvPr>
        </p:nvGraphicFramePr>
        <p:xfrm>
          <a:off x="605998" y="5162215"/>
          <a:ext cx="5271372" cy="4289605"/>
        </p:xfrm>
        <a:graphic>
          <a:graphicData uri="http://schemas.openxmlformats.org/drawingml/2006/table">
            <a:tbl>
              <a:tblPr firstRow="1" firstCol="1">
                <a:tableStyleId>{C7B018BB-80A7-4F77-B60F-C8B233D01FF8}</a:tableStyleId>
              </a:tblPr>
              <a:tblGrid>
                <a:gridCol w="585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5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441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 b="1"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73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B36AE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88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B36AE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83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B36AE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83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D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83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B36AE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83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F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B36AE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99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G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B36AE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24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H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C825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表格">
            <a:extLst>
              <a:ext uri="{FF2B5EF4-FFF2-40B4-BE49-F238E27FC236}">
                <a16:creationId xmlns:a16="http://schemas.microsoft.com/office/drawing/2014/main" id="{7BAE8C77-6442-4AD5-BA72-07C86DFD0C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7419293"/>
              </p:ext>
            </p:extLst>
          </p:nvPr>
        </p:nvGraphicFramePr>
        <p:xfrm>
          <a:off x="605998" y="2171474"/>
          <a:ext cx="5271372" cy="2888322"/>
        </p:xfrm>
        <a:graphic>
          <a:graphicData uri="http://schemas.openxmlformats.org/drawingml/2006/table">
            <a:tbl>
              <a:tblPr firstRow="1" firstCol="1">
                <a:tableStyleId>{C7B018BB-80A7-4F77-B60F-C8B233D01FF8}</a:tableStyleId>
              </a:tblPr>
              <a:tblGrid>
                <a:gridCol w="87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8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8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13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2400" b="1"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008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3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3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3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5D3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3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D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38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8382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606060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606060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  <a:solidFill>
                      <a:srgbClr val="F3901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B8B8B8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4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@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B8B8B8"/>
                      </a:solidFill>
                      <a:miter lim="400000"/>
                    </a:lnL>
                    <a:lnR w="3175">
                      <a:solidFill>
                        <a:srgbClr val="606060"/>
                      </a:solidFill>
                      <a:miter lim="400000"/>
                    </a:lnR>
                    <a:lnT w="3175">
                      <a:solidFill>
                        <a:srgbClr val="B8B8B8"/>
                      </a:solidFill>
                      <a:miter lim="400000"/>
                    </a:lnT>
                    <a:lnB w="3175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sp>
        <p:nvSpPr>
          <p:cNvPr id="878" name="/// 分书、八皇后问题通用算法框架…"/>
          <p:cNvSpPr txBox="1"/>
          <p:nvPr/>
        </p:nvSpPr>
        <p:spPr>
          <a:xfrm>
            <a:off x="719999" y="824788"/>
            <a:ext cx="6428161" cy="8104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/// 分书、八皇后问题</a:t>
            </a:r>
            <a:r>
              <a:rPr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通用算法框架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//#define QUEEN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#ifdef QUEEN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const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SIZE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#else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const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SIZE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#endif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struct</a:t>
            </a:r>
            <a:r>
              <a:rPr>
                <a:latin typeface="Lucida Console" panose="020B0609040504020204" pitchFamily="49" charset="0"/>
              </a:rPr>
              <a:t> place_state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各行中的位置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 Q[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SIZE</a:t>
            </a:r>
            <a:r>
              <a:rPr>
                <a:latin typeface="Lucida Console" panose="020B0609040504020204" pitchFamily="49" charset="0"/>
              </a:rPr>
              <a:t>];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当前行、(i-j)对角线、(i+j)对角线是否安全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S[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SIZE</a:t>
            </a:r>
            <a:r>
              <a:rPr>
                <a:latin typeface="Lucida Console" panose="020B0609040504020204" pitchFamily="49" charset="0"/>
              </a:rPr>
              <a:t>], L[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*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SIZE</a:t>
            </a:r>
            <a:r>
              <a:rPr>
                <a:latin typeface="Lucida Console" panose="020B0609040504020204" pitchFamily="49" charset="0"/>
              </a:rPr>
              <a:t>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], R[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*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SIZE</a:t>
            </a:r>
            <a:r>
              <a:rPr>
                <a:latin typeface="Lucida Console" panose="020B0609040504020204" pitchFamily="49" charset="0"/>
              </a:rPr>
              <a:t>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// 方案数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num;</a:t>
            </a:r>
          </a:p>
        </p:txBody>
      </p:sp>
      <p:sp>
        <p:nvSpPr>
          <p:cNvPr id="880" name="int main() {…"/>
          <p:cNvSpPr txBox="1"/>
          <p:nvPr/>
        </p:nvSpPr>
        <p:spPr>
          <a:xfrm>
            <a:off x="5989339" y="933200"/>
            <a:ext cx="6658349" cy="26517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31595D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place_state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state = </a:t>
            </a:r>
            <a:r>
              <a:rPr>
                <a:latin typeface="Lucida Console" panose="020B0609040504020204" pitchFamily="49" charset="0"/>
              </a:rPr>
              <a:t>CreateInitState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();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state);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4F6845-64C4-42B1-AAE6-BF97C7BE3F68}"/>
              </a:ext>
            </a:extLst>
          </p:cNvPr>
          <p:cNvSpPr txBox="1"/>
          <p:nvPr/>
        </p:nvSpPr>
        <p:spPr>
          <a:xfrm>
            <a:off x="719999" y="9068999"/>
            <a:ext cx="7566174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Consolas" panose="020B0609020204030204" pitchFamily="49" charset="0"/>
                <a:sym typeface="Helvetica Neue"/>
              </a:rPr>
              <a:t>说明：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Consolas" panose="020B0609020204030204" pitchFamily="49" charset="0"/>
                <a:sym typeface="Helvetica Neue"/>
              </a:rPr>
              <a:t>#ifdef, #else, #endif 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Consolas" panose="020B0609020204030204" pitchFamily="49" charset="0"/>
                <a:sym typeface="Helvetica Neue"/>
              </a:rPr>
              <a:t>是条件编译指令。解释见下页。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sp>
        <p:nvSpPr>
          <p:cNvPr id="884" name="【编程小知识】条件编译指令"/>
          <p:cNvSpPr>
            <a:spLocks noGrp="1"/>
          </p:cNvSpPr>
          <p:nvPr>
            <p:ph type="title"/>
          </p:nvPr>
        </p:nvSpPr>
        <p:spPr>
          <a:xfrm>
            <a:off x="547200" y="354125"/>
            <a:ext cx="6297220" cy="1152045"/>
          </a:xfrm>
          <a:prstGeom prst="rect">
            <a:avLst/>
          </a:prstGeom>
          <a:solidFill>
            <a:schemeClr val="accent5"/>
          </a:solidFill>
        </p:spPr>
        <p:txBody>
          <a:bodyPr/>
          <a:lstStyle/>
          <a:p>
            <a:pPr algn="l"/>
            <a:r>
              <a:t>【编程小知识】条件编译指令</a:t>
            </a:r>
          </a:p>
        </p:txBody>
      </p:sp>
      <p:pic>
        <p:nvPicPr>
          <p:cNvPr id="885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32" y="2408226"/>
            <a:ext cx="2942523" cy="3508862"/>
          </a:xfrm>
          <a:prstGeom prst="rect">
            <a:avLst/>
          </a:prstGeom>
          <a:ln w="25400">
            <a:solidFill>
              <a:srgbClr val="929292"/>
            </a:solidFill>
            <a:miter lim="400000"/>
          </a:ln>
          <a:effectLst>
            <a:outerShdw blurRad="190500" dist="8455" dir="5400000" rotWithShape="0">
              <a:srgbClr val="000000"/>
            </a:outerShdw>
          </a:effectLst>
        </p:spPr>
      </p:pic>
      <p:sp>
        <p:nvSpPr>
          <p:cNvPr id="886" name="#define、#ifdef、#else、#endif等等是C/C++语言中的“条件编译指令”，用来控制“编译器”的运行的。"/>
          <p:cNvSpPr txBox="1"/>
          <p:nvPr/>
        </p:nvSpPr>
        <p:spPr>
          <a:xfrm>
            <a:off x="3995637" y="2276572"/>
            <a:ext cx="8573053" cy="999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>
              <a:lnSpc>
                <a:spcPct val="120000"/>
              </a:lnSpc>
              <a:defRPr sz="2600"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r>
              <a:t>#ifdef、#else、#endif等等是C/C++语言中的“条件编译指令”，用来控制“编译器”的运行的。</a:t>
            </a:r>
          </a:p>
        </p:txBody>
      </p:sp>
      <p:sp>
        <p:nvSpPr>
          <p:cNvPr id="888" name="#ifdef/#else/#endif通常是成组使用的，其中#else是可选的。有点儿类似于语言中的if/else，编译器将根据条件是否成立来决定哪些语句是有效的。在上面的例子中，条件编译选项表达的意思是：如果符号QUEEN在之前被定义了，那么常量SIZE就等于8；否则常量SIZE就等于5。…"/>
          <p:cNvSpPr txBox="1"/>
          <p:nvPr/>
        </p:nvSpPr>
        <p:spPr>
          <a:xfrm>
            <a:off x="576533" y="6897858"/>
            <a:ext cx="11851733" cy="234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500">
                <a:solidFill>
                  <a:schemeClr val="accent1">
                    <a:lumOff val="-13575"/>
                  </a:schemeClr>
                </a:solidFill>
                <a:latin typeface="黑体"/>
                <a:ea typeface="黑体"/>
                <a:cs typeface="黑体"/>
                <a:sym typeface="黑体"/>
              </a:defRPr>
            </a:pPr>
            <a:r>
              <a:rPr lang="zh-CN" altLang="en-US">
                <a:solidFill>
                  <a:srgbClr val="5E5E5E"/>
                </a:solidFill>
              </a:rPr>
              <a:t>此外，</a:t>
            </a:r>
            <a:r>
              <a:rPr>
                <a:solidFill>
                  <a:srgbClr val="5E5E5E"/>
                </a:solidFill>
              </a:rPr>
              <a:t>有</a:t>
            </a:r>
            <a:r>
              <a:rPr lang="zh-CN" altLang="en-US">
                <a:solidFill>
                  <a:srgbClr val="5E5E5E"/>
                </a:solidFill>
              </a:rPr>
              <a:t>些时候</a:t>
            </a:r>
            <a:r>
              <a:rPr>
                <a:solidFill>
                  <a:srgbClr val="5E5E5E"/>
                </a:solidFill>
              </a:rPr>
              <a:t>不想</a:t>
            </a:r>
            <a:r>
              <a:rPr lang="zh-CN" altLang="en-US">
                <a:solidFill>
                  <a:srgbClr val="5E5E5E"/>
                </a:solidFill>
              </a:rPr>
              <a:t>直接</a:t>
            </a:r>
            <a:r>
              <a:rPr>
                <a:solidFill>
                  <a:srgbClr val="5E5E5E"/>
                </a:solidFill>
              </a:rPr>
              <a:t>删掉代码（</a:t>
            </a:r>
            <a:r>
              <a:rPr lang="zh-CN" altLang="en-US">
                <a:solidFill>
                  <a:srgbClr val="5E5E5E"/>
                </a:solidFill>
              </a:rPr>
              <a:t>可以</a:t>
            </a:r>
            <a:r>
              <a:rPr>
                <a:solidFill>
                  <a:srgbClr val="5E5E5E"/>
                </a:solidFill>
              </a:rPr>
              <a:t>留点</a:t>
            </a:r>
            <a:r>
              <a:rPr lang="zh-CN" altLang="en-US">
                <a:solidFill>
                  <a:srgbClr val="5E5E5E"/>
                </a:solidFill>
              </a:rPr>
              <a:t>代码的</a:t>
            </a:r>
            <a:r>
              <a:rPr>
                <a:solidFill>
                  <a:srgbClr val="5E5E5E"/>
                </a:solidFill>
              </a:rPr>
              <a:t>历史变迁</a:t>
            </a:r>
            <a:r>
              <a:rPr lang="zh-CN" altLang="en-US">
                <a:solidFill>
                  <a:srgbClr val="5E5E5E"/>
                </a:solidFill>
              </a:rPr>
              <a:t>过程</a:t>
            </a:r>
            <a:r>
              <a:rPr>
                <a:solidFill>
                  <a:srgbClr val="5E5E5E"/>
                </a:solidFill>
              </a:rPr>
              <a:t>），</a:t>
            </a:r>
            <a:r>
              <a:rPr lang="zh-CN" altLang="en-US">
                <a:solidFill>
                  <a:srgbClr val="5E5E5E"/>
                </a:solidFill>
              </a:rPr>
              <a:t>但使</a:t>
            </a:r>
            <a:r>
              <a:rPr>
                <a:solidFill>
                  <a:srgbClr val="5E5E5E"/>
                </a:solidFill>
              </a:rPr>
              <a:t>用注释</a:t>
            </a:r>
            <a:r>
              <a:rPr lang="zh-CN" altLang="en-US">
                <a:solidFill>
                  <a:srgbClr val="5E5E5E"/>
                </a:solidFill>
              </a:rPr>
              <a:t>又嫌</a:t>
            </a:r>
            <a:r>
              <a:rPr>
                <a:solidFill>
                  <a:srgbClr val="5E5E5E"/>
                </a:solidFill>
              </a:rPr>
              <a:t>麻烦</a:t>
            </a:r>
            <a:r>
              <a:rPr lang="zh-CN" altLang="en-US">
                <a:solidFill>
                  <a:srgbClr val="5E5E5E"/>
                </a:solidFill>
              </a:rPr>
              <a:t>，甚至引入不必要的歧义</a:t>
            </a:r>
            <a:r>
              <a:rPr>
                <a:solidFill>
                  <a:srgbClr val="5E5E5E"/>
                </a:solidFill>
              </a:rPr>
              <a:t>，这时可以用如下方式来“删除”</a:t>
            </a:r>
            <a:r>
              <a:rPr lang="zh-CN" altLang="en-US">
                <a:solidFill>
                  <a:srgbClr val="5E5E5E"/>
                </a:solidFill>
              </a:rPr>
              <a:t>代码</a:t>
            </a:r>
            <a:r>
              <a:rPr>
                <a:solidFill>
                  <a:srgbClr val="5E5E5E"/>
                </a:solidFill>
              </a:rPr>
              <a:t>：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 </a:t>
            </a:r>
          </a:p>
          <a:p>
            <a:pPr>
              <a:lnSpc>
                <a:spcPct val="120000"/>
              </a:lnSpc>
              <a:defRPr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黑体"/>
                <a:ea typeface="黑体"/>
                <a:cs typeface="黑体"/>
                <a:sym typeface="黑体"/>
              </a:defRPr>
            </a:pPr>
            <a:r>
              <a:t>#if 0</a:t>
            </a:r>
          </a:p>
          <a:p>
            <a:pPr>
              <a:lnSpc>
                <a:spcPct val="120000"/>
              </a:lnSpc>
              <a:defRPr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黑体"/>
                <a:ea typeface="黑体"/>
                <a:cs typeface="黑体"/>
                <a:sym typeface="黑体"/>
              </a:defRPr>
            </a:pPr>
            <a:r>
              <a:t>for (int i=0; i&lt;10; i++) cout &lt;&lt; "HELLO" &lt;&lt; endl;</a:t>
            </a:r>
          </a:p>
          <a:p>
            <a:pPr>
              <a:lnSpc>
                <a:spcPct val="120000"/>
              </a:lnSpc>
              <a:defRPr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黑体"/>
                <a:ea typeface="黑体"/>
                <a:cs typeface="黑体"/>
                <a:sym typeface="黑体"/>
              </a:defRPr>
            </a:pPr>
            <a:r>
              <a:t>#endif</a:t>
            </a:r>
          </a:p>
        </p:txBody>
      </p:sp>
      <p:sp>
        <p:nvSpPr>
          <p:cNvPr id="8" name="#ifdef/#else/#endif通常是成组使用的，其中#else是可选的。有点儿类似于语言中的if/else，编译器将根据条件是否成立来决定哪些语句是有效的。在上面的例子中，条件编译选项表达的意思是：如果符号QUEEN在之前被定义了，那么常量SIZE就等于8；否则常量SIZE就等于5。…">
            <a:extLst>
              <a:ext uri="{FF2B5EF4-FFF2-40B4-BE49-F238E27FC236}">
                <a16:creationId xmlns:a16="http://schemas.microsoft.com/office/drawing/2014/main" id="{1D5C8FF1-8B2E-4496-9ACD-15B8A02139AD}"/>
              </a:ext>
            </a:extLst>
          </p:cNvPr>
          <p:cNvSpPr txBox="1"/>
          <p:nvPr/>
        </p:nvSpPr>
        <p:spPr>
          <a:xfrm>
            <a:off x="3995637" y="3567470"/>
            <a:ext cx="8573053" cy="23496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just">
              <a:lnSpc>
                <a:spcPct val="120000"/>
              </a:lnSpc>
              <a:defRPr sz="2500">
                <a:solidFill>
                  <a:schemeClr val="accent1">
                    <a:lumOff val="-13575"/>
                  </a:schemeClr>
                </a:solidFill>
                <a:latin typeface="黑体"/>
                <a:ea typeface="黑体"/>
                <a:cs typeface="黑体"/>
                <a:sym typeface="黑体"/>
              </a:defRPr>
            </a:pPr>
            <a:r>
              <a:t>#ifdef/#else/#endif通常是成组使用的，其中#else是可选的。类似于语言中的if/else，编译器将根据条件是否成立来决定哪些语句是有效的。</a:t>
            </a:r>
            <a:r>
              <a:rPr lang="zh-CN" altLang="en-US"/>
              <a:t>在左边</a:t>
            </a:r>
            <a:r>
              <a:t>例子中，条件编译选项表达的意思是：</a:t>
            </a:r>
            <a:r>
              <a:rPr>
                <a:solidFill>
                  <a:srgbClr val="FF0000"/>
                </a:solidFill>
              </a:rPr>
              <a:t>如果符号QUEEN在之前被定义了，那么常量SIZE就等于8；否则常量SIZE就等于5。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6DF840A6-3838-437B-9D87-F8C53D71BB39}"/>
              </a:ext>
            </a:extLst>
          </p:cNvPr>
          <p:cNvSpPr/>
          <p:nvPr/>
        </p:nvSpPr>
        <p:spPr>
          <a:xfrm>
            <a:off x="1325429" y="1721223"/>
            <a:ext cx="9311194" cy="2170851"/>
          </a:xfrm>
          <a:prstGeom prst="roundRect">
            <a:avLst>
              <a:gd name="adj" fmla="val 4902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solidFill>
              <a:schemeClr val="tx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891" name="bool IsValid(int row, int col) {…"/>
          <p:cNvSpPr txBox="1"/>
          <p:nvPr/>
        </p:nvSpPr>
        <p:spPr>
          <a:xfrm>
            <a:off x="721156" y="101840"/>
            <a:ext cx="12048170" cy="9549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IsValid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row,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#ifdef QUEEN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///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八皇后棋盘上的所有位置均可以放置皇后，所以总是返回 true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#else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like[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= {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},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},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},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},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  };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like[row][col]; 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///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分书要求皆大欢喜，只有喜欢的书才返回 true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#endif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IsSafe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>
                <a:latin typeface="Lucida Console" panose="020B0609040504020204" pitchFamily="49" charset="0"/>
              </a:rPr>
              <a:t>place_state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state,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row,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col) {</a:t>
            </a:r>
            <a:endParaRPr lang="en-US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  </a:t>
            </a: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rgbClr val="BA2DA2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if</a:t>
            </a: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 (!</a:t>
            </a: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rgbClr val="31595D"/>
                </a:solidFill>
                <a:effectLst/>
                <a:highlight>
                  <a:srgbClr val="FFFF00"/>
                </a:highlight>
                <a:uLnTx/>
                <a:uFillTx/>
                <a:latin typeface="Lucida Console" panose="020B0609040504020204" pitchFamily="49" charset="0"/>
                <a:sym typeface="Helvetica Neue"/>
              </a:rPr>
              <a:t>IsValid</a:t>
            </a: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(row, col)) </a:t>
            </a: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rgbClr val="BA2DA2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return false</a:t>
            </a:r>
            <a:r>
              <a:rPr lang="en-US" altLang="zh-CN" sz="1900">
                <a:latin typeface="Lucida Console" panose="020B0609040504020204" pitchFamily="49" charset="0"/>
              </a:rPr>
              <a:t>;</a:t>
            </a:r>
            <a:endParaRPr sz="1900">
              <a:latin typeface="Lucida Console" panose="020B0609040504020204" pitchFamily="49" charset="0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#ifdef QUEEN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state.S[row] &amp;&amp; state.R[col + row] &amp;&amp; state.L[col - row + (SIZE -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)];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#else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[row];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#endif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IsDone(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col) {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col ==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SIZE</a:t>
            </a:r>
            <a:r>
              <a:rPr>
                <a:latin typeface="Lucida Console" panose="020B0609040504020204" pitchFamily="49" charset="0"/>
              </a:rPr>
              <a:t>;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latin typeface="Lucida Console" panose="020B0609040504020204" pitchFamily="49" charset="0"/>
              </a:rPr>
              <a:t>}</a:t>
            </a: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OutState(</a:t>
            </a:r>
            <a:r>
              <a:rPr>
                <a:latin typeface="Lucida Console" panose="020B0609040504020204" pitchFamily="49" charset="0"/>
              </a:rPr>
              <a:t>place_state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state) {</a:t>
            </a:r>
            <a:endParaRPr lang="en-US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latin typeface="Lucida Console" panose="020B0609040504020204" pitchFamily="49" charset="0"/>
              </a:rPr>
              <a:t>    </a:t>
            </a:r>
            <a:r>
              <a:rPr lang="en-US" altLang="zh-CN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lang="en-US" altLang="zh-CN">
                <a:latin typeface="Lucida Console" panose="020B0609040504020204" pitchFamily="49" charset="0"/>
              </a:rPr>
              <a:t> &lt;&lt; </a:t>
            </a:r>
            <a:r>
              <a:rPr lang="en-US" altLang="zh-CN">
                <a:solidFill>
                  <a:srgbClr val="D12F1B"/>
                </a:solidFill>
                <a:latin typeface="Lucida Console" panose="020B0609040504020204" pitchFamily="49" charset="0"/>
              </a:rPr>
              <a:t>"</a:t>
            </a:r>
            <a:r>
              <a:rPr lang="zh-CN" altLang="en-US">
                <a:solidFill>
                  <a:srgbClr val="D12F1B"/>
                </a:solidFill>
                <a:latin typeface="Lucida Console" panose="020B0609040504020204" pitchFamily="49" charset="0"/>
              </a:rPr>
              <a:t>方案</a:t>
            </a:r>
            <a:r>
              <a:rPr lang="en-US" altLang="zh-CN">
                <a:solidFill>
                  <a:srgbClr val="D12F1B"/>
                </a:solidFill>
                <a:latin typeface="Lucida Console" panose="020B0609040504020204" pitchFamily="49" charset="0"/>
              </a:rPr>
              <a:t>"</a:t>
            </a:r>
            <a:r>
              <a:rPr lang="zh-CN" altLang="en-US">
                <a:latin typeface="Lucida Console" panose="020B0609040504020204" pitchFamily="49" charset="0"/>
              </a:rPr>
              <a:t> </a:t>
            </a:r>
            <a:r>
              <a:rPr lang="en-US" altLang="zh-CN">
                <a:latin typeface="Lucida Console" panose="020B0609040504020204" pitchFamily="49" charset="0"/>
              </a:rPr>
              <a:t>&lt;&lt; num &lt;&lt; </a:t>
            </a:r>
            <a:r>
              <a:rPr lang="en-US" altLang="zh-CN"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 lang="en-US" altLang="zh-CN"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k 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SIZE</a:t>
            </a:r>
            <a:r>
              <a:rPr>
                <a:latin typeface="Lucida Console" panose="020B0609040504020204" pitchFamily="49" charset="0"/>
              </a:rPr>
              <a:t>; k++)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Q</a:t>
            </a:r>
            <a:r>
              <a:rPr>
                <a:latin typeface="Lucida Console" panose="020B0609040504020204" pitchFamily="49" charset="0"/>
              </a:rPr>
              <a:t>[k]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89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D4B088-051E-4CEE-9AD6-BF37868C6A97}"/>
              </a:ext>
            </a:extLst>
          </p:cNvPr>
          <p:cNvSpPr txBox="1"/>
          <p:nvPr/>
        </p:nvSpPr>
        <p:spPr>
          <a:xfrm>
            <a:off x="10854109" y="1721223"/>
            <a:ext cx="1650524" cy="21708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思考：如何在运行时指定书籍喜好关系？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sp>
        <p:nvSpPr>
          <p:cNvPr id="894" name="place_state GetNewState(place_state state, int row, int col) {…"/>
          <p:cNvSpPr txBox="1"/>
          <p:nvPr/>
        </p:nvSpPr>
        <p:spPr>
          <a:xfrm>
            <a:off x="719999" y="452705"/>
            <a:ext cx="10201511" cy="8848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place_state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GetNewState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place_state</a:t>
            </a:r>
            <a:r>
              <a:rPr>
                <a:latin typeface="Lucida Console" panose="020B0609040504020204" pitchFamily="49" charset="0"/>
              </a:rPr>
              <a:t> state,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row,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Q</a:t>
            </a:r>
            <a:r>
              <a:rPr>
                <a:latin typeface="Lucida Console" panose="020B0609040504020204" pitchFamily="49" charset="0"/>
              </a:rPr>
              <a:t>[col] = row;</a:t>
            </a:r>
            <a:r>
              <a:rPr lang="en-US">
                <a:latin typeface="Lucida Console" panose="020B0609040504020204" pitchFamily="49" charset="0"/>
              </a:rPr>
              <a:t>     </a:t>
            </a:r>
            <a:r>
              <a:rPr lang="en-US">
                <a:solidFill>
                  <a:srgbClr val="00B05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/// </a:t>
            </a:r>
            <a:r>
              <a:rPr lang="zh-CN" altLang="en-US">
                <a:solidFill>
                  <a:srgbClr val="00B05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记录 “各列皇后的位置，或书本读者的分配关系” </a:t>
            </a:r>
            <a:endParaRPr>
              <a:solidFill>
                <a:srgbClr val="00B05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[row]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#ifdef QUEEN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state.L[col - row + (SIZE -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)] = state.R[col + row]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#endif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state;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place_state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CreateInitState</a:t>
            </a:r>
            <a:r>
              <a:rPr>
                <a:latin typeface="Lucida Console" panose="020B0609040504020204" pitchFamily="49" charset="0"/>
              </a:rPr>
              <a:t>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place_state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state;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 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SIZE</a:t>
            </a:r>
            <a:r>
              <a:rPr>
                <a:latin typeface="Lucida Console" panose="020B0609040504020204" pitchFamily="49" charset="0"/>
              </a:rPr>
              <a:t>; i++) {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Q</a:t>
            </a:r>
            <a:r>
              <a:rPr>
                <a:latin typeface="Lucida Console" panose="020B0609040504020204" pitchFamily="49" charset="0"/>
              </a:rPr>
              <a:t>[i] = 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[i]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#ifdef QUEEN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*SIZE-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i++)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state.L[i] = state.R[i]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solidFill>
                  <a:srgbClr val="78492A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#endif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state;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sp>
        <p:nvSpPr>
          <p:cNvPr id="897" name="void Try(int col, place_state state) {…"/>
          <p:cNvSpPr txBox="1"/>
          <p:nvPr/>
        </p:nvSpPr>
        <p:spPr>
          <a:xfrm>
            <a:off x="719999" y="776542"/>
            <a:ext cx="9643666" cy="8200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col, </a:t>
            </a:r>
            <a:r>
              <a:rPr>
                <a:latin typeface="Lucida Console" panose="020B0609040504020204" pitchFamily="49" charset="0"/>
              </a:rPr>
              <a:t>place_state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state) </a:t>
            </a:r>
            <a:endParaRPr lang="en-US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{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递归中止条件：所有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“</a:t>
            </a:r>
            <a:r>
              <a:rPr>
                <a:solidFill>
                  <a:srgbClr val="FF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列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”</a:t>
            </a:r>
            <a:r>
              <a:rPr>
                <a:latin typeface="Lucida Console" panose="020B0609040504020204" pitchFamily="49" charset="0"/>
              </a:rPr>
              <a:t>均已处理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IsDone</a:t>
            </a:r>
            <a:r>
              <a:rPr>
                <a:latin typeface="Lucida Console" panose="020B0609040504020204" pitchFamily="49" charset="0"/>
              </a:rPr>
              <a:t>(col)) </a:t>
            </a:r>
            <a:endParaRPr lang="en-US"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++;</a:t>
            </a:r>
            <a:endParaRPr lang="en-US">
              <a:solidFill>
                <a:srgbClr val="31595D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>
                <a:solidFill>
                  <a:srgbClr val="31595D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OutState</a:t>
            </a:r>
            <a:r>
              <a:rPr>
                <a:latin typeface="Lucida Console" panose="020B0609040504020204" pitchFamily="49" charset="0"/>
              </a:rPr>
              <a:t>(state);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row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row 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SIZE</a:t>
            </a:r>
            <a:r>
              <a:rPr>
                <a:latin typeface="Lucida Console" panose="020B0609040504020204" pitchFamily="49" charset="0"/>
              </a:rPr>
              <a:t>; row++) </a:t>
            </a:r>
            <a:endParaRPr lang="en-US"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1</a:t>
            </a:r>
            <a:r>
              <a:rPr lang="en-US" altLang="zh-CN">
                <a:latin typeface="Lucida Console" panose="020B0609040504020204" pitchFamily="49" charset="0"/>
              </a:rPr>
              <a:t>. </a:t>
            </a:r>
            <a:r>
              <a:rPr>
                <a:latin typeface="Lucida Console" panose="020B0609040504020204" pitchFamily="49" charset="0"/>
              </a:rPr>
              <a:t>判断当前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“位置（分配关系）”</a:t>
            </a:r>
            <a:r>
              <a:rPr>
                <a:latin typeface="Lucida Console" panose="020B0609040504020204" pitchFamily="49" charset="0"/>
              </a:rPr>
              <a:t>是否</a:t>
            </a:r>
            <a:r>
              <a:rPr lang="zh-CN" altLang="en-US">
                <a:latin typeface="Lucida Console" panose="020B0609040504020204" pitchFamily="49" charset="0"/>
              </a:rPr>
              <a:t>合法并</a:t>
            </a:r>
            <a:r>
              <a:rPr>
                <a:latin typeface="Lucida Console" panose="020B0609040504020204" pitchFamily="49" charset="0"/>
              </a:rPr>
              <a:t>可行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(!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IsSafe</a:t>
            </a:r>
            <a:r>
              <a:rPr>
                <a:latin typeface="Lucida Console" panose="020B0609040504020204" pitchFamily="49" charset="0"/>
              </a:rPr>
              <a:t>(state, row, col))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2. 记录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“位置（分配关系）” </a:t>
            </a:r>
            <a:r>
              <a:rPr>
                <a:latin typeface="Lucida Console" panose="020B0609040504020204" pitchFamily="49" charset="0"/>
              </a:rPr>
              <a:t>，更新状态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place_state</a:t>
            </a:r>
            <a:r>
              <a:rPr>
                <a:latin typeface="Lucida Console" panose="020B0609040504020204" pitchFamily="49" charset="0"/>
              </a:rPr>
              <a:t> next_state =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GetNewState</a:t>
            </a:r>
            <a:r>
              <a:rPr>
                <a:latin typeface="Lucida Console" panose="020B0609040504020204" pitchFamily="49" charset="0"/>
              </a:rPr>
              <a:t>(state, row, col);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3. </a:t>
            </a:r>
            <a:r>
              <a:rPr lang="zh-CN" altLang="en-US">
                <a:latin typeface="Lucida Console" panose="020B0609040504020204" pitchFamily="49" charset="0"/>
              </a:rPr>
              <a:t>从下一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“位置（分配关系）”</a:t>
            </a:r>
            <a:r>
              <a:rPr lang="zh-CN" altLang="en-US">
                <a:latin typeface="Lucida Console" panose="020B0609040504020204" pitchFamily="49" charset="0"/>
              </a:rPr>
              <a:t>开始，</a:t>
            </a:r>
            <a:r>
              <a:rPr>
                <a:latin typeface="Lucida Console" panose="020B0609040504020204" pitchFamily="49" charset="0"/>
              </a:rPr>
              <a:t>递归求解</a:t>
            </a:r>
            <a:r>
              <a:rPr lang="zh-CN" altLang="en-US">
                <a:solidFill>
                  <a:srgbClr val="FF0000"/>
                </a:solidFill>
                <a:latin typeface="Lucida Console" panose="020B0609040504020204" pitchFamily="49" charset="0"/>
              </a:rPr>
              <a:t>规模缩减的新问题</a:t>
            </a:r>
            <a:endParaRPr>
              <a:solidFill>
                <a:srgbClr val="FF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latin typeface="Lucida Console" panose="020B0609040504020204" pitchFamily="49" charset="0"/>
              </a:rPr>
              <a:t>(col+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next_state);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幻灯片编号">
            <a:extLst>
              <a:ext uri="{FF2B5EF4-FFF2-40B4-BE49-F238E27FC236}">
                <a16:creationId xmlns:a16="http://schemas.microsoft.com/office/drawing/2014/main" id="{5D957E09-E8BD-42DB-AE18-559056D3DB0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487680" marR="0" lvl="0" indent="-487680" algn="r" defTabSz="13004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2200" b="1" i="0" u="none" strike="noStrike" kern="0" cap="none" spc="0" normalizeH="0" baseline="0" noProof="0">
                <a:ln>
                  <a:noFill/>
                </a:ln>
                <a:solidFill>
                  <a:srgbClr val="EF5FA7">
                    <a:satOff val="-15807"/>
                    <a:lumOff val="-17556"/>
                  </a:srgbClr>
                </a:solidFill>
                <a:effectLst/>
                <a:uLnTx/>
                <a:uFillTx/>
                <a:latin typeface="Courier"/>
                <a:sym typeface="Courier"/>
              </a:rPr>
              <a:pPr marL="487680" marR="0" lvl="0" indent="-487680" algn="r" defTabSz="130048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EF5FA7">
                  <a:satOff val="-15807"/>
                  <a:lumOff val="-17556"/>
                </a:srgbClr>
              </a:solidFill>
              <a:effectLst/>
              <a:uLnTx/>
              <a:uFillTx/>
              <a:latin typeface="Courier"/>
              <a:sym typeface="Courier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9A2F097-E77A-4254-A650-6DBF63255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5201417" cy="1152045"/>
          </a:xfrm>
        </p:spPr>
        <p:txBody>
          <a:bodyPr/>
          <a:lstStyle/>
          <a:p>
            <a:r>
              <a:rPr lang="zh-CN" altLang="en-US"/>
              <a:t>基于函数的模块化设计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F15906-9D34-46A5-AD5B-1245D85070B6}"/>
              </a:ext>
            </a:extLst>
          </p:cNvPr>
          <p:cNvSpPr txBox="1"/>
          <p:nvPr/>
        </p:nvSpPr>
        <p:spPr>
          <a:xfrm>
            <a:off x="547202" y="2824667"/>
            <a:ext cx="10439046" cy="3689151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rtlCol="0" anchor="ctr">
            <a:spAutoFit/>
          </a:bodyPr>
          <a:lstStyle/>
          <a:p>
            <a:pPr marL="0" marR="0" lvl="0" indent="0" algn="l" defTabSz="439419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31800" algn="l"/>
              </a:tabLst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Menlo"/>
                <a:cs typeface="Menlo"/>
                <a:sym typeface="Menlo"/>
              </a:rPr>
              <a:t>基于函数将程序模块化的目的</a:t>
            </a:r>
            <a:r>
              <a:rPr lang="zh-CN" altLang="en-US" sz="2400">
                <a:latin typeface="Consolas" panose="020B0609020204030204" pitchFamily="49" charset="0"/>
                <a:ea typeface="Menlo"/>
                <a:cs typeface="Menlo"/>
                <a:sym typeface="Menlo"/>
              </a:rPr>
              <a:t>（好处）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Menlo"/>
                <a:cs typeface="Menlo"/>
                <a:sym typeface="Menlo"/>
              </a:rPr>
              <a:t>有：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Menlo"/>
              <a:cs typeface="Menlo"/>
              <a:sym typeface="Menlo"/>
            </a:endParaRPr>
          </a:p>
          <a:p>
            <a:pPr marL="514350" marR="0" lvl="0" indent="-514350" algn="l" defTabSz="439419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431800" algn="l"/>
              </a:tabLst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A2FF"/>
                </a:solidFill>
                <a:effectLst/>
                <a:uLnTx/>
                <a:uFillTx/>
                <a:latin typeface="Consolas" panose="020B0609020204030204" pitchFamily="49" charset="0"/>
                <a:ea typeface="Menlo"/>
                <a:cs typeface="Menlo"/>
                <a:sym typeface="Menlo"/>
              </a:rPr>
              <a:t>分而治之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Menlo"/>
                <a:cs typeface="Menlo"/>
                <a:sym typeface="Menlo"/>
              </a:rPr>
              <a:t>：使开发程序更容易，协作更方便；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Menlo"/>
              <a:cs typeface="Menlo"/>
              <a:sym typeface="Menlo"/>
            </a:endParaRPr>
          </a:p>
          <a:p>
            <a:pPr marL="514350" marR="0" lvl="0" indent="-514350" algn="l" defTabSz="439419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431800" algn="l"/>
              </a:tabLst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A2FF"/>
                </a:solidFill>
                <a:effectLst/>
                <a:uLnTx/>
                <a:uFillTx/>
                <a:latin typeface="Consolas" panose="020B0609020204030204" pitchFamily="49" charset="0"/>
                <a:ea typeface="Menlo"/>
                <a:cs typeface="Menlo"/>
                <a:sym typeface="Menlo"/>
              </a:rPr>
              <a:t>软件复用</a:t>
            </a:r>
            <a:r>
              <a:rPr lang="zh-CN" altLang="en-US" sz="2400">
                <a:latin typeface="Consolas" panose="020B0609020204030204" pitchFamily="49" charset="0"/>
                <a:ea typeface="Menlo"/>
                <a:cs typeface="Menlo"/>
                <a:sym typeface="Menlo"/>
              </a:rPr>
              <a:t>：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Menlo"/>
                <a:cs typeface="Menlo"/>
                <a:sym typeface="Menlo"/>
              </a:rPr>
              <a:t>以现有函数为基本组件，快捷构建新的程序；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Menlo"/>
              <a:cs typeface="Menlo"/>
              <a:sym typeface="Menlo"/>
            </a:endParaRPr>
          </a:p>
          <a:p>
            <a:pPr marL="514350" marR="0" lvl="0" indent="-514350" algn="l" defTabSz="439419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431800" algn="l"/>
              </a:tabLst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A2FF"/>
                </a:solidFill>
                <a:effectLst/>
                <a:uLnTx/>
                <a:uFillTx/>
                <a:latin typeface="Consolas" panose="020B0609020204030204" pitchFamily="49" charset="0"/>
                <a:ea typeface="Menlo"/>
                <a:cs typeface="Menlo"/>
                <a:sym typeface="Menlo"/>
              </a:rPr>
              <a:t>避免重复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Menlo"/>
                <a:cs typeface="Menlo"/>
                <a:sym typeface="Menlo"/>
              </a:rPr>
              <a:t>：对于程序中出现重复的代码片段，通过将代码片段“打包”成单独的函数，可以在程序的多个位置通过函数调用来执行该代码片段。</a:t>
            </a:r>
          </a:p>
        </p:txBody>
      </p:sp>
    </p:spTree>
    <p:extLst>
      <p:ext uri="{BB962C8B-B14F-4D97-AF65-F5344CB8AC3E}">
        <p14:creationId xmlns:p14="http://schemas.microsoft.com/office/powerpoint/2010/main" val="143586873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07" y="2319645"/>
            <a:ext cx="6247617" cy="2976559"/>
          </a:xfrm>
          <a:prstGeom prst="rect">
            <a:avLst/>
          </a:prstGeom>
          <a:ln w="12700">
            <a:miter lim="400000"/>
          </a:ln>
        </p:spPr>
      </p:pic>
      <p:pic>
        <p:nvPicPr>
          <p:cNvPr id="89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89" y="5989956"/>
            <a:ext cx="6247617" cy="36599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00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724" y="6210605"/>
            <a:ext cx="6531252" cy="3549827"/>
          </a:xfrm>
          <a:prstGeom prst="rect">
            <a:avLst/>
          </a:prstGeom>
          <a:ln w="12700">
            <a:miter lim="400000"/>
          </a:ln>
        </p:spPr>
      </p:pic>
      <p:sp>
        <p:nvSpPr>
          <p:cNvPr id="90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  <p:pic>
        <p:nvPicPr>
          <p:cNvPr id="903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661" y="2268265"/>
            <a:ext cx="6247617" cy="305984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对比分书与八皇后解题思路（与或图）">
            <a:extLst>
              <a:ext uri="{FF2B5EF4-FFF2-40B4-BE49-F238E27FC236}">
                <a16:creationId xmlns:a16="http://schemas.microsoft.com/office/drawing/2014/main" id="{49F851B2-D8B8-4946-9411-81EFD1C1E876}"/>
              </a:ext>
            </a:extLst>
          </p:cNvPr>
          <p:cNvSpPr txBox="1">
            <a:spLocks/>
          </p:cNvSpPr>
          <p:nvPr/>
        </p:nvSpPr>
        <p:spPr>
          <a:xfrm>
            <a:off x="3189238" y="354223"/>
            <a:ext cx="8052503" cy="115204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r" hangingPunct="1"/>
            <a:r>
              <a:rPr lang="zh-CN" altLang="en-US"/>
              <a:t>如何统一</a:t>
            </a:r>
            <a:r>
              <a:rPr lang="zh-CN" altLang="en-US" b="1">
                <a:solidFill>
                  <a:srgbClr val="FFFF00"/>
                </a:solidFill>
              </a:rPr>
              <a:t>下楼</a:t>
            </a:r>
            <a:r>
              <a:rPr lang="en-US" altLang="zh-CN" b="1">
                <a:solidFill>
                  <a:srgbClr val="FFFF00"/>
                </a:solidFill>
              </a:rPr>
              <a:t>.</a:t>
            </a:r>
            <a:r>
              <a:rPr lang="zh-CN" altLang="en-US" b="1">
                <a:solidFill>
                  <a:srgbClr val="FFFF00"/>
                </a:solidFill>
              </a:rPr>
              <a:t>跳马</a:t>
            </a:r>
            <a:r>
              <a:rPr lang="en-US" altLang="zh-CN" b="1">
                <a:solidFill>
                  <a:srgbClr val="FFFF00"/>
                </a:solidFill>
              </a:rPr>
              <a:t>.</a:t>
            </a:r>
            <a:r>
              <a:rPr lang="zh-CN" altLang="en-US" b="1">
                <a:solidFill>
                  <a:srgbClr val="FFFF00"/>
                </a:solidFill>
              </a:rPr>
              <a:t>分书</a:t>
            </a:r>
            <a:r>
              <a:rPr lang="en-US" altLang="zh-CN" b="1">
                <a:solidFill>
                  <a:srgbClr val="FFFF00"/>
                </a:solidFill>
              </a:rPr>
              <a:t>.</a:t>
            </a:r>
            <a:r>
              <a:rPr lang="zh-CN" altLang="en-US" b="1">
                <a:solidFill>
                  <a:srgbClr val="FFFF00"/>
                </a:solidFill>
              </a:rPr>
              <a:t>皇后</a:t>
            </a:r>
            <a:r>
              <a:rPr lang="zh-CN" altLang="en-US">
                <a:solidFill>
                  <a:schemeClr val="bg1"/>
                </a:solidFill>
              </a:rPr>
              <a:t>的框架？</a:t>
            </a:r>
          </a:p>
        </p:txBody>
      </p:sp>
      <p:sp>
        <p:nvSpPr>
          <p:cNvPr id="10" name="思考题">
            <a:extLst>
              <a:ext uri="{FF2B5EF4-FFF2-40B4-BE49-F238E27FC236}">
                <a16:creationId xmlns:a16="http://schemas.microsoft.com/office/drawing/2014/main" id="{198AB612-C08A-4A85-9022-44E2CCCD27FB}"/>
              </a:ext>
            </a:extLst>
          </p:cNvPr>
          <p:cNvSpPr txBox="1">
            <a:spLocks/>
          </p:cNvSpPr>
          <p:nvPr/>
        </p:nvSpPr>
        <p:spPr>
          <a:xfrm>
            <a:off x="547201" y="354125"/>
            <a:ext cx="2436119" cy="1152045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zh-CN" altLang="en-US"/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5313560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#include &lt;iostream&gt;…"/>
          <p:cNvSpPr txBox="1"/>
          <p:nvPr/>
        </p:nvSpPr>
        <p:spPr>
          <a:xfrm>
            <a:off x="2498467" y="3440177"/>
            <a:ext cx="6767746" cy="3085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65022" tIns="65022" rIns="65022" bIns="65022">
            <a:spAutoFit/>
          </a:bodyPr>
          <a:lstStyle/>
          <a:p>
            <a:pPr marL="487680" marR="0" lvl="0" indent="-487680" algn="l" defTabSz="13004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75F84C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#include &lt;iostream&gt;</a:t>
            </a:r>
          </a:p>
          <a:p>
            <a:pPr marL="487680" marR="0" lvl="0" indent="-487680" algn="l" defTabSz="13004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75F84C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using namespace std;</a:t>
            </a:r>
          </a:p>
          <a:p>
            <a:pPr marL="487680" marR="0" lvl="0" indent="-487680" algn="l" defTabSz="13004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75F84C"/>
              </a:solidFill>
              <a:effectLst/>
              <a:uLnTx/>
              <a:uFillTx/>
              <a:latin typeface="Courier New"/>
              <a:cs typeface="Courier New"/>
              <a:sym typeface="Courier New"/>
            </a:endParaRPr>
          </a:p>
          <a:p>
            <a:pPr marL="487680" marR="0" lvl="0" indent="-487680" algn="l" defTabSz="13004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75F84C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int main()</a:t>
            </a:r>
          </a:p>
          <a:p>
            <a:pPr marL="487680" marR="0" lvl="0" indent="-487680" algn="l" defTabSz="13004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75F84C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{</a:t>
            </a:r>
          </a:p>
          <a:p>
            <a:pPr marL="487680" marR="0" lvl="0" indent="-487680" algn="l" defTabSz="13004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75F84C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    cout &lt;&lt; 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"</a:t>
            </a: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END. See you!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"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75F84C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 &lt;&lt; endl;</a:t>
            </a:r>
          </a:p>
          <a:p>
            <a:pPr marL="487680" marR="0" lvl="1" indent="-487680" algn="l" defTabSz="13004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75F84C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    return 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FAE232">
                    <a:hueOff val="366961"/>
                    <a:satOff val="4172"/>
                    <a:lumOff val="11129"/>
                  </a:srgbClr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0</a:t>
            </a: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75F84C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;</a:t>
            </a:r>
          </a:p>
          <a:p>
            <a:pPr marL="487680" marR="0" lvl="1" indent="-487680" algn="l" defTabSz="13004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kumimoji="0" sz="2400" b="0" i="0" u="none" strike="noStrike" kern="0" cap="none" spc="0" normalizeH="0" baseline="0" noProof="0">
                <a:ln>
                  <a:noFill/>
                </a:ln>
                <a:solidFill>
                  <a:srgbClr val="75F84C"/>
                </a:solidFill>
                <a:effectLst/>
                <a:uLnTx/>
                <a:uFillTx/>
                <a:latin typeface="Courier New"/>
                <a:cs typeface="Courier New"/>
                <a:sym typeface="Courier New"/>
              </a:rP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" grpId="0" animBg="1" advAuto="0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 algn="l">
          <a:defRPr>
            <a:latin typeface="Consolas" panose="020B0609020204030204" pitchFamily="49" charset="0"/>
          </a:defRPr>
        </a:defPPr>
      </a:lst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3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2502</TotalTime>
  <Words>3366</Words>
  <Application>Microsoft Office PowerPoint</Application>
  <PresentationFormat>自定义</PresentationFormat>
  <Paragraphs>572</Paragraphs>
  <Slides>24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Courier</vt:lpstr>
      <vt:lpstr>FZDaHei-B02S</vt:lpstr>
      <vt:lpstr>Helvetica Light</vt:lpstr>
      <vt:lpstr>Helvetica Neue</vt:lpstr>
      <vt:lpstr>Helvetica Neue Medium</vt:lpstr>
      <vt:lpstr>Marker Felt</vt:lpstr>
      <vt:lpstr>黑体</vt:lpstr>
      <vt:lpstr>华文中宋</vt:lpstr>
      <vt:lpstr>Arial Black</vt:lpstr>
      <vt:lpstr>Consolas</vt:lpstr>
      <vt:lpstr>Courier New</vt:lpstr>
      <vt:lpstr>Helvetica</vt:lpstr>
      <vt:lpstr>Lucida Console</vt:lpstr>
      <vt:lpstr>White</vt:lpstr>
      <vt:lpstr>1_White</vt:lpstr>
      <vt:lpstr>3_White</vt:lpstr>
      <vt:lpstr>程序设计基础</vt:lpstr>
      <vt:lpstr>PowerPoint 演示文稿</vt:lpstr>
      <vt:lpstr>PowerPoint 演示文稿</vt:lpstr>
      <vt:lpstr>对比下楼与跳马的与或图</vt:lpstr>
      <vt:lpstr>PowerPoint 演示文稿</vt:lpstr>
      <vt:lpstr>PowerPoint 演示文稿</vt:lpstr>
      <vt:lpstr>重构：定义落点检查函数</vt:lpstr>
      <vt:lpstr>重构：“抽取”定义方案输出函数</vt:lpstr>
      <vt:lpstr>重构：“抽取”定义新落点的计算</vt:lpstr>
      <vt:lpstr>不同的任务，相同的算法框架！</vt:lpstr>
      <vt:lpstr>PowerPoint 演示文稿</vt:lpstr>
      <vt:lpstr>PowerPoint 演示文稿</vt:lpstr>
      <vt:lpstr>对比算法的与或图</vt:lpstr>
      <vt:lpstr>抽取算法共性，剥离问题差异（1）</vt:lpstr>
      <vt:lpstr>抽取算法共性，剥离问题差异（2）</vt:lpstr>
      <vt:lpstr>抽取算法共性，剥离问题差异（3）</vt:lpstr>
      <vt:lpstr>PowerPoint 演示文稿</vt:lpstr>
      <vt:lpstr>【编程小知识】条件编译指令</vt:lpstr>
      <vt:lpstr>PowerPoint 演示文稿</vt:lpstr>
      <vt:lpstr>PowerPoint 演示文稿</vt:lpstr>
      <vt:lpstr>PowerPoint 演示文稿</vt:lpstr>
      <vt:lpstr>基于函数的模块化设计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程序设计基础</dc:title>
  <dc:creator>xumx</dc:creator>
  <cp:lastModifiedBy>Mingxing Xu</cp:lastModifiedBy>
  <cp:revision>420</cp:revision>
  <dcterms:modified xsi:type="dcterms:W3CDTF">2024-12-23T14:07:19Z</dcterms:modified>
</cp:coreProperties>
</file>