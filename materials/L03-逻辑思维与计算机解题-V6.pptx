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handoutMasterIdLst>
    <p:handoutMasterId r:id="rId91"/>
  </p:handoutMasterIdLst>
  <p:sldIdLst>
    <p:sldId id="256" r:id="rId2"/>
    <p:sldId id="377" r:id="rId3"/>
    <p:sldId id="383" r:id="rId4"/>
    <p:sldId id="382" r:id="rId5"/>
    <p:sldId id="378" r:id="rId6"/>
    <p:sldId id="379" r:id="rId7"/>
    <p:sldId id="257" r:id="rId8"/>
    <p:sldId id="376" r:id="rId9"/>
    <p:sldId id="375" r:id="rId10"/>
    <p:sldId id="374" r:id="rId11"/>
    <p:sldId id="260" r:id="rId12"/>
    <p:sldId id="261" r:id="rId13"/>
    <p:sldId id="269" r:id="rId14"/>
    <p:sldId id="270" r:id="rId15"/>
    <p:sldId id="315" r:id="rId16"/>
    <p:sldId id="316" r:id="rId17"/>
    <p:sldId id="262" r:id="rId18"/>
    <p:sldId id="353" r:id="rId19"/>
    <p:sldId id="354" r:id="rId20"/>
    <p:sldId id="352" r:id="rId21"/>
    <p:sldId id="268" r:id="rId22"/>
    <p:sldId id="321" r:id="rId23"/>
    <p:sldId id="272" r:id="rId24"/>
    <p:sldId id="273" r:id="rId25"/>
    <p:sldId id="274" r:id="rId26"/>
    <p:sldId id="265" r:id="rId27"/>
    <p:sldId id="360" r:id="rId28"/>
    <p:sldId id="355" r:id="rId29"/>
    <p:sldId id="361" r:id="rId30"/>
    <p:sldId id="277" r:id="rId31"/>
    <p:sldId id="278" r:id="rId32"/>
    <p:sldId id="281" r:id="rId33"/>
    <p:sldId id="325" r:id="rId34"/>
    <p:sldId id="326" r:id="rId35"/>
    <p:sldId id="366" r:id="rId36"/>
    <p:sldId id="324" r:id="rId37"/>
    <p:sldId id="282" r:id="rId38"/>
    <p:sldId id="332" r:id="rId39"/>
    <p:sldId id="331" r:id="rId40"/>
    <p:sldId id="363" r:id="rId41"/>
    <p:sldId id="370" r:id="rId42"/>
    <p:sldId id="371" r:id="rId43"/>
    <p:sldId id="327" r:id="rId44"/>
    <p:sldId id="359" r:id="rId45"/>
    <p:sldId id="280" r:id="rId46"/>
    <p:sldId id="337" r:id="rId47"/>
    <p:sldId id="285" r:id="rId48"/>
    <p:sldId id="313" r:id="rId49"/>
    <p:sldId id="339" r:id="rId50"/>
    <p:sldId id="287" r:id="rId51"/>
    <p:sldId id="289" r:id="rId52"/>
    <p:sldId id="340" r:id="rId53"/>
    <p:sldId id="341" r:id="rId54"/>
    <p:sldId id="258" r:id="rId55"/>
    <p:sldId id="345" r:id="rId56"/>
    <p:sldId id="358" r:id="rId57"/>
    <p:sldId id="357" r:id="rId58"/>
    <p:sldId id="346" r:id="rId59"/>
    <p:sldId id="347" r:id="rId60"/>
    <p:sldId id="368" r:id="rId61"/>
    <p:sldId id="381" r:id="rId62"/>
    <p:sldId id="369" r:id="rId63"/>
    <p:sldId id="348" r:id="rId64"/>
    <p:sldId id="342" r:id="rId65"/>
    <p:sldId id="291" r:id="rId66"/>
    <p:sldId id="292" r:id="rId67"/>
    <p:sldId id="372" r:id="rId68"/>
    <p:sldId id="373" r:id="rId69"/>
    <p:sldId id="293" r:id="rId70"/>
    <p:sldId id="344" r:id="rId71"/>
    <p:sldId id="294" r:id="rId72"/>
    <p:sldId id="295" r:id="rId73"/>
    <p:sldId id="296" r:id="rId74"/>
    <p:sldId id="297" r:id="rId75"/>
    <p:sldId id="298" r:id="rId76"/>
    <p:sldId id="299" r:id="rId77"/>
    <p:sldId id="300" r:id="rId78"/>
    <p:sldId id="301" r:id="rId79"/>
    <p:sldId id="303" r:id="rId80"/>
    <p:sldId id="304" r:id="rId81"/>
    <p:sldId id="306" r:id="rId82"/>
    <p:sldId id="307" r:id="rId83"/>
    <p:sldId id="308" r:id="rId84"/>
    <p:sldId id="367" r:id="rId85"/>
    <p:sldId id="309" r:id="rId86"/>
    <p:sldId id="310" r:id="rId87"/>
    <p:sldId id="343" r:id="rId88"/>
    <p:sldId id="311" r:id="rId89"/>
  </p:sldIdLst>
  <p:sldSz cx="13004800" cy="9753600"/>
  <p:notesSz cx="6797675" cy="9928225"/>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280" userDrawn="1">
          <p15:clr>
            <a:srgbClr val="A4A3A4"/>
          </p15:clr>
        </p15:guide>
        <p15:guide id="2" pos="33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DC"/>
    <a:srgbClr val="FEF9D6"/>
    <a:srgbClr val="DFF7D7"/>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65" autoAdjust="0"/>
    <p:restoredTop sz="95992" autoAdjust="0"/>
  </p:normalViewPr>
  <p:slideViewPr>
    <p:cSldViewPr snapToGrid="0">
      <p:cViewPr varScale="1">
        <p:scale>
          <a:sx n="75" d="100"/>
          <a:sy n="75" d="100"/>
        </p:scale>
        <p:origin x="747" y="48"/>
      </p:cViewPr>
      <p:guideLst>
        <p:guide orient="horz" pos="1280"/>
        <p:guide pos="331"/>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9" d="100"/>
          <a:sy n="69" d="100"/>
        </p:scale>
        <p:origin x="2913" y="6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F5DB5F7-0B74-410C-8D45-C9F3A8D6C732}"/>
              </a:ext>
            </a:extLst>
          </p:cNvPr>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8875349A-ACBF-4867-AF70-BA92BDA9AC6F}"/>
              </a:ext>
            </a:extLst>
          </p:cNvPr>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D238B3EB-452F-483A-86F5-E21CECC401CC}" type="datetimeFigureOut">
              <a:rPr lang="zh-CN" altLang="en-US" smtClean="0"/>
              <a:t>2024/9/22</a:t>
            </a:fld>
            <a:endParaRPr lang="zh-CN" altLang="en-US"/>
          </a:p>
        </p:txBody>
      </p:sp>
      <p:sp>
        <p:nvSpPr>
          <p:cNvPr id="4" name="页脚占位符 3">
            <a:extLst>
              <a:ext uri="{FF2B5EF4-FFF2-40B4-BE49-F238E27FC236}">
                <a16:creationId xmlns:a16="http://schemas.microsoft.com/office/drawing/2014/main" id="{985A25D9-9998-45C1-A57B-2D5994B2FB52}"/>
              </a:ext>
            </a:extLst>
          </p:cNvPr>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10C3F136-55C7-4EC0-A31D-3CBACE443EE0}"/>
              </a:ext>
            </a:extLst>
          </p:cNvPr>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C6F164EC-D887-49E9-BE2F-C309B0B22702}" type="slidenum">
              <a:rPr lang="zh-CN" altLang="en-US" smtClean="0"/>
              <a:t>‹#›</a:t>
            </a:fld>
            <a:endParaRPr lang="zh-CN" altLang="en-US"/>
          </a:p>
        </p:txBody>
      </p:sp>
    </p:spTree>
    <p:extLst>
      <p:ext uri="{BB962C8B-B14F-4D97-AF65-F5344CB8AC3E}">
        <p14:creationId xmlns:p14="http://schemas.microsoft.com/office/powerpoint/2010/main" val="39013924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917575" y="744538"/>
            <a:ext cx="4962525" cy="3722687"/>
          </a:xfrm>
          <a:prstGeom prst="rect">
            <a:avLst/>
          </a:prstGeom>
        </p:spPr>
        <p:txBody>
          <a:bodyPr/>
          <a:lstStyle/>
          <a:p>
            <a:endParaRPr/>
          </a:p>
        </p:txBody>
      </p:sp>
      <p:sp>
        <p:nvSpPr>
          <p:cNvPr id="27" name="Shape 27"/>
          <p:cNvSpPr>
            <a:spLocks noGrp="1"/>
          </p:cNvSpPr>
          <p:nvPr>
            <p:ph type="body" sz="quarter" idx="1"/>
          </p:nvPr>
        </p:nvSpPr>
        <p:spPr>
          <a:xfrm>
            <a:off x="906357" y="4715907"/>
            <a:ext cx="4984962" cy="4467701"/>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noRot="1" noChangeAspect="1"/>
          </p:cNvSpPr>
          <p:nvPr>
            <p:ph type="sldImg"/>
          </p:nvPr>
        </p:nvSpPr>
        <p:spPr>
          <a:prstGeom prst="rect">
            <a:avLst/>
          </a:prstGeom>
        </p:spPr>
        <p:txBody>
          <a:bodyPr/>
          <a:lstStyle/>
          <a:p>
            <a:endParaRPr/>
          </a:p>
        </p:txBody>
      </p:sp>
      <p:sp>
        <p:nvSpPr>
          <p:cNvPr id="53" name="Shape 53"/>
          <p:cNvSpPr>
            <a:spLocks noGrp="1"/>
          </p:cNvSpPr>
          <p:nvPr>
            <p:ph type="body" sz="quarter" idx="1"/>
          </p:nvPr>
        </p:nvSpPr>
        <p:spPr>
          <a:prstGeom prst="rect">
            <a:avLst/>
          </a:prstGeom>
        </p:spPr>
        <p:txBody>
          <a:bodyPr/>
          <a:lstStyle>
            <a:lvl1pPr>
              <a:lnSpc>
                <a:spcPct val="117999"/>
              </a:lnSpc>
              <a:defRPr sz="1600"/>
            </a:lvl1p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如何用程序语言实现推理过程？即从各种可能性中推导出正确的答案来。</a:t>
            </a:r>
          </a:p>
        </p:txBody>
      </p:sp>
    </p:spTree>
    <p:extLst>
      <p:ext uri="{BB962C8B-B14F-4D97-AF65-F5344CB8AC3E}">
        <p14:creationId xmlns:p14="http://schemas.microsoft.com/office/powerpoint/2010/main" val="2112175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C-V</a:t>
            </a:r>
            <a:r>
              <a:rPr lang="zh-CN" altLang="en-US"/>
              <a:t>大法：拷贝粘贴，</a:t>
            </a:r>
            <a:r>
              <a:rPr lang="en-US" altLang="zh-CN"/>
              <a:t>CTRL+C, CTRL+V</a:t>
            </a:r>
            <a:endParaRPr lang="zh-CN" altLang="en-US"/>
          </a:p>
        </p:txBody>
      </p:sp>
    </p:spTree>
    <p:extLst>
      <p:ext uri="{BB962C8B-B14F-4D97-AF65-F5344CB8AC3E}">
        <p14:creationId xmlns:p14="http://schemas.microsoft.com/office/powerpoint/2010/main" val="24068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使得</a:t>
            </a:r>
            <a:r>
              <a:rPr lang="en-US" altLang="zh-CN"/>
              <a:t>ABCD</a:t>
            </a:r>
            <a:r>
              <a:rPr lang="zh-CN" altLang="en-US"/>
              <a:t>四种假设的推理代码是相同的，都是 </a:t>
            </a:r>
            <a:r>
              <a:rPr lang="en-US" altLang="zh-CN" err="1"/>
              <a:t>thisman</a:t>
            </a:r>
            <a:r>
              <a:rPr lang="en-US" altLang="zh-CN"/>
              <a:t> ++ </a:t>
            </a:r>
            <a:r>
              <a:rPr lang="zh-CN" altLang="en-US"/>
              <a:t>开头！</a:t>
            </a:r>
          </a:p>
        </p:txBody>
      </p:sp>
    </p:spTree>
    <p:extLst>
      <p:ext uri="{BB962C8B-B14F-4D97-AF65-F5344CB8AC3E}">
        <p14:creationId xmlns:p14="http://schemas.microsoft.com/office/powerpoint/2010/main" val="592157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代码消失后，有黑底文字出现，强调</a:t>
            </a:r>
            <a:r>
              <a:rPr lang="en-US" altLang="zh-CN"/>
              <a:t>CV</a:t>
            </a:r>
            <a:r>
              <a:rPr lang="zh-CN" altLang="en-US"/>
              <a:t>大法比较蛮力</a:t>
            </a:r>
          </a:p>
        </p:txBody>
      </p:sp>
    </p:spTree>
    <p:extLst>
      <p:ext uri="{BB962C8B-B14F-4D97-AF65-F5344CB8AC3E}">
        <p14:creationId xmlns:p14="http://schemas.microsoft.com/office/powerpoint/2010/main" val="1556635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选项</a:t>
            </a:r>
            <a:r>
              <a:rPr lang="en-US" altLang="zh-CN"/>
              <a:t>A</a:t>
            </a:r>
            <a:r>
              <a:rPr lang="zh-CN" altLang="en-US"/>
              <a:t>：无论变量</a:t>
            </a:r>
            <a:r>
              <a:rPr lang="en-US" altLang="zh-CN"/>
              <a:t>A</a:t>
            </a:r>
            <a:r>
              <a:rPr lang="zh-CN" altLang="en-US"/>
              <a:t>的值是什么，均表示</a:t>
            </a:r>
            <a:r>
              <a:rPr lang="en-US" altLang="zh-CN"/>
              <a:t>’A</a:t>
            </a:r>
            <a:r>
              <a:rPr lang="zh-CN" altLang="en-US"/>
              <a:t>‘在现场。这个选项是为了突显 </a:t>
            </a:r>
            <a:r>
              <a:rPr lang="en-US" altLang="zh-CN"/>
              <a:t>!A </a:t>
            </a:r>
            <a:r>
              <a:rPr lang="zh-CN" altLang="en-US"/>
              <a:t>命题 与 </a:t>
            </a:r>
            <a:r>
              <a:rPr lang="en-US" altLang="zh-CN"/>
              <a:t>A </a:t>
            </a:r>
            <a:r>
              <a:rPr lang="zh-CN" altLang="en-US"/>
              <a:t>命题的关系。</a:t>
            </a:r>
          </a:p>
        </p:txBody>
      </p:sp>
    </p:spTree>
    <p:extLst>
      <p:ext uri="{BB962C8B-B14F-4D97-AF65-F5344CB8AC3E}">
        <p14:creationId xmlns:p14="http://schemas.microsoft.com/office/powerpoint/2010/main" val="3209390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Shape 240"/>
          <p:cNvSpPr>
            <a:spLocks noGrp="1" noRot="1" noChangeAspect="1"/>
          </p:cNvSpPr>
          <p:nvPr>
            <p:ph type="sldImg"/>
          </p:nvPr>
        </p:nvSpPr>
        <p:spPr>
          <a:prstGeom prst="rect">
            <a:avLst/>
          </a:prstGeom>
        </p:spPr>
        <p:txBody>
          <a:bodyPr/>
          <a:lstStyle/>
          <a:p>
            <a:endParaRPr/>
          </a:p>
        </p:txBody>
      </p:sp>
      <p:sp>
        <p:nvSpPr>
          <p:cNvPr id="241" name="Shape 241"/>
          <p:cNvSpPr>
            <a:spLocks noGrp="1"/>
          </p:cNvSpPr>
          <p:nvPr>
            <p:ph type="body" sz="quarter" idx="1"/>
          </p:nvPr>
        </p:nvSpPr>
        <p:spPr>
          <a:prstGeom prst="rect">
            <a:avLst/>
          </a:prstGeom>
        </p:spPr>
        <p:txBody>
          <a:bodyPr/>
          <a:lstStyle>
            <a:lvl1pPr>
              <a:lnSpc>
                <a:spcPct val="117999"/>
              </a:lnSpc>
              <a:defRPr sz="2000"/>
            </a:lvl1pPr>
          </a:lstStyle>
          <a:p>
            <a:r>
              <a:t>A、B列是各种可能的事实，“含义”列是各种事实的自然语言叙述，CC1列是各种事实下的线索是真是假的逻辑值，A||B列是对A和B的逻辑值运算的结果。从这个表可以看出，CC1=A||B；</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pic>
        <p:nvPicPr>
          <p:cNvPr id="18" name="bar.jpg" descr="bar.jpg"/>
          <p:cNvPicPr>
            <a:picLocks noChangeAspect="1"/>
          </p:cNvPicPr>
          <p:nvPr/>
        </p:nvPicPr>
        <p:blipFill>
          <a:blip r:embed="rId2"/>
          <a:stretch>
            <a:fillRect/>
          </a:stretch>
        </p:blipFill>
        <p:spPr>
          <a:xfrm>
            <a:off x="546382" y="1756551"/>
            <a:ext cx="12458418" cy="173850"/>
          </a:xfrm>
          <a:prstGeom prst="rect">
            <a:avLst/>
          </a:prstGeom>
          <a:ln w="12700">
            <a:miter lim="400000"/>
          </a:ln>
        </p:spPr>
      </p:pic>
      <p:sp>
        <p:nvSpPr>
          <p:cNvPr id="19" name="幻灯片编号"/>
          <p:cNvSpPr txBox="1">
            <a:spLocks noGrp="1"/>
          </p:cNvSpPr>
          <p:nvPr>
            <p:ph type="sldNum" sz="quarter" idx="2"/>
          </p:nvPr>
        </p:nvSpPr>
        <p:spPr>
          <a:xfrm>
            <a:off x="12387945" y="9176053"/>
            <a:ext cx="478081" cy="460247"/>
          </a:xfrm>
          <a:prstGeom prst="rect">
            <a:avLst/>
          </a:prstGeom>
        </p:spPr>
        <p:txBody>
          <a:bodyPr lIns="65022" tIns="65022" rIns="65022" bIns="65022"/>
          <a:lstStyle>
            <a:lvl1pPr marL="487680" indent="-487680" algn="r" defTabSz="1300480">
              <a:lnSpc>
                <a:spcPct val="100000"/>
              </a:lnSpc>
            </a:lvl1pPr>
          </a:lstStyle>
          <a:p>
            <a:fld id="{86CB4B4D-7CA3-9044-876B-883B54F8677D}" type="slidenum">
              <a:rPr/>
              <a:t>‹#›</a:t>
            </a:fld>
            <a:endParaRPr/>
          </a:p>
        </p:txBody>
      </p:sp>
      <p:sp>
        <p:nvSpPr>
          <p:cNvPr id="20" name="标题文本"/>
          <p:cNvSpPr txBox="1">
            <a:spLocks noGrp="1"/>
          </p:cNvSpPr>
          <p:nvPr>
            <p:ph type="title"/>
          </p:nvPr>
        </p:nvSpPr>
        <p:spPr>
          <a:xfrm>
            <a:off x="547201" y="354125"/>
            <a:ext cx="8033048" cy="1152045"/>
          </a:xfrm>
          <a:prstGeom prst="rect">
            <a:avLst/>
          </a:prstGeom>
          <a:solidFill>
            <a:schemeClr val="accent5">
              <a:hueOff val="-82419"/>
              <a:satOff val="-9513"/>
              <a:lumOff val="-16343"/>
            </a:schemeClr>
          </a:solidFill>
          <a:effectLst>
            <a:outerShdw blurRad="190500" dist="8455" dir="5400000" rotWithShape="0">
              <a:srgbClr val="000000"/>
            </a:outerShdw>
          </a:effectLst>
        </p:spPr>
        <p:txBody>
          <a:bodyPr lIns="65022" tIns="65022" rIns="65022" bIns="65022">
            <a:noAutofit/>
          </a:bodyPr>
          <a:lstStyle>
            <a:lvl1pPr>
              <a:defRPr sz="4600">
                <a:solidFill>
                  <a:srgbClr val="FFFFFF"/>
                </a:solidFill>
              </a:defRPr>
            </a:lvl1pPr>
          </a:lstStyle>
          <a:p>
            <a:r>
              <a:t>标题文本</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9FD1715-2EE4-4264-BED1-18E87A4D4842}"/>
              </a:ext>
            </a:extLst>
          </p:cNvPr>
          <p:cNvSpPr>
            <a:spLocks noGrp="1"/>
          </p:cNvSpPr>
          <p:nvPr>
            <p:ph type="sldNum" sz="quarter" idx="10"/>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3950930368"/>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幻灯片编号"/>
          <p:cNvSpPr txBox="1">
            <a:spLocks noGrp="1"/>
          </p:cNvSpPr>
          <p:nvPr>
            <p:ph type="sldNum" sz="quarter" idx="2"/>
          </p:nvPr>
        </p:nvSpPr>
        <p:spPr>
          <a:xfrm>
            <a:off x="12394644" y="9215867"/>
            <a:ext cx="449636" cy="431801"/>
          </a:xfrm>
          <a:prstGeom prst="rect">
            <a:avLst/>
          </a:prstGeom>
          <a:ln w="12700">
            <a:miter lim="400000"/>
          </a:ln>
        </p:spPr>
        <p:txBody>
          <a:bodyPr wrap="none" lIns="50800" tIns="50800" rIns="50800" bIns="50800">
            <a:spAutoFit/>
          </a:bodyPr>
          <a:lstStyle>
            <a:lvl1pPr>
              <a:lnSpc>
                <a:spcPct val="90000"/>
              </a:lnSpc>
              <a:defRPr sz="2200">
                <a:solidFill>
                  <a:schemeClr val="accent6">
                    <a:satOff val="-15808"/>
                    <a:lumOff val="-17557"/>
                  </a:schemeClr>
                </a:solidFill>
                <a:latin typeface="Courier"/>
                <a:ea typeface="Courier"/>
                <a:cs typeface="Courier"/>
                <a:sym typeface="Courier"/>
              </a:defRPr>
            </a:lvl1pPr>
          </a:lstStyle>
          <a:p>
            <a:fld id="{86CB4B4D-7CA3-9044-876B-883B54F8677D}" type="slidenum">
              <a:rPr/>
              <a:t>‹#›</a:t>
            </a:fld>
            <a:endParaRPr/>
          </a:p>
        </p:txBody>
      </p:sp>
      <p:sp>
        <p:nvSpPr>
          <p:cNvPr id="3" name="标题文本"/>
          <p:cNvSpPr txBox="1">
            <a:spLocks noGrp="1"/>
          </p:cNvSpPr>
          <p:nvPr>
            <p:ph type="title"/>
          </p:nvPr>
        </p:nvSpPr>
        <p:spPr>
          <a:xfrm>
            <a:off x="952500" y="254000"/>
            <a:ext cx="11099800" cy="2159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标题文本</a:t>
            </a:r>
          </a:p>
        </p:txBody>
      </p:sp>
      <p:sp>
        <p:nvSpPr>
          <p:cNvPr id="4" name="正文级别 1…"/>
          <p:cNvSpPr txBox="1">
            <a:spLocks noGrp="1"/>
          </p:cNvSpPr>
          <p:nvPr>
            <p:ph type="body" idx="1"/>
          </p:nvPr>
        </p:nvSpPr>
        <p:spPr>
          <a:xfrm>
            <a:off x="952500" y="2590800"/>
            <a:ext cx="11099800" cy="6286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正文级别 1</a:t>
            </a:r>
          </a:p>
          <a:p>
            <a:pPr lvl="1"/>
            <a:r>
              <a:t>正文级别 2</a:t>
            </a:r>
          </a:p>
          <a:p>
            <a:pPr lvl="2"/>
            <a:r>
              <a:t>正文级别 3</a:t>
            </a:r>
          </a:p>
          <a:p>
            <a:pPr lvl="3"/>
            <a:r>
              <a:t>正文级别 4</a:t>
            </a:r>
          </a:p>
          <a:p>
            <a:pPr lvl="4"/>
            <a:r>
              <a:t>正文级别 5</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p:titleStyle>
    <p:bodyStyle>
      <a:lvl1pPr marL="444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1pPr>
      <a:lvl2pPr marL="889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2pPr>
      <a:lvl3pPr marL="1333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3pPr>
      <a:lvl4pPr marL="1778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4pPr>
      <a:lvl5pPr marL="2222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5pPr>
      <a:lvl6pPr marL="2667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6pPr>
      <a:lvl7pPr marL="3111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7pPr>
      <a:lvl8pPr marL="3556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8pPr>
      <a:lvl9pPr marL="4000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584200" rtl="0" latinLnBrk="0">
        <a:lnSpc>
          <a:spcPct val="9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Courier"/>
        </a:defRPr>
      </a:lvl1pPr>
      <a:lvl2pPr marL="0" marR="0" indent="228600" algn="ctr" defTabSz="584200" rtl="0" latinLnBrk="0">
        <a:lnSpc>
          <a:spcPct val="9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Courier"/>
        </a:defRPr>
      </a:lvl2pPr>
      <a:lvl3pPr marL="0" marR="0" indent="457200" algn="ctr" defTabSz="584200" rtl="0" latinLnBrk="0">
        <a:lnSpc>
          <a:spcPct val="9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Courier"/>
        </a:defRPr>
      </a:lvl3pPr>
      <a:lvl4pPr marL="0" marR="0" indent="685800" algn="ctr" defTabSz="584200" rtl="0" latinLnBrk="0">
        <a:lnSpc>
          <a:spcPct val="9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Courier"/>
        </a:defRPr>
      </a:lvl4pPr>
      <a:lvl5pPr marL="0" marR="0" indent="914400" algn="ctr" defTabSz="584200" rtl="0" latinLnBrk="0">
        <a:lnSpc>
          <a:spcPct val="9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Courier"/>
        </a:defRPr>
      </a:lvl5pPr>
      <a:lvl6pPr marL="0" marR="0" indent="1143000" algn="ctr" defTabSz="584200" rtl="0" latinLnBrk="0">
        <a:lnSpc>
          <a:spcPct val="9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Courier"/>
        </a:defRPr>
      </a:lvl6pPr>
      <a:lvl7pPr marL="0" marR="0" indent="1371600" algn="ctr" defTabSz="584200" rtl="0" latinLnBrk="0">
        <a:lnSpc>
          <a:spcPct val="9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Courier"/>
        </a:defRPr>
      </a:lvl7pPr>
      <a:lvl8pPr marL="0" marR="0" indent="1600200" algn="ctr" defTabSz="584200" rtl="0" latinLnBrk="0">
        <a:lnSpc>
          <a:spcPct val="9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Courier"/>
        </a:defRPr>
      </a:lvl8pPr>
      <a:lvl9pPr marL="0" marR="0" indent="1828800" algn="ctr" defTabSz="584200" rtl="0" latinLnBrk="0">
        <a:lnSpc>
          <a:spcPct val="9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Courie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image" Target="../media/image22.tmp"/><Relationship Id="rId2" Type="http://schemas.openxmlformats.org/officeDocument/2006/relationships/tags" Target="../tags/tag3.xml"/><Relationship Id="rId16" Type="http://schemas.openxmlformats.org/officeDocument/2006/relationships/slideLayout" Target="../slideLayouts/slideLayout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18" Type="http://schemas.openxmlformats.org/officeDocument/2006/relationships/slideLayout" Target="../slideLayouts/slideLayout3.xml"/><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tags" Target="../tags/tag33.xml"/><Relationship Id="rId2" Type="http://schemas.openxmlformats.org/officeDocument/2006/relationships/tags" Target="../tags/tag18.xml"/><Relationship Id="rId16" Type="http://schemas.openxmlformats.org/officeDocument/2006/relationships/tags" Target="../tags/tag32.xml"/><Relationship Id="rId20" Type="http://schemas.openxmlformats.org/officeDocument/2006/relationships/image" Target="../media/image22.tmp"/><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5" Type="http://schemas.openxmlformats.org/officeDocument/2006/relationships/tags" Target="../tags/tag21.xml"/><Relationship Id="rId15" Type="http://schemas.openxmlformats.org/officeDocument/2006/relationships/tags" Target="../tags/tag31.xml"/><Relationship Id="rId10" Type="http://schemas.openxmlformats.org/officeDocument/2006/relationships/tags" Target="../tags/tag26.xml"/><Relationship Id="rId19" Type="http://schemas.openxmlformats.org/officeDocument/2006/relationships/image" Target="../media/image23.png"/><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s>
</file>

<file path=ppt/slides/_rels/slide4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tags" Target="../tags/tag41.xml"/><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22.tmp"/><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slideLayout" Target="../slideLayouts/slideLayout3.xml"/><Relationship Id="rId5" Type="http://schemas.openxmlformats.org/officeDocument/2006/relationships/tags" Target="../tags/tag38.xml"/><Relationship Id="rId10" Type="http://schemas.openxmlformats.org/officeDocument/2006/relationships/tags" Target="../tags/tag43.xml"/><Relationship Id="rId4" Type="http://schemas.openxmlformats.org/officeDocument/2006/relationships/tags" Target="../tags/tag37.xml"/><Relationship Id="rId9" Type="http://schemas.openxmlformats.org/officeDocument/2006/relationships/tags" Target="../tags/tag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hyperlink" Target="https://blog.csdn.net/qk233/article/details/108715207" TargetMode="External"/><Relationship Id="rId4" Type="http://schemas.openxmlformats.org/officeDocument/2006/relationships/hyperlink" Target="https://blog.csdn.net/fyq_sdut/article/details/105628117"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slideLayout" Target="../slideLayouts/slideLayout3.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tags" Target="../tags/tag60.xml"/><Relationship Id="rId2" Type="http://schemas.openxmlformats.org/officeDocument/2006/relationships/tags" Target="../tags/tag45.xml"/><Relationship Id="rId16" Type="http://schemas.openxmlformats.org/officeDocument/2006/relationships/tags" Target="../tags/tag59.xml"/><Relationship Id="rId20" Type="http://schemas.openxmlformats.org/officeDocument/2006/relationships/image" Target="../media/image22.tmp"/><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5" Type="http://schemas.openxmlformats.org/officeDocument/2006/relationships/tags" Target="../tags/tag58.xml"/><Relationship Id="rId10" Type="http://schemas.openxmlformats.org/officeDocument/2006/relationships/tags" Target="../tags/tag53.xml"/><Relationship Id="rId19" Type="http://schemas.openxmlformats.org/officeDocument/2006/relationships/notesSlide" Target="../notesSlides/notesSlide6.xml"/><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程序设计基础"/>
          <p:cNvSpPr txBox="1">
            <a:spLocks noGrp="1"/>
          </p:cNvSpPr>
          <p:nvPr>
            <p:ph type="title" idx="4294967295"/>
          </p:nvPr>
        </p:nvSpPr>
        <p:spPr>
          <a:xfrm>
            <a:off x="1514968" y="4005396"/>
            <a:ext cx="9974864" cy="1742808"/>
          </a:xfrm>
          <a:prstGeom prst="rect">
            <a:avLst/>
          </a:prstGeom>
          <a:solidFill>
            <a:srgbClr val="00A37A"/>
          </a:solidFill>
          <a:effectLst>
            <a:outerShdw blurRad="266700" dir="5400000" rotWithShape="0">
              <a:srgbClr val="000000"/>
            </a:outerShdw>
          </a:effectLst>
        </p:spPr>
        <p:txBody>
          <a:bodyPr lIns="65022" tIns="65022" rIns="65022" bIns="65022"/>
          <a:lstStyle>
            <a:lvl1pPr marL="487680" indent="-487680" defTabSz="1300480">
              <a:defRPr sz="8900">
                <a:solidFill>
                  <a:srgbClr val="FFFFFF"/>
                </a:solidFill>
                <a:latin typeface="Arial Black"/>
                <a:ea typeface="Arial Black"/>
                <a:cs typeface="Arial Black"/>
                <a:sym typeface="Arial Black"/>
              </a:defRPr>
            </a:lvl1pPr>
          </a:lstStyle>
          <a:p>
            <a:r>
              <a:t>程序设计基础</a:t>
            </a:r>
          </a:p>
        </p:txBody>
      </p:sp>
      <p:sp>
        <p:nvSpPr>
          <p:cNvPr id="6" name="清华大学计算机科学与技术系…">
            <a:extLst>
              <a:ext uri="{FF2B5EF4-FFF2-40B4-BE49-F238E27FC236}">
                <a16:creationId xmlns:a16="http://schemas.microsoft.com/office/drawing/2014/main" id="{5D675366-E24B-4F11-A05D-AF555341A34E}"/>
              </a:ext>
            </a:extLst>
          </p:cNvPr>
          <p:cNvSpPr txBox="1">
            <a:spLocks/>
          </p:cNvSpPr>
          <p:nvPr/>
        </p:nvSpPr>
        <p:spPr>
          <a:xfrm>
            <a:off x="1762727" y="7171153"/>
            <a:ext cx="9479346" cy="1516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t">
            <a:normAutofit fontScale="77500" lnSpcReduction="20000"/>
          </a:bodyPr>
          <a:lstStyle>
            <a:lvl1pPr marL="444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1pPr>
            <a:lvl2pPr marL="889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2pPr>
            <a:lvl3pPr marL="1333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3pPr>
            <a:lvl4pPr marL="1778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4pPr>
            <a:lvl5pPr marL="2222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5pPr>
            <a:lvl6pPr marL="2667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6pPr>
            <a:lvl7pPr marL="3111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7pPr>
            <a:lvl8pPr marL="3556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8pPr>
            <a:lvl9pPr marL="4000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9pPr>
          </a:lstStyle>
          <a:p>
            <a:pPr marL="0" indent="0" algn="ctr" defTabSz="531495" hangingPunct="1">
              <a:spcBef>
                <a:spcPts val="0"/>
              </a:spcBef>
              <a:buSzTx/>
              <a:buFontTx/>
              <a:buNone/>
              <a:defRPr sz="3365"/>
            </a:pPr>
            <a:r>
              <a:rPr lang="zh-CN" altLang="en-US" sz="3365" dirty="0">
                <a:latin typeface="华文中宋" panose="02010600040101010101" pitchFamily="2" charset="-122"/>
                <a:ea typeface="华文中宋" panose="02010600040101010101" pitchFamily="2" charset="-122"/>
              </a:rPr>
              <a:t>徐</a:t>
            </a:r>
            <a:r>
              <a:rPr lang="zh-CN" altLang="en-US" sz="3365" dirty="0">
                <a:latin typeface="华文中宋" panose="02010600040101010101" pitchFamily="2" charset="-122"/>
                <a:ea typeface="华文中宋" panose="02010600040101010101" pitchFamily="2" charset="-122"/>
                <a:sym typeface="標楷體"/>
              </a:rPr>
              <a:t> </a:t>
            </a:r>
            <a:r>
              <a:rPr lang="zh-CN" altLang="en-US" sz="3365" dirty="0">
                <a:latin typeface="华文中宋" panose="02010600040101010101" pitchFamily="2" charset="-122"/>
                <a:ea typeface="华文中宋" panose="02010600040101010101" pitchFamily="2" charset="-122"/>
              </a:rPr>
              <a:t>明</a:t>
            </a:r>
            <a:r>
              <a:rPr lang="zh-CN" altLang="en-US" sz="3365" dirty="0">
                <a:latin typeface="华文中宋" panose="02010600040101010101" pitchFamily="2" charset="-122"/>
                <a:ea typeface="华文中宋" panose="02010600040101010101" pitchFamily="2" charset="-122"/>
                <a:sym typeface="標楷體"/>
              </a:rPr>
              <a:t> </a:t>
            </a:r>
            <a:r>
              <a:rPr lang="zh-CN" altLang="en-US" sz="3365" dirty="0">
                <a:latin typeface="华文中宋" panose="02010600040101010101" pitchFamily="2" charset="-122"/>
                <a:ea typeface="华文中宋" panose="02010600040101010101" pitchFamily="2" charset="-122"/>
              </a:rPr>
              <a:t>星</a:t>
            </a:r>
            <a:endParaRPr lang="zh-CN" altLang="en-US" sz="3365" dirty="0">
              <a:latin typeface="华文中宋" panose="02010600040101010101" pitchFamily="2" charset="-122"/>
              <a:ea typeface="华文中宋" panose="02010600040101010101" pitchFamily="2" charset="-122"/>
              <a:sym typeface="標楷體"/>
            </a:endParaRPr>
          </a:p>
          <a:p>
            <a:pPr marL="0" indent="0" algn="ctr" defTabSz="531495" hangingPunct="1">
              <a:spcBef>
                <a:spcPts val="0"/>
              </a:spcBef>
              <a:buSzTx/>
              <a:buFontTx/>
              <a:buNone/>
              <a:defRPr sz="3365"/>
            </a:pPr>
            <a:r>
              <a:rPr lang="en-US" sz="3365" dirty="0">
                <a:latin typeface="华文中宋" panose="02010600040101010101" pitchFamily="2" charset="-122"/>
                <a:ea typeface="华文中宋" panose="02010600040101010101" pitchFamily="2" charset="-122"/>
              </a:rPr>
              <a:t>xumx@tsinghua.edu.cn</a:t>
            </a:r>
            <a:endParaRPr lang="en-US" altLang="zh-CN" sz="3365" dirty="0">
              <a:latin typeface="华文中宋" panose="02010600040101010101" pitchFamily="2" charset="-122"/>
              <a:ea typeface="华文中宋" panose="02010600040101010101" pitchFamily="2" charset="-122"/>
            </a:endParaRPr>
          </a:p>
          <a:p>
            <a:pPr marL="0" indent="0" algn="ctr" defTabSz="531495" hangingPunct="1">
              <a:spcBef>
                <a:spcPts val="0"/>
              </a:spcBef>
              <a:buSzTx/>
              <a:buFontTx/>
              <a:buNone/>
              <a:defRPr sz="3365"/>
            </a:pPr>
            <a:endParaRPr lang="en-US" altLang="zh-CN" sz="3365" dirty="0">
              <a:latin typeface="华文中宋" panose="02010600040101010101" pitchFamily="2" charset="-122"/>
              <a:ea typeface="华文中宋" panose="02010600040101010101" pitchFamily="2" charset="-122"/>
            </a:endParaRPr>
          </a:p>
          <a:p>
            <a:pPr marL="0" indent="0" algn="ctr" defTabSz="531495" hangingPunct="1">
              <a:spcBef>
                <a:spcPts val="0"/>
              </a:spcBef>
              <a:buSzTx/>
              <a:buFontTx/>
              <a:buNone/>
              <a:defRPr sz="3365"/>
            </a:pPr>
            <a:r>
              <a:rPr lang="en-US" altLang="zh-CN" sz="3365" dirty="0">
                <a:latin typeface="华文中宋" panose="02010600040101010101" pitchFamily="2" charset="-122"/>
                <a:ea typeface="华文中宋" panose="02010600040101010101" pitchFamily="2" charset="-122"/>
              </a:rPr>
              <a:t>2024</a:t>
            </a:r>
            <a:r>
              <a:rPr lang="zh-CN" altLang="en-US" sz="3365" dirty="0">
                <a:latin typeface="华文中宋" panose="02010600040101010101" pitchFamily="2" charset="-122"/>
                <a:ea typeface="华文中宋" panose="02010600040101010101" pitchFamily="2" charset="-122"/>
              </a:rPr>
              <a:t>秋，六教</a:t>
            </a:r>
            <a:r>
              <a:rPr lang="en-US" altLang="zh-CN" sz="3365" dirty="0">
                <a:latin typeface="华文中宋" panose="02010600040101010101" pitchFamily="2" charset="-122"/>
                <a:ea typeface="华文中宋" panose="02010600040101010101" pitchFamily="2" charset="-122"/>
              </a:rPr>
              <a:t>6C300</a:t>
            </a:r>
            <a:endParaRPr lang="zh-CN" altLang="en-US" sz="3365" dirty="0">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5D712-22C2-4251-A6C0-AF6C549EAEDA}"/>
              </a:ext>
            </a:extLst>
          </p:cNvPr>
          <p:cNvSpPr>
            <a:spLocks noGrp="1"/>
          </p:cNvSpPr>
          <p:nvPr>
            <p:ph type="title"/>
          </p:nvPr>
        </p:nvSpPr>
        <p:spPr>
          <a:xfrm>
            <a:off x="547201" y="410841"/>
            <a:ext cx="11397954" cy="927598"/>
          </a:xfrm>
          <a:solidFill>
            <a:srgbClr val="7030A0"/>
          </a:solidFill>
        </p:spPr>
        <p:txBody>
          <a:bodyPr/>
          <a:lstStyle/>
          <a:p>
            <a:pPr algn="l"/>
            <a:r>
              <a:rPr lang="en-US" altLang="zh-CN" dirty="0">
                <a:solidFill>
                  <a:schemeClr val="bg1"/>
                </a:solidFill>
              </a:rPr>
              <a:t>【</a:t>
            </a:r>
            <a:r>
              <a:rPr lang="zh-CN" altLang="en-US" dirty="0">
                <a:solidFill>
                  <a:schemeClr val="bg1"/>
                </a:solidFill>
              </a:rPr>
              <a:t>调试技巧</a:t>
            </a:r>
            <a:r>
              <a:rPr lang="en-US" altLang="zh-CN" dirty="0">
                <a:solidFill>
                  <a:schemeClr val="bg1"/>
                </a:solidFill>
              </a:rPr>
              <a:t>】</a:t>
            </a:r>
            <a:r>
              <a:rPr lang="zh-CN" altLang="en-US" dirty="0">
                <a:solidFill>
                  <a:schemeClr val="bg1"/>
                </a:solidFill>
              </a:rPr>
              <a:t>有错误的</a:t>
            </a:r>
            <a:r>
              <a:rPr lang="zh-CN" altLang="en-US" dirty="0">
                <a:solidFill>
                  <a:srgbClr val="FFFF00"/>
                </a:solidFill>
              </a:rPr>
              <a:t>示例代码</a:t>
            </a:r>
            <a:r>
              <a:rPr lang="zh-CN" altLang="en-US" dirty="0">
                <a:solidFill>
                  <a:schemeClr val="bg1"/>
                </a:solidFill>
              </a:rPr>
              <a:t>（</a:t>
            </a:r>
            <a:r>
              <a:rPr lang="zh-CN" altLang="en-US">
                <a:solidFill>
                  <a:schemeClr val="bg1"/>
                </a:solidFill>
              </a:rPr>
              <a:t>任务</a:t>
            </a:r>
            <a:r>
              <a:rPr lang="en-US" altLang="zh-CN">
                <a:solidFill>
                  <a:schemeClr val="bg1"/>
                </a:solidFill>
              </a:rPr>
              <a:t>2.2</a:t>
            </a:r>
            <a:r>
              <a:rPr lang="zh-CN" altLang="en-US">
                <a:solidFill>
                  <a:schemeClr val="bg1"/>
                </a:solidFill>
              </a:rPr>
              <a:t>）</a:t>
            </a:r>
            <a:endParaRPr lang="zh-CN" altLang="en-US" dirty="0">
              <a:solidFill>
                <a:schemeClr val="bg1"/>
              </a:solidFill>
            </a:endParaRPr>
          </a:p>
        </p:txBody>
      </p:sp>
      <p:sp>
        <p:nvSpPr>
          <p:cNvPr id="9" name="灯片编号占位符 1">
            <a:extLst>
              <a:ext uri="{FF2B5EF4-FFF2-40B4-BE49-F238E27FC236}">
                <a16:creationId xmlns:a16="http://schemas.microsoft.com/office/drawing/2014/main" id="{78D9D499-EAD4-4468-97AB-05E94C34DDE1}"/>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pic>
        <p:nvPicPr>
          <p:cNvPr id="6" name="图片 5">
            <a:extLst>
              <a:ext uri="{FF2B5EF4-FFF2-40B4-BE49-F238E27FC236}">
                <a16:creationId xmlns:a16="http://schemas.microsoft.com/office/drawing/2014/main" id="{AFFD224E-6BCB-0880-B245-2EBB260FC827}"/>
              </a:ext>
            </a:extLst>
          </p:cNvPr>
          <p:cNvPicPr>
            <a:picLocks noChangeAspect="1"/>
          </p:cNvPicPr>
          <p:nvPr/>
        </p:nvPicPr>
        <p:blipFill>
          <a:blip r:embed="rId2"/>
          <a:stretch>
            <a:fillRect/>
          </a:stretch>
        </p:blipFill>
        <p:spPr>
          <a:xfrm>
            <a:off x="8289620" y="2282025"/>
            <a:ext cx="3909813" cy="5971429"/>
          </a:xfrm>
          <a:prstGeom prst="rect">
            <a:avLst/>
          </a:prstGeom>
        </p:spPr>
      </p:pic>
      <p:pic>
        <p:nvPicPr>
          <p:cNvPr id="8" name="图片 7">
            <a:extLst>
              <a:ext uri="{FF2B5EF4-FFF2-40B4-BE49-F238E27FC236}">
                <a16:creationId xmlns:a16="http://schemas.microsoft.com/office/drawing/2014/main" id="{661BADF3-3BF4-EC3A-F777-1BE8DCED43B7}"/>
              </a:ext>
            </a:extLst>
          </p:cNvPr>
          <p:cNvPicPr>
            <a:picLocks noChangeAspect="1"/>
          </p:cNvPicPr>
          <p:nvPr/>
        </p:nvPicPr>
        <p:blipFill>
          <a:blip r:embed="rId3"/>
          <a:stretch>
            <a:fillRect/>
          </a:stretch>
        </p:blipFill>
        <p:spPr>
          <a:xfrm>
            <a:off x="547201" y="2282025"/>
            <a:ext cx="6062004" cy="4304992"/>
          </a:xfrm>
          <a:prstGeom prst="rect">
            <a:avLst/>
          </a:prstGeom>
        </p:spPr>
      </p:pic>
      <p:pic>
        <p:nvPicPr>
          <p:cNvPr id="13" name="图片 12">
            <a:extLst>
              <a:ext uri="{FF2B5EF4-FFF2-40B4-BE49-F238E27FC236}">
                <a16:creationId xmlns:a16="http://schemas.microsoft.com/office/drawing/2014/main" id="{B17920EB-5D23-83F4-601D-9E076FBF5165}"/>
              </a:ext>
            </a:extLst>
          </p:cNvPr>
          <p:cNvPicPr>
            <a:picLocks noChangeAspect="1"/>
          </p:cNvPicPr>
          <p:nvPr/>
        </p:nvPicPr>
        <p:blipFill>
          <a:blip r:embed="rId4"/>
          <a:stretch>
            <a:fillRect/>
          </a:stretch>
        </p:blipFill>
        <p:spPr>
          <a:xfrm>
            <a:off x="5323275" y="7992663"/>
            <a:ext cx="2571860" cy="1511462"/>
          </a:xfrm>
          <a:prstGeom prst="rect">
            <a:avLst/>
          </a:prstGeom>
        </p:spPr>
      </p:pic>
      <p:sp>
        <p:nvSpPr>
          <p:cNvPr id="15" name="文本框 14">
            <a:extLst>
              <a:ext uri="{FF2B5EF4-FFF2-40B4-BE49-F238E27FC236}">
                <a16:creationId xmlns:a16="http://schemas.microsoft.com/office/drawing/2014/main" id="{D0B61142-CCC9-33CB-854C-442A995689C9}"/>
              </a:ext>
            </a:extLst>
          </p:cNvPr>
          <p:cNvSpPr txBox="1"/>
          <p:nvPr/>
        </p:nvSpPr>
        <p:spPr>
          <a:xfrm>
            <a:off x="4954587" y="7356068"/>
            <a:ext cx="3095625"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程序运行</a:t>
            </a:r>
            <a:r>
              <a:rPr lang="zh-CN" altLang="en-US">
                <a:highlight>
                  <a:srgbClr val="FFFF00"/>
                </a:highlight>
              </a:rPr>
              <a:t>错误</a:t>
            </a:r>
            <a:endParaRPr lang="zh-CN" altLang="en-US"/>
          </a:p>
        </p:txBody>
      </p:sp>
      <p:sp>
        <p:nvSpPr>
          <p:cNvPr id="16" name="矩形: 圆角 15">
            <a:extLst>
              <a:ext uri="{FF2B5EF4-FFF2-40B4-BE49-F238E27FC236}">
                <a16:creationId xmlns:a16="http://schemas.microsoft.com/office/drawing/2014/main" id="{8B360EF0-147A-5DEC-6502-F9120B50F186}"/>
              </a:ext>
            </a:extLst>
          </p:cNvPr>
          <p:cNvSpPr/>
          <p:nvPr/>
        </p:nvSpPr>
        <p:spPr>
          <a:xfrm>
            <a:off x="636104" y="5597718"/>
            <a:ext cx="4754880" cy="516835"/>
          </a:xfrm>
          <a:prstGeom prst="roundRect">
            <a:avLst/>
          </a:prstGeom>
          <a:noFill/>
          <a:ln>
            <a:solidFill>
              <a:srgbClr val="00B0F0"/>
            </a:solidFill>
          </a:ln>
        </p:spPr>
        <p:style>
          <a:lnRef idx="2">
            <a:schemeClr val="accent5"/>
          </a:lnRef>
          <a:fillRef idx="1">
            <a:schemeClr val="lt1"/>
          </a:fillRef>
          <a:effectRef idx="0">
            <a:schemeClr val="accent5"/>
          </a:effectRef>
          <a:fontRef idx="minor">
            <a:schemeClr val="dk1"/>
          </a:fontRef>
        </p:style>
        <p:txBody>
          <a:bodyPr rtlCol="0" anchor="ctr">
            <a:spAutoFit/>
          </a:bodyPr>
          <a:lstStyle/>
          <a:p>
            <a:pPr algn="l"/>
            <a:endParaRPr lang="zh-CN" altLang="en-US">
              <a:solidFill>
                <a:srgbClr val="0070C0"/>
              </a:solidFill>
              <a:latin typeface="Consolas" panose="020B0609020204030204" pitchFamily="49" charset="0"/>
            </a:endParaRPr>
          </a:p>
        </p:txBody>
      </p:sp>
      <p:sp>
        <p:nvSpPr>
          <p:cNvPr id="17" name="矩形: 圆角 16">
            <a:extLst>
              <a:ext uri="{FF2B5EF4-FFF2-40B4-BE49-F238E27FC236}">
                <a16:creationId xmlns:a16="http://schemas.microsoft.com/office/drawing/2014/main" id="{88231BD7-4267-626D-6F1C-03F9ED82B126}"/>
              </a:ext>
            </a:extLst>
          </p:cNvPr>
          <p:cNvSpPr/>
          <p:nvPr/>
        </p:nvSpPr>
        <p:spPr>
          <a:xfrm>
            <a:off x="5144397" y="8889341"/>
            <a:ext cx="1464808" cy="516835"/>
          </a:xfrm>
          <a:prstGeom prst="roundRect">
            <a:avLst/>
          </a:prstGeom>
          <a:noFill/>
          <a:ln>
            <a:solidFill>
              <a:srgbClr val="00B0F0"/>
            </a:solidFill>
          </a:ln>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18" name="弧形 17">
            <a:extLst>
              <a:ext uri="{FF2B5EF4-FFF2-40B4-BE49-F238E27FC236}">
                <a16:creationId xmlns:a16="http://schemas.microsoft.com/office/drawing/2014/main" id="{817C1380-ED4E-CD34-DAC2-CDD3EFED1C88}"/>
              </a:ext>
            </a:extLst>
          </p:cNvPr>
          <p:cNvSpPr/>
          <p:nvPr/>
        </p:nvSpPr>
        <p:spPr>
          <a:xfrm rot="12355893">
            <a:off x="427616" y="5905478"/>
            <a:ext cx="6863065" cy="2901179"/>
          </a:xfrm>
          <a:prstGeom prst="arc">
            <a:avLst>
              <a:gd name="adj1" fmla="val 12634501"/>
              <a:gd name="adj2" fmla="val 21330703"/>
            </a:avLst>
          </a:prstGeom>
          <a:ln w="28575">
            <a:prstDash val="dash"/>
            <a:headEnd type="oval" w="med" len="med"/>
            <a:tailEnd type="oval" w="med" len="med"/>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19" name="文本框 18">
            <a:extLst>
              <a:ext uri="{FF2B5EF4-FFF2-40B4-BE49-F238E27FC236}">
                <a16:creationId xmlns:a16="http://schemas.microsoft.com/office/drawing/2014/main" id="{47E6E202-477D-A27D-5CBB-0B60ECF484F8}"/>
              </a:ext>
            </a:extLst>
          </p:cNvPr>
          <p:cNvSpPr txBox="1"/>
          <p:nvPr/>
        </p:nvSpPr>
        <p:spPr>
          <a:xfrm>
            <a:off x="1667213" y="7356068"/>
            <a:ext cx="3095625"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a:t>输出次序不符合要求</a:t>
            </a:r>
          </a:p>
        </p:txBody>
      </p:sp>
      <p:sp>
        <p:nvSpPr>
          <p:cNvPr id="20" name="矩形: 圆角 19">
            <a:extLst>
              <a:ext uri="{FF2B5EF4-FFF2-40B4-BE49-F238E27FC236}">
                <a16:creationId xmlns:a16="http://schemas.microsoft.com/office/drawing/2014/main" id="{21E6C314-63F7-8D5E-F6C8-80080052848C}"/>
              </a:ext>
            </a:extLst>
          </p:cNvPr>
          <p:cNvSpPr/>
          <p:nvPr/>
        </p:nvSpPr>
        <p:spPr>
          <a:xfrm>
            <a:off x="8843078" y="7019459"/>
            <a:ext cx="3595763" cy="460247"/>
          </a:xfrm>
          <a:prstGeom prst="roundRect">
            <a:avLst/>
          </a:prstGeom>
          <a:noFill/>
          <a:ln>
            <a:solidFill>
              <a:srgbClr val="00B0F0"/>
            </a:solidFill>
          </a:ln>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l"/>
            <a:endParaRPr lang="zh-CN" altLang="en-US">
              <a:solidFill>
                <a:srgbClr val="0070C0"/>
              </a:solidFill>
              <a:latin typeface="Consolas" panose="020B0609020204030204" pitchFamily="49" charset="0"/>
            </a:endParaRPr>
          </a:p>
        </p:txBody>
      </p:sp>
    </p:spTree>
    <p:extLst>
      <p:ext uri="{BB962C8B-B14F-4D97-AF65-F5344CB8AC3E}">
        <p14:creationId xmlns:p14="http://schemas.microsoft.com/office/powerpoint/2010/main" val="280908977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5D712-22C2-4251-A6C0-AF6C549EAEDA}"/>
              </a:ext>
            </a:extLst>
          </p:cNvPr>
          <p:cNvSpPr>
            <a:spLocks noGrp="1"/>
          </p:cNvSpPr>
          <p:nvPr>
            <p:ph type="title"/>
          </p:nvPr>
        </p:nvSpPr>
        <p:spPr>
          <a:xfrm>
            <a:off x="547201" y="410841"/>
            <a:ext cx="11397954" cy="927598"/>
          </a:xfrm>
          <a:solidFill>
            <a:srgbClr val="7030A0"/>
          </a:solidFill>
        </p:spPr>
        <p:txBody>
          <a:bodyPr/>
          <a:lstStyle/>
          <a:p>
            <a:pPr algn="l"/>
            <a:r>
              <a:rPr lang="en-US" altLang="zh-CN" dirty="0">
                <a:solidFill>
                  <a:schemeClr val="bg1"/>
                </a:solidFill>
              </a:rPr>
              <a:t>【</a:t>
            </a:r>
            <a:r>
              <a:rPr lang="zh-CN" altLang="en-US" dirty="0">
                <a:solidFill>
                  <a:schemeClr val="bg1"/>
                </a:solidFill>
              </a:rPr>
              <a:t>调试技巧</a:t>
            </a:r>
            <a:r>
              <a:rPr lang="en-US" altLang="zh-CN" dirty="0">
                <a:solidFill>
                  <a:schemeClr val="bg1"/>
                </a:solidFill>
              </a:rPr>
              <a:t>】</a:t>
            </a:r>
            <a:r>
              <a:rPr lang="zh-CN" altLang="en-US" dirty="0">
                <a:solidFill>
                  <a:schemeClr val="bg1"/>
                </a:solidFill>
              </a:rPr>
              <a:t>有错误的</a:t>
            </a:r>
            <a:r>
              <a:rPr lang="zh-CN" altLang="en-US" dirty="0">
                <a:solidFill>
                  <a:srgbClr val="FFFF00"/>
                </a:solidFill>
              </a:rPr>
              <a:t>示例代码</a:t>
            </a:r>
            <a:r>
              <a:rPr lang="zh-CN" altLang="en-US" dirty="0">
                <a:solidFill>
                  <a:schemeClr val="bg1"/>
                </a:solidFill>
              </a:rPr>
              <a:t>（</a:t>
            </a:r>
            <a:r>
              <a:rPr lang="zh-CN" altLang="en-US">
                <a:solidFill>
                  <a:schemeClr val="bg1"/>
                </a:solidFill>
              </a:rPr>
              <a:t>任务</a:t>
            </a:r>
            <a:r>
              <a:rPr lang="en-US" altLang="zh-CN">
                <a:solidFill>
                  <a:schemeClr val="bg1"/>
                </a:solidFill>
              </a:rPr>
              <a:t>2.2</a:t>
            </a:r>
            <a:r>
              <a:rPr lang="zh-CN" altLang="en-US">
                <a:solidFill>
                  <a:schemeClr val="bg1"/>
                </a:solidFill>
              </a:rPr>
              <a:t>）</a:t>
            </a:r>
            <a:endParaRPr lang="zh-CN" altLang="en-US" dirty="0">
              <a:solidFill>
                <a:schemeClr val="bg1"/>
              </a:solidFill>
            </a:endParaRPr>
          </a:p>
        </p:txBody>
      </p:sp>
      <p:sp>
        <p:nvSpPr>
          <p:cNvPr id="9" name="灯片编号占位符 1">
            <a:extLst>
              <a:ext uri="{FF2B5EF4-FFF2-40B4-BE49-F238E27FC236}">
                <a16:creationId xmlns:a16="http://schemas.microsoft.com/office/drawing/2014/main" id="{78D9D499-EAD4-4468-97AB-05E94C34DDE1}"/>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grpSp>
        <p:nvGrpSpPr>
          <p:cNvPr id="30" name="组合 29">
            <a:extLst>
              <a:ext uri="{FF2B5EF4-FFF2-40B4-BE49-F238E27FC236}">
                <a16:creationId xmlns:a16="http://schemas.microsoft.com/office/drawing/2014/main" id="{F10ADA2D-3F11-3526-8365-61B982673CC4}"/>
              </a:ext>
            </a:extLst>
          </p:cNvPr>
          <p:cNvGrpSpPr/>
          <p:nvPr/>
        </p:nvGrpSpPr>
        <p:grpSpPr>
          <a:xfrm>
            <a:off x="619591" y="4502123"/>
            <a:ext cx="3036793" cy="2568648"/>
            <a:chOff x="9593552" y="2824987"/>
            <a:chExt cx="3036793" cy="2568648"/>
          </a:xfrm>
        </p:grpSpPr>
        <p:sp>
          <p:nvSpPr>
            <p:cNvPr id="4" name="椭圆 3">
              <a:extLst>
                <a:ext uri="{FF2B5EF4-FFF2-40B4-BE49-F238E27FC236}">
                  <a16:creationId xmlns:a16="http://schemas.microsoft.com/office/drawing/2014/main" id="{D8BFCE0A-323E-166C-883A-56C9CF1C9C2A}"/>
                </a:ext>
              </a:extLst>
            </p:cNvPr>
            <p:cNvSpPr/>
            <p:nvPr/>
          </p:nvSpPr>
          <p:spPr>
            <a:xfrm>
              <a:off x="10797871" y="3347348"/>
              <a:ext cx="516835" cy="516835"/>
            </a:xfrm>
            <a:prstGeom prst="ellipse">
              <a:avLst/>
            </a:prstGeom>
            <a:solidFill>
              <a:schemeClr val="bg1"/>
            </a:solidFill>
            <a:ln w="28575">
              <a:solidFill>
                <a:schemeClr val="tx1">
                  <a:lumMod val="75000"/>
                  <a:lumOff val="25000"/>
                </a:schemeClr>
              </a:solidFill>
            </a:ln>
          </p:spPr>
          <p:txBody>
            <a:bodyPr rtlCol="0" anchor="ctr">
              <a:spAutoFit/>
            </a:bodyPr>
            <a:lstStyle/>
            <a:p>
              <a:pPr algn="l"/>
              <a:endParaRPr lang="zh-CN" altLang="en-US">
                <a:solidFill>
                  <a:srgbClr val="0070C0"/>
                </a:solidFill>
                <a:latin typeface="Consolas" panose="020B0609020204030204" pitchFamily="49" charset="0"/>
              </a:endParaRPr>
            </a:p>
          </p:txBody>
        </p:sp>
        <p:cxnSp>
          <p:nvCxnSpPr>
            <p:cNvPr id="10" name="直接连接符 9">
              <a:extLst>
                <a:ext uri="{FF2B5EF4-FFF2-40B4-BE49-F238E27FC236}">
                  <a16:creationId xmlns:a16="http://schemas.microsoft.com/office/drawing/2014/main" id="{1BADD1F3-9E31-9EF2-5D40-7652B3C6C945}"/>
                </a:ext>
              </a:extLst>
            </p:cNvPr>
            <p:cNvCxnSpPr>
              <a:cxnSpLocks/>
              <a:stCxn id="4" idx="3"/>
              <a:endCxn id="13" idx="0"/>
            </p:cNvCxnSpPr>
            <p:nvPr/>
          </p:nvCxnSpPr>
          <p:spPr>
            <a:xfrm flipH="1">
              <a:off x="9959009" y="3788494"/>
              <a:ext cx="914551" cy="101261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 name="椭圆 12">
              <a:extLst>
                <a:ext uri="{FF2B5EF4-FFF2-40B4-BE49-F238E27FC236}">
                  <a16:creationId xmlns:a16="http://schemas.microsoft.com/office/drawing/2014/main" id="{24CAD367-DB29-7641-658C-34D5D44BB891}"/>
                </a:ext>
              </a:extLst>
            </p:cNvPr>
            <p:cNvSpPr/>
            <p:nvPr/>
          </p:nvSpPr>
          <p:spPr>
            <a:xfrm>
              <a:off x="9700591" y="4801111"/>
              <a:ext cx="516835" cy="516835"/>
            </a:xfrm>
            <a:prstGeom prst="ellipse">
              <a:avLst/>
            </a:prstGeom>
            <a:solidFill>
              <a:schemeClr val="bg1"/>
            </a:solidFill>
            <a:ln w="28575">
              <a:solidFill>
                <a:schemeClr val="tx1">
                  <a:lumMod val="75000"/>
                  <a:lumOff val="25000"/>
                </a:schemeClr>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14" name="椭圆 13">
              <a:extLst>
                <a:ext uri="{FF2B5EF4-FFF2-40B4-BE49-F238E27FC236}">
                  <a16:creationId xmlns:a16="http://schemas.microsoft.com/office/drawing/2014/main" id="{0D61E013-7C76-3CC1-2F53-95B132344DC9}"/>
                </a:ext>
              </a:extLst>
            </p:cNvPr>
            <p:cNvSpPr/>
            <p:nvPr/>
          </p:nvSpPr>
          <p:spPr>
            <a:xfrm>
              <a:off x="12006470" y="4876800"/>
              <a:ext cx="516835" cy="516835"/>
            </a:xfrm>
            <a:prstGeom prst="ellipse">
              <a:avLst/>
            </a:prstGeom>
            <a:solidFill>
              <a:schemeClr val="bg1"/>
            </a:solidFill>
            <a:ln w="28575">
              <a:solidFill>
                <a:srgbClr val="00B0F0"/>
              </a:solidFill>
              <a:prstDash val="sysDash"/>
            </a:ln>
          </p:spPr>
          <p:txBody>
            <a:bodyPr rtlCol="0" anchor="ctr">
              <a:spAutoFit/>
            </a:bodyPr>
            <a:lstStyle/>
            <a:p>
              <a:pPr algn="l"/>
              <a:endParaRPr lang="zh-CN" altLang="en-US">
                <a:solidFill>
                  <a:srgbClr val="0070C0"/>
                </a:solidFill>
                <a:latin typeface="Consolas" panose="020B0609020204030204" pitchFamily="49" charset="0"/>
              </a:endParaRPr>
            </a:p>
          </p:txBody>
        </p:sp>
        <p:cxnSp>
          <p:nvCxnSpPr>
            <p:cNvPr id="15" name="直接连接符 14">
              <a:extLst>
                <a:ext uri="{FF2B5EF4-FFF2-40B4-BE49-F238E27FC236}">
                  <a16:creationId xmlns:a16="http://schemas.microsoft.com/office/drawing/2014/main" id="{4E24D31B-0D2B-4560-2357-A8BE400C741E}"/>
                </a:ext>
              </a:extLst>
            </p:cNvPr>
            <p:cNvCxnSpPr>
              <a:cxnSpLocks/>
              <a:stCxn id="4" idx="5"/>
              <a:endCxn id="14" idx="0"/>
            </p:cNvCxnSpPr>
            <p:nvPr/>
          </p:nvCxnSpPr>
          <p:spPr>
            <a:xfrm>
              <a:off x="11239017" y="3788494"/>
              <a:ext cx="1025871" cy="1088306"/>
            </a:xfrm>
            <a:prstGeom prst="line">
              <a:avLst/>
            </a:prstGeom>
            <a:noFill/>
            <a:ln w="25400" cap="flat">
              <a:solidFill>
                <a:srgbClr val="00B0F0"/>
              </a:solidFill>
              <a:prstDash val="sysDash"/>
              <a:miter lim="400000"/>
            </a:ln>
            <a:effectLst/>
            <a:sp3d/>
          </p:spPr>
          <p:style>
            <a:lnRef idx="0">
              <a:scrgbClr r="0" g="0" b="0"/>
            </a:lnRef>
            <a:fillRef idx="0">
              <a:scrgbClr r="0" g="0" b="0"/>
            </a:fillRef>
            <a:effectRef idx="0">
              <a:scrgbClr r="0" g="0" b="0"/>
            </a:effectRef>
            <a:fontRef idx="none"/>
          </p:style>
        </p:cxnSp>
        <p:sp>
          <p:nvSpPr>
            <p:cNvPr id="21" name="文本框 20">
              <a:extLst>
                <a:ext uri="{FF2B5EF4-FFF2-40B4-BE49-F238E27FC236}">
                  <a16:creationId xmlns:a16="http://schemas.microsoft.com/office/drawing/2014/main" id="{C386E8BB-6781-D44A-228A-DF962E0A4A80}"/>
                </a:ext>
              </a:extLst>
            </p:cNvPr>
            <p:cNvSpPr txBox="1"/>
            <p:nvPr/>
          </p:nvSpPr>
          <p:spPr>
            <a:xfrm>
              <a:off x="10379781" y="2824987"/>
              <a:ext cx="1372171"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en-US" altLang="zh-CN" sz="2000" b="0" u="none" strike="noStrike" cap="none" spc="0" normalizeH="0" baseline="0">
                  <a:ln>
                    <a:noFill/>
                  </a:ln>
                  <a:solidFill>
                    <a:srgbClr val="000000"/>
                  </a:solidFill>
                  <a:effectLst/>
                  <a:uFillTx/>
                  <a:latin typeface="Consolas" panose="020B0609020204030204" pitchFamily="49" charset="0"/>
                  <a:sym typeface="Helvetica Neue"/>
                </a:rPr>
                <a:t>delta &gt; 0</a:t>
              </a:r>
              <a:endParaRPr kumimoji="0" lang="zh-CN" altLang="en-US" sz="2000" b="0" u="none" strike="noStrike" cap="none" spc="0" normalizeH="0" baseline="0" dirty="0">
                <a:ln>
                  <a:noFill/>
                </a:ln>
                <a:solidFill>
                  <a:srgbClr val="000000"/>
                </a:solidFill>
                <a:effectLst/>
                <a:uFillTx/>
                <a:latin typeface="Consolas" panose="020B0609020204030204" pitchFamily="49" charset="0"/>
                <a:sym typeface="Helvetica Neue"/>
              </a:endParaRPr>
            </a:p>
          </p:txBody>
        </p:sp>
        <p:sp>
          <p:nvSpPr>
            <p:cNvPr id="22" name="文本框 21">
              <a:extLst>
                <a:ext uri="{FF2B5EF4-FFF2-40B4-BE49-F238E27FC236}">
                  <a16:creationId xmlns:a16="http://schemas.microsoft.com/office/drawing/2014/main" id="{D90661DF-933F-8D36-144C-0C9D3DBD7D86}"/>
                </a:ext>
              </a:extLst>
            </p:cNvPr>
            <p:cNvSpPr txBox="1"/>
            <p:nvPr/>
          </p:nvSpPr>
          <p:spPr>
            <a:xfrm>
              <a:off x="9593552" y="3882887"/>
              <a:ext cx="80791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en-US" altLang="zh-CN" sz="2000" u="none" strike="noStrike" cap="none" spc="0" normalizeH="0" baseline="0">
                  <a:ln>
                    <a:noFill/>
                  </a:ln>
                  <a:solidFill>
                    <a:srgbClr val="FF0000"/>
                  </a:solidFill>
                  <a:effectLst/>
                  <a:uFillTx/>
                  <a:latin typeface="Consolas" panose="020B0609020204030204" pitchFamily="49" charset="0"/>
                  <a:sym typeface="Helvetica Neue"/>
                </a:rPr>
                <a:t>a &gt; 0</a:t>
              </a:r>
              <a:endParaRPr kumimoji="0" lang="zh-CN" altLang="en-US" sz="2000" u="none" strike="noStrike" cap="none" spc="0" normalizeH="0" baseline="0" dirty="0">
                <a:ln>
                  <a:noFill/>
                </a:ln>
                <a:solidFill>
                  <a:srgbClr val="FF0000"/>
                </a:solidFill>
                <a:effectLst/>
                <a:uFillTx/>
                <a:latin typeface="Consolas" panose="020B0609020204030204" pitchFamily="49" charset="0"/>
                <a:sym typeface="Helvetica Neue"/>
              </a:endParaRPr>
            </a:p>
          </p:txBody>
        </p:sp>
        <p:sp>
          <p:nvSpPr>
            <p:cNvPr id="23" name="文本框 22">
              <a:extLst>
                <a:ext uri="{FF2B5EF4-FFF2-40B4-BE49-F238E27FC236}">
                  <a16:creationId xmlns:a16="http://schemas.microsoft.com/office/drawing/2014/main" id="{1127DBA8-C205-E3A4-0CD1-9F3CB3867BC6}"/>
                </a:ext>
              </a:extLst>
            </p:cNvPr>
            <p:cNvSpPr txBox="1"/>
            <p:nvPr/>
          </p:nvSpPr>
          <p:spPr>
            <a:xfrm>
              <a:off x="11822432" y="3882887"/>
              <a:ext cx="80791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en-US" altLang="zh-CN" sz="2000" u="none" strike="noStrike" cap="none" spc="0" normalizeH="0" baseline="0">
                  <a:ln>
                    <a:noFill/>
                  </a:ln>
                  <a:solidFill>
                    <a:srgbClr val="FF0000"/>
                  </a:solidFill>
                  <a:effectLst/>
                  <a:uFillTx/>
                  <a:latin typeface="Consolas" panose="020B0609020204030204" pitchFamily="49" charset="0"/>
                  <a:sym typeface="Helvetica Neue"/>
                </a:rPr>
                <a:t>a &lt; 0</a:t>
              </a:r>
              <a:endParaRPr kumimoji="0" lang="zh-CN" altLang="en-US" sz="2000" u="none" strike="noStrike" cap="none" spc="0" normalizeH="0" baseline="0" dirty="0">
                <a:ln>
                  <a:noFill/>
                </a:ln>
                <a:solidFill>
                  <a:srgbClr val="FF0000"/>
                </a:solidFill>
                <a:effectLst/>
                <a:uFillTx/>
                <a:latin typeface="Consolas" panose="020B0609020204030204" pitchFamily="49" charset="0"/>
                <a:sym typeface="Helvetica Neue"/>
              </a:endParaRPr>
            </a:p>
          </p:txBody>
        </p:sp>
      </p:grpSp>
      <p:pic>
        <p:nvPicPr>
          <p:cNvPr id="25" name="图片 24">
            <a:extLst>
              <a:ext uri="{FF2B5EF4-FFF2-40B4-BE49-F238E27FC236}">
                <a16:creationId xmlns:a16="http://schemas.microsoft.com/office/drawing/2014/main" id="{FFC4DD67-B5ED-60EA-FC76-4BB8EA7FEFEF}"/>
              </a:ext>
            </a:extLst>
          </p:cNvPr>
          <p:cNvPicPr>
            <a:picLocks noChangeAspect="1"/>
          </p:cNvPicPr>
          <p:nvPr/>
        </p:nvPicPr>
        <p:blipFill>
          <a:blip r:embed="rId2"/>
          <a:stretch>
            <a:fillRect/>
          </a:stretch>
        </p:blipFill>
        <p:spPr>
          <a:xfrm>
            <a:off x="4184217" y="6257683"/>
            <a:ext cx="8076846" cy="3085076"/>
          </a:xfrm>
          <a:prstGeom prst="rect">
            <a:avLst/>
          </a:prstGeom>
          <a:ln>
            <a:solidFill>
              <a:schemeClr val="bg2">
                <a:lumMod val="90000"/>
              </a:schemeClr>
            </a:solidFill>
          </a:ln>
          <a:effectLst>
            <a:outerShdw blurRad="50800" dist="38100" dir="2700000" algn="tl" rotWithShape="0">
              <a:prstClr val="black">
                <a:alpha val="40000"/>
              </a:prstClr>
            </a:outerShdw>
          </a:effectLst>
        </p:spPr>
      </p:pic>
      <p:pic>
        <p:nvPicPr>
          <p:cNvPr id="27" name="图片 26">
            <a:extLst>
              <a:ext uri="{FF2B5EF4-FFF2-40B4-BE49-F238E27FC236}">
                <a16:creationId xmlns:a16="http://schemas.microsoft.com/office/drawing/2014/main" id="{F01F8CDE-5833-F1CF-3CB4-2DDD2E80EDA1}"/>
              </a:ext>
            </a:extLst>
          </p:cNvPr>
          <p:cNvPicPr>
            <a:picLocks noChangeAspect="1"/>
          </p:cNvPicPr>
          <p:nvPr/>
        </p:nvPicPr>
        <p:blipFill>
          <a:blip r:embed="rId3"/>
          <a:stretch>
            <a:fillRect/>
          </a:stretch>
        </p:blipFill>
        <p:spPr>
          <a:xfrm>
            <a:off x="454149" y="2144452"/>
            <a:ext cx="8076846" cy="1722024"/>
          </a:xfrm>
          <a:prstGeom prst="rect">
            <a:avLst/>
          </a:prstGeom>
        </p:spPr>
      </p:pic>
      <p:sp>
        <p:nvSpPr>
          <p:cNvPr id="28" name="箭头: 下 27">
            <a:extLst>
              <a:ext uri="{FF2B5EF4-FFF2-40B4-BE49-F238E27FC236}">
                <a16:creationId xmlns:a16="http://schemas.microsoft.com/office/drawing/2014/main" id="{F6B7D4F6-6666-654C-B08E-46AEE4321B19}"/>
              </a:ext>
            </a:extLst>
          </p:cNvPr>
          <p:cNvSpPr/>
          <p:nvPr/>
        </p:nvSpPr>
        <p:spPr>
          <a:xfrm>
            <a:off x="9245003" y="4582226"/>
            <a:ext cx="787180" cy="1184744"/>
          </a:xfrm>
          <a:prstGeom prst="downArrow">
            <a:avLst/>
          </a:prstGeom>
          <a:ln w="19050">
            <a:solidFill>
              <a:schemeClr val="tx1">
                <a:lumMod val="75000"/>
                <a:lumOff val="25000"/>
              </a:schemeClr>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29" name="文本框 28">
            <a:extLst>
              <a:ext uri="{FF2B5EF4-FFF2-40B4-BE49-F238E27FC236}">
                <a16:creationId xmlns:a16="http://schemas.microsoft.com/office/drawing/2014/main" id="{1120F159-3BF4-5FD5-31C9-7B271BA17F4F}"/>
              </a:ext>
            </a:extLst>
          </p:cNvPr>
          <p:cNvSpPr txBox="1"/>
          <p:nvPr/>
        </p:nvSpPr>
        <p:spPr>
          <a:xfrm>
            <a:off x="4184217" y="4502123"/>
            <a:ext cx="4500741"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50000"/>
              </a:lnSpc>
              <a:spcBef>
                <a:spcPts val="0"/>
              </a:spcBef>
              <a:spcAft>
                <a:spcPts val="0"/>
              </a:spcAft>
              <a:buClrTx/>
              <a:buSzTx/>
              <a:buFontTx/>
              <a:buNone/>
              <a:tabLst/>
            </a:pPr>
            <a:r>
              <a:rPr lang="zh-CN" altLang="en-US"/>
              <a:t>对</a:t>
            </a:r>
            <a:r>
              <a:rPr lang="zh-CN" altLang="en-US" dirty="0"/>
              <a:t>程序代码进行“</a:t>
            </a:r>
            <a:r>
              <a:rPr lang="zh-CN" altLang="en-US" dirty="0">
                <a:highlight>
                  <a:srgbClr val="FFFF00"/>
                </a:highlight>
              </a:rPr>
              <a:t>静态调试</a:t>
            </a:r>
            <a:r>
              <a:rPr lang="zh-CN" altLang="en-US" dirty="0"/>
              <a:t>” </a:t>
            </a:r>
            <a:r>
              <a:rPr lang="en-US" altLang="zh-CN" dirty="0"/>
              <a:t>—— </a:t>
            </a:r>
            <a:r>
              <a:rPr lang="zh-CN" altLang="en-US" dirty="0"/>
              <a:t>心算（</a:t>
            </a:r>
            <a:r>
              <a:rPr lang="zh-CN" altLang="en-US"/>
              <a:t>基于推理的调试</a:t>
            </a:r>
            <a:r>
              <a:rPr lang="zh-CN" altLang="en-US" dirty="0"/>
              <a:t>）</a:t>
            </a:r>
            <a:endParaRPr kumimoji="0" lang="zh-CN" altLang="en-US" sz="24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257523393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5D712-22C2-4251-A6C0-AF6C549EAEDA}"/>
              </a:ext>
            </a:extLst>
          </p:cNvPr>
          <p:cNvSpPr>
            <a:spLocks noGrp="1"/>
          </p:cNvSpPr>
          <p:nvPr>
            <p:ph type="title"/>
          </p:nvPr>
        </p:nvSpPr>
        <p:spPr>
          <a:xfrm>
            <a:off x="547201" y="410841"/>
            <a:ext cx="11397954" cy="927598"/>
          </a:xfrm>
          <a:solidFill>
            <a:srgbClr val="7030A0"/>
          </a:solidFill>
        </p:spPr>
        <p:txBody>
          <a:bodyPr/>
          <a:lstStyle/>
          <a:p>
            <a:pPr algn="l"/>
            <a:r>
              <a:rPr lang="en-US" altLang="zh-CN" dirty="0">
                <a:solidFill>
                  <a:schemeClr val="bg1"/>
                </a:solidFill>
              </a:rPr>
              <a:t>【</a:t>
            </a:r>
            <a:r>
              <a:rPr lang="zh-CN" altLang="en-US" dirty="0">
                <a:solidFill>
                  <a:schemeClr val="bg1"/>
                </a:solidFill>
              </a:rPr>
              <a:t>调试技巧</a:t>
            </a:r>
            <a:r>
              <a:rPr lang="en-US" altLang="zh-CN" dirty="0">
                <a:solidFill>
                  <a:schemeClr val="bg1"/>
                </a:solidFill>
              </a:rPr>
              <a:t>】</a:t>
            </a:r>
            <a:r>
              <a:rPr lang="zh-CN" altLang="en-US" dirty="0">
                <a:solidFill>
                  <a:schemeClr val="bg1"/>
                </a:solidFill>
              </a:rPr>
              <a:t>有错误的</a:t>
            </a:r>
            <a:r>
              <a:rPr lang="zh-CN" altLang="en-US" dirty="0">
                <a:solidFill>
                  <a:srgbClr val="FFFF00"/>
                </a:solidFill>
              </a:rPr>
              <a:t>示例代码</a:t>
            </a:r>
            <a:r>
              <a:rPr lang="zh-CN" altLang="en-US" dirty="0">
                <a:solidFill>
                  <a:schemeClr val="bg1"/>
                </a:solidFill>
              </a:rPr>
              <a:t>（任务</a:t>
            </a:r>
            <a:r>
              <a:rPr lang="en-US" altLang="zh-CN" dirty="0">
                <a:solidFill>
                  <a:schemeClr val="bg1"/>
                </a:solidFill>
              </a:rPr>
              <a:t>2.3</a:t>
            </a:r>
            <a:r>
              <a:rPr lang="zh-CN" altLang="en-US" dirty="0">
                <a:solidFill>
                  <a:schemeClr val="bg1"/>
                </a:solidFill>
              </a:rPr>
              <a:t>）</a:t>
            </a:r>
          </a:p>
        </p:txBody>
      </p:sp>
      <p:sp>
        <p:nvSpPr>
          <p:cNvPr id="9" name="灯片编号占位符 1">
            <a:extLst>
              <a:ext uri="{FF2B5EF4-FFF2-40B4-BE49-F238E27FC236}">
                <a16:creationId xmlns:a16="http://schemas.microsoft.com/office/drawing/2014/main" id="{78D9D499-EAD4-4468-97AB-05E94C34DDE1}"/>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pic>
        <p:nvPicPr>
          <p:cNvPr id="4" name="图片 3">
            <a:extLst>
              <a:ext uri="{FF2B5EF4-FFF2-40B4-BE49-F238E27FC236}">
                <a16:creationId xmlns:a16="http://schemas.microsoft.com/office/drawing/2014/main" id="{D24C3A75-05D9-24D8-4A7B-97D05253481F}"/>
              </a:ext>
            </a:extLst>
          </p:cNvPr>
          <p:cNvPicPr>
            <a:picLocks noChangeAspect="1"/>
          </p:cNvPicPr>
          <p:nvPr/>
        </p:nvPicPr>
        <p:blipFill>
          <a:blip r:embed="rId2"/>
          <a:stretch>
            <a:fillRect/>
          </a:stretch>
        </p:blipFill>
        <p:spPr>
          <a:xfrm>
            <a:off x="547201" y="2794715"/>
            <a:ext cx="8262172" cy="5935807"/>
          </a:xfrm>
          <a:prstGeom prst="rect">
            <a:avLst/>
          </a:prstGeom>
          <a:ln>
            <a:solidFill>
              <a:schemeClr val="accent1"/>
            </a:solidFill>
          </a:ln>
          <a:effectLst>
            <a:outerShdw blurRad="50800" dist="38100" dir="2700000" algn="tl" rotWithShape="0">
              <a:prstClr val="black">
                <a:alpha val="40000"/>
              </a:prstClr>
            </a:outerShdw>
          </a:effectLst>
        </p:spPr>
      </p:pic>
      <p:sp>
        <p:nvSpPr>
          <p:cNvPr id="5" name="文本框 4">
            <a:extLst>
              <a:ext uri="{FF2B5EF4-FFF2-40B4-BE49-F238E27FC236}">
                <a16:creationId xmlns:a16="http://schemas.microsoft.com/office/drawing/2014/main" id="{6299E0C2-121D-872F-B938-E47A3ECF0684}"/>
              </a:ext>
            </a:extLst>
          </p:cNvPr>
          <p:cNvSpPr txBox="1"/>
          <p:nvPr/>
        </p:nvSpPr>
        <p:spPr>
          <a:xfrm>
            <a:off x="9197300" y="3280889"/>
            <a:ext cx="3507708"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zh-CN" altLang="en-US" dirty="0"/>
              <a:t>当设想小物品价格为</a:t>
            </a:r>
            <a:r>
              <a:rPr kumimoji="0" lang="en-US" altLang="zh-CN" sz="2400" b="1" i="0" u="none" strike="noStrike" cap="none" spc="0" normalizeH="0" baseline="0" dirty="0">
                <a:ln>
                  <a:noFill/>
                </a:ln>
                <a:solidFill>
                  <a:srgbClr val="FF0000"/>
                </a:solidFill>
                <a:effectLst/>
                <a:uFillTx/>
                <a:latin typeface="Helvetica Neue"/>
                <a:ea typeface="Helvetica Neue"/>
                <a:cs typeface="Helvetica Neue"/>
                <a:sym typeface="Helvetica Neue"/>
              </a:rPr>
              <a:t>3</a:t>
            </a:r>
            <a:r>
              <a:rPr kumimoji="0" lang="zh-CN" altLang="en-US" sz="2400" b="1" i="0" u="none" strike="noStrike" cap="none" spc="0" normalizeH="0" baseline="0" dirty="0">
                <a:ln>
                  <a:noFill/>
                </a:ln>
                <a:solidFill>
                  <a:srgbClr val="000000"/>
                </a:solidFill>
                <a:effectLst/>
                <a:uFillTx/>
                <a:latin typeface="Helvetica Neue"/>
                <a:ea typeface="Helvetica Neue"/>
                <a:cs typeface="Helvetica Neue"/>
                <a:sym typeface="Helvetica Neue"/>
              </a:rPr>
              <a:t>时程序运行</a:t>
            </a:r>
            <a:r>
              <a:rPr kumimoji="0" lang="zh-CN" altLang="en-US" sz="2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不正常</a:t>
            </a:r>
            <a:r>
              <a:rPr kumimoji="0" lang="en-US" altLang="zh-CN" sz="2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a:t>
            </a:r>
            <a:r>
              <a:rPr lang="zh-CN" altLang="en-US" dirty="0">
                <a:highlight>
                  <a:srgbClr val="FFFF00"/>
                </a:highlight>
              </a:rPr>
              <a:t>错误</a:t>
            </a:r>
            <a:endParaRPr kumimoji="0" lang="zh-CN" altLang="en-US" sz="2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endParaRPr>
          </a:p>
        </p:txBody>
      </p:sp>
      <p:pic>
        <p:nvPicPr>
          <p:cNvPr id="11" name="图片 10">
            <a:extLst>
              <a:ext uri="{FF2B5EF4-FFF2-40B4-BE49-F238E27FC236}">
                <a16:creationId xmlns:a16="http://schemas.microsoft.com/office/drawing/2014/main" id="{3D4FEA9C-8BD0-2105-E727-87C72A515776}"/>
              </a:ext>
            </a:extLst>
          </p:cNvPr>
          <p:cNvPicPr>
            <a:picLocks noChangeAspect="1"/>
          </p:cNvPicPr>
          <p:nvPr/>
        </p:nvPicPr>
        <p:blipFill>
          <a:blip r:embed="rId3"/>
          <a:stretch>
            <a:fillRect/>
          </a:stretch>
        </p:blipFill>
        <p:spPr>
          <a:xfrm>
            <a:off x="9915521" y="4292220"/>
            <a:ext cx="1933575" cy="1800225"/>
          </a:xfrm>
          <a:prstGeom prst="rect">
            <a:avLst/>
          </a:prstGeom>
          <a:effectLst>
            <a:outerShdw blurRad="50800" dist="38100" dir="2700000" algn="tl" rotWithShape="0">
              <a:prstClr val="black">
                <a:alpha val="40000"/>
              </a:prstClr>
            </a:outerShdw>
          </a:effectLst>
        </p:spPr>
      </p:pic>
      <p:sp>
        <p:nvSpPr>
          <p:cNvPr id="12" name="文本框 11">
            <a:extLst>
              <a:ext uri="{FF2B5EF4-FFF2-40B4-BE49-F238E27FC236}">
                <a16:creationId xmlns:a16="http://schemas.microsoft.com/office/drawing/2014/main" id="{4D697CC5-E9E6-E257-4709-E047BD861000}"/>
              </a:ext>
            </a:extLst>
          </p:cNvPr>
          <p:cNvSpPr txBox="1"/>
          <p:nvPr/>
        </p:nvSpPr>
        <p:spPr>
          <a:xfrm>
            <a:off x="10015259" y="6262520"/>
            <a:ext cx="1718420"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zh-CN" altLang="en-US" sz="1800" dirty="0">
                <a:solidFill>
                  <a:schemeClr val="tx2">
                    <a:lumMod val="60000"/>
                    <a:lumOff val="40000"/>
                  </a:schemeClr>
                </a:solidFill>
                <a:latin typeface="微软雅黑" panose="020B0503020204020204" pitchFamily="34" charset="-122"/>
                <a:ea typeface="微软雅黑" panose="020B0503020204020204" pitchFamily="34" charset="-122"/>
              </a:rPr>
              <a:t>程序的运行截图</a:t>
            </a:r>
            <a:endParaRPr kumimoji="0" lang="zh-CN" altLang="en-US" sz="1800" b="1" i="0" u="none" strike="noStrike" cap="none" spc="0" normalizeH="0" baseline="0" dirty="0">
              <a:ln>
                <a:noFill/>
              </a:ln>
              <a:solidFill>
                <a:schemeClr val="tx2">
                  <a:lumMod val="60000"/>
                  <a:lumOff val="40000"/>
                </a:schemeClr>
              </a:solidFill>
              <a:effectLst/>
              <a:uFillTx/>
              <a:latin typeface="微软雅黑" panose="020B0503020204020204" pitchFamily="34" charset="-122"/>
              <a:ea typeface="微软雅黑" panose="020B0503020204020204" pitchFamily="34" charset="-122"/>
              <a:sym typeface="Helvetica Neue"/>
            </a:endParaRPr>
          </a:p>
        </p:txBody>
      </p:sp>
    </p:spTree>
    <p:extLst>
      <p:ext uri="{BB962C8B-B14F-4D97-AF65-F5344CB8AC3E}">
        <p14:creationId xmlns:p14="http://schemas.microsoft.com/office/powerpoint/2010/main" val="302841943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8C7D254F-F6EB-3540-49FB-0F882C04540D}"/>
              </a:ext>
            </a:extLst>
          </p:cNvPr>
          <p:cNvPicPr>
            <a:picLocks noChangeAspect="1"/>
          </p:cNvPicPr>
          <p:nvPr/>
        </p:nvPicPr>
        <p:blipFill>
          <a:blip r:embed="rId2"/>
          <a:stretch>
            <a:fillRect/>
          </a:stretch>
        </p:blipFill>
        <p:spPr>
          <a:xfrm>
            <a:off x="547200" y="2225899"/>
            <a:ext cx="6984844" cy="7116860"/>
          </a:xfrm>
          <a:prstGeom prst="rect">
            <a:avLst/>
          </a:prstGeom>
          <a:ln>
            <a:solidFill>
              <a:srgbClr val="002060"/>
            </a:solidFill>
          </a:ln>
          <a:effectLst>
            <a:outerShdw blurRad="50800" dist="38100" dir="2700000" algn="tl" rotWithShape="0">
              <a:prstClr val="black">
                <a:alpha val="40000"/>
              </a:prstClr>
            </a:outerShdw>
          </a:effectLst>
        </p:spPr>
      </p:pic>
      <p:sp>
        <p:nvSpPr>
          <p:cNvPr id="2" name="标题 1">
            <a:extLst>
              <a:ext uri="{FF2B5EF4-FFF2-40B4-BE49-F238E27FC236}">
                <a16:creationId xmlns:a16="http://schemas.microsoft.com/office/drawing/2014/main" id="{32A5D712-22C2-4251-A6C0-AF6C549EAEDA}"/>
              </a:ext>
            </a:extLst>
          </p:cNvPr>
          <p:cNvSpPr>
            <a:spLocks noGrp="1"/>
          </p:cNvSpPr>
          <p:nvPr>
            <p:ph type="title"/>
          </p:nvPr>
        </p:nvSpPr>
        <p:spPr>
          <a:xfrm>
            <a:off x="547200" y="410841"/>
            <a:ext cx="10354038" cy="927598"/>
          </a:xfrm>
          <a:solidFill>
            <a:srgbClr val="7030A0"/>
          </a:solidFill>
        </p:spPr>
        <p:txBody>
          <a:bodyPr/>
          <a:lstStyle/>
          <a:p>
            <a:r>
              <a:rPr lang="zh-CN" altLang="en-US" dirty="0">
                <a:solidFill>
                  <a:schemeClr val="bg1"/>
                </a:solidFill>
              </a:rPr>
              <a:t>当</a:t>
            </a:r>
            <a:r>
              <a:rPr lang="zh-CN" altLang="en-US">
                <a:solidFill>
                  <a:schemeClr val="bg1"/>
                </a:solidFill>
              </a:rPr>
              <a:t>有</a:t>
            </a:r>
            <a:r>
              <a:rPr lang="zh-CN" altLang="en-US" b="1">
                <a:solidFill>
                  <a:srgbClr val="FFFF00"/>
                </a:solidFill>
              </a:rPr>
              <a:t>确切的测试数据</a:t>
            </a:r>
            <a:r>
              <a:rPr lang="zh-CN" altLang="en-US" dirty="0">
                <a:solidFill>
                  <a:schemeClr val="bg1"/>
                </a:solidFill>
              </a:rPr>
              <a:t>让程序出错时 </a:t>
            </a:r>
            <a:r>
              <a:rPr lang="en-US" altLang="zh-CN" dirty="0">
                <a:solidFill>
                  <a:schemeClr val="bg1"/>
                </a:solidFill>
              </a:rPr>
              <a:t>…..</a:t>
            </a:r>
            <a:endParaRPr lang="zh-CN" altLang="en-US" dirty="0">
              <a:solidFill>
                <a:schemeClr val="bg1"/>
              </a:solidFill>
            </a:endParaRPr>
          </a:p>
        </p:txBody>
      </p:sp>
      <p:sp>
        <p:nvSpPr>
          <p:cNvPr id="9" name="灯片编号占位符 1">
            <a:extLst>
              <a:ext uri="{FF2B5EF4-FFF2-40B4-BE49-F238E27FC236}">
                <a16:creationId xmlns:a16="http://schemas.microsoft.com/office/drawing/2014/main" id="{78D9D499-EAD4-4468-97AB-05E94C34DDE1}"/>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
        <p:nvSpPr>
          <p:cNvPr id="7" name="文本框 6">
            <a:extLst>
              <a:ext uri="{FF2B5EF4-FFF2-40B4-BE49-F238E27FC236}">
                <a16:creationId xmlns:a16="http://schemas.microsoft.com/office/drawing/2014/main" id="{6F12F325-06C9-A970-8614-91EEB4DCE527}"/>
              </a:ext>
            </a:extLst>
          </p:cNvPr>
          <p:cNvSpPr txBox="1"/>
          <p:nvPr/>
        </p:nvSpPr>
        <p:spPr>
          <a:xfrm>
            <a:off x="8648083" y="3290463"/>
            <a:ext cx="3516011" cy="17645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50000"/>
              </a:lnSpc>
              <a:spcBef>
                <a:spcPts val="0"/>
              </a:spcBef>
              <a:spcAft>
                <a:spcPts val="0"/>
              </a:spcAft>
              <a:buClrTx/>
              <a:buSzTx/>
              <a:buFontTx/>
              <a:buNone/>
              <a:tabLst/>
            </a:pPr>
            <a:r>
              <a:rPr lang="zh-CN" altLang="en-US" dirty="0"/>
              <a:t>用测试数据</a:t>
            </a:r>
            <a:r>
              <a:rPr lang="en-US" altLang="zh-CN" dirty="0">
                <a:solidFill>
                  <a:srgbClr val="FF0000"/>
                </a:solidFill>
              </a:rPr>
              <a:t>3</a:t>
            </a:r>
            <a:r>
              <a:rPr lang="zh-CN" altLang="en-US" dirty="0"/>
              <a:t>对程序代码进行“</a:t>
            </a:r>
            <a:r>
              <a:rPr lang="zh-CN" altLang="en-US" dirty="0">
                <a:highlight>
                  <a:srgbClr val="FFFF00"/>
                </a:highlight>
              </a:rPr>
              <a:t>静态调试</a:t>
            </a:r>
            <a:r>
              <a:rPr lang="zh-CN" altLang="en-US" dirty="0"/>
              <a:t>” </a:t>
            </a:r>
            <a:r>
              <a:rPr lang="en-US" altLang="zh-CN"/>
              <a:t>—— </a:t>
            </a:r>
            <a:br>
              <a:rPr lang="en-US" altLang="zh-CN"/>
            </a:br>
            <a:r>
              <a:rPr lang="zh-CN" altLang="en-US"/>
              <a:t>心算</a:t>
            </a:r>
            <a:r>
              <a:rPr lang="zh-CN" altLang="en-US" dirty="0"/>
              <a:t>（</a:t>
            </a:r>
            <a:r>
              <a:rPr lang="zh-CN" altLang="en-US"/>
              <a:t>基于推理的调试</a:t>
            </a:r>
            <a:r>
              <a:rPr lang="zh-CN" altLang="en-US" dirty="0"/>
              <a:t>）</a:t>
            </a:r>
            <a:endParaRPr kumimoji="0" lang="zh-CN" altLang="en-US" sz="24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8" name="矩形: 圆角 7">
            <a:extLst>
              <a:ext uri="{FF2B5EF4-FFF2-40B4-BE49-F238E27FC236}">
                <a16:creationId xmlns:a16="http://schemas.microsoft.com/office/drawing/2014/main" id="{C500BB2B-88EA-ACCD-2E9B-3584A7FB0987}"/>
              </a:ext>
            </a:extLst>
          </p:cNvPr>
          <p:cNvSpPr/>
          <p:nvPr/>
        </p:nvSpPr>
        <p:spPr>
          <a:xfrm>
            <a:off x="351092" y="3490173"/>
            <a:ext cx="7617854" cy="360608"/>
          </a:xfrm>
          <a:prstGeom prst="roundRect">
            <a:avLst/>
          </a:prstGeom>
          <a:solidFill>
            <a:srgbClr val="FFFF00">
              <a:alpha val="40000"/>
            </a:srgbClr>
          </a:solidFill>
          <a:ln w="19050">
            <a:solidFill>
              <a:srgbClr val="FF000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10" name="文本框 9">
            <a:extLst>
              <a:ext uri="{FF2B5EF4-FFF2-40B4-BE49-F238E27FC236}">
                <a16:creationId xmlns:a16="http://schemas.microsoft.com/office/drawing/2014/main" id="{BC877A6A-3D02-3770-8A5D-315A1B419B72}"/>
              </a:ext>
            </a:extLst>
          </p:cNvPr>
          <p:cNvSpPr txBox="1"/>
          <p:nvPr/>
        </p:nvSpPr>
        <p:spPr>
          <a:xfrm>
            <a:off x="8648083" y="6593390"/>
            <a:ext cx="3516011" cy="28725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lang="zh-CN" altLang="en-US"/>
              <a:t>发现：程序</a:t>
            </a:r>
            <a:r>
              <a:rPr lang="zh-CN" altLang="en-US" dirty="0"/>
              <a:t>在输出答案后继续转至第</a:t>
            </a:r>
            <a:r>
              <a:rPr lang="en-US" altLang="zh-CN" dirty="0"/>
              <a:t>24</a:t>
            </a:r>
            <a:r>
              <a:rPr lang="zh-CN" altLang="en-US" dirty="0"/>
              <a:t>执行！</a:t>
            </a:r>
            <a:endParaRPr lang="en-US" altLang="zh-CN" dirty="0"/>
          </a:p>
          <a:p>
            <a:pPr marL="0" marR="0" indent="0" algn="ctr" defTabSz="584200" rtl="0" fontAlgn="auto" latinLnBrk="0" hangingPunct="0">
              <a:lnSpc>
                <a:spcPct val="150000"/>
              </a:lnSpc>
              <a:spcBef>
                <a:spcPts val="0"/>
              </a:spcBef>
              <a:spcAft>
                <a:spcPts val="0"/>
              </a:spcAft>
              <a:buClrTx/>
              <a:buSzTx/>
              <a:buFontTx/>
              <a:buNone/>
              <a:tabLst/>
            </a:pPr>
            <a:r>
              <a:rPr lang="zh-CN" altLang="en-US" dirty="0">
                <a:solidFill>
                  <a:srgbClr val="FF0000"/>
                </a:solidFill>
              </a:rPr>
              <a:t>显然，这是不对的！</a:t>
            </a:r>
            <a:endParaRPr lang="en-US" altLang="zh-CN" dirty="0">
              <a:solidFill>
                <a:srgbClr val="FF0000"/>
              </a:solidFill>
            </a:endParaRPr>
          </a:p>
          <a:p>
            <a:pPr marL="0" marR="0" indent="0" algn="l" defTabSz="584200" rtl="0" fontAlgn="auto" latinLnBrk="0" hangingPunct="0">
              <a:lnSpc>
                <a:spcPct val="150000"/>
              </a:lnSpc>
              <a:spcBef>
                <a:spcPts val="0"/>
              </a:spcBef>
              <a:spcAft>
                <a:spcPts val="0"/>
              </a:spcAft>
              <a:buClrTx/>
              <a:buSzTx/>
              <a:buFontTx/>
              <a:buNone/>
              <a:tabLst/>
            </a:pPr>
            <a:r>
              <a:rPr lang="zh-CN" altLang="en-US" dirty="0">
                <a:solidFill>
                  <a:srgbClr val="FF0000"/>
                </a:solidFill>
              </a:rPr>
              <a:t>应该</a:t>
            </a:r>
            <a:r>
              <a:rPr lang="zh-CN" altLang="en-US" dirty="0">
                <a:solidFill>
                  <a:srgbClr val="0070C0"/>
                </a:solidFill>
              </a:rPr>
              <a:t>转到第</a:t>
            </a:r>
            <a:r>
              <a:rPr lang="en-US" altLang="zh-CN" dirty="0">
                <a:solidFill>
                  <a:srgbClr val="0070C0"/>
                </a:solidFill>
              </a:rPr>
              <a:t>31</a:t>
            </a:r>
            <a:r>
              <a:rPr lang="zh-CN" altLang="en-US" dirty="0">
                <a:solidFill>
                  <a:srgbClr val="0070C0"/>
                </a:solidFill>
              </a:rPr>
              <a:t>行，结束第</a:t>
            </a:r>
            <a:r>
              <a:rPr lang="en-US" altLang="zh-CN" dirty="0">
                <a:solidFill>
                  <a:srgbClr val="0070C0"/>
                </a:solidFill>
              </a:rPr>
              <a:t>10</a:t>
            </a:r>
            <a:r>
              <a:rPr lang="zh-CN" altLang="en-US" dirty="0">
                <a:solidFill>
                  <a:srgbClr val="0070C0"/>
                </a:solidFill>
              </a:rPr>
              <a:t>行开始的</a:t>
            </a:r>
            <a:r>
              <a:rPr lang="en-US" altLang="zh-CN" dirty="0">
                <a:solidFill>
                  <a:srgbClr val="0070C0"/>
                </a:solidFill>
              </a:rPr>
              <a:t>if</a:t>
            </a:r>
            <a:r>
              <a:rPr lang="zh-CN" altLang="en-US" dirty="0">
                <a:solidFill>
                  <a:srgbClr val="0070C0"/>
                </a:solidFill>
              </a:rPr>
              <a:t>语句！</a:t>
            </a:r>
            <a:endParaRPr kumimoji="0" lang="zh-CN" altLang="en-US" sz="2400" b="1" i="0" u="none" strike="noStrike" cap="none" spc="0" normalizeH="0" baseline="0" dirty="0">
              <a:ln>
                <a:noFill/>
              </a:ln>
              <a:solidFill>
                <a:srgbClr val="0070C0"/>
              </a:solidFill>
              <a:effectLst/>
              <a:uFillTx/>
              <a:latin typeface="Helvetica Neue"/>
              <a:ea typeface="Helvetica Neue"/>
              <a:cs typeface="Helvetica Neue"/>
              <a:sym typeface="Helvetica Neue"/>
            </a:endParaRPr>
          </a:p>
        </p:txBody>
      </p:sp>
      <p:sp>
        <p:nvSpPr>
          <p:cNvPr id="12" name="矩形: 圆角 11">
            <a:extLst>
              <a:ext uri="{FF2B5EF4-FFF2-40B4-BE49-F238E27FC236}">
                <a16:creationId xmlns:a16="http://schemas.microsoft.com/office/drawing/2014/main" id="{74C552C1-D1CB-E5B2-7F8C-3E86F075AEBF}"/>
              </a:ext>
            </a:extLst>
          </p:cNvPr>
          <p:cNvSpPr/>
          <p:nvPr/>
        </p:nvSpPr>
        <p:spPr>
          <a:xfrm>
            <a:off x="351092" y="6722777"/>
            <a:ext cx="7617854" cy="360608"/>
          </a:xfrm>
          <a:prstGeom prst="roundRect">
            <a:avLst/>
          </a:prstGeom>
          <a:solidFill>
            <a:srgbClr val="FFFF00">
              <a:alpha val="40000"/>
            </a:srgbClr>
          </a:solidFill>
          <a:ln w="19050">
            <a:solidFill>
              <a:srgbClr val="FF000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Tree>
    <p:extLst>
      <p:ext uri="{BB962C8B-B14F-4D97-AF65-F5344CB8AC3E}">
        <p14:creationId xmlns:p14="http://schemas.microsoft.com/office/powerpoint/2010/main" val="337300409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237CAC8D-916B-9305-7A7F-68CA940235AC}"/>
              </a:ext>
            </a:extLst>
          </p:cNvPr>
          <p:cNvPicPr>
            <a:picLocks noChangeAspect="1"/>
          </p:cNvPicPr>
          <p:nvPr/>
        </p:nvPicPr>
        <p:blipFill>
          <a:blip r:embed="rId2"/>
          <a:stretch>
            <a:fillRect/>
          </a:stretch>
        </p:blipFill>
        <p:spPr>
          <a:xfrm>
            <a:off x="547200" y="2211066"/>
            <a:ext cx="6997528" cy="7129784"/>
          </a:xfrm>
          <a:prstGeom prst="rect">
            <a:avLst/>
          </a:prstGeom>
          <a:ln>
            <a:solidFill>
              <a:srgbClr val="002060"/>
            </a:solidFill>
          </a:ln>
          <a:effectLst>
            <a:outerShdw blurRad="50800" dist="38100" dir="2700000" algn="tl" rotWithShape="0">
              <a:prstClr val="black">
                <a:alpha val="40000"/>
              </a:prstClr>
            </a:outerShdw>
          </a:effectLst>
        </p:spPr>
      </p:pic>
      <p:sp>
        <p:nvSpPr>
          <p:cNvPr id="2" name="标题 1">
            <a:extLst>
              <a:ext uri="{FF2B5EF4-FFF2-40B4-BE49-F238E27FC236}">
                <a16:creationId xmlns:a16="http://schemas.microsoft.com/office/drawing/2014/main" id="{32A5D712-22C2-4251-A6C0-AF6C549EAEDA}"/>
              </a:ext>
            </a:extLst>
          </p:cNvPr>
          <p:cNvSpPr>
            <a:spLocks noGrp="1"/>
          </p:cNvSpPr>
          <p:nvPr>
            <p:ph type="title"/>
          </p:nvPr>
        </p:nvSpPr>
        <p:spPr>
          <a:xfrm>
            <a:off x="547200" y="410841"/>
            <a:ext cx="9949081" cy="927598"/>
          </a:xfrm>
          <a:solidFill>
            <a:srgbClr val="7030A0"/>
          </a:solidFill>
        </p:spPr>
        <p:txBody>
          <a:bodyPr/>
          <a:lstStyle/>
          <a:p>
            <a:r>
              <a:rPr lang="zh-CN" altLang="en-US" dirty="0">
                <a:solidFill>
                  <a:schemeClr val="bg1"/>
                </a:solidFill>
              </a:rPr>
              <a:t>当有确切测试数据让程序出错时 </a:t>
            </a:r>
            <a:r>
              <a:rPr lang="en-US" altLang="zh-CN" dirty="0">
                <a:solidFill>
                  <a:schemeClr val="bg1"/>
                </a:solidFill>
              </a:rPr>
              <a:t>…..</a:t>
            </a:r>
            <a:endParaRPr lang="zh-CN" altLang="en-US" dirty="0">
              <a:solidFill>
                <a:schemeClr val="bg1"/>
              </a:solidFill>
            </a:endParaRPr>
          </a:p>
        </p:txBody>
      </p:sp>
      <p:sp>
        <p:nvSpPr>
          <p:cNvPr id="9" name="灯片编号占位符 1">
            <a:extLst>
              <a:ext uri="{FF2B5EF4-FFF2-40B4-BE49-F238E27FC236}">
                <a16:creationId xmlns:a16="http://schemas.microsoft.com/office/drawing/2014/main" id="{78D9D499-EAD4-4468-97AB-05E94C34DDE1}"/>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sp>
        <p:nvSpPr>
          <p:cNvPr id="7" name="文本框 6">
            <a:extLst>
              <a:ext uri="{FF2B5EF4-FFF2-40B4-BE49-F238E27FC236}">
                <a16:creationId xmlns:a16="http://schemas.microsoft.com/office/drawing/2014/main" id="{6F12F325-06C9-A970-8614-91EEB4DCE527}"/>
              </a:ext>
            </a:extLst>
          </p:cNvPr>
          <p:cNvSpPr txBox="1"/>
          <p:nvPr/>
        </p:nvSpPr>
        <p:spPr>
          <a:xfrm>
            <a:off x="8510147" y="3161660"/>
            <a:ext cx="3516011" cy="28725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lang="zh-CN" altLang="en-US" dirty="0"/>
              <a:t>在逻辑上，第</a:t>
            </a:r>
            <a:r>
              <a:rPr lang="en-US" altLang="zh-CN" dirty="0"/>
              <a:t>15</a:t>
            </a:r>
            <a:r>
              <a:rPr lang="zh-CN" altLang="en-US" dirty="0"/>
              <a:t>行</a:t>
            </a:r>
            <a:r>
              <a:rPr lang="zh-CN" altLang="en-US" dirty="0">
                <a:solidFill>
                  <a:srgbClr val="FF0000"/>
                </a:solidFill>
              </a:rPr>
              <a:t>应该</a:t>
            </a:r>
            <a:r>
              <a:rPr lang="zh-CN" altLang="en-US" dirty="0"/>
              <a:t>是“不等于</a:t>
            </a:r>
            <a:r>
              <a:rPr lang="en-US" altLang="zh-CN" dirty="0"/>
              <a:t>3</a:t>
            </a:r>
            <a:r>
              <a:rPr lang="zh-CN" altLang="en-US" dirty="0"/>
              <a:t>”的情形入口，</a:t>
            </a:r>
            <a:r>
              <a:rPr lang="zh-CN" altLang="en-US"/>
              <a:t>所以，</a:t>
            </a:r>
            <a:r>
              <a:rPr lang="zh-CN" altLang="en-US">
                <a:solidFill>
                  <a:srgbClr val="FF0000"/>
                </a:solidFill>
              </a:rPr>
              <a:t>需要</a:t>
            </a:r>
            <a:r>
              <a:rPr lang="zh-CN" altLang="en-US"/>
              <a:t>将</a:t>
            </a:r>
            <a:r>
              <a:rPr lang="en-US" altLang="zh-CN" dirty="0"/>
              <a:t>14-15</a:t>
            </a:r>
            <a:r>
              <a:rPr lang="zh-CN" altLang="en-US" dirty="0"/>
              <a:t>行代码</a:t>
            </a:r>
            <a:r>
              <a:rPr lang="zh-CN" altLang="en-US" dirty="0">
                <a:solidFill>
                  <a:srgbClr val="FF0000"/>
                </a:solidFill>
              </a:rPr>
              <a:t>改为</a:t>
            </a:r>
            <a:r>
              <a:rPr lang="en-US" altLang="zh-CN" dirty="0"/>
              <a:t>if-else</a:t>
            </a:r>
            <a:r>
              <a:rPr lang="zh-CN" altLang="en-US" dirty="0"/>
              <a:t>语句来处理“等于</a:t>
            </a:r>
            <a:r>
              <a:rPr lang="en-US" altLang="zh-CN" dirty="0"/>
              <a:t>/</a:t>
            </a:r>
            <a:r>
              <a:rPr lang="zh-CN" altLang="en-US" dirty="0"/>
              <a:t>不等于</a:t>
            </a:r>
            <a:r>
              <a:rPr lang="en-US" altLang="zh-CN" dirty="0"/>
              <a:t>3</a:t>
            </a:r>
            <a:r>
              <a:rPr lang="zh-CN" altLang="en-US" dirty="0"/>
              <a:t>”</a:t>
            </a:r>
            <a:endParaRPr kumimoji="0" lang="zh-CN" altLang="en-US" sz="24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15" name="矩形: 圆角 14">
            <a:extLst>
              <a:ext uri="{FF2B5EF4-FFF2-40B4-BE49-F238E27FC236}">
                <a16:creationId xmlns:a16="http://schemas.microsoft.com/office/drawing/2014/main" id="{BDB35115-6DFF-FC6F-FA09-5086B6BDB2FE}"/>
              </a:ext>
            </a:extLst>
          </p:cNvPr>
          <p:cNvSpPr/>
          <p:nvPr/>
        </p:nvSpPr>
        <p:spPr>
          <a:xfrm>
            <a:off x="351092" y="3490173"/>
            <a:ext cx="7617854" cy="360608"/>
          </a:xfrm>
          <a:prstGeom prst="roundRect">
            <a:avLst/>
          </a:prstGeom>
          <a:solidFill>
            <a:srgbClr val="FFFF00">
              <a:alpha val="40000"/>
            </a:srgbClr>
          </a:solidFill>
          <a:ln w="19050">
            <a:solidFill>
              <a:srgbClr val="FF000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16" name="矩形: 圆角 15">
            <a:extLst>
              <a:ext uri="{FF2B5EF4-FFF2-40B4-BE49-F238E27FC236}">
                <a16:creationId xmlns:a16="http://schemas.microsoft.com/office/drawing/2014/main" id="{BE6E4C4A-713C-C5A3-54F2-C77948859DE0}"/>
              </a:ext>
            </a:extLst>
          </p:cNvPr>
          <p:cNvSpPr/>
          <p:nvPr/>
        </p:nvSpPr>
        <p:spPr>
          <a:xfrm>
            <a:off x="351092" y="6722777"/>
            <a:ext cx="7617854" cy="360608"/>
          </a:xfrm>
          <a:prstGeom prst="roundRect">
            <a:avLst/>
          </a:prstGeom>
          <a:solidFill>
            <a:srgbClr val="FFFF00">
              <a:alpha val="40000"/>
            </a:srgbClr>
          </a:solidFill>
          <a:ln w="19050">
            <a:solidFill>
              <a:srgbClr val="FF000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17" name="矩形: 圆角 16">
            <a:extLst>
              <a:ext uri="{FF2B5EF4-FFF2-40B4-BE49-F238E27FC236}">
                <a16:creationId xmlns:a16="http://schemas.microsoft.com/office/drawing/2014/main" id="{96C96D5C-C569-1527-63B8-FF0CD0CD303C}"/>
              </a:ext>
            </a:extLst>
          </p:cNvPr>
          <p:cNvSpPr/>
          <p:nvPr/>
        </p:nvSpPr>
        <p:spPr>
          <a:xfrm>
            <a:off x="351093" y="3850781"/>
            <a:ext cx="7617854" cy="276898"/>
          </a:xfrm>
          <a:prstGeom prst="roundRect">
            <a:avLst/>
          </a:prstGeom>
          <a:solidFill>
            <a:schemeClr val="accent6">
              <a:lumMod val="60000"/>
              <a:lumOff val="40000"/>
              <a:alpha val="40000"/>
            </a:schemeClr>
          </a:solidFill>
          <a:ln w="19050">
            <a:solidFill>
              <a:schemeClr val="accent3">
                <a:lumMod val="75000"/>
              </a:schemeClr>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18" name="右大括号 17">
            <a:extLst>
              <a:ext uri="{FF2B5EF4-FFF2-40B4-BE49-F238E27FC236}">
                <a16:creationId xmlns:a16="http://schemas.microsoft.com/office/drawing/2014/main" id="{0D095715-A003-69D1-A4D1-37C98EE91EA7}"/>
              </a:ext>
            </a:extLst>
          </p:cNvPr>
          <p:cNvSpPr/>
          <p:nvPr/>
        </p:nvSpPr>
        <p:spPr>
          <a:xfrm>
            <a:off x="8177932" y="3438659"/>
            <a:ext cx="238412" cy="734096"/>
          </a:xfrm>
          <a:prstGeom prst="rightBrac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pic>
        <p:nvPicPr>
          <p:cNvPr id="20" name="图片 19">
            <a:extLst>
              <a:ext uri="{FF2B5EF4-FFF2-40B4-BE49-F238E27FC236}">
                <a16:creationId xmlns:a16="http://schemas.microsoft.com/office/drawing/2014/main" id="{15DF6AE8-39D2-5477-FA75-A7AEF19E5550}"/>
              </a:ext>
            </a:extLst>
          </p:cNvPr>
          <p:cNvPicPr>
            <a:picLocks noChangeAspect="1"/>
          </p:cNvPicPr>
          <p:nvPr/>
        </p:nvPicPr>
        <p:blipFill>
          <a:blip r:embed="rId3"/>
          <a:stretch>
            <a:fillRect/>
          </a:stretch>
        </p:blipFill>
        <p:spPr>
          <a:xfrm>
            <a:off x="9301364" y="6569035"/>
            <a:ext cx="1933575" cy="1028700"/>
          </a:xfrm>
          <a:prstGeom prst="rect">
            <a:avLst/>
          </a:prstGeom>
          <a:ln>
            <a:solidFill>
              <a:schemeClr val="accent3">
                <a:lumMod val="75000"/>
              </a:schemeClr>
            </a:solidFill>
          </a:ln>
          <a:effectLst>
            <a:outerShdw blurRad="50800" dist="38100" dir="2700000" algn="tl" rotWithShape="0">
              <a:prstClr val="black">
                <a:alpha val="40000"/>
              </a:prstClr>
            </a:outerShdw>
          </a:effectLst>
        </p:spPr>
      </p:pic>
      <p:sp>
        <p:nvSpPr>
          <p:cNvPr id="21" name="文本框 20">
            <a:extLst>
              <a:ext uri="{FF2B5EF4-FFF2-40B4-BE49-F238E27FC236}">
                <a16:creationId xmlns:a16="http://schemas.microsoft.com/office/drawing/2014/main" id="{04C22E3C-F9E1-7036-CD97-2F101301E1E8}"/>
              </a:ext>
            </a:extLst>
          </p:cNvPr>
          <p:cNvSpPr txBox="1"/>
          <p:nvPr/>
        </p:nvSpPr>
        <p:spPr>
          <a:xfrm>
            <a:off x="9285687" y="7670214"/>
            <a:ext cx="1949252"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zh-CN" altLang="en-US" sz="1800" dirty="0">
                <a:solidFill>
                  <a:schemeClr val="tx2">
                    <a:lumMod val="60000"/>
                    <a:lumOff val="40000"/>
                  </a:schemeClr>
                </a:solidFill>
                <a:latin typeface="微软雅黑" panose="020B0503020204020204" pitchFamily="34" charset="-122"/>
                <a:ea typeface="微软雅黑" panose="020B0503020204020204" pitchFamily="34" charset="-122"/>
              </a:rPr>
              <a:t>修改后的运行</a:t>
            </a:r>
            <a:r>
              <a:rPr lang="zh-CN" altLang="en-US" sz="1800">
                <a:solidFill>
                  <a:schemeClr val="tx2">
                    <a:lumMod val="60000"/>
                    <a:lumOff val="40000"/>
                  </a:schemeClr>
                </a:solidFill>
                <a:latin typeface="微软雅黑" panose="020B0503020204020204" pitchFamily="34" charset="-122"/>
                <a:ea typeface="微软雅黑" panose="020B0503020204020204" pitchFamily="34" charset="-122"/>
              </a:rPr>
              <a:t>截图</a:t>
            </a:r>
            <a:endParaRPr lang="en-US" altLang="zh-CN" sz="1800">
              <a:solidFill>
                <a:schemeClr val="tx2">
                  <a:lumMod val="60000"/>
                  <a:lumOff val="40000"/>
                </a:schemeClr>
              </a:solidFill>
              <a:latin typeface="微软雅黑" panose="020B0503020204020204" pitchFamily="34" charset="-122"/>
              <a:ea typeface="微软雅黑" panose="020B0503020204020204" pitchFamily="34" charset="-122"/>
            </a:endParaRPr>
          </a:p>
          <a:p>
            <a:pPr marL="0" marR="0" indent="0" algn="ctr" defTabSz="584200" rtl="0" fontAlgn="auto" latinLnBrk="0" hangingPunct="0">
              <a:lnSpc>
                <a:spcPct val="100000"/>
              </a:lnSpc>
              <a:spcBef>
                <a:spcPts val="0"/>
              </a:spcBef>
              <a:spcAft>
                <a:spcPts val="0"/>
              </a:spcAft>
              <a:buClrTx/>
              <a:buSzTx/>
              <a:buFontTx/>
              <a:buNone/>
              <a:tabLst/>
            </a:pPr>
            <a:r>
              <a:rPr kumimoji="0" lang="zh-CN" altLang="en-US" sz="1800" b="1" i="0" u="none" strike="noStrike" cap="none" spc="0" normalizeH="0" baseline="0">
                <a:ln>
                  <a:noFill/>
                </a:ln>
                <a:solidFill>
                  <a:schemeClr val="tx2">
                    <a:lumMod val="60000"/>
                    <a:lumOff val="40000"/>
                  </a:schemeClr>
                </a:solidFill>
                <a:effectLst/>
                <a:uFillTx/>
                <a:latin typeface="微软雅黑" panose="020B0503020204020204" pitchFamily="34" charset="-122"/>
                <a:ea typeface="微软雅黑" panose="020B0503020204020204" pitchFamily="34" charset="-122"/>
                <a:sym typeface="Helvetica Neue"/>
              </a:rPr>
              <a:t>（正常结束）</a:t>
            </a:r>
            <a:endParaRPr kumimoji="0" lang="zh-CN" altLang="en-US" sz="1800" b="1" i="0" u="none" strike="noStrike" cap="none" spc="0" normalizeH="0" baseline="0" dirty="0">
              <a:ln>
                <a:noFill/>
              </a:ln>
              <a:solidFill>
                <a:schemeClr val="tx2">
                  <a:lumMod val="60000"/>
                  <a:lumOff val="40000"/>
                </a:schemeClr>
              </a:solidFill>
              <a:effectLst/>
              <a:uFillTx/>
              <a:latin typeface="微软雅黑" panose="020B0503020204020204" pitchFamily="34" charset="-122"/>
              <a:ea typeface="微软雅黑" panose="020B0503020204020204" pitchFamily="34" charset="-122"/>
              <a:sym typeface="Helvetica Neue"/>
            </a:endParaRPr>
          </a:p>
        </p:txBody>
      </p:sp>
    </p:spTree>
    <p:extLst>
      <p:ext uri="{BB962C8B-B14F-4D97-AF65-F5344CB8AC3E}">
        <p14:creationId xmlns:p14="http://schemas.microsoft.com/office/powerpoint/2010/main" val="22495904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幻灯片编号"/>
          <p:cNvSpPr txBox="1">
            <a:spLocks noGrp="1"/>
          </p:cNvSpPr>
          <p:nvPr>
            <p:ph type="sldNum" sz="quarter" idx="2"/>
          </p:nvPr>
        </p:nvSpPr>
        <p:spPr>
          <a:xfrm>
            <a:off x="12478478" y="9215867"/>
            <a:ext cx="281968" cy="4318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fld id="{86CB4B4D-7CA3-9044-876B-883B54F8677D}" type="slidenum">
              <a:t>7</a:t>
            </a:fld>
            <a:endParaRPr/>
          </a:p>
        </p:txBody>
      </p:sp>
      <p:sp>
        <p:nvSpPr>
          <p:cNvPr id="33" name="考核要求"/>
          <p:cNvSpPr txBox="1">
            <a:spLocks noGrp="1"/>
          </p:cNvSpPr>
          <p:nvPr>
            <p:ph type="title" idx="4294967295"/>
          </p:nvPr>
        </p:nvSpPr>
        <p:spPr>
          <a:xfrm>
            <a:off x="859214" y="3831448"/>
            <a:ext cx="11286372" cy="2090703"/>
          </a:xfrm>
          <a:prstGeom prst="rect">
            <a:avLst/>
          </a:prstGeom>
          <a:solidFill>
            <a:srgbClr val="00B050"/>
          </a:solidFill>
          <a:effectLst>
            <a:outerShdw blurRad="266700" dir="5400000" rotWithShape="0">
              <a:srgbClr val="000000"/>
            </a:outerShdw>
          </a:effectLst>
        </p:spPr>
        <p:txBody>
          <a:bodyPr lIns="65022" tIns="65022" rIns="65022" bIns="65022"/>
          <a:lstStyle>
            <a:lvl1pPr defTabSz="543305">
              <a:defRPr sz="7440">
                <a:solidFill>
                  <a:srgbClr val="FFFFFF"/>
                </a:solidFill>
              </a:defRPr>
            </a:lvl1pPr>
          </a:lstStyle>
          <a:p>
            <a:r>
              <a:rPr dirty="0" err="1"/>
              <a:t>上周作业题回顾</a:t>
            </a:r>
            <a:endParaRPr dirty="0"/>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5D712-22C2-4251-A6C0-AF6C549EAEDA}"/>
              </a:ext>
            </a:extLst>
          </p:cNvPr>
          <p:cNvSpPr>
            <a:spLocks noGrp="1"/>
          </p:cNvSpPr>
          <p:nvPr>
            <p:ph type="title"/>
          </p:nvPr>
        </p:nvSpPr>
        <p:spPr>
          <a:xfrm>
            <a:off x="547201" y="410841"/>
            <a:ext cx="4040430" cy="927598"/>
          </a:xfrm>
          <a:solidFill>
            <a:srgbClr val="0070C0"/>
          </a:solidFill>
        </p:spPr>
        <p:txBody>
          <a:bodyPr/>
          <a:lstStyle/>
          <a:p>
            <a:r>
              <a:rPr lang="zh-CN" altLang="en-US"/>
              <a:t>奇数且</a:t>
            </a:r>
            <a:r>
              <a:rPr lang="en-US" altLang="zh-CN"/>
              <a:t>3</a:t>
            </a:r>
            <a:r>
              <a:rPr lang="zh-CN" altLang="en-US"/>
              <a:t>倍数</a:t>
            </a:r>
          </a:p>
        </p:txBody>
      </p:sp>
      <p:sp>
        <p:nvSpPr>
          <p:cNvPr id="6" name="文本框 5">
            <a:extLst>
              <a:ext uri="{FF2B5EF4-FFF2-40B4-BE49-F238E27FC236}">
                <a16:creationId xmlns:a16="http://schemas.microsoft.com/office/drawing/2014/main" id="{166B09DF-DC15-4053-B7BF-75BDF2EFFECD}"/>
              </a:ext>
            </a:extLst>
          </p:cNvPr>
          <p:cNvSpPr txBox="1"/>
          <p:nvPr/>
        </p:nvSpPr>
        <p:spPr>
          <a:xfrm>
            <a:off x="547201" y="2417786"/>
            <a:ext cx="3032610" cy="67403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endParaRPr lang="en-US" altLang="zh-CN" sz="1200" b="0" dirty="0">
              <a:solidFill>
                <a:srgbClr val="0000FF"/>
              </a:solidFill>
              <a:latin typeface="Consolas" panose="020B0609020204030204" pitchFamily="49" charset="0"/>
            </a:endParaRPr>
          </a:p>
          <a:p>
            <a:pPr algn="l"/>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 main()</a:t>
            </a:r>
          </a:p>
          <a:p>
            <a:pPr algn="l"/>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highlight>
                  <a:srgbClr val="FFFF00"/>
                </a:highlight>
                <a:latin typeface="Consolas" panose="020B0609020204030204" pitchFamily="49" charset="0"/>
              </a:rPr>
              <a:t>int</a:t>
            </a:r>
            <a:r>
              <a:rPr lang="en-US" altLang="zh-CN" sz="1200" b="0" dirty="0">
                <a:solidFill>
                  <a:srgbClr val="000000"/>
                </a:solidFill>
                <a:effectLst/>
                <a:highlight>
                  <a:srgbClr val="FFFF00"/>
                </a:highlight>
                <a:latin typeface="Consolas" panose="020B0609020204030204" pitchFamily="49" charset="0"/>
              </a:rPr>
              <a:t> sum = </a:t>
            </a:r>
            <a:r>
              <a:rPr lang="en-US" altLang="zh-CN" sz="1200" b="0" dirty="0">
                <a:solidFill>
                  <a:srgbClr val="098658"/>
                </a:solidFill>
                <a:effectLst/>
                <a:highlight>
                  <a:srgbClr val="FFFF00"/>
                </a:highlight>
                <a:latin typeface="Consolas" panose="020B0609020204030204" pitchFamily="49" charset="0"/>
              </a:rPr>
              <a:t>0</a:t>
            </a:r>
            <a:r>
              <a:rPr lang="en-US" altLang="zh-CN" sz="1200" b="0" dirty="0">
                <a:solidFill>
                  <a:srgbClr val="000000"/>
                </a:solidFill>
                <a:effectLst/>
                <a:highlight>
                  <a:srgbClr val="FFFF00"/>
                </a:highlight>
                <a:latin typeface="Consolas" panose="020B0609020204030204" pitchFamily="49" charset="0"/>
              </a:rPr>
              <a:t>, </a:t>
            </a:r>
            <a:r>
              <a:rPr lang="en-US" altLang="zh-CN" sz="1200" b="0" dirty="0" err="1">
                <a:solidFill>
                  <a:srgbClr val="000000"/>
                </a:solidFill>
                <a:effectLst/>
                <a:highlight>
                  <a:srgbClr val="FFFF00"/>
                </a:highlight>
                <a:latin typeface="Consolas" panose="020B0609020204030204" pitchFamily="49" charset="0"/>
              </a:rPr>
              <a:t>cnt</a:t>
            </a:r>
            <a:r>
              <a:rPr lang="en-US" altLang="zh-CN" sz="1200" b="0" dirty="0">
                <a:solidFill>
                  <a:srgbClr val="000000"/>
                </a:solidFill>
                <a:effectLst/>
                <a:highlight>
                  <a:srgbClr val="FFFF00"/>
                </a:highlight>
                <a:latin typeface="Consolas" panose="020B0609020204030204" pitchFamily="49" charset="0"/>
              </a:rPr>
              <a:t> = </a:t>
            </a:r>
            <a:r>
              <a:rPr lang="en-US" altLang="zh-CN" sz="1200" b="0" dirty="0">
                <a:solidFill>
                  <a:srgbClr val="098658"/>
                </a:solidFill>
                <a:effectLst/>
                <a:highlight>
                  <a:srgbClr val="FFFF00"/>
                </a:highlight>
                <a:latin typeface="Consolas" panose="020B0609020204030204" pitchFamily="49" charset="0"/>
              </a:rPr>
              <a:t>0</a:t>
            </a:r>
            <a:r>
              <a:rPr lang="en-US" altLang="zh-CN" sz="1200" b="0" dirty="0">
                <a:solidFill>
                  <a:srgbClr val="000000"/>
                </a:solidFill>
                <a:effectLst/>
                <a:highlight>
                  <a:srgbClr val="FFFF00"/>
                </a:highligh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a:t>
            </a:r>
          </a:p>
          <a:p>
            <a:pPr algn="l"/>
            <a:br>
              <a:rPr lang="en-US" altLang="zh-CN" sz="1200" b="0" dirty="0">
                <a:solidFill>
                  <a:srgbClr val="000000"/>
                </a:solidFill>
                <a:effectLst/>
                <a:latin typeface="Consolas" panose="020B0609020204030204" pitchFamily="49" charset="0"/>
              </a:rPr>
            </a:br>
            <a:r>
              <a:rPr lang="en-US" altLang="zh-CN" sz="1200" b="0" dirty="0">
                <a:solidFill>
                  <a:srgbClr val="008000"/>
                </a:solidFill>
                <a:effectLst/>
                <a:latin typeface="Consolas" panose="020B0609020204030204" pitchFamily="49" charset="0"/>
              </a:rPr>
              <a:t>    // 1</a:t>
            </a:r>
            <a:endParaRPr lang="en-US" altLang="zh-CN" sz="1200" b="0" dirty="0">
              <a:solidFill>
                <a:srgbClr val="000000"/>
              </a:solidFill>
              <a:effectLst/>
              <a:latin typeface="Consolas" panose="020B0609020204030204" pitchFamily="49" charset="0"/>
            </a:endParaRPr>
          </a:p>
          <a:p>
            <a:pPr algn="l"/>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cin</a:t>
            </a:r>
            <a:r>
              <a:rPr lang="en-US" altLang="zh-CN" sz="1200" b="0" dirty="0">
                <a:solidFill>
                  <a:srgbClr val="000000"/>
                </a:solidFill>
                <a:effectLst/>
                <a:latin typeface="Consolas" panose="020B0609020204030204" pitchFamily="49" charset="0"/>
              </a:rPr>
              <a:t> &gt;&gt;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if</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if</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3</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0</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sum +=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cnt</a:t>
            </a:r>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a:t>
            </a:r>
            <a:br>
              <a:rPr lang="en-US" altLang="zh-CN" sz="1200" b="0" dirty="0">
                <a:solidFill>
                  <a:srgbClr val="000000"/>
                </a:solidFill>
                <a:effectLst/>
                <a:latin typeface="Consolas" panose="020B0609020204030204" pitchFamily="49" charset="0"/>
              </a:rPr>
            </a:br>
            <a:r>
              <a:rPr lang="en-US" altLang="zh-CN" sz="1200" b="0" dirty="0">
                <a:solidFill>
                  <a:srgbClr val="008000"/>
                </a:solidFill>
                <a:effectLst/>
                <a:latin typeface="Consolas" panose="020B0609020204030204" pitchFamily="49" charset="0"/>
              </a:rPr>
              <a:t>    // 2</a:t>
            </a:r>
            <a:endParaRPr lang="en-US" altLang="zh-CN" sz="1200" b="0" dirty="0">
              <a:solidFill>
                <a:srgbClr val="000000"/>
              </a:solidFill>
              <a:effectLst/>
              <a:latin typeface="Consolas" panose="020B0609020204030204" pitchFamily="49" charset="0"/>
            </a:endParaRPr>
          </a:p>
          <a:p>
            <a:pPr algn="l"/>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cin</a:t>
            </a:r>
            <a:r>
              <a:rPr lang="en-US" altLang="zh-CN" sz="1200" b="0" dirty="0">
                <a:solidFill>
                  <a:srgbClr val="000000"/>
                </a:solidFill>
                <a:effectLst/>
                <a:latin typeface="Consolas" panose="020B0609020204030204" pitchFamily="49" charset="0"/>
              </a:rPr>
              <a:t> &gt;&gt;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if</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if</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3</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0</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sum +=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cnt</a:t>
            </a:r>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a:t>
            </a:r>
            <a:br>
              <a:rPr lang="en-US" altLang="zh-CN" sz="1200" b="0" dirty="0">
                <a:solidFill>
                  <a:srgbClr val="000000"/>
                </a:solidFill>
                <a:effectLst/>
                <a:latin typeface="Consolas" panose="020B0609020204030204" pitchFamily="49" charset="0"/>
              </a:rPr>
            </a:br>
            <a:r>
              <a:rPr lang="en-US" altLang="zh-CN" sz="1200" b="0" dirty="0">
                <a:solidFill>
                  <a:srgbClr val="008000"/>
                </a:solidFill>
                <a:effectLst/>
                <a:latin typeface="Consolas" panose="020B0609020204030204" pitchFamily="49" charset="0"/>
              </a:rPr>
              <a:t>    // 3</a:t>
            </a:r>
            <a:endParaRPr lang="en-US" altLang="zh-CN" sz="1200" b="0" dirty="0">
              <a:solidFill>
                <a:srgbClr val="000000"/>
              </a:solidFill>
              <a:effectLst/>
              <a:latin typeface="Consolas" panose="020B0609020204030204" pitchFamily="49" charset="0"/>
            </a:endParaRPr>
          </a:p>
          <a:p>
            <a:pPr algn="l"/>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cin</a:t>
            </a:r>
            <a:r>
              <a:rPr lang="en-US" altLang="zh-CN" sz="1200" b="0" dirty="0">
                <a:solidFill>
                  <a:srgbClr val="000000"/>
                </a:solidFill>
                <a:effectLst/>
                <a:latin typeface="Consolas" panose="020B0609020204030204" pitchFamily="49" charset="0"/>
              </a:rPr>
              <a:t> &gt;&gt;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if</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if</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3</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0</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sum += </a:t>
            </a:r>
            <a:r>
              <a:rPr lang="en-US" altLang="zh-CN" sz="1200" b="0" dirty="0" err="1">
                <a:solidFill>
                  <a:srgbClr val="000000"/>
                </a:solidFill>
                <a:effectLst/>
                <a:latin typeface="Consolas" panose="020B0609020204030204" pitchFamily="49" charset="0"/>
              </a:rPr>
              <a:t>tmp</a:t>
            </a:r>
            <a:r>
              <a:rPr lang="en-US" altLang="zh-CN" sz="1200" b="0" dirty="0">
                <a:solidFill>
                  <a:srgbClr val="000000"/>
                </a:solidFill>
                <a:effectLst/>
                <a:latin typeface="Consolas" panose="020B0609020204030204" pitchFamily="49" charset="0"/>
              </a:rPr>
              <a:t>;</a:t>
            </a:r>
          </a:p>
          <a:p>
            <a:pPr algn="l"/>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cnt</a:t>
            </a:r>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a:t>
            </a:r>
          </a:p>
          <a:p>
            <a:pPr algn="l"/>
            <a:r>
              <a:rPr lang="en-US" altLang="zh-CN" sz="1200" b="0" dirty="0">
                <a:solidFill>
                  <a:srgbClr val="000000"/>
                </a:solidFill>
                <a:effectLst/>
                <a:latin typeface="Consolas" panose="020B0609020204030204" pitchFamily="49" charset="0"/>
              </a:rPr>
              <a:t>    }</a:t>
            </a:r>
          </a:p>
        </p:txBody>
      </p:sp>
      <p:sp>
        <p:nvSpPr>
          <p:cNvPr id="7" name="文本框 6">
            <a:extLst>
              <a:ext uri="{FF2B5EF4-FFF2-40B4-BE49-F238E27FC236}">
                <a16:creationId xmlns:a16="http://schemas.microsoft.com/office/drawing/2014/main" id="{B8C6F8FB-E0A6-40ED-BFB4-F698C7DA593C}"/>
              </a:ext>
            </a:extLst>
          </p:cNvPr>
          <p:cNvSpPr txBox="1"/>
          <p:nvPr/>
        </p:nvSpPr>
        <p:spPr>
          <a:xfrm>
            <a:off x="4587631" y="2417786"/>
            <a:ext cx="6189784" cy="67403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1200" b="0">
                <a:solidFill>
                  <a:srgbClr val="008000"/>
                </a:solidFill>
                <a:effectLst/>
                <a:latin typeface="Consolas" panose="020B0609020204030204" pitchFamily="49" charset="0"/>
              </a:rPr>
              <a:t>    // 4</a:t>
            </a:r>
            <a:endParaRPr lang="en-US" altLang="zh-CN" sz="1200" b="0">
              <a:solidFill>
                <a:srgbClr val="000000"/>
              </a:solidFill>
              <a:effectLst/>
              <a:latin typeface="Consolas" panose="020B0609020204030204" pitchFamily="49" charset="0"/>
            </a:endParaRPr>
          </a:p>
          <a:p>
            <a:pPr algn="l"/>
            <a:r>
              <a:rPr lang="en-US" altLang="zh-CN" sz="1200" b="0">
                <a:solidFill>
                  <a:srgbClr val="000000"/>
                </a:solidFill>
                <a:effectLst/>
                <a:latin typeface="Consolas" panose="020B0609020204030204" pitchFamily="49" charset="0"/>
              </a:rPr>
              <a:t>    cin &gt;&gt; tmp;</a:t>
            </a:r>
          </a:p>
          <a:p>
            <a:pPr algn="l"/>
            <a:r>
              <a:rPr lang="en-US" altLang="zh-CN" sz="1200" b="0">
                <a:solidFill>
                  <a:srgbClr val="000000"/>
                </a:solidFill>
                <a:effectLst/>
                <a:latin typeface="Consolas" panose="020B0609020204030204" pitchFamily="49" charset="0"/>
              </a:rPr>
              <a:t>    </a:t>
            </a:r>
            <a:r>
              <a:rPr lang="en-US" altLang="zh-CN" sz="1200" b="0">
                <a:solidFill>
                  <a:srgbClr val="0000FF"/>
                </a:solidFill>
                <a:effectLst/>
                <a:latin typeface="Consolas" panose="020B0609020204030204" pitchFamily="49" charset="0"/>
              </a:rPr>
              <a:t>if</a:t>
            </a:r>
            <a:r>
              <a:rPr lang="en-US" altLang="zh-CN" sz="1200" b="0">
                <a:solidFill>
                  <a:srgbClr val="000000"/>
                </a:solidFill>
                <a:effectLst/>
                <a:latin typeface="Consolas" panose="020B0609020204030204" pitchFamily="49" charset="0"/>
              </a:rPr>
              <a:t> (tmp % </a:t>
            </a:r>
            <a:r>
              <a:rPr lang="en-US" altLang="zh-CN" sz="1200" b="0">
                <a:solidFill>
                  <a:srgbClr val="098658"/>
                </a:solidFill>
                <a:effectLst/>
                <a:latin typeface="Consolas" panose="020B0609020204030204" pitchFamily="49" charset="0"/>
              </a:rPr>
              <a:t>2</a:t>
            </a:r>
            <a:r>
              <a:rPr lang="en-US" altLang="zh-CN" sz="1200" b="0">
                <a:solidFill>
                  <a:srgbClr val="000000"/>
                </a:solidFill>
                <a:effectLst/>
                <a:latin typeface="Consolas" panose="020B0609020204030204" pitchFamily="49" charset="0"/>
              </a:rPr>
              <a:t> == </a:t>
            </a:r>
            <a:r>
              <a:rPr lang="en-US" altLang="zh-CN" sz="1200" b="0">
                <a:solidFill>
                  <a:srgbClr val="098658"/>
                </a:solidFill>
                <a:effectLst/>
                <a:latin typeface="Consolas" panose="020B0609020204030204" pitchFamily="49" charset="0"/>
              </a:rPr>
              <a:t>1</a:t>
            </a:r>
            <a:r>
              <a:rPr lang="en-US" altLang="zh-CN" sz="1200" b="0">
                <a:solidFill>
                  <a:srgbClr val="000000"/>
                </a:solidFill>
                <a:effectLst/>
                <a:latin typeface="Consolas" panose="020B0609020204030204" pitchFamily="49" charset="0"/>
              </a:rPr>
              <a:t>)</a:t>
            </a:r>
          </a:p>
          <a:p>
            <a:pPr algn="l"/>
            <a:r>
              <a:rPr lang="en-US" altLang="zh-CN" sz="1200" b="0">
                <a:solidFill>
                  <a:srgbClr val="000000"/>
                </a:solidFill>
                <a:effectLst/>
                <a:latin typeface="Consolas" panose="020B0609020204030204" pitchFamily="49" charset="0"/>
              </a:rPr>
              <a:t>    {</a:t>
            </a:r>
          </a:p>
          <a:p>
            <a:pPr algn="l"/>
            <a:r>
              <a:rPr lang="en-US" altLang="zh-CN" sz="1200" b="0">
                <a:solidFill>
                  <a:srgbClr val="000000"/>
                </a:solidFill>
                <a:effectLst/>
                <a:latin typeface="Consolas" panose="020B0609020204030204" pitchFamily="49" charset="0"/>
              </a:rPr>
              <a:t>        </a:t>
            </a:r>
            <a:r>
              <a:rPr lang="en-US" altLang="zh-CN" sz="1200" b="0">
                <a:solidFill>
                  <a:srgbClr val="0000FF"/>
                </a:solidFill>
                <a:effectLst/>
                <a:latin typeface="Consolas" panose="020B0609020204030204" pitchFamily="49" charset="0"/>
              </a:rPr>
              <a:t>if</a:t>
            </a:r>
            <a:r>
              <a:rPr lang="en-US" altLang="zh-CN" sz="1200" b="0">
                <a:solidFill>
                  <a:srgbClr val="000000"/>
                </a:solidFill>
                <a:effectLst/>
                <a:latin typeface="Consolas" panose="020B0609020204030204" pitchFamily="49" charset="0"/>
              </a:rPr>
              <a:t> (tmp % </a:t>
            </a:r>
            <a:r>
              <a:rPr lang="en-US" altLang="zh-CN" sz="1200" b="0">
                <a:solidFill>
                  <a:srgbClr val="098658"/>
                </a:solidFill>
                <a:effectLst/>
                <a:latin typeface="Consolas" panose="020B0609020204030204" pitchFamily="49" charset="0"/>
              </a:rPr>
              <a:t>3</a:t>
            </a:r>
            <a:r>
              <a:rPr lang="en-US" altLang="zh-CN" sz="1200" b="0">
                <a:solidFill>
                  <a:srgbClr val="000000"/>
                </a:solidFill>
                <a:effectLst/>
                <a:latin typeface="Consolas" panose="020B0609020204030204" pitchFamily="49" charset="0"/>
              </a:rPr>
              <a:t> == </a:t>
            </a:r>
            <a:r>
              <a:rPr lang="en-US" altLang="zh-CN" sz="1200" b="0">
                <a:solidFill>
                  <a:srgbClr val="098658"/>
                </a:solidFill>
                <a:effectLst/>
                <a:latin typeface="Consolas" panose="020B0609020204030204" pitchFamily="49" charset="0"/>
              </a:rPr>
              <a:t>0</a:t>
            </a:r>
            <a:r>
              <a:rPr lang="en-US" altLang="zh-CN" sz="1200" b="0">
                <a:solidFill>
                  <a:srgbClr val="000000"/>
                </a:solidFill>
                <a:effectLst/>
                <a:latin typeface="Consolas" panose="020B0609020204030204" pitchFamily="49" charset="0"/>
              </a:rPr>
              <a:t>)</a:t>
            </a:r>
          </a:p>
          <a:p>
            <a:pPr algn="l"/>
            <a:r>
              <a:rPr lang="en-US" altLang="zh-CN" sz="1200" b="0">
                <a:solidFill>
                  <a:srgbClr val="000000"/>
                </a:solidFill>
                <a:effectLst/>
                <a:latin typeface="Consolas" panose="020B0609020204030204" pitchFamily="49" charset="0"/>
              </a:rPr>
              <a:t>        {</a:t>
            </a:r>
          </a:p>
          <a:p>
            <a:pPr algn="l"/>
            <a:r>
              <a:rPr lang="en-US" altLang="zh-CN" sz="1200" b="0">
                <a:solidFill>
                  <a:srgbClr val="000000"/>
                </a:solidFill>
                <a:effectLst/>
                <a:latin typeface="Consolas" panose="020B0609020204030204" pitchFamily="49" charset="0"/>
              </a:rPr>
              <a:t>            sum += tmp;</a:t>
            </a:r>
          </a:p>
          <a:p>
            <a:pPr algn="l"/>
            <a:r>
              <a:rPr lang="en-US" altLang="zh-CN" sz="1200" b="0">
                <a:solidFill>
                  <a:srgbClr val="000000"/>
                </a:solidFill>
                <a:effectLst/>
                <a:latin typeface="Consolas" panose="020B0609020204030204" pitchFamily="49" charset="0"/>
              </a:rPr>
              <a:t>            cnt ++;</a:t>
            </a:r>
          </a:p>
          <a:p>
            <a:pPr algn="l"/>
            <a:r>
              <a:rPr lang="en-US" altLang="zh-CN" sz="1200" b="0">
                <a:solidFill>
                  <a:srgbClr val="000000"/>
                </a:solidFill>
                <a:effectLst/>
                <a:latin typeface="Consolas" panose="020B0609020204030204" pitchFamily="49" charset="0"/>
              </a:rPr>
              <a:t>        }</a:t>
            </a:r>
          </a:p>
          <a:p>
            <a:pPr algn="l"/>
            <a:r>
              <a:rPr lang="en-US" altLang="zh-CN" sz="1200" b="0">
                <a:solidFill>
                  <a:srgbClr val="000000"/>
                </a:solidFill>
                <a:effectLst/>
                <a:latin typeface="Consolas" panose="020B0609020204030204" pitchFamily="49" charset="0"/>
              </a:rPr>
              <a:t>    }</a:t>
            </a:r>
            <a:br>
              <a:rPr lang="en-US" altLang="zh-CN" sz="1200" b="0">
                <a:solidFill>
                  <a:srgbClr val="000000"/>
                </a:solidFill>
                <a:effectLst/>
                <a:latin typeface="Consolas" panose="020B0609020204030204" pitchFamily="49" charset="0"/>
              </a:rPr>
            </a:br>
            <a:r>
              <a:rPr lang="en-US" altLang="zh-CN" sz="1200" b="0">
                <a:solidFill>
                  <a:srgbClr val="008000"/>
                </a:solidFill>
                <a:effectLst/>
                <a:latin typeface="Consolas" panose="020B0609020204030204" pitchFamily="49" charset="0"/>
              </a:rPr>
              <a:t>    // 5</a:t>
            </a:r>
            <a:endParaRPr lang="en-US" altLang="zh-CN" sz="1200" b="0">
              <a:solidFill>
                <a:srgbClr val="000000"/>
              </a:solidFill>
              <a:effectLst/>
              <a:latin typeface="Consolas" panose="020B0609020204030204" pitchFamily="49" charset="0"/>
            </a:endParaRPr>
          </a:p>
          <a:p>
            <a:pPr algn="l"/>
            <a:r>
              <a:rPr lang="en-US" altLang="zh-CN" sz="1200" b="0">
                <a:solidFill>
                  <a:srgbClr val="000000"/>
                </a:solidFill>
                <a:effectLst/>
                <a:latin typeface="Consolas" panose="020B0609020204030204" pitchFamily="49" charset="0"/>
              </a:rPr>
              <a:t>    cin &gt;&gt; tmp;</a:t>
            </a:r>
          </a:p>
          <a:p>
            <a:pPr algn="l"/>
            <a:r>
              <a:rPr lang="en-US" altLang="zh-CN" sz="1200" b="0">
                <a:solidFill>
                  <a:srgbClr val="000000"/>
                </a:solidFill>
                <a:effectLst/>
                <a:latin typeface="Consolas" panose="020B0609020204030204" pitchFamily="49" charset="0"/>
              </a:rPr>
              <a:t>    </a:t>
            </a:r>
            <a:r>
              <a:rPr lang="en-US" altLang="zh-CN" sz="1200" b="0">
                <a:solidFill>
                  <a:srgbClr val="0000FF"/>
                </a:solidFill>
                <a:effectLst/>
                <a:latin typeface="Consolas" panose="020B0609020204030204" pitchFamily="49" charset="0"/>
              </a:rPr>
              <a:t>if</a:t>
            </a:r>
            <a:r>
              <a:rPr lang="en-US" altLang="zh-CN" sz="1200" b="0">
                <a:solidFill>
                  <a:srgbClr val="000000"/>
                </a:solidFill>
                <a:effectLst/>
                <a:latin typeface="Consolas" panose="020B0609020204030204" pitchFamily="49" charset="0"/>
              </a:rPr>
              <a:t> (tmp % </a:t>
            </a:r>
            <a:r>
              <a:rPr lang="en-US" altLang="zh-CN" sz="1200" b="0">
                <a:solidFill>
                  <a:srgbClr val="098658"/>
                </a:solidFill>
                <a:effectLst/>
                <a:latin typeface="Consolas" panose="020B0609020204030204" pitchFamily="49" charset="0"/>
              </a:rPr>
              <a:t>2</a:t>
            </a:r>
            <a:r>
              <a:rPr lang="en-US" altLang="zh-CN" sz="1200" b="0">
                <a:solidFill>
                  <a:srgbClr val="000000"/>
                </a:solidFill>
                <a:effectLst/>
                <a:latin typeface="Consolas" panose="020B0609020204030204" pitchFamily="49" charset="0"/>
              </a:rPr>
              <a:t> == </a:t>
            </a:r>
            <a:r>
              <a:rPr lang="en-US" altLang="zh-CN" sz="1200" b="0">
                <a:solidFill>
                  <a:srgbClr val="098658"/>
                </a:solidFill>
                <a:effectLst/>
                <a:latin typeface="Consolas" panose="020B0609020204030204" pitchFamily="49" charset="0"/>
              </a:rPr>
              <a:t>1</a:t>
            </a:r>
            <a:r>
              <a:rPr lang="en-US" altLang="zh-CN" sz="1200" b="0">
                <a:solidFill>
                  <a:srgbClr val="000000"/>
                </a:solidFill>
                <a:effectLst/>
                <a:latin typeface="Consolas" panose="020B0609020204030204" pitchFamily="49" charset="0"/>
              </a:rPr>
              <a:t>)</a:t>
            </a:r>
          </a:p>
          <a:p>
            <a:pPr algn="l"/>
            <a:r>
              <a:rPr lang="en-US" altLang="zh-CN" sz="1200" b="0">
                <a:solidFill>
                  <a:srgbClr val="000000"/>
                </a:solidFill>
                <a:effectLst/>
                <a:latin typeface="Consolas" panose="020B0609020204030204" pitchFamily="49" charset="0"/>
              </a:rPr>
              <a:t>    {</a:t>
            </a:r>
          </a:p>
          <a:p>
            <a:pPr algn="l"/>
            <a:r>
              <a:rPr lang="en-US" altLang="zh-CN" sz="1200" b="0">
                <a:solidFill>
                  <a:srgbClr val="000000"/>
                </a:solidFill>
                <a:effectLst/>
                <a:latin typeface="Consolas" panose="020B0609020204030204" pitchFamily="49" charset="0"/>
              </a:rPr>
              <a:t>        </a:t>
            </a:r>
            <a:r>
              <a:rPr lang="en-US" altLang="zh-CN" sz="1200" b="0">
                <a:solidFill>
                  <a:srgbClr val="0000FF"/>
                </a:solidFill>
                <a:effectLst/>
                <a:latin typeface="Consolas" panose="020B0609020204030204" pitchFamily="49" charset="0"/>
              </a:rPr>
              <a:t>if</a:t>
            </a:r>
            <a:r>
              <a:rPr lang="en-US" altLang="zh-CN" sz="1200" b="0">
                <a:solidFill>
                  <a:srgbClr val="000000"/>
                </a:solidFill>
                <a:effectLst/>
                <a:latin typeface="Consolas" panose="020B0609020204030204" pitchFamily="49" charset="0"/>
              </a:rPr>
              <a:t> (tmp % </a:t>
            </a:r>
            <a:r>
              <a:rPr lang="en-US" altLang="zh-CN" sz="1200" b="0">
                <a:solidFill>
                  <a:srgbClr val="098658"/>
                </a:solidFill>
                <a:effectLst/>
                <a:latin typeface="Consolas" panose="020B0609020204030204" pitchFamily="49" charset="0"/>
              </a:rPr>
              <a:t>3</a:t>
            </a:r>
            <a:r>
              <a:rPr lang="en-US" altLang="zh-CN" sz="1200" b="0">
                <a:solidFill>
                  <a:srgbClr val="000000"/>
                </a:solidFill>
                <a:effectLst/>
                <a:latin typeface="Consolas" panose="020B0609020204030204" pitchFamily="49" charset="0"/>
              </a:rPr>
              <a:t> == </a:t>
            </a:r>
            <a:r>
              <a:rPr lang="en-US" altLang="zh-CN" sz="1200" b="0">
                <a:solidFill>
                  <a:srgbClr val="098658"/>
                </a:solidFill>
                <a:effectLst/>
                <a:latin typeface="Consolas" panose="020B0609020204030204" pitchFamily="49" charset="0"/>
              </a:rPr>
              <a:t>0</a:t>
            </a:r>
            <a:r>
              <a:rPr lang="en-US" altLang="zh-CN" sz="1200" b="0">
                <a:solidFill>
                  <a:srgbClr val="000000"/>
                </a:solidFill>
                <a:effectLst/>
                <a:latin typeface="Consolas" panose="020B0609020204030204" pitchFamily="49" charset="0"/>
              </a:rPr>
              <a:t>)</a:t>
            </a:r>
          </a:p>
          <a:p>
            <a:pPr algn="l"/>
            <a:r>
              <a:rPr lang="en-US" altLang="zh-CN" sz="1200" b="0">
                <a:solidFill>
                  <a:srgbClr val="000000"/>
                </a:solidFill>
                <a:effectLst/>
                <a:latin typeface="Consolas" panose="020B0609020204030204" pitchFamily="49" charset="0"/>
              </a:rPr>
              <a:t>        {</a:t>
            </a:r>
          </a:p>
          <a:p>
            <a:pPr algn="l"/>
            <a:r>
              <a:rPr lang="en-US" altLang="zh-CN" sz="1200" b="0">
                <a:solidFill>
                  <a:srgbClr val="000000"/>
                </a:solidFill>
                <a:effectLst/>
                <a:latin typeface="Consolas" panose="020B0609020204030204" pitchFamily="49" charset="0"/>
              </a:rPr>
              <a:t>            sum += tmp;</a:t>
            </a:r>
          </a:p>
          <a:p>
            <a:pPr algn="l"/>
            <a:r>
              <a:rPr lang="en-US" altLang="zh-CN" sz="1200" b="0">
                <a:solidFill>
                  <a:srgbClr val="000000"/>
                </a:solidFill>
                <a:effectLst/>
                <a:latin typeface="Consolas" panose="020B0609020204030204" pitchFamily="49" charset="0"/>
              </a:rPr>
              <a:t>            cnt ++;</a:t>
            </a:r>
          </a:p>
          <a:p>
            <a:pPr algn="l"/>
            <a:r>
              <a:rPr lang="en-US" altLang="zh-CN" sz="1200" b="0">
                <a:solidFill>
                  <a:srgbClr val="000000"/>
                </a:solidFill>
                <a:effectLst/>
                <a:latin typeface="Consolas" panose="020B0609020204030204" pitchFamily="49" charset="0"/>
              </a:rPr>
              <a:t>        }</a:t>
            </a:r>
          </a:p>
          <a:p>
            <a:pPr algn="l"/>
            <a:r>
              <a:rPr lang="en-US" altLang="zh-CN" sz="1200" b="0">
                <a:solidFill>
                  <a:srgbClr val="000000"/>
                </a:solidFill>
                <a:effectLst/>
                <a:latin typeface="Consolas" panose="020B0609020204030204" pitchFamily="49" charset="0"/>
              </a:rPr>
              <a:t>    }</a:t>
            </a:r>
            <a:br>
              <a:rPr lang="en-US" altLang="zh-CN" sz="1200" b="0">
                <a:solidFill>
                  <a:srgbClr val="000000"/>
                </a:solidFill>
                <a:effectLst/>
                <a:latin typeface="Consolas" panose="020B0609020204030204" pitchFamily="49" charset="0"/>
              </a:rPr>
            </a:br>
            <a:r>
              <a:rPr lang="en-US" altLang="zh-CN" sz="1200" b="0">
                <a:solidFill>
                  <a:srgbClr val="008000"/>
                </a:solidFill>
                <a:effectLst/>
                <a:latin typeface="Consolas" panose="020B0609020204030204" pitchFamily="49" charset="0"/>
              </a:rPr>
              <a:t>    // 6</a:t>
            </a:r>
            <a:endParaRPr lang="en-US" altLang="zh-CN" sz="1200" b="0">
              <a:solidFill>
                <a:srgbClr val="000000"/>
              </a:solidFill>
              <a:effectLst/>
              <a:latin typeface="Consolas" panose="020B0609020204030204" pitchFamily="49" charset="0"/>
            </a:endParaRPr>
          </a:p>
          <a:p>
            <a:pPr algn="l"/>
            <a:r>
              <a:rPr lang="en-US" altLang="zh-CN" sz="1200" b="0">
                <a:solidFill>
                  <a:srgbClr val="000000"/>
                </a:solidFill>
                <a:effectLst/>
                <a:latin typeface="Consolas" panose="020B0609020204030204" pitchFamily="49" charset="0"/>
              </a:rPr>
              <a:t>    cin &gt;&gt; tmp;</a:t>
            </a:r>
          </a:p>
          <a:p>
            <a:pPr algn="l"/>
            <a:r>
              <a:rPr lang="en-US" altLang="zh-CN" sz="1200" b="0">
                <a:solidFill>
                  <a:srgbClr val="000000"/>
                </a:solidFill>
                <a:effectLst/>
                <a:latin typeface="Consolas" panose="020B0609020204030204" pitchFamily="49" charset="0"/>
              </a:rPr>
              <a:t>    </a:t>
            </a:r>
            <a:r>
              <a:rPr lang="en-US" altLang="zh-CN" sz="1200" b="0">
                <a:solidFill>
                  <a:srgbClr val="0000FF"/>
                </a:solidFill>
                <a:effectLst/>
                <a:latin typeface="Consolas" panose="020B0609020204030204" pitchFamily="49" charset="0"/>
              </a:rPr>
              <a:t>if</a:t>
            </a:r>
            <a:r>
              <a:rPr lang="en-US" altLang="zh-CN" sz="1200" b="0">
                <a:solidFill>
                  <a:srgbClr val="000000"/>
                </a:solidFill>
                <a:effectLst/>
                <a:latin typeface="Consolas" panose="020B0609020204030204" pitchFamily="49" charset="0"/>
              </a:rPr>
              <a:t> (tmp % </a:t>
            </a:r>
            <a:r>
              <a:rPr lang="en-US" altLang="zh-CN" sz="1200" b="0">
                <a:solidFill>
                  <a:srgbClr val="098658"/>
                </a:solidFill>
                <a:effectLst/>
                <a:latin typeface="Consolas" panose="020B0609020204030204" pitchFamily="49" charset="0"/>
              </a:rPr>
              <a:t>2</a:t>
            </a:r>
            <a:r>
              <a:rPr lang="en-US" altLang="zh-CN" sz="1200" b="0">
                <a:solidFill>
                  <a:srgbClr val="000000"/>
                </a:solidFill>
                <a:effectLst/>
                <a:latin typeface="Consolas" panose="020B0609020204030204" pitchFamily="49" charset="0"/>
              </a:rPr>
              <a:t> == </a:t>
            </a:r>
            <a:r>
              <a:rPr lang="en-US" altLang="zh-CN" sz="1200" b="0">
                <a:solidFill>
                  <a:srgbClr val="098658"/>
                </a:solidFill>
                <a:effectLst/>
                <a:latin typeface="Consolas" panose="020B0609020204030204" pitchFamily="49" charset="0"/>
              </a:rPr>
              <a:t>1</a:t>
            </a:r>
            <a:r>
              <a:rPr lang="en-US" altLang="zh-CN" sz="1200" b="0">
                <a:solidFill>
                  <a:srgbClr val="000000"/>
                </a:solidFill>
                <a:effectLst/>
                <a:latin typeface="Consolas" panose="020B0609020204030204" pitchFamily="49" charset="0"/>
              </a:rPr>
              <a:t>)</a:t>
            </a:r>
          </a:p>
          <a:p>
            <a:pPr algn="l"/>
            <a:r>
              <a:rPr lang="en-US" altLang="zh-CN" sz="1200" b="0">
                <a:solidFill>
                  <a:srgbClr val="000000"/>
                </a:solidFill>
                <a:effectLst/>
                <a:latin typeface="Consolas" panose="020B0609020204030204" pitchFamily="49" charset="0"/>
              </a:rPr>
              <a:t>    {</a:t>
            </a:r>
          </a:p>
          <a:p>
            <a:pPr algn="l"/>
            <a:r>
              <a:rPr lang="en-US" altLang="zh-CN" sz="1200" b="0">
                <a:solidFill>
                  <a:srgbClr val="000000"/>
                </a:solidFill>
                <a:effectLst/>
                <a:latin typeface="Consolas" panose="020B0609020204030204" pitchFamily="49" charset="0"/>
              </a:rPr>
              <a:t>        </a:t>
            </a:r>
            <a:r>
              <a:rPr lang="en-US" altLang="zh-CN" sz="1200" b="0">
                <a:solidFill>
                  <a:srgbClr val="0000FF"/>
                </a:solidFill>
                <a:effectLst/>
                <a:latin typeface="Consolas" panose="020B0609020204030204" pitchFamily="49" charset="0"/>
              </a:rPr>
              <a:t>if</a:t>
            </a:r>
            <a:r>
              <a:rPr lang="en-US" altLang="zh-CN" sz="1200" b="0">
                <a:solidFill>
                  <a:srgbClr val="000000"/>
                </a:solidFill>
                <a:effectLst/>
                <a:latin typeface="Consolas" panose="020B0609020204030204" pitchFamily="49" charset="0"/>
              </a:rPr>
              <a:t> (tmp % </a:t>
            </a:r>
            <a:r>
              <a:rPr lang="en-US" altLang="zh-CN" sz="1200" b="0">
                <a:solidFill>
                  <a:srgbClr val="098658"/>
                </a:solidFill>
                <a:effectLst/>
                <a:latin typeface="Consolas" panose="020B0609020204030204" pitchFamily="49" charset="0"/>
              </a:rPr>
              <a:t>3</a:t>
            </a:r>
            <a:r>
              <a:rPr lang="en-US" altLang="zh-CN" sz="1200" b="0">
                <a:solidFill>
                  <a:srgbClr val="000000"/>
                </a:solidFill>
                <a:effectLst/>
                <a:latin typeface="Consolas" panose="020B0609020204030204" pitchFamily="49" charset="0"/>
              </a:rPr>
              <a:t> == </a:t>
            </a:r>
            <a:r>
              <a:rPr lang="en-US" altLang="zh-CN" sz="1200" b="0">
                <a:solidFill>
                  <a:srgbClr val="098658"/>
                </a:solidFill>
                <a:effectLst/>
                <a:latin typeface="Consolas" panose="020B0609020204030204" pitchFamily="49" charset="0"/>
              </a:rPr>
              <a:t>0</a:t>
            </a:r>
            <a:r>
              <a:rPr lang="en-US" altLang="zh-CN" sz="1200" b="0">
                <a:solidFill>
                  <a:srgbClr val="000000"/>
                </a:solidFill>
                <a:effectLst/>
                <a:latin typeface="Consolas" panose="020B0609020204030204" pitchFamily="49" charset="0"/>
              </a:rPr>
              <a:t>)</a:t>
            </a:r>
          </a:p>
          <a:p>
            <a:pPr algn="l"/>
            <a:r>
              <a:rPr lang="en-US" altLang="zh-CN" sz="1200" b="0">
                <a:solidFill>
                  <a:srgbClr val="000000"/>
                </a:solidFill>
                <a:effectLst/>
                <a:latin typeface="Consolas" panose="020B0609020204030204" pitchFamily="49" charset="0"/>
              </a:rPr>
              <a:t>        {</a:t>
            </a:r>
          </a:p>
          <a:p>
            <a:pPr algn="l"/>
            <a:r>
              <a:rPr lang="en-US" altLang="zh-CN" sz="1200" b="0">
                <a:solidFill>
                  <a:srgbClr val="000000"/>
                </a:solidFill>
                <a:effectLst/>
                <a:latin typeface="Consolas" panose="020B0609020204030204" pitchFamily="49" charset="0"/>
              </a:rPr>
              <a:t>            sum += tmp;</a:t>
            </a:r>
          </a:p>
          <a:p>
            <a:pPr algn="l"/>
            <a:r>
              <a:rPr lang="en-US" altLang="zh-CN" sz="1200" b="0">
                <a:solidFill>
                  <a:srgbClr val="000000"/>
                </a:solidFill>
                <a:effectLst/>
                <a:latin typeface="Consolas" panose="020B0609020204030204" pitchFamily="49" charset="0"/>
              </a:rPr>
              <a:t>            cnt ++;</a:t>
            </a:r>
          </a:p>
          <a:p>
            <a:pPr algn="l"/>
            <a:r>
              <a:rPr lang="en-US" altLang="zh-CN" sz="1200" b="0">
                <a:solidFill>
                  <a:srgbClr val="000000"/>
                </a:solidFill>
                <a:effectLst/>
                <a:latin typeface="Consolas" panose="020B0609020204030204" pitchFamily="49" charset="0"/>
              </a:rPr>
              <a:t>        }</a:t>
            </a:r>
          </a:p>
          <a:p>
            <a:pPr algn="l"/>
            <a:r>
              <a:rPr lang="en-US" altLang="zh-CN" sz="1200" b="0">
                <a:solidFill>
                  <a:srgbClr val="000000"/>
                </a:solidFill>
                <a:effectLst/>
                <a:latin typeface="Consolas" panose="020B0609020204030204" pitchFamily="49" charset="0"/>
              </a:rPr>
              <a:t>    }</a:t>
            </a:r>
            <a:br>
              <a:rPr lang="en-US" altLang="zh-CN" sz="1200" b="0">
                <a:solidFill>
                  <a:srgbClr val="000000"/>
                </a:solidFill>
                <a:effectLst/>
                <a:latin typeface="Consolas" panose="020B0609020204030204" pitchFamily="49" charset="0"/>
              </a:rPr>
            </a:br>
            <a:r>
              <a:rPr lang="en-US" altLang="zh-CN" sz="1200" b="0">
                <a:solidFill>
                  <a:srgbClr val="000000"/>
                </a:solidFill>
                <a:effectLst/>
                <a:latin typeface="Consolas" panose="020B0609020204030204" pitchFamily="49" charset="0"/>
              </a:rPr>
              <a:t>    </a:t>
            </a:r>
            <a:r>
              <a:rPr lang="en-US" altLang="zh-CN" sz="1200" b="0">
                <a:solidFill>
                  <a:srgbClr val="0000FF"/>
                </a:solidFill>
                <a:effectLst/>
                <a:latin typeface="Consolas" panose="020B0609020204030204" pitchFamily="49" charset="0"/>
              </a:rPr>
              <a:t>if</a:t>
            </a:r>
            <a:r>
              <a:rPr lang="en-US" altLang="zh-CN" sz="1200" b="0">
                <a:solidFill>
                  <a:srgbClr val="000000"/>
                </a:solidFill>
                <a:effectLst/>
                <a:latin typeface="Consolas" panose="020B0609020204030204" pitchFamily="49" charset="0"/>
              </a:rPr>
              <a:t> (cnt == </a:t>
            </a:r>
            <a:r>
              <a:rPr lang="en-US" altLang="zh-CN" sz="1200" b="0">
                <a:solidFill>
                  <a:srgbClr val="098658"/>
                </a:solidFill>
                <a:effectLst/>
                <a:latin typeface="Consolas" panose="020B0609020204030204" pitchFamily="49" charset="0"/>
              </a:rPr>
              <a:t>0</a:t>
            </a:r>
            <a:r>
              <a:rPr lang="en-US" altLang="zh-CN" sz="1200" b="0">
                <a:solidFill>
                  <a:srgbClr val="000000"/>
                </a:solidFill>
                <a:effectLst/>
                <a:latin typeface="Consolas" panose="020B0609020204030204" pitchFamily="49" charset="0"/>
              </a:rPr>
              <a:t>)</a:t>
            </a:r>
          </a:p>
          <a:p>
            <a:pPr algn="l"/>
            <a:r>
              <a:rPr lang="en-US" altLang="zh-CN" sz="1200" b="0">
                <a:solidFill>
                  <a:srgbClr val="000000"/>
                </a:solidFill>
                <a:effectLst/>
                <a:latin typeface="Consolas" panose="020B0609020204030204" pitchFamily="49" charset="0"/>
              </a:rPr>
              <a:t>        cout &lt;&lt; </a:t>
            </a:r>
            <a:r>
              <a:rPr lang="en-US" altLang="zh-CN" sz="1200" b="0">
                <a:solidFill>
                  <a:srgbClr val="A31515"/>
                </a:solidFill>
                <a:effectLst/>
                <a:latin typeface="Consolas" panose="020B0609020204030204" pitchFamily="49" charset="0"/>
              </a:rPr>
              <a:t>"0.0000"</a:t>
            </a:r>
            <a:r>
              <a:rPr lang="en-US" altLang="zh-CN" sz="1200" b="0">
                <a:solidFill>
                  <a:srgbClr val="000000"/>
                </a:solidFill>
                <a:effectLst/>
                <a:latin typeface="Consolas" panose="020B0609020204030204" pitchFamily="49" charset="0"/>
              </a:rPr>
              <a:t> &lt;&lt; endl;</a:t>
            </a:r>
          </a:p>
          <a:p>
            <a:pPr algn="l"/>
            <a:r>
              <a:rPr lang="en-US" altLang="zh-CN" sz="1200" b="0">
                <a:solidFill>
                  <a:srgbClr val="000000"/>
                </a:solidFill>
                <a:effectLst/>
                <a:latin typeface="Consolas" panose="020B0609020204030204" pitchFamily="49" charset="0"/>
              </a:rPr>
              <a:t>    </a:t>
            </a:r>
            <a:r>
              <a:rPr lang="en-US" altLang="zh-CN" sz="1200" b="0">
                <a:solidFill>
                  <a:srgbClr val="0000FF"/>
                </a:solidFill>
                <a:effectLst/>
                <a:latin typeface="Consolas" panose="020B0609020204030204" pitchFamily="49" charset="0"/>
              </a:rPr>
              <a:t>else</a:t>
            </a:r>
            <a:r>
              <a:rPr lang="en-US" altLang="zh-CN" sz="1200" b="0">
                <a:solidFill>
                  <a:srgbClr val="000000"/>
                </a:solidFill>
                <a:effectLst/>
                <a:latin typeface="Consolas" panose="020B0609020204030204" pitchFamily="49" charset="0"/>
              </a:rPr>
              <a:t> </a:t>
            </a:r>
          </a:p>
          <a:p>
            <a:pPr algn="l"/>
            <a:r>
              <a:rPr lang="en-US" altLang="zh-CN" sz="1200" b="0">
                <a:solidFill>
                  <a:srgbClr val="000000"/>
                </a:solidFill>
                <a:effectLst/>
                <a:latin typeface="Consolas" panose="020B0609020204030204" pitchFamily="49" charset="0"/>
              </a:rPr>
              <a:t>        cout &lt;&lt; fixed &lt;&lt; setprecision(</a:t>
            </a:r>
            <a:r>
              <a:rPr lang="en-US" altLang="zh-CN" sz="1200" b="0">
                <a:solidFill>
                  <a:srgbClr val="098658"/>
                </a:solidFill>
                <a:effectLst/>
                <a:latin typeface="Consolas" panose="020B0609020204030204" pitchFamily="49" charset="0"/>
              </a:rPr>
              <a:t>4</a:t>
            </a:r>
            <a:r>
              <a:rPr lang="en-US" altLang="zh-CN" sz="1200" b="0">
                <a:solidFill>
                  <a:srgbClr val="000000"/>
                </a:solidFill>
                <a:effectLst/>
                <a:latin typeface="Consolas" panose="020B0609020204030204" pitchFamily="49" charset="0"/>
              </a:rPr>
              <a:t>) &lt;&lt; </a:t>
            </a:r>
            <a:r>
              <a:rPr lang="en-US" altLang="zh-CN" sz="1200" b="0">
                <a:solidFill>
                  <a:srgbClr val="098658"/>
                </a:solidFill>
                <a:effectLst/>
                <a:highlight>
                  <a:srgbClr val="FFFF00"/>
                </a:highlight>
                <a:latin typeface="Consolas" panose="020B0609020204030204" pitchFamily="49" charset="0"/>
              </a:rPr>
              <a:t>1.0</a:t>
            </a:r>
            <a:r>
              <a:rPr lang="en-US" altLang="zh-CN" sz="1200" b="0">
                <a:solidFill>
                  <a:srgbClr val="000000"/>
                </a:solidFill>
                <a:effectLst/>
                <a:highlight>
                  <a:srgbClr val="FFFF00"/>
                </a:highlight>
                <a:latin typeface="Consolas" panose="020B0609020204030204" pitchFamily="49" charset="0"/>
              </a:rPr>
              <a:t> * sum </a:t>
            </a:r>
            <a:r>
              <a:rPr lang="en-US" altLang="zh-CN" sz="1200" b="0">
                <a:solidFill>
                  <a:srgbClr val="000000"/>
                </a:solidFill>
                <a:effectLst/>
                <a:latin typeface="Consolas" panose="020B0609020204030204" pitchFamily="49" charset="0"/>
              </a:rPr>
              <a:t>/ cnt &lt;&lt; endl;</a:t>
            </a:r>
            <a:br>
              <a:rPr lang="en-US" altLang="zh-CN" sz="1200" b="0">
                <a:solidFill>
                  <a:srgbClr val="000000"/>
                </a:solidFill>
                <a:effectLst/>
                <a:latin typeface="Consolas" panose="020B0609020204030204" pitchFamily="49" charset="0"/>
              </a:rPr>
            </a:br>
            <a:r>
              <a:rPr lang="en-US" altLang="zh-CN" sz="1200" b="0">
                <a:solidFill>
                  <a:srgbClr val="000000"/>
                </a:solidFill>
                <a:effectLst/>
                <a:latin typeface="Consolas" panose="020B0609020204030204" pitchFamily="49" charset="0"/>
              </a:rPr>
              <a:t>    </a:t>
            </a:r>
            <a:r>
              <a:rPr lang="en-US" altLang="zh-CN" sz="1200" b="0">
                <a:solidFill>
                  <a:srgbClr val="0000FF"/>
                </a:solidFill>
                <a:effectLst/>
                <a:latin typeface="Consolas" panose="020B0609020204030204" pitchFamily="49" charset="0"/>
              </a:rPr>
              <a:t>return</a:t>
            </a:r>
            <a:r>
              <a:rPr lang="en-US" altLang="zh-CN" sz="1200" b="0">
                <a:solidFill>
                  <a:srgbClr val="000000"/>
                </a:solidFill>
                <a:effectLst/>
                <a:latin typeface="Consolas" panose="020B0609020204030204" pitchFamily="49" charset="0"/>
              </a:rPr>
              <a:t> </a:t>
            </a:r>
            <a:r>
              <a:rPr lang="en-US" altLang="zh-CN" sz="1200" b="0">
                <a:solidFill>
                  <a:srgbClr val="098658"/>
                </a:solidFill>
                <a:effectLst/>
                <a:latin typeface="Consolas" panose="020B0609020204030204" pitchFamily="49" charset="0"/>
              </a:rPr>
              <a:t>0</a:t>
            </a:r>
            <a:r>
              <a:rPr lang="en-US" altLang="zh-CN" sz="1200" b="0">
                <a:solidFill>
                  <a:srgbClr val="000000"/>
                </a:solidFill>
                <a:effectLst/>
                <a:latin typeface="Consolas" panose="020B0609020204030204" pitchFamily="49" charset="0"/>
              </a:rPr>
              <a:t>;</a:t>
            </a:r>
          </a:p>
          <a:p>
            <a:pPr algn="l"/>
            <a:r>
              <a:rPr lang="en-US" altLang="zh-CN" sz="1200" b="0">
                <a:solidFill>
                  <a:srgbClr val="000000"/>
                </a:solidFill>
                <a:effectLst/>
                <a:latin typeface="Consolas" panose="020B0609020204030204" pitchFamily="49" charset="0"/>
              </a:rPr>
              <a:t>} </a:t>
            </a:r>
            <a:r>
              <a:rPr lang="en-US" altLang="zh-CN" sz="1200" b="0">
                <a:solidFill>
                  <a:srgbClr val="008000"/>
                </a:solidFill>
                <a:effectLst/>
                <a:latin typeface="Consolas" panose="020B0609020204030204" pitchFamily="49" charset="0"/>
              </a:rPr>
              <a:t>// OJ02-02.cpp</a:t>
            </a:r>
            <a:endParaRPr lang="en-US" altLang="zh-CN" sz="1200" b="0">
              <a:solidFill>
                <a:srgbClr val="000000"/>
              </a:solidFill>
              <a:effectLst/>
              <a:latin typeface="Consolas" panose="020B0609020204030204" pitchFamily="49" charset="0"/>
            </a:endParaRPr>
          </a:p>
        </p:txBody>
      </p:sp>
      <p:sp>
        <p:nvSpPr>
          <p:cNvPr id="8" name="文本框 7">
            <a:extLst>
              <a:ext uri="{FF2B5EF4-FFF2-40B4-BE49-F238E27FC236}">
                <a16:creationId xmlns:a16="http://schemas.microsoft.com/office/drawing/2014/main" id="{3B25282B-03CF-4528-B9E8-BF42AA2BF299}"/>
              </a:ext>
            </a:extLst>
          </p:cNvPr>
          <p:cNvSpPr txBox="1"/>
          <p:nvPr/>
        </p:nvSpPr>
        <p:spPr>
          <a:xfrm rot="18131794">
            <a:off x="7447864" y="4086840"/>
            <a:ext cx="6291787"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9600" b="1" i="0" u="none" strike="noStrike" cap="none" spc="0" normalizeH="0" baseline="0">
                <a:ln>
                  <a:noFill/>
                </a:ln>
                <a:solidFill>
                  <a:schemeClr val="accent5">
                    <a:lumMod val="40000"/>
                    <a:lumOff val="60000"/>
                  </a:schemeClr>
                </a:solidFill>
                <a:effectLst/>
                <a:uFillTx/>
                <a:latin typeface="方正小标宋_GBK" panose="03000509000000000000" pitchFamily="65" charset="-122"/>
                <a:ea typeface="方正小标宋_GBK" panose="03000509000000000000" pitchFamily="65" charset="-122"/>
                <a:sym typeface="Helvetica Neue"/>
              </a:rPr>
              <a:t>C-V</a:t>
            </a:r>
            <a:r>
              <a:rPr kumimoji="0" lang="zh-CN" altLang="en-US" sz="9600" b="1" i="0" u="none" strike="noStrike" cap="none" spc="0" normalizeH="0" baseline="0">
                <a:ln>
                  <a:noFill/>
                </a:ln>
                <a:solidFill>
                  <a:schemeClr val="accent5">
                    <a:lumMod val="40000"/>
                    <a:lumOff val="60000"/>
                  </a:schemeClr>
                </a:solidFill>
                <a:effectLst/>
                <a:uFillTx/>
                <a:latin typeface="方正小标宋_GBK" panose="03000509000000000000" pitchFamily="65" charset="-122"/>
                <a:ea typeface="方正小标宋_GBK" panose="03000509000000000000" pitchFamily="65" charset="-122"/>
                <a:sym typeface="Helvetica Neue"/>
              </a:rPr>
              <a:t>大法！</a:t>
            </a:r>
          </a:p>
        </p:txBody>
      </p:sp>
      <p:sp>
        <p:nvSpPr>
          <p:cNvPr id="9" name="灯片编号占位符 1">
            <a:extLst>
              <a:ext uri="{FF2B5EF4-FFF2-40B4-BE49-F238E27FC236}">
                <a16:creationId xmlns:a16="http://schemas.microsoft.com/office/drawing/2014/main" id="{78D9D499-EAD4-4468-97AB-05E94C34DDE1}"/>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pic>
        <p:nvPicPr>
          <p:cNvPr id="4" name="图片 3">
            <a:extLst>
              <a:ext uri="{FF2B5EF4-FFF2-40B4-BE49-F238E27FC236}">
                <a16:creationId xmlns:a16="http://schemas.microsoft.com/office/drawing/2014/main" id="{CE9DD3CC-5E0F-C3CB-936E-604A502D487C}"/>
              </a:ext>
            </a:extLst>
          </p:cNvPr>
          <p:cNvPicPr>
            <a:picLocks noChangeAspect="1"/>
          </p:cNvPicPr>
          <p:nvPr/>
        </p:nvPicPr>
        <p:blipFill>
          <a:blip r:embed="rId2"/>
          <a:stretch>
            <a:fillRect/>
          </a:stretch>
        </p:blipFill>
        <p:spPr>
          <a:xfrm>
            <a:off x="6502400" y="101730"/>
            <a:ext cx="6346533" cy="2304703"/>
          </a:xfrm>
          <a:prstGeom prst="rect">
            <a:avLst/>
          </a:prstGeom>
          <a:ln>
            <a:solidFill>
              <a:srgbClr val="7030A0"/>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9565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5D712-22C2-4251-A6C0-AF6C549EAEDA}"/>
              </a:ext>
            </a:extLst>
          </p:cNvPr>
          <p:cNvSpPr>
            <a:spLocks noGrp="1"/>
          </p:cNvSpPr>
          <p:nvPr>
            <p:ph type="title"/>
          </p:nvPr>
        </p:nvSpPr>
        <p:spPr>
          <a:xfrm>
            <a:off x="547201" y="410841"/>
            <a:ext cx="3305784" cy="927598"/>
          </a:xfrm>
          <a:solidFill>
            <a:srgbClr val="0070C0"/>
          </a:solidFill>
        </p:spPr>
        <p:txBody>
          <a:bodyPr/>
          <a:lstStyle/>
          <a:p>
            <a:r>
              <a:rPr lang="zh-CN" altLang="en-US"/>
              <a:t>判断闰年</a:t>
            </a:r>
          </a:p>
        </p:txBody>
      </p:sp>
      <p:sp>
        <p:nvSpPr>
          <p:cNvPr id="3" name="文本框 2">
            <a:extLst>
              <a:ext uri="{FF2B5EF4-FFF2-40B4-BE49-F238E27FC236}">
                <a16:creationId xmlns:a16="http://schemas.microsoft.com/office/drawing/2014/main" id="{B95D7E5E-23D0-4B22-AB33-62BEDDAE2C33}"/>
              </a:ext>
            </a:extLst>
          </p:cNvPr>
          <p:cNvSpPr txBox="1"/>
          <p:nvPr/>
        </p:nvSpPr>
        <p:spPr>
          <a:xfrm>
            <a:off x="547201" y="1939132"/>
            <a:ext cx="5180905" cy="1456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200000"/>
              </a:lnSpc>
              <a:spcBef>
                <a:spcPts val="0"/>
              </a:spcBef>
              <a:spcAft>
                <a:spcPts val="0"/>
              </a:spcAft>
              <a:buClrTx/>
              <a:buSzTx/>
              <a:buFontTx/>
              <a:buNone/>
              <a:tabLst/>
            </a:pPr>
            <a:r>
              <a:rPr kumimoji="0" lang="zh-CN" altLang="en-US" sz="4400" b="1" i="0" u="none" strike="noStrike" cap="none" spc="0" normalizeH="0" baseline="0">
                <a:ln>
                  <a:noFill/>
                </a:ln>
                <a:solidFill>
                  <a:schemeClr val="tx1"/>
                </a:solidFill>
                <a:effectLst/>
                <a:uFillTx/>
                <a:latin typeface="Helvetica Neue"/>
                <a:ea typeface="Helvetica Neue"/>
                <a:cs typeface="Helvetica Neue"/>
                <a:sym typeface="Helvetica Neue"/>
              </a:rPr>
              <a:t>如何思考（分析）？</a:t>
            </a:r>
          </a:p>
        </p:txBody>
      </p:sp>
      <p:sp>
        <p:nvSpPr>
          <p:cNvPr id="5" name="灯片编号占位符 1">
            <a:extLst>
              <a:ext uri="{FF2B5EF4-FFF2-40B4-BE49-F238E27FC236}">
                <a16:creationId xmlns:a16="http://schemas.microsoft.com/office/drawing/2014/main" id="{3117B8DD-043B-49B8-816E-933CFFB4E808}"/>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pic>
        <p:nvPicPr>
          <p:cNvPr id="19" name="图片 18">
            <a:extLst>
              <a:ext uri="{FF2B5EF4-FFF2-40B4-BE49-F238E27FC236}">
                <a16:creationId xmlns:a16="http://schemas.microsoft.com/office/drawing/2014/main" id="{418D3B41-8076-4F1C-A510-569ADA9E2798}"/>
              </a:ext>
            </a:extLst>
          </p:cNvPr>
          <p:cNvPicPr>
            <a:picLocks noChangeAspect="1"/>
          </p:cNvPicPr>
          <p:nvPr/>
        </p:nvPicPr>
        <p:blipFill>
          <a:blip r:embed="rId2"/>
          <a:stretch>
            <a:fillRect/>
          </a:stretch>
        </p:blipFill>
        <p:spPr>
          <a:xfrm>
            <a:off x="4052713" y="197334"/>
            <a:ext cx="8813313" cy="1320780"/>
          </a:xfrm>
          <a:prstGeom prst="rect">
            <a:avLst/>
          </a:prstGeom>
        </p:spPr>
      </p:pic>
      <p:grpSp>
        <p:nvGrpSpPr>
          <p:cNvPr id="4" name="组合 3">
            <a:extLst>
              <a:ext uri="{FF2B5EF4-FFF2-40B4-BE49-F238E27FC236}">
                <a16:creationId xmlns:a16="http://schemas.microsoft.com/office/drawing/2014/main" id="{53F3F84B-5ABF-69C4-1FED-4B300BB0BF6D}"/>
              </a:ext>
            </a:extLst>
          </p:cNvPr>
          <p:cNvGrpSpPr/>
          <p:nvPr/>
        </p:nvGrpSpPr>
        <p:grpSpPr>
          <a:xfrm>
            <a:off x="589657" y="3671492"/>
            <a:ext cx="5490509" cy="5372335"/>
            <a:chOff x="2955170" y="3673985"/>
            <a:chExt cx="5490509" cy="5372335"/>
          </a:xfrm>
        </p:grpSpPr>
        <p:sp>
          <p:nvSpPr>
            <p:cNvPr id="6" name="椭圆 5">
              <a:extLst>
                <a:ext uri="{FF2B5EF4-FFF2-40B4-BE49-F238E27FC236}">
                  <a16:creationId xmlns:a16="http://schemas.microsoft.com/office/drawing/2014/main" id="{A0CA0E13-D560-44CF-9929-FA9DD9E2194C}"/>
                </a:ext>
              </a:extLst>
            </p:cNvPr>
            <p:cNvSpPr/>
            <p:nvPr/>
          </p:nvSpPr>
          <p:spPr>
            <a:xfrm>
              <a:off x="6682264" y="5232709"/>
              <a:ext cx="284921" cy="284921"/>
            </a:xfrm>
            <a:prstGeom prst="ellipse">
              <a:avLst/>
            </a:prstGeom>
            <a:ln w="28575">
              <a:solidFill>
                <a:srgbClr val="FF0000"/>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18" name="椭圆 17">
              <a:extLst>
                <a:ext uri="{FF2B5EF4-FFF2-40B4-BE49-F238E27FC236}">
                  <a16:creationId xmlns:a16="http://schemas.microsoft.com/office/drawing/2014/main" id="{1BBA29D9-7EE4-4CB9-874F-C78A9435ADCB}"/>
                </a:ext>
              </a:extLst>
            </p:cNvPr>
            <p:cNvSpPr/>
            <p:nvPr/>
          </p:nvSpPr>
          <p:spPr>
            <a:xfrm>
              <a:off x="5584780" y="6234940"/>
              <a:ext cx="284921" cy="284921"/>
            </a:xfrm>
            <a:prstGeom prst="ellipse">
              <a:avLst/>
            </a:prstGeom>
            <a:ln w="28575">
              <a:solidFill>
                <a:srgbClr val="00B050"/>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20" name="椭圆 19">
              <a:extLst>
                <a:ext uri="{FF2B5EF4-FFF2-40B4-BE49-F238E27FC236}">
                  <a16:creationId xmlns:a16="http://schemas.microsoft.com/office/drawing/2014/main" id="{6C6CD721-97FD-4583-B8A0-7A0CD07D9D98}"/>
                </a:ext>
              </a:extLst>
            </p:cNvPr>
            <p:cNvSpPr/>
            <p:nvPr/>
          </p:nvSpPr>
          <p:spPr>
            <a:xfrm>
              <a:off x="7823921" y="6234941"/>
              <a:ext cx="284921" cy="284921"/>
            </a:xfrm>
            <a:prstGeom prst="ellipse">
              <a:avLst/>
            </a:prstGeom>
            <a:solidFill>
              <a:schemeClr val="tx1"/>
            </a:solidFill>
            <a:ln w="19050">
              <a:solidFill>
                <a:schemeClr val="tx1">
                  <a:lumMod val="75000"/>
                  <a:lumOff val="25000"/>
                </a:schemeClr>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21" name="椭圆 20">
              <a:extLst>
                <a:ext uri="{FF2B5EF4-FFF2-40B4-BE49-F238E27FC236}">
                  <a16:creationId xmlns:a16="http://schemas.microsoft.com/office/drawing/2014/main" id="{23963437-CBFF-4BC5-B00C-550015BEC741}"/>
                </a:ext>
              </a:extLst>
            </p:cNvPr>
            <p:cNvSpPr/>
            <p:nvPr/>
          </p:nvSpPr>
          <p:spPr>
            <a:xfrm>
              <a:off x="4457241" y="7286797"/>
              <a:ext cx="284921" cy="284921"/>
            </a:xfrm>
            <a:prstGeom prst="ellipse">
              <a:avLst/>
            </a:prstGeom>
            <a:ln w="28575">
              <a:solidFill>
                <a:srgbClr val="00B0F0"/>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22" name="椭圆 21">
              <a:extLst>
                <a:ext uri="{FF2B5EF4-FFF2-40B4-BE49-F238E27FC236}">
                  <a16:creationId xmlns:a16="http://schemas.microsoft.com/office/drawing/2014/main" id="{6EB2F1C5-78D3-4608-94AC-84A0E9A682FB}"/>
                </a:ext>
              </a:extLst>
            </p:cNvPr>
            <p:cNvSpPr/>
            <p:nvPr/>
          </p:nvSpPr>
          <p:spPr>
            <a:xfrm>
              <a:off x="6640538" y="7286796"/>
              <a:ext cx="284921" cy="284921"/>
            </a:xfrm>
            <a:prstGeom prst="ellipse">
              <a:avLst/>
            </a:prstGeom>
            <a:solidFill>
              <a:schemeClr val="tx1"/>
            </a:solidFill>
            <a:ln w="19050">
              <a:solidFill>
                <a:schemeClr val="tx1">
                  <a:lumMod val="75000"/>
                  <a:lumOff val="25000"/>
                </a:schemeClr>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23" name="椭圆 22">
              <a:extLst>
                <a:ext uri="{FF2B5EF4-FFF2-40B4-BE49-F238E27FC236}">
                  <a16:creationId xmlns:a16="http://schemas.microsoft.com/office/drawing/2014/main" id="{D578EBAD-072C-46B9-91EA-2386E7180707}"/>
                </a:ext>
              </a:extLst>
            </p:cNvPr>
            <p:cNvSpPr/>
            <p:nvPr/>
          </p:nvSpPr>
          <p:spPr>
            <a:xfrm>
              <a:off x="3372587" y="8274083"/>
              <a:ext cx="284921" cy="284921"/>
            </a:xfrm>
            <a:prstGeom prst="ellipse">
              <a:avLst/>
            </a:prstGeom>
            <a:solidFill>
              <a:schemeClr val="tx1"/>
            </a:solidFill>
            <a:ln w="19050">
              <a:solidFill>
                <a:schemeClr val="tx1">
                  <a:lumMod val="75000"/>
                  <a:lumOff val="25000"/>
                </a:schemeClr>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24" name="椭圆 23">
              <a:extLst>
                <a:ext uri="{FF2B5EF4-FFF2-40B4-BE49-F238E27FC236}">
                  <a16:creationId xmlns:a16="http://schemas.microsoft.com/office/drawing/2014/main" id="{6B4BA17F-F07D-43B0-A139-9AC696CB65E7}"/>
                </a:ext>
              </a:extLst>
            </p:cNvPr>
            <p:cNvSpPr/>
            <p:nvPr/>
          </p:nvSpPr>
          <p:spPr>
            <a:xfrm>
              <a:off x="5443185" y="8274083"/>
              <a:ext cx="284921" cy="284921"/>
            </a:xfrm>
            <a:prstGeom prst="ellipse">
              <a:avLst/>
            </a:prstGeom>
            <a:solidFill>
              <a:schemeClr val="tx1"/>
            </a:solidFill>
            <a:ln w="19050">
              <a:solidFill>
                <a:schemeClr val="tx1">
                  <a:lumMod val="75000"/>
                  <a:lumOff val="25000"/>
                </a:schemeClr>
              </a:solidFill>
            </a:ln>
          </p:spPr>
          <p:txBody>
            <a:bodyPr rtlCol="0" anchor="ctr">
              <a:spAutoFit/>
            </a:bodyPr>
            <a:lstStyle/>
            <a:p>
              <a:pPr algn="l"/>
              <a:endParaRPr lang="zh-CN" altLang="en-US">
                <a:solidFill>
                  <a:srgbClr val="0070C0"/>
                </a:solidFill>
                <a:latin typeface="Consolas" panose="020B0609020204030204" pitchFamily="49" charset="0"/>
              </a:endParaRPr>
            </a:p>
          </p:txBody>
        </p:sp>
        <p:cxnSp>
          <p:nvCxnSpPr>
            <p:cNvPr id="25" name="直接连接符 24">
              <a:extLst>
                <a:ext uri="{FF2B5EF4-FFF2-40B4-BE49-F238E27FC236}">
                  <a16:creationId xmlns:a16="http://schemas.microsoft.com/office/drawing/2014/main" id="{EB820AEB-D19F-4D4C-B13F-1E642B7717B9}"/>
                </a:ext>
              </a:extLst>
            </p:cNvPr>
            <p:cNvCxnSpPr>
              <a:stCxn id="6" idx="5"/>
              <a:endCxn id="20" idx="1"/>
            </p:cNvCxnSpPr>
            <p:nvPr/>
          </p:nvCxnSpPr>
          <p:spPr>
            <a:xfrm>
              <a:off x="6925459" y="5475904"/>
              <a:ext cx="940188" cy="80076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7" name="直接连接符 26">
              <a:extLst>
                <a:ext uri="{FF2B5EF4-FFF2-40B4-BE49-F238E27FC236}">
                  <a16:creationId xmlns:a16="http://schemas.microsoft.com/office/drawing/2014/main" id="{3845DA4F-57AB-4F06-A636-353E9B379FE8}"/>
                </a:ext>
              </a:extLst>
            </p:cNvPr>
            <p:cNvCxnSpPr>
              <a:stCxn id="6" idx="3"/>
              <a:endCxn id="18" idx="7"/>
            </p:cNvCxnSpPr>
            <p:nvPr/>
          </p:nvCxnSpPr>
          <p:spPr>
            <a:xfrm flipH="1">
              <a:off x="5827975" y="5475904"/>
              <a:ext cx="896015" cy="80076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 name="直接连接符 28">
              <a:extLst>
                <a:ext uri="{FF2B5EF4-FFF2-40B4-BE49-F238E27FC236}">
                  <a16:creationId xmlns:a16="http://schemas.microsoft.com/office/drawing/2014/main" id="{FD48B30E-6008-4FF7-98E5-0449C06D90E6}"/>
                </a:ext>
              </a:extLst>
            </p:cNvPr>
            <p:cNvCxnSpPr>
              <a:stCxn id="18" idx="3"/>
              <a:endCxn id="21" idx="7"/>
            </p:cNvCxnSpPr>
            <p:nvPr/>
          </p:nvCxnSpPr>
          <p:spPr>
            <a:xfrm flipH="1">
              <a:off x="4700436" y="6478135"/>
              <a:ext cx="926070" cy="85038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 name="直接连接符 30">
              <a:extLst>
                <a:ext uri="{FF2B5EF4-FFF2-40B4-BE49-F238E27FC236}">
                  <a16:creationId xmlns:a16="http://schemas.microsoft.com/office/drawing/2014/main" id="{0A4786ED-694F-47E1-BAE6-DCD98462F303}"/>
                </a:ext>
              </a:extLst>
            </p:cNvPr>
            <p:cNvCxnSpPr>
              <a:cxnSpLocks/>
              <a:stCxn id="21" idx="3"/>
              <a:endCxn id="23" idx="7"/>
            </p:cNvCxnSpPr>
            <p:nvPr/>
          </p:nvCxnSpPr>
          <p:spPr>
            <a:xfrm flipH="1">
              <a:off x="3615782" y="7529992"/>
              <a:ext cx="883185" cy="78581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0" name="直接连接符 39">
              <a:extLst>
                <a:ext uri="{FF2B5EF4-FFF2-40B4-BE49-F238E27FC236}">
                  <a16:creationId xmlns:a16="http://schemas.microsoft.com/office/drawing/2014/main" id="{9200888E-E9A8-45D3-BF30-B427121D9E58}"/>
                </a:ext>
              </a:extLst>
            </p:cNvPr>
            <p:cNvCxnSpPr>
              <a:stCxn id="18" idx="5"/>
              <a:endCxn id="22" idx="1"/>
            </p:cNvCxnSpPr>
            <p:nvPr/>
          </p:nvCxnSpPr>
          <p:spPr>
            <a:xfrm>
              <a:off x="5827975" y="6478135"/>
              <a:ext cx="854289" cy="85038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8" name="文本框 47">
              <a:extLst>
                <a:ext uri="{FF2B5EF4-FFF2-40B4-BE49-F238E27FC236}">
                  <a16:creationId xmlns:a16="http://schemas.microsoft.com/office/drawing/2014/main" id="{63431FF5-BEF6-4039-9FA7-25420798CFFD}"/>
                </a:ext>
              </a:extLst>
            </p:cNvPr>
            <p:cNvSpPr txBox="1"/>
            <p:nvPr/>
          </p:nvSpPr>
          <p:spPr>
            <a:xfrm>
              <a:off x="6978673" y="5169984"/>
              <a:ext cx="1125308"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000" i="0" u="none" strike="noStrike" cap="none" spc="0" normalizeH="0" baseline="0">
                  <a:ln>
                    <a:noFill/>
                  </a:ln>
                  <a:solidFill>
                    <a:srgbClr val="FF0000"/>
                  </a:solidFill>
                  <a:effectLst/>
                  <a:uFillTx/>
                  <a:latin typeface="Helvetica Neue"/>
                  <a:ea typeface="Helvetica Neue"/>
                  <a:cs typeface="Helvetica Neue"/>
                  <a:sym typeface="Helvetica Neue"/>
                </a:rPr>
                <a:t>% 4 == 0</a:t>
              </a:r>
              <a:endParaRPr kumimoji="0" lang="zh-CN" altLang="en-US" sz="2000" i="0" u="none" strike="noStrike" cap="none" spc="0" normalizeH="0" baseline="0">
                <a:ln>
                  <a:noFill/>
                </a:ln>
                <a:solidFill>
                  <a:srgbClr val="FF0000"/>
                </a:solidFill>
                <a:effectLst/>
                <a:uFillTx/>
                <a:latin typeface="Helvetica Neue"/>
                <a:ea typeface="Helvetica Neue"/>
                <a:cs typeface="Helvetica Neue"/>
                <a:sym typeface="Helvetica Neue"/>
              </a:endParaRPr>
            </a:p>
          </p:txBody>
        </p:sp>
        <p:sp>
          <p:nvSpPr>
            <p:cNvPr id="49" name="文本框 48">
              <a:extLst>
                <a:ext uri="{FF2B5EF4-FFF2-40B4-BE49-F238E27FC236}">
                  <a16:creationId xmlns:a16="http://schemas.microsoft.com/office/drawing/2014/main" id="{CF09CFFD-1AA7-4447-AECA-16513F01B54E}"/>
                </a:ext>
              </a:extLst>
            </p:cNvPr>
            <p:cNvSpPr txBox="1"/>
            <p:nvPr/>
          </p:nvSpPr>
          <p:spPr>
            <a:xfrm>
              <a:off x="5912088" y="6166177"/>
              <a:ext cx="1410644"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000" i="0" u="none" strike="noStrike" cap="none" spc="0" normalizeH="0" baseline="0">
                  <a:ln>
                    <a:noFill/>
                  </a:ln>
                  <a:solidFill>
                    <a:srgbClr val="00B050"/>
                  </a:solidFill>
                  <a:effectLst/>
                  <a:uFillTx/>
                  <a:latin typeface="Helvetica Neue"/>
                  <a:ea typeface="Helvetica Neue"/>
                  <a:cs typeface="Helvetica Neue"/>
                  <a:sym typeface="Helvetica Neue"/>
                </a:rPr>
                <a:t>% 100 == 0</a:t>
              </a:r>
              <a:endParaRPr kumimoji="0" lang="zh-CN" altLang="en-US" sz="2000" i="0" u="none" strike="noStrike" cap="none" spc="0" normalizeH="0" baseline="0">
                <a:ln>
                  <a:noFill/>
                </a:ln>
                <a:solidFill>
                  <a:srgbClr val="00B050"/>
                </a:solidFill>
                <a:effectLst/>
                <a:uFillTx/>
                <a:latin typeface="Helvetica Neue"/>
                <a:ea typeface="Helvetica Neue"/>
                <a:cs typeface="Helvetica Neue"/>
                <a:sym typeface="Helvetica Neue"/>
              </a:endParaRPr>
            </a:p>
          </p:txBody>
        </p:sp>
        <p:sp>
          <p:nvSpPr>
            <p:cNvPr id="50" name="文本框 49">
              <a:extLst>
                <a:ext uri="{FF2B5EF4-FFF2-40B4-BE49-F238E27FC236}">
                  <a16:creationId xmlns:a16="http://schemas.microsoft.com/office/drawing/2014/main" id="{EE282BAB-94A7-4FDB-99B7-B6968E82A7CE}"/>
                </a:ext>
              </a:extLst>
            </p:cNvPr>
            <p:cNvSpPr txBox="1"/>
            <p:nvPr/>
          </p:nvSpPr>
          <p:spPr>
            <a:xfrm>
              <a:off x="4771254" y="7236422"/>
              <a:ext cx="1410644"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000" i="0" u="none" strike="noStrike" cap="none" spc="0" normalizeH="0" baseline="0">
                  <a:ln>
                    <a:noFill/>
                  </a:ln>
                  <a:solidFill>
                    <a:srgbClr val="00B0F0"/>
                  </a:solidFill>
                  <a:effectLst/>
                  <a:uFillTx/>
                  <a:latin typeface="Helvetica Neue"/>
                  <a:ea typeface="Helvetica Neue"/>
                  <a:cs typeface="Helvetica Neue"/>
                  <a:sym typeface="Helvetica Neue"/>
                </a:rPr>
                <a:t>% 400 == 0</a:t>
              </a:r>
              <a:endParaRPr kumimoji="0" lang="zh-CN" altLang="en-US" sz="2000" i="0" u="none" strike="noStrike" cap="none" spc="0" normalizeH="0" baseline="0">
                <a:ln>
                  <a:noFill/>
                </a:ln>
                <a:solidFill>
                  <a:srgbClr val="00B0F0"/>
                </a:solidFill>
                <a:effectLst/>
                <a:uFillTx/>
                <a:latin typeface="Helvetica Neue"/>
                <a:ea typeface="Helvetica Neue"/>
                <a:cs typeface="Helvetica Neue"/>
                <a:sym typeface="Helvetica Neue"/>
              </a:endParaRPr>
            </a:p>
          </p:txBody>
        </p:sp>
        <p:sp>
          <p:nvSpPr>
            <p:cNvPr id="51" name="文本框 50">
              <a:extLst>
                <a:ext uri="{FF2B5EF4-FFF2-40B4-BE49-F238E27FC236}">
                  <a16:creationId xmlns:a16="http://schemas.microsoft.com/office/drawing/2014/main" id="{6695CC6A-16E8-42F3-8FE6-FB3B83F8E0C3}"/>
                </a:ext>
              </a:extLst>
            </p:cNvPr>
            <p:cNvSpPr txBox="1"/>
            <p:nvPr/>
          </p:nvSpPr>
          <p:spPr>
            <a:xfrm>
              <a:off x="6256955" y="6630431"/>
              <a:ext cx="32541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a:t>N</a:t>
              </a:r>
              <a:endPar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52" name="文本框 51">
              <a:extLst>
                <a:ext uri="{FF2B5EF4-FFF2-40B4-BE49-F238E27FC236}">
                  <a16:creationId xmlns:a16="http://schemas.microsoft.com/office/drawing/2014/main" id="{31A979B9-E51E-48F6-B13E-47946DA3D5F5}"/>
                </a:ext>
              </a:extLst>
            </p:cNvPr>
            <p:cNvSpPr txBox="1"/>
            <p:nvPr/>
          </p:nvSpPr>
          <p:spPr>
            <a:xfrm>
              <a:off x="5993935" y="5475904"/>
              <a:ext cx="290144"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rgbClr val="000000"/>
                  </a:solidFill>
                  <a:effectLst/>
                  <a:uFillTx/>
                  <a:latin typeface="Helvetica Neue"/>
                  <a:ea typeface="Helvetica Neue"/>
                  <a:cs typeface="Helvetica Neue"/>
                  <a:sym typeface="Helvetica Neue"/>
                </a:rPr>
                <a:t>T</a:t>
              </a:r>
              <a:endPar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53" name="文本框 52">
              <a:extLst>
                <a:ext uri="{FF2B5EF4-FFF2-40B4-BE49-F238E27FC236}">
                  <a16:creationId xmlns:a16="http://schemas.microsoft.com/office/drawing/2014/main" id="{B5B5ABDD-25AD-4AAF-9F57-13E4C2A3A42F}"/>
                </a:ext>
              </a:extLst>
            </p:cNvPr>
            <p:cNvSpPr txBox="1"/>
            <p:nvPr/>
          </p:nvSpPr>
          <p:spPr>
            <a:xfrm>
              <a:off x="4802611" y="6630431"/>
              <a:ext cx="290144"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rgbClr val="000000"/>
                  </a:solidFill>
                  <a:effectLst/>
                  <a:uFillTx/>
                  <a:latin typeface="Helvetica Neue"/>
                  <a:ea typeface="Helvetica Neue"/>
                  <a:cs typeface="Helvetica Neue"/>
                  <a:sym typeface="Helvetica Neue"/>
                </a:rPr>
                <a:t>T</a:t>
              </a:r>
              <a:endPar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54" name="文本框 53">
              <a:extLst>
                <a:ext uri="{FF2B5EF4-FFF2-40B4-BE49-F238E27FC236}">
                  <a16:creationId xmlns:a16="http://schemas.microsoft.com/office/drawing/2014/main" id="{DBD1A357-6D1E-4C01-A981-18A9BE96A71E}"/>
                </a:ext>
              </a:extLst>
            </p:cNvPr>
            <p:cNvSpPr txBox="1"/>
            <p:nvPr/>
          </p:nvSpPr>
          <p:spPr>
            <a:xfrm>
              <a:off x="3639651" y="7529992"/>
              <a:ext cx="290144"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rgbClr val="000000"/>
                  </a:solidFill>
                  <a:effectLst/>
                  <a:uFillTx/>
                  <a:latin typeface="Helvetica Neue"/>
                  <a:ea typeface="Helvetica Neue"/>
                  <a:cs typeface="Helvetica Neue"/>
                  <a:sym typeface="Helvetica Neue"/>
                </a:rPr>
                <a:t>T</a:t>
              </a:r>
              <a:endPar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55" name="文本框 54">
              <a:extLst>
                <a:ext uri="{FF2B5EF4-FFF2-40B4-BE49-F238E27FC236}">
                  <a16:creationId xmlns:a16="http://schemas.microsoft.com/office/drawing/2014/main" id="{A132E1E4-2B95-4886-AF25-68D10B9AC280}"/>
                </a:ext>
              </a:extLst>
            </p:cNvPr>
            <p:cNvSpPr txBox="1"/>
            <p:nvPr/>
          </p:nvSpPr>
          <p:spPr>
            <a:xfrm>
              <a:off x="7378622" y="5475904"/>
              <a:ext cx="32541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a:t>N</a:t>
              </a:r>
              <a:endPar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56" name="文本框 55">
              <a:extLst>
                <a:ext uri="{FF2B5EF4-FFF2-40B4-BE49-F238E27FC236}">
                  <a16:creationId xmlns:a16="http://schemas.microsoft.com/office/drawing/2014/main" id="{75845455-893A-4815-BD48-2905E7C90A9A}"/>
                </a:ext>
              </a:extLst>
            </p:cNvPr>
            <p:cNvSpPr txBox="1"/>
            <p:nvPr/>
          </p:nvSpPr>
          <p:spPr>
            <a:xfrm>
              <a:off x="5076049" y="7529992"/>
              <a:ext cx="32541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a:t>N</a:t>
              </a:r>
              <a:endPar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cxnSp>
          <p:nvCxnSpPr>
            <p:cNvPr id="59" name="直接连接符 58">
              <a:extLst>
                <a:ext uri="{FF2B5EF4-FFF2-40B4-BE49-F238E27FC236}">
                  <a16:creationId xmlns:a16="http://schemas.microsoft.com/office/drawing/2014/main" id="{5F29FE2D-7C07-4381-A4A7-139F1847C002}"/>
                </a:ext>
              </a:extLst>
            </p:cNvPr>
            <p:cNvCxnSpPr>
              <a:stCxn id="21" idx="5"/>
              <a:endCxn id="24" idx="1"/>
            </p:cNvCxnSpPr>
            <p:nvPr/>
          </p:nvCxnSpPr>
          <p:spPr>
            <a:xfrm>
              <a:off x="4700436" y="7529992"/>
              <a:ext cx="784475" cy="78581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4" name="文本框 63">
              <a:extLst>
                <a:ext uri="{FF2B5EF4-FFF2-40B4-BE49-F238E27FC236}">
                  <a16:creationId xmlns:a16="http://schemas.microsoft.com/office/drawing/2014/main" id="{7F7ECF51-64F5-4911-BFA9-6DC2CEF16975}"/>
                </a:ext>
              </a:extLst>
            </p:cNvPr>
            <p:cNvSpPr txBox="1"/>
            <p:nvPr/>
          </p:nvSpPr>
          <p:spPr>
            <a:xfrm>
              <a:off x="6273987" y="7613579"/>
              <a:ext cx="108843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000" b="1" i="0" u="none" strike="noStrike" cap="none" spc="0" normalizeH="0" baseline="0" dirty="0">
                  <a:ln>
                    <a:noFill/>
                  </a:ln>
                  <a:solidFill>
                    <a:srgbClr val="7030A0"/>
                  </a:solidFill>
                  <a:effectLst/>
                  <a:uFillTx/>
                  <a:latin typeface="Helvetica Neue"/>
                  <a:ea typeface="Helvetica Neue"/>
                  <a:cs typeface="Helvetica Neue"/>
                  <a:sym typeface="Helvetica Neue"/>
                </a:rPr>
                <a:t>"YES-1"</a:t>
              </a:r>
              <a:endParaRPr kumimoji="0" lang="zh-CN" altLang="en-US" sz="2000" b="1" i="0" u="none" strike="noStrike" cap="none" spc="0" normalizeH="0" baseline="0" dirty="0">
                <a:ln>
                  <a:noFill/>
                </a:ln>
                <a:solidFill>
                  <a:srgbClr val="7030A0"/>
                </a:solidFill>
                <a:effectLst/>
                <a:uFillTx/>
                <a:latin typeface="Helvetica Neue"/>
                <a:ea typeface="Helvetica Neue"/>
                <a:cs typeface="Helvetica Neue"/>
                <a:sym typeface="Helvetica Neue"/>
              </a:endParaRPr>
            </a:p>
          </p:txBody>
        </p:sp>
        <p:sp>
          <p:nvSpPr>
            <p:cNvPr id="65" name="文本框 64">
              <a:extLst>
                <a:ext uri="{FF2B5EF4-FFF2-40B4-BE49-F238E27FC236}">
                  <a16:creationId xmlns:a16="http://schemas.microsoft.com/office/drawing/2014/main" id="{D36E6C77-C8D4-497C-B7A0-9243D2CDABAE}"/>
                </a:ext>
              </a:extLst>
            </p:cNvPr>
            <p:cNvSpPr txBox="1"/>
            <p:nvPr/>
          </p:nvSpPr>
          <p:spPr>
            <a:xfrm>
              <a:off x="2955170" y="8635951"/>
              <a:ext cx="108843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000" b="1" i="0" u="none" strike="noStrike" cap="none" spc="0" normalizeH="0" baseline="0" dirty="0">
                  <a:ln>
                    <a:noFill/>
                  </a:ln>
                  <a:solidFill>
                    <a:srgbClr val="7030A0"/>
                  </a:solidFill>
                  <a:effectLst/>
                  <a:uFillTx/>
                  <a:latin typeface="Helvetica Neue"/>
                  <a:ea typeface="Helvetica Neue"/>
                  <a:cs typeface="Helvetica Neue"/>
                  <a:sym typeface="Helvetica Neue"/>
                </a:rPr>
                <a:t>"YES-2"</a:t>
              </a:r>
              <a:endParaRPr kumimoji="0" lang="zh-CN" altLang="en-US" sz="2000" b="1" i="0" u="none" strike="noStrike" cap="none" spc="0" normalizeH="0" baseline="0" dirty="0">
                <a:ln>
                  <a:noFill/>
                </a:ln>
                <a:solidFill>
                  <a:srgbClr val="7030A0"/>
                </a:solidFill>
                <a:effectLst/>
                <a:uFillTx/>
                <a:latin typeface="Helvetica Neue"/>
                <a:ea typeface="Helvetica Neue"/>
                <a:cs typeface="Helvetica Neue"/>
                <a:sym typeface="Helvetica Neue"/>
              </a:endParaRPr>
            </a:p>
          </p:txBody>
        </p:sp>
        <p:sp>
          <p:nvSpPr>
            <p:cNvPr id="66" name="文本框 65">
              <a:extLst>
                <a:ext uri="{FF2B5EF4-FFF2-40B4-BE49-F238E27FC236}">
                  <a16:creationId xmlns:a16="http://schemas.microsoft.com/office/drawing/2014/main" id="{A7617FA6-3521-41A2-A0D7-A84CD0775D65}"/>
                </a:ext>
              </a:extLst>
            </p:cNvPr>
            <p:cNvSpPr txBox="1"/>
            <p:nvPr/>
          </p:nvSpPr>
          <p:spPr>
            <a:xfrm>
              <a:off x="5147209" y="8623294"/>
              <a:ext cx="958596"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000" b="1" i="0" u="none" strike="noStrike" cap="none" spc="0" normalizeH="0" baseline="0" dirty="0">
                  <a:ln>
                    <a:noFill/>
                  </a:ln>
                  <a:solidFill>
                    <a:srgbClr val="FFC000"/>
                  </a:solidFill>
                  <a:effectLst/>
                  <a:uFillTx/>
                  <a:latin typeface="Helvetica Neue"/>
                  <a:ea typeface="Helvetica Neue"/>
                  <a:cs typeface="Helvetica Neue"/>
                  <a:sym typeface="Helvetica Neue"/>
                </a:rPr>
                <a:t>"NO-2"</a:t>
              </a:r>
              <a:endParaRPr kumimoji="0" lang="zh-CN" altLang="en-US" sz="2000" b="1" i="0" u="none" strike="noStrike" cap="none" spc="0" normalizeH="0" baseline="0" dirty="0">
                <a:ln>
                  <a:noFill/>
                </a:ln>
                <a:solidFill>
                  <a:srgbClr val="FFC000"/>
                </a:solidFill>
                <a:effectLst/>
                <a:uFillTx/>
                <a:latin typeface="Helvetica Neue"/>
                <a:ea typeface="Helvetica Neue"/>
                <a:cs typeface="Helvetica Neue"/>
                <a:sym typeface="Helvetica Neue"/>
              </a:endParaRPr>
            </a:p>
          </p:txBody>
        </p:sp>
        <p:sp>
          <p:nvSpPr>
            <p:cNvPr id="67" name="文本框 66">
              <a:extLst>
                <a:ext uri="{FF2B5EF4-FFF2-40B4-BE49-F238E27FC236}">
                  <a16:creationId xmlns:a16="http://schemas.microsoft.com/office/drawing/2014/main" id="{DD866778-B175-4A85-9CB9-0CE66A82000C}"/>
                </a:ext>
              </a:extLst>
            </p:cNvPr>
            <p:cNvSpPr txBox="1"/>
            <p:nvPr/>
          </p:nvSpPr>
          <p:spPr>
            <a:xfrm>
              <a:off x="7487083" y="6534753"/>
              <a:ext cx="958596"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000" b="1" i="0" u="none" strike="noStrike" cap="none" spc="0" normalizeH="0" baseline="0" dirty="0">
                  <a:ln>
                    <a:noFill/>
                  </a:ln>
                  <a:solidFill>
                    <a:srgbClr val="FFC000"/>
                  </a:solidFill>
                  <a:effectLst/>
                  <a:uFillTx/>
                  <a:latin typeface="Helvetica Neue"/>
                  <a:ea typeface="Helvetica Neue"/>
                  <a:cs typeface="Helvetica Neue"/>
                  <a:sym typeface="Helvetica Neue"/>
                </a:rPr>
                <a:t>"NO-1"</a:t>
              </a:r>
              <a:endParaRPr kumimoji="0" lang="zh-CN" altLang="en-US" sz="2000" b="1" i="0" u="none" strike="noStrike" cap="none" spc="0" normalizeH="0" baseline="0" dirty="0">
                <a:ln>
                  <a:noFill/>
                </a:ln>
                <a:solidFill>
                  <a:srgbClr val="FFC000"/>
                </a:solidFill>
                <a:effectLst/>
                <a:uFillTx/>
                <a:latin typeface="Helvetica Neue"/>
                <a:ea typeface="Helvetica Neue"/>
                <a:cs typeface="Helvetica Neue"/>
                <a:sym typeface="Helvetica Neue"/>
              </a:endParaRPr>
            </a:p>
          </p:txBody>
        </p:sp>
        <p:sp>
          <p:nvSpPr>
            <p:cNvPr id="68" name="箭头: 下 67">
              <a:extLst>
                <a:ext uri="{FF2B5EF4-FFF2-40B4-BE49-F238E27FC236}">
                  <a16:creationId xmlns:a16="http://schemas.microsoft.com/office/drawing/2014/main" id="{0B140635-B291-43D6-B8D7-969D0CE07997}"/>
                </a:ext>
              </a:extLst>
            </p:cNvPr>
            <p:cNvSpPr/>
            <p:nvPr/>
          </p:nvSpPr>
          <p:spPr>
            <a:xfrm>
              <a:off x="6579413" y="4197121"/>
              <a:ext cx="477586" cy="960514"/>
            </a:xfrm>
            <a:prstGeom prst="downArrow">
              <a:avLst/>
            </a:prstGeom>
            <a:ln w="19050">
              <a:solidFill>
                <a:schemeClr val="tx1">
                  <a:lumMod val="75000"/>
                  <a:lumOff val="25000"/>
                </a:schemeClr>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69" name="文本框 68">
              <a:extLst>
                <a:ext uri="{FF2B5EF4-FFF2-40B4-BE49-F238E27FC236}">
                  <a16:creationId xmlns:a16="http://schemas.microsoft.com/office/drawing/2014/main" id="{C50ED82F-994F-4BB5-BAB9-496DFB3943C9}"/>
                </a:ext>
              </a:extLst>
            </p:cNvPr>
            <p:cNvSpPr txBox="1"/>
            <p:nvPr/>
          </p:nvSpPr>
          <p:spPr>
            <a:xfrm>
              <a:off x="6431940" y="3673985"/>
              <a:ext cx="70211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a:ln>
                    <a:noFill/>
                  </a:ln>
                  <a:solidFill>
                    <a:srgbClr val="000000"/>
                  </a:solidFill>
                  <a:effectLst/>
                  <a:uFillTx/>
                  <a:latin typeface="Helvetica Neue"/>
                  <a:ea typeface="Helvetica Neue"/>
                  <a:cs typeface="Helvetica Neue"/>
                  <a:sym typeface="Helvetica Neue"/>
                </a:rPr>
                <a:t>year</a:t>
              </a:r>
              <a:endParaRPr kumimoji="0" lang="zh-CN" altLang="en-US" sz="2400" b="0" i="0" u="none" strike="noStrike" cap="none" spc="0" normalizeH="0" baseline="0">
                <a:ln>
                  <a:noFill/>
                </a:ln>
                <a:solidFill>
                  <a:srgbClr val="000000"/>
                </a:solidFill>
                <a:effectLst/>
                <a:uFillTx/>
                <a:latin typeface="Helvetica Neue"/>
                <a:ea typeface="Helvetica Neue"/>
                <a:cs typeface="Helvetica Neue"/>
                <a:sym typeface="Helvetica Neue"/>
              </a:endParaRPr>
            </a:p>
          </p:txBody>
        </p:sp>
      </p:grpSp>
      <p:sp>
        <p:nvSpPr>
          <p:cNvPr id="7" name="文本框 6">
            <a:extLst>
              <a:ext uri="{FF2B5EF4-FFF2-40B4-BE49-F238E27FC236}">
                <a16:creationId xmlns:a16="http://schemas.microsoft.com/office/drawing/2014/main" id="{F55D535D-3295-ED98-D0DE-86648C2D9C48}"/>
              </a:ext>
            </a:extLst>
          </p:cNvPr>
          <p:cNvSpPr txBox="1"/>
          <p:nvPr/>
        </p:nvSpPr>
        <p:spPr>
          <a:xfrm>
            <a:off x="7784465" y="4023688"/>
            <a:ext cx="4385816" cy="4903907"/>
          </a:xfrm>
          <a:prstGeom prst="rect">
            <a:avLst/>
          </a:prstGeom>
          <a:noFill/>
          <a:ln w="12700" cap="flat">
            <a:solidFill>
              <a:srgbClr val="7030A0"/>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en-US" altLang="zh-CN" sz="2000" b="0" u="none" strike="noStrike" cap="none" spc="0" normalizeH="0" baseline="0" dirty="0">
                <a:ln>
                  <a:noFill/>
                </a:ln>
                <a:solidFill>
                  <a:srgbClr val="000000"/>
                </a:solidFill>
                <a:effectLst/>
                <a:uFillTx/>
                <a:latin typeface="Consolas" panose="020B0609020204030204" pitchFamily="49" charset="0"/>
                <a:sym typeface="Helvetica Neue"/>
              </a:rPr>
              <a:t>if (</a:t>
            </a:r>
            <a:r>
              <a:rPr kumimoji="0" lang="en-US" altLang="zh-CN" sz="2000" u="none" strike="noStrike" cap="none" spc="0" normalizeH="0" baseline="0" dirty="0">
                <a:ln>
                  <a:noFill/>
                </a:ln>
                <a:solidFill>
                  <a:srgbClr val="FF0000"/>
                </a:solidFill>
                <a:effectLst/>
                <a:uFillTx/>
                <a:latin typeface="Consolas" panose="020B0609020204030204" pitchFamily="49" charset="0"/>
                <a:sym typeface="Helvetica Neue"/>
              </a:rPr>
              <a:t>year % 4 == 0</a:t>
            </a:r>
            <a:r>
              <a:rPr kumimoji="0" lang="en-US" altLang="zh-CN" sz="2000" b="0" u="none" strike="noStrike" cap="none" spc="0" normalizeH="0" baseline="0" dirty="0">
                <a:ln>
                  <a:noFill/>
                </a:ln>
                <a:solidFill>
                  <a:srgbClr val="000000"/>
                </a:solidFill>
                <a:effectLst/>
                <a:uFillTx/>
                <a:latin typeface="Consolas" panose="020B0609020204030204" pitchFamily="49" charset="0"/>
                <a:sym typeface="Helvetica Neue"/>
              </a:rPr>
              <a:t>) {</a:t>
            </a:r>
          </a:p>
          <a:p>
            <a:pPr marL="0" marR="0" indent="0" algn="l" defTabSz="584200" rtl="0" fontAlgn="auto" latinLnBrk="0" hangingPunct="0">
              <a:lnSpc>
                <a:spcPct val="120000"/>
              </a:lnSpc>
              <a:spcBef>
                <a:spcPts val="0"/>
              </a:spcBef>
              <a:spcAft>
                <a:spcPts val="0"/>
              </a:spcAft>
              <a:buClrTx/>
              <a:buSzTx/>
              <a:buFontTx/>
              <a:buNone/>
              <a:tabLst/>
            </a:pPr>
            <a:r>
              <a:rPr kumimoji="0" lang="en-US" altLang="zh-CN" sz="2000" b="0" u="none" strike="noStrike" cap="none" spc="0" normalizeH="0" baseline="0" dirty="0">
                <a:ln>
                  <a:noFill/>
                </a:ln>
                <a:solidFill>
                  <a:srgbClr val="000000"/>
                </a:solidFill>
                <a:effectLst/>
                <a:uFillTx/>
                <a:latin typeface="Consolas" panose="020B0609020204030204" pitchFamily="49" charset="0"/>
                <a:sym typeface="Helvetica Neue"/>
              </a:rPr>
              <a:t>	if (</a:t>
            </a:r>
            <a:r>
              <a:rPr kumimoji="0" lang="en-US" altLang="zh-CN" sz="2000" u="none" strike="noStrike" cap="none" spc="0" normalizeH="0" baseline="0" dirty="0">
                <a:ln>
                  <a:noFill/>
                </a:ln>
                <a:solidFill>
                  <a:srgbClr val="00B050"/>
                </a:solidFill>
                <a:effectLst/>
                <a:uFillTx/>
                <a:latin typeface="Consolas" panose="020B0609020204030204" pitchFamily="49" charset="0"/>
                <a:sym typeface="Helvetica Neue"/>
              </a:rPr>
              <a:t>year % 100 == 0</a:t>
            </a:r>
            <a:r>
              <a:rPr kumimoji="0" lang="en-US" altLang="zh-CN" sz="2000" b="0" u="none" strike="noStrike" cap="none" spc="0" normalizeH="0" baseline="0" dirty="0">
                <a:ln>
                  <a:noFill/>
                </a:ln>
                <a:solidFill>
                  <a:srgbClr val="000000"/>
                </a:solidFill>
                <a:effectLst/>
                <a:uFillTx/>
                <a:latin typeface="Consolas" panose="020B0609020204030204" pitchFamily="49" charset="0"/>
                <a:sym typeface="Helvetica Neue"/>
              </a:rPr>
              <a:t>) {</a:t>
            </a:r>
          </a:p>
          <a:p>
            <a:pPr marL="0" marR="0" indent="0" algn="l" defTabSz="584200" rtl="0" fontAlgn="auto" latinLnBrk="0" hangingPunct="0">
              <a:lnSpc>
                <a:spcPct val="120000"/>
              </a:lnSpc>
              <a:spcBef>
                <a:spcPts val="0"/>
              </a:spcBef>
              <a:spcAft>
                <a:spcPts val="0"/>
              </a:spcAft>
              <a:buClrTx/>
              <a:buSzTx/>
              <a:buFontTx/>
              <a:buNone/>
              <a:tabLst/>
            </a:pPr>
            <a:r>
              <a:rPr lang="en-US" altLang="zh-CN" sz="2000" b="0" dirty="0">
                <a:latin typeface="Consolas" panose="020B0609020204030204" pitchFamily="49" charset="0"/>
              </a:rPr>
              <a:t>		if (</a:t>
            </a:r>
            <a:r>
              <a:rPr lang="en-US" altLang="zh-CN" sz="2000" dirty="0">
                <a:solidFill>
                  <a:srgbClr val="00B0F0"/>
                </a:solidFill>
                <a:latin typeface="Consolas" panose="020B0609020204030204" pitchFamily="49" charset="0"/>
              </a:rPr>
              <a:t>year % 400 == 0</a:t>
            </a:r>
            <a:r>
              <a:rPr lang="en-US" altLang="zh-CN" sz="2000" b="0" dirty="0">
                <a:latin typeface="Consolas" panose="020B0609020204030204" pitchFamily="49" charset="0"/>
              </a:rPr>
              <a:t>) {</a:t>
            </a:r>
          </a:p>
          <a:p>
            <a:pPr marL="0" marR="0" indent="0" algn="l" defTabSz="584200" rtl="0" fontAlgn="auto" latinLnBrk="0" hangingPunct="0">
              <a:lnSpc>
                <a:spcPct val="120000"/>
              </a:lnSpc>
              <a:spcBef>
                <a:spcPts val="0"/>
              </a:spcBef>
              <a:spcAft>
                <a:spcPts val="0"/>
              </a:spcAft>
              <a:buClrTx/>
              <a:buSzTx/>
              <a:buFontTx/>
              <a:buNone/>
              <a:tabLst/>
            </a:pPr>
            <a:r>
              <a:rPr lang="en-US" altLang="zh-CN" sz="2000" b="0" dirty="0">
                <a:latin typeface="Consolas" panose="020B0609020204030204" pitchFamily="49" charset="0"/>
              </a:rPr>
              <a:t>			cout &lt;&lt; "YES-2";</a:t>
            </a:r>
          </a:p>
          <a:p>
            <a:pPr marL="0" marR="0" indent="0" algn="l" defTabSz="584200" rtl="0" fontAlgn="auto" latinLnBrk="0" hangingPunct="0">
              <a:lnSpc>
                <a:spcPct val="120000"/>
              </a:lnSpc>
              <a:spcBef>
                <a:spcPts val="0"/>
              </a:spcBef>
              <a:spcAft>
                <a:spcPts val="0"/>
              </a:spcAft>
              <a:buClrTx/>
              <a:buSzTx/>
              <a:buFontTx/>
              <a:buNone/>
              <a:tabLst/>
            </a:pPr>
            <a:r>
              <a:rPr kumimoji="0" lang="en-US" altLang="zh-CN" sz="2000" b="0" u="none" strike="noStrike" cap="none" spc="0" normalizeH="0" baseline="0" dirty="0">
                <a:ln>
                  <a:noFill/>
                </a:ln>
                <a:solidFill>
                  <a:srgbClr val="000000"/>
                </a:solidFill>
                <a:effectLst/>
                <a:uFillTx/>
                <a:latin typeface="Consolas" panose="020B0609020204030204" pitchFamily="49" charset="0"/>
                <a:sym typeface="Helvetica Neue"/>
              </a:rPr>
              <a:t>		} else {</a:t>
            </a:r>
          </a:p>
          <a:p>
            <a:pPr marL="0" marR="0" indent="0" algn="l" defTabSz="584200" rtl="0" fontAlgn="auto" latinLnBrk="0" hangingPunct="0">
              <a:lnSpc>
                <a:spcPct val="120000"/>
              </a:lnSpc>
              <a:spcBef>
                <a:spcPts val="0"/>
              </a:spcBef>
              <a:spcAft>
                <a:spcPts val="0"/>
              </a:spcAft>
              <a:buClrTx/>
              <a:buSzTx/>
              <a:buFontTx/>
              <a:buNone/>
              <a:tabLst/>
            </a:pPr>
            <a:r>
              <a:rPr lang="en-US" altLang="zh-CN" sz="2000" b="0" dirty="0">
                <a:latin typeface="Consolas" panose="020B0609020204030204" pitchFamily="49" charset="0"/>
              </a:rPr>
              <a:t>			cout &lt;&lt; "NO-2";</a:t>
            </a:r>
            <a:endParaRPr kumimoji="0" lang="en-US" altLang="zh-CN" sz="2000" b="0" u="none" strike="noStrike" cap="none" spc="0" normalizeH="0" baseline="0" dirty="0">
              <a:ln>
                <a:noFill/>
              </a:ln>
              <a:solidFill>
                <a:srgbClr val="000000"/>
              </a:solidFill>
              <a:effectLst/>
              <a:uFillTx/>
              <a:latin typeface="Consolas" panose="020B0609020204030204" pitchFamily="49" charset="0"/>
              <a:sym typeface="Helvetica Neue"/>
            </a:endParaRPr>
          </a:p>
          <a:p>
            <a:pPr marL="0" marR="0" indent="0" algn="l" defTabSz="584200" rtl="0" fontAlgn="auto" latinLnBrk="0" hangingPunct="0">
              <a:lnSpc>
                <a:spcPct val="120000"/>
              </a:lnSpc>
              <a:spcBef>
                <a:spcPts val="0"/>
              </a:spcBef>
              <a:spcAft>
                <a:spcPts val="0"/>
              </a:spcAft>
              <a:buClrTx/>
              <a:buSzTx/>
              <a:buFontTx/>
              <a:buNone/>
              <a:tabLst/>
            </a:pPr>
            <a:r>
              <a:rPr lang="en-US" altLang="zh-CN" sz="2000" b="0" dirty="0">
                <a:latin typeface="Consolas" panose="020B0609020204030204" pitchFamily="49" charset="0"/>
              </a:rPr>
              <a:t>		}		</a:t>
            </a:r>
            <a:endParaRPr kumimoji="0" lang="en-US" altLang="zh-CN" sz="2000" b="0" u="none" strike="noStrike" cap="none" spc="0" normalizeH="0" baseline="0" dirty="0">
              <a:ln>
                <a:noFill/>
              </a:ln>
              <a:solidFill>
                <a:srgbClr val="000000"/>
              </a:solidFill>
              <a:effectLst/>
              <a:uFillTx/>
              <a:latin typeface="Consolas" panose="020B0609020204030204" pitchFamily="49" charset="0"/>
              <a:sym typeface="Helvetica Neue"/>
            </a:endParaRPr>
          </a:p>
          <a:p>
            <a:pPr marL="0" marR="0" indent="0" algn="l" defTabSz="584200" rtl="0" fontAlgn="auto" latinLnBrk="0" hangingPunct="0">
              <a:lnSpc>
                <a:spcPct val="120000"/>
              </a:lnSpc>
              <a:spcBef>
                <a:spcPts val="0"/>
              </a:spcBef>
              <a:spcAft>
                <a:spcPts val="0"/>
              </a:spcAft>
              <a:buClrTx/>
              <a:buSzTx/>
              <a:buFontTx/>
              <a:buNone/>
              <a:tabLst/>
            </a:pPr>
            <a:r>
              <a:rPr lang="en-US" altLang="zh-CN" sz="2000" b="0" dirty="0">
                <a:latin typeface="Consolas" panose="020B0609020204030204" pitchFamily="49" charset="0"/>
              </a:rPr>
              <a:t>	} else {</a:t>
            </a:r>
          </a:p>
          <a:p>
            <a:pPr marL="0" marR="0" indent="0" algn="l" defTabSz="584200" rtl="0" fontAlgn="auto" latinLnBrk="0" hangingPunct="0">
              <a:lnSpc>
                <a:spcPct val="120000"/>
              </a:lnSpc>
              <a:spcBef>
                <a:spcPts val="0"/>
              </a:spcBef>
              <a:spcAft>
                <a:spcPts val="0"/>
              </a:spcAft>
              <a:buClrTx/>
              <a:buSzTx/>
              <a:buFontTx/>
              <a:buNone/>
              <a:tabLst/>
            </a:pPr>
            <a:r>
              <a:rPr kumimoji="0" lang="en-US" altLang="zh-CN" sz="2000" b="0" u="none" strike="noStrike" cap="none" spc="0" normalizeH="0" baseline="0" dirty="0">
                <a:ln>
                  <a:noFill/>
                </a:ln>
                <a:solidFill>
                  <a:srgbClr val="000000"/>
                </a:solidFill>
                <a:effectLst/>
                <a:uFillTx/>
                <a:latin typeface="Consolas" panose="020B0609020204030204" pitchFamily="49" charset="0"/>
                <a:sym typeface="Helvetica Neue"/>
              </a:rPr>
              <a:t>		cout &lt;&lt; "YES-1";</a:t>
            </a:r>
          </a:p>
          <a:p>
            <a:pPr marL="0" marR="0" indent="0" algn="l" defTabSz="584200" rtl="0" fontAlgn="auto" latinLnBrk="0" hangingPunct="0">
              <a:lnSpc>
                <a:spcPct val="120000"/>
              </a:lnSpc>
              <a:spcBef>
                <a:spcPts val="0"/>
              </a:spcBef>
              <a:spcAft>
                <a:spcPts val="0"/>
              </a:spcAft>
              <a:buClrTx/>
              <a:buSzTx/>
              <a:buFontTx/>
              <a:buNone/>
              <a:tabLst/>
            </a:pPr>
            <a:r>
              <a:rPr lang="en-US" altLang="zh-CN" sz="2000" b="0" dirty="0">
                <a:latin typeface="Consolas" panose="020B0609020204030204" pitchFamily="49" charset="0"/>
              </a:rPr>
              <a:t>	}</a:t>
            </a:r>
            <a:endParaRPr kumimoji="0" lang="en-US" altLang="zh-CN" sz="2000" b="0" u="none" strike="noStrike" cap="none" spc="0" normalizeH="0" baseline="0" dirty="0">
              <a:ln>
                <a:noFill/>
              </a:ln>
              <a:solidFill>
                <a:srgbClr val="000000"/>
              </a:solidFill>
              <a:effectLst/>
              <a:uFillTx/>
              <a:latin typeface="Consolas" panose="020B0609020204030204" pitchFamily="49" charset="0"/>
              <a:sym typeface="Helvetica Neue"/>
            </a:endParaRPr>
          </a:p>
          <a:p>
            <a:pPr marL="0" marR="0" indent="0" algn="l" defTabSz="584200" rtl="0" fontAlgn="auto" latinLnBrk="0" hangingPunct="0">
              <a:lnSpc>
                <a:spcPct val="120000"/>
              </a:lnSpc>
              <a:spcBef>
                <a:spcPts val="0"/>
              </a:spcBef>
              <a:spcAft>
                <a:spcPts val="0"/>
              </a:spcAft>
              <a:buClrTx/>
              <a:buSzTx/>
              <a:buFontTx/>
              <a:buNone/>
              <a:tabLst/>
            </a:pPr>
            <a:r>
              <a:rPr lang="en-US" altLang="zh-CN" sz="2000" b="0" dirty="0">
                <a:latin typeface="Consolas" panose="020B0609020204030204" pitchFamily="49" charset="0"/>
              </a:rPr>
              <a:t>} else {</a:t>
            </a:r>
          </a:p>
          <a:p>
            <a:pPr marL="0" marR="0" indent="0" algn="l" defTabSz="584200" rtl="0" fontAlgn="auto" latinLnBrk="0" hangingPunct="0">
              <a:lnSpc>
                <a:spcPct val="120000"/>
              </a:lnSpc>
              <a:spcBef>
                <a:spcPts val="0"/>
              </a:spcBef>
              <a:spcAft>
                <a:spcPts val="0"/>
              </a:spcAft>
              <a:buClrTx/>
              <a:buSzTx/>
              <a:buFontTx/>
              <a:buNone/>
              <a:tabLst/>
            </a:pPr>
            <a:r>
              <a:rPr lang="en-US" altLang="zh-CN" sz="2000" b="0" dirty="0">
                <a:latin typeface="Consolas" panose="020B0609020204030204" pitchFamily="49" charset="0"/>
              </a:rPr>
              <a:t>	cout &lt;&lt; "NO-1";</a:t>
            </a:r>
          </a:p>
          <a:p>
            <a:pPr marL="0" marR="0" indent="0" algn="l" defTabSz="584200" rtl="0" fontAlgn="auto" latinLnBrk="0" hangingPunct="0">
              <a:lnSpc>
                <a:spcPct val="120000"/>
              </a:lnSpc>
              <a:spcBef>
                <a:spcPts val="0"/>
              </a:spcBef>
              <a:spcAft>
                <a:spcPts val="0"/>
              </a:spcAft>
              <a:buClrTx/>
              <a:buSzTx/>
              <a:buFontTx/>
              <a:buNone/>
              <a:tabLst/>
            </a:pPr>
            <a:r>
              <a:rPr lang="en-US" altLang="zh-CN" sz="2000" b="0" dirty="0">
                <a:latin typeface="Consolas" panose="020B0609020204030204" pitchFamily="49" charset="0"/>
              </a:rPr>
              <a:t>}</a:t>
            </a:r>
          </a:p>
        </p:txBody>
      </p:sp>
    </p:spTree>
    <p:extLst>
      <p:ext uri="{BB962C8B-B14F-4D97-AF65-F5344CB8AC3E}">
        <p14:creationId xmlns:p14="http://schemas.microsoft.com/office/powerpoint/2010/main" val="428185837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5D712-22C2-4251-A6C0-AF6C549EAEDA}"/>
              </a:ext>
            </a:extLst>
          </p:cNvPr>
          <p:cNvSpPr>
            <a:spLocks noGrp="1"/>
          </p:cNvSpPr>
          <p:nvPr>
            <p:ph type="title"/>
          </p:nvPr>
        </p:nvSpPr>
        <p:spPr>
          <a:xfrm>
            <a:off x="547201" y="410841"/>
            <a:ext cx="3305784" cy="927598"/>
          </a:xfrm>
          <a:solidFill>
            <a:srgbClr val="0070C0"/>
          </a:solidFill>
        </p:spPr>
        <p:txBody>
          <a:bodyPr/>
          <a:lstStyle/>
          <a:p>
            <a:r>
              <a:rPr lang="zh-CN" altLang="en-US"/>
              <a:t>判断闰年</a:t>
            </a:r>
          </a:p>
        </p:txBody>
      </p:sp>
      <p:sp>
        <p:nvSpPr>
          <p:cNvPr id="6" name="文本框 5">
            <a:extLst>
              <a:ext uri="{FF2B5EF4-FFF2-40B4-BE49-F238E27FC236}">
                <a16:creationId xmlns:a16="http://schemas.microsoft.com/office/drawing/2014/main" id="{D77C0901-FBCB-4F0F-865C-B0D0BFE208AF}"/>
              </a:ext>
            </a:extLst>
          </p:cNvPr>
          <p:cNvSpPr txBox="1"/>
          <p:nvPr/>
        </p:nvSpPr>
        <p:spPr>
          <a:xfrm>
            <a:off x="3624594" y="2373324"/>
            <a:ext cx="3790337" cy="6863417"/>
          </a:xfrm>
          <a:prstGeom prst="rect">
            <a:avLst/>
          </a:prstGeom>
          <a:noFill/>
          <a:ln w="12700" cap="flat">
            <a:solidFill>
              <a:schemeClr val="accent1"/>
            </a:solidFill>
            <a:prstDash val="dash"/>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2000">
                <a:solidFill>
                  <a:srgbClr val="0000FF"/>
                </a:solidFill>
                <a:effectLst/>
                <a:latin typeface="Consolas" panose="020B0609020204030204" pitchFamily="49" charset="0"/>
              </a:rPr>
              <a:t>int</a:t>
            </a:r>
            <a:r>
              <a:rPr lang="en-US" altLang="zh-CN" sz="2000">
                <a:solidFill>
                  <a:srgbClr val="000000"/>
                </a:solidFill>
                <a:effectLst/>
                <a:latin typeface="Consolas" panose="020B0609020204030204" pitchFamily="49" charset="0"/>
              </a:rPr>
              <a:t> main()</a:t>
            </a:r>
          </a:p>
          <a:p>
            <a:pPr algn="l"/>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int</a:t>
            </a:r>
            <a:r>
              <a:rPr lang="en-US" altLang="zh-CN" sz="2000">
                <a:solidFill>
                  <a:srgbClr val="000000"/>
                </a:solidFill>
                <a:effectLst/>
                <a:latin typeface="Consolas" panose="020B0609020204030204" pitchFamily="49" charset="0"/>
              </a:rPr>
              <a:t> y;</a:t>
            </a:r>
          </a:p>
          <a:p>
            <a:pPr algn="l"/>
            <a:r>
              <a:rPr lang="en-US" altLang="zh-CN" sz="2000">
                <a:solidFill>
                  <a:srgbClr val="000000"/>
                </a:solidFill>
                <a:effectLst/>
                <a:latin typeface="Consolas" panose="020B0609020204030204" pitchFamily="49" charset="0"/>
              </a:rPr>
              <a:t>    cin &gt;&gt; y;</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if</a:t>
            </a:r>
            <a:r>
              <a:rPr lang="en-US" altLang="zh-CN" sz="2000">
                <a:solidFill>
                  <a:srgbClr val="000000"/>
                </a:solidFill>
                <a:effectLst/>
                <a:latin typeface="Consolas" panose="020B0609020204030204" pitchFamily="49" charset="0"/>
              </a:rPr>
              <a:t> (y % </a:t>
            </a:r>
            <a:r>
              <a:rPr lang="en-US" altLang="zh-CN" sz="2000">
                <a:solidFill>
                  <a:srgbClr val="098658"/>
                </a:solidFill>
                <a:effectLst/>
                <a:latin typeface="Consolas" panose="020B0609020204030204" pitchFamily="49" charset="0"/>
              </a:rPr>
              <a:t>4</a:t>
            </a:r>
            <a:r>
              <a:rPr lang="en-US" altLang="zh-CN" sz="2000">
                <a:solidFill>
                  <a:srgbClr val="000000"/>
                </a:solidFill>
                <a:effectLst/>
                <a:latin typeface="Consolas" panose="020B0609020204030204" pitchFamily="49" charset="0"/>
              </a:rPr>
              <a:t> &gt;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p>
          <a:p>
            <a:pPr algn="l"/>
            <a:r>
              <a:rPr lang="en-US" altLang="zh-CN" sz="2000">
                <a:solidFill>
                  <a:srgbClr val="000000"/>
                </a:solidFill>
                <a:effectLst/>
                <a:latin typeface="Consolas" panose="020B0609020204030204" pitchFamily="49" charset="0"/>
              </a:rPr>
              <a:t>        cout &lt;&lt; </a:t>
            </a:r>
            <a:r>
              <a:rPr lang="en-US" altLang="zh-CN" sz="2000">
                <a:solidFill>
                  <a:srgbClr val="A31515"/>
                </a:solidFill>
                <a:effectLst/>
                <a:latin typeface="Consolas" panose="020B0609020204030204" pitchFamily="49" charset="0"/>
              </a:rPr>
              <a:t>"NO"</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return</a:t>
            </a:r>
            <a:r>
              <a:rPr lang="en-US" altLang="zh-CN" sz="2000">
                <a:solidFill>
                  <a:srgbClr val="000000"/>
                </a:solidFill>
                <a:effectLst/>
                <a:latin typeface="Consolas" panose="020B0609020204030204" pitchFamily="49" charset="0"/>
              </a:rPr>
              <a: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if</a:t>
            </a:r>
            <a:r>
              <a:rPr lang="en-US" altLang="zh-CN" sz="2000">
                <a:solidFill>
                  <a:srgbClr val="000000"/>
                </a:solidFill>
                <a:effectLst/>
                <a:latin typeface="Consolas" panose="020B0609020204030204" pitchFamily="49" charset="0"/>
              </a:rPr>
              <a:t> (y % </a:t>
            </a:r>
            <a:r>
              <a:rPr lang="en-US" altLang="zh-CN" sz="2000">
                <a:solidFill>
                  <a:srgbClr val="098658"/>
                </a:solidFill>
                <a:effectLst/>
                <a:latin typeface="Consolas" panose="020B0609020204030204" pitchFamily="49" charset="0"/>
              </a:rPr>
              <a:t>100</a:t>
            </a:r>
            <a:r>
              <a:rPr lang="en-US" altLang="zh-CN" sz="2000">
                <a:solidFill>
                  <a:srgbClr val="000000"/>
                </a:solidFill>
                <a:effectLst/>
                <a:latin typeface="Consolas" panose="020B0609020204030204" pitchFamily="49" charset="0"/>
              </a:rPr>
              <a:t> &gt;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p>
          <a:p>
            <a:pPr algn="l"/>
            <a:r>
              <a:rPr lang="en-US" altLang="zh-CN" sz="2000">
                <a:solidFill>
                  <a:srgbClr val="000000"/>
                </a:solidFill>
                <a:effectLst/>
                <a:latin typeface="Consolas" panose="020B0609020204030204" pitchFamily="49" charset="0"/>
              </a:rPr>
              <a:t>        cout &lt;&lt; </a:t>
            </a:r>
            <a:r>
              <a:rPr lang="en-US" altLang="zh-CN" sz="2000">
                <a:solidFill>
                  <a:srgbClr val="A31515"/>
                </a:solidFill>
                <a:effectLst/>
                <a:latin typeface="Consolas" panose="020B0609020204030204" pitchFamily="49" charset="0"/>
              </a:rPr>
              <a:t>"YES"</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return</a:t>
            </a:r>
            <a:r>
              <a:rPr lang="en-US" altLang="zh-CN" sz="2000">
                <a:solidFill>
                  <a:srgbClr val="000000"/>
                </a:solidFill>
                <a:effectLst/>
                <a:latin typeface="Consolas" panose="020B0609020204030204" pitchFamily="49" charset="0"/>
              </a:rPr>
              <a: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if</a:t>
            </a:r>
            <a:r>
              <a:rPr lang="en-US" altLang="zh-CN" sz="2000">
                <a:solidFill>
                  <a:srgbClr val="000000"/>
                </a:solidFill>
                <a:effectLst/>
                <a:latin typeface="Consolas" panose="020B0609020204030204" pitchFamily="49" charset="0"/>
              </a:rPr>
              <a:t> (y % </a:t>
            </a:r>
            <a:r>
              <a:rPr lang="en-US" altLang="zh-CN" sz="2000">
                <a:solidFill>
                  <a:srgbClr val="098658"/>
                </a:solidFill>
                <a:effectLst/>
                <a:latin typeface="Consolas" panose="020B0609020204030204" pitchFamily="49" charset="0"/>
              </a:rPr>
              <a:t>400</a:t>
            </a:r>
            <a:r>
              <a:rPr lang="en-US" altLang="zh-CN" sz="2000">
                <a:solidFill>
                  <a:srgbClr val="000000"/>
                </a:solidFill>
                <a:effectLst/>
                <a:latin typeface="Consolas" panose="020B0609020204030204" pitchFamily="49" charset="0"/>
              </a:rPr>
              <a:t> &gt;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p>
          <a:p>
            <a:pPr algn="l"/>
            <a:r>
              <a:rPr lang="en-US" altLang="zh-CN" sz="2000">
                <a:solidFill>
                  <a:srgbClr val="000000"/>
                </a:solidFill>
                <a:effectLst/>
                <a:latin typeface="Consolas" panose="020B0609020204030204" pitchFamily="49" charset="0"/>
              </a:rPr>
              <a:t>        cout &lt;&lt; </a:t>
            </a:r>
            <a:r>
              <a:rPr lang="en-US" altLang="zh-CN" sz="2000">
                <a:solidFill>
                  <a:srgbClr val="A31515"/>
                </a:solidFill>
                <a:effectLst/>
                <a:latin typeface="Consolas" panose="020B0609020204030204" pitchFamily="49" charset="0"/>
              </a:rPr>
              <a:t>"NO"</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return</a:t>
            </a:r>
            <a:r>
              <a:rPr lang="en-US" altLang="zh-CN" sz="2000">
                <a:solidFill>
                  <a:srgbClr val="000000"/>
                </a:solidFill>
                <a:effectLst/>
                <a:latin typeface="Consolas" panose="020B0609020204030204" pitchFamily="49" charset="0"/>
              </a:rPr>
              <a: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br>
              <a:rPr lang="en-US" altLang="zh-CN" sz="2000">
                <a:solidFill>
                  <a:srgbClr val="000000"/>
                </a:solidFill>
                <a:effectLst/>
                <a:latin typeface="Consolas" panose="020B0609020204030204" pitchFamily="49" charset="0"/>
              </a:rPr>
            </a:br>
            <a:r>
              <a:rPr lang="en-US" altLang="zh-CN" sz="2000">
                <a:solidFill>
                  <a:srgbClr val="000000"/>
                </a:solidFill>
                <a:effectLst/>
                <a:latin typeface="Consolas" panose="020B0609020204030204" pitchFamily="49" charset="0"/>
              </a:rPr>
              <a:t>    cout &lt;&lt; </a:t>
            </a:r>
            <a:r>
              <a:rPr lang="en-US" altLang="zh-CN" sz="2000">
                <a:solidFill>
                  <a:srgbClr val="A31515"/>
                </a:solidFill>
                <a:effectLst/>
                <a:latin typeface="Consolas" panose="020B0609020204030204" pitchFamily="49" charset="0"/>
              </a:rPr>
              <a:t>"YES"</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return</a:t>
            </a:r>
            <a:r>
              <a:rPr lang="en-US" altLang="zh-CN" sz="2000">
                <a:solidFill>
                  <a:srgbClr val="000000"/>
                </a:solidFill>
                <a:effectLst/>
                <a:latin typeface="Consolas" panose="020B0609020204030204" pitchFamily="49" charset="0"/>
              </a:rPr>
              <a: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r>
              <a:rPr lang="en-US" altLang="zh-CN" sz="2000">
                <a:solidFill>
                  <a:srgbClr val="00B050"/>
                </a:solidFill>
                <a:effectLst/>
                <a:latin typeface="Consolas" panose="020B0609020204030204" pitchFamily="49" charset="0"/>
              </a:rPr>
              <a:t>// OJ02-03.cpp</a:t>
            </a:r>
          </a:p>
        </p:txBody>
      </p:sp>
      <p:sp>
        <p:nvSpPr>
          <p:cNvPr id="3" name="文本框 2">
            <a:extLst>
              <a:ext uri="{FF2B5EF4-FFF2-40B4-BE49-F238E27FC236}">
                <a16:creationId xmlns:a16="http://schemas.microsoft.com/office/drawing/2014/main" id="{B95D7E5E-23D0-4B22-AB33-62BEDDAE2C33}"/>
              </a:ext>
            </a:extLst>
          </p:cNvPr>
          <p:cNvSpPr txBox="1"/>
          <p:nvPr/>
        </p:nvSpPr>
        <p:spPr>
          <a:xfrm>
            <a:off x="7771299" y="4768470"/>
            <a:ext cx="5180905" cy="1456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200000"/>
              </a:lnSpc>
              <a:spcBef>
                <a:spcPts val="0"/>
              </a:spcBef>
              <a:spcAft>
                <a:spcPts val="0"/>
              </a:spcAft>
              <a:buClrTx/>
              <a:buSzTx/>
              <a:buFontTx/>
              <a:buNone/>
              <a:tabLst/>
            </a:pPr>
            <a:r>
              <a:rPr kumimoji="0" lang="zh-CN" altLang="en-US" sz="4400" b="1" i="0" u="none" strike="noStrike" cap="none" spc="0" normalizeH="0" baseline="0" dirty="0">
                <a:ln>
                  <a:noFill/>
                </a:ln>
                <a:solidFill>
                  <a:srgbClr val="FF0000"/>
                </a:solidFill>
                <a:effectLst/>
                <a:uFillTx/>
                <a:latin typeface="Helvetica Neue"/>
                <a:ea typeface="Helvetica Neue"/>
                <a:cs typeface="Helvetica Neue"/>
                <a:sym typeface="Helvetica Neue"/>
              </a:rPr>
              <a:t>是否还有其他写法？</a:t>
            </a:r>
            <a:endParaRPr kumimoji="0" lang="en-US" altLang="zh-CN" sz="4400" b="1" i="0" u="none" strike="noStrike" cap="none" spc="0" normalizeH="0" baseline="0" dirty="0">
              <a:ln>
                <a:noFill/>
              </a:ln>
              <a:solidFill>
                <a:srgbClr val="FF0000"/>
              </a:solidFill>
              <a:effectLst/>
              <a:uFillTx/>
              <a:latin typeface="Helvetica Neue"/>
              <a:ea typeface="Helvetica Neue"/>
              <a:cs typeface="Helvetica Neue"/>
              <a:sym typeface="Helvetica Neue"/>
            </a:endParaRPr>
          </a:p>
        </p:txBody>
      </p:sp>
      <p:sp>
        <p:nvSpPr>
          <p:cNvPr id="5" name="灯片编号占位符 1">
            <a:extLst>
              <a:ext uri="{FF2B5EF4-FFF2-40B4-BE49-F238E27FC236}">
                <a16:creationId xmlns:a16="http://schemas.microsoft.com/office/drawing/2014/main" id="{3117B8DD-043B-49B8-816E-933CFFB4E808}"/>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sp>
        <p:nvSpPr>
          <p:cNvPr id="4" name="文本框 3">
            <a:extLst>
              <a:ext uri="{FF2B5EF4-FFF2-40B4-BE49-F238E27FC236}">
                <a16:creationId xmlns:a16="http://schemas.microsoft.com/office/drawing/2014/main" id="{C5996E68-7A3E-4FA7-8E33-F6DA2053F780}"/>
              </a:ext>
            </a:extLst>
          </p:cNvPr>
          <p:cNvSpPr txBox="1"/>
          <p:nvPr/>
        </p:nvSpPr>
        <p:spPr>
          <a:xfrm>
            <a:off x="444236" y="2243380"/>
            <a:ext cx="3180358"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zh-CN" altLang="en-US" dirty="0"/>
              <a:t>以下</a:t>
            </a:r>
            <a:r>
              <a:rPr kumimoji="0" lang="zh-CN" altLang="en-US" sz="2400" b="1" i="0" u="none" strike="noStrike" cap="none" spc="0" normalizeH="0" baseline="0" dirty="0">
                <a:ln>
                  <a:noFill/>
                </a:ln>
                <a:solidFill>
                  <a:srgbClr val="000000"/>
                </a:solidFill>
                <a:effectLst/>
                <a:uFillTx/>
                <a:latin typeface="Helvetica Neue"/>
                <a:ea typeface="Helvetica Neue"/>
                <a:cs typeface="Helvetica Neue"/>
                <a:sym typeface="Helvetica Neue"/>
              </a:rPr>
              <a:t>代码逻辑正确吗？</a:t>
            </a:r>
          </a:p>
        </p:txBody>
      </p:sp>
      <p:pic>
        <p:nvPicPr>
          <p:cNvPr id="8" name="图片 7">
            <a:extLst>
              <a:ext uri="{FF2B5EF4-FFF2-40B4-BE49-F238E27FC236}">
                <a16:creationId xmlns:a16="http://schemas.microsoft.com/office/drawing/2014/main" id="{D675E377-8670-4A55-A085-4D3DB17686C5}"/>
              </a:ext>
            </a:extLst>
          </p:cNvPr>
          <p:cNvPicPr>
            <a:picLocks noChangeAspect="1"/>
          </p:cNvPicPr>
          <p:nvPr/>
        </p:nvPicPr>
        <p:blipFill>
          <a:blip r:embed="rId2"/>
          <a:stretch>
            <a:fillRect/>
          </a:stretch>
        </p:blipFill>
        <p:spPr>
          <a:xfrm>
            <a:off x="9670537" y="6712226"/>
            <a:ext cx="1705763" cy="2367790"/>
          </a:xfrm>
          <a:prstGeom prst="rect">
            <a:avLst/>
          </a:prstGeom>
        </p:spPr>
      </p:pic>
      <p:grpSp>
        <p:nvGrpSpPr>
          <p:cNvPr id="13" name="组合 12">
            <a:extLst>
              <a:ext uri="{FF2B5EF4-FFF2-40B4-BE49-F238E27FC236}">
                <a16:creationId xmlns:a16="http://schemas.microsoft.com/office/drawing/2014/main" id="{59993D63-3544-7275-4584-6D9759B7DA04}"/>
              </a:ext>
            </a:extLst>
          </p:cNvPr>
          <p:cNvGrpSpPr/>
          <p:nvPr/>
        </p:nvGrpSpPr>
        <p:grpSpPr>
          <a:xfrm>
            <a:off x="9071113" y="2243380"/>
            <a:ext cx="2842829" cy="2525089"/>
            <a:chOff x="9071113" y="2243380"/>
            <a:chExt cx="2842829" cy="2525089"/>
          </a:xfrm>
        </p:grpSpPr>
        <p:sp>
          <p:nvSpPr>
            <p:cNvPr id="7" name="椭圆 6">
              <a:extLst>
                <a:ext uri="{FF2B5EF4-FFF2-40B4-BE49-F238E27FC236}">
                  <a16:creationId xmlns:a16="http://schemas.microsoft.com/office/drawing/2014/main" id="{A0468578-63B5-4F01-E240-FC17E98AD2DA}"/>
                </a:ext>
              </a:extLst>
            </p:cNvPr>
            <p:cNvSpPr/>
            <p:nvPr/>
          </p:nvSpPr>
          <p:spPr>
            <a:xfrm>
              <a:off x="9071113" y="2243380"/>
              <a:ext cx="1559994" cy="1559994"/>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spAutoFit/>
            </a:bodyPr>
            <a:lstStyle/>
            <a:p>
              <a:pPr algn="l"/>
              <a:endParaRPr lang="zh-CN" altLang="en-US">
                <a:solidFill>
                  <a:srgbClr val="0070C0"/>
                </a:solidFill>
                <a:latin typeface="Consolas" panose="020B0609020204030204" pitchFamily="49" charset="0"/>
              </a:endParaRPr>
            </a:p>
          </p:txBody>
        </p:sp>
        <p:sp>
          <p:nvSpPr>
            <p:cNvPr id="9" name="椭圆 8">
              <a:extLst>
                <a:ext uri="{FF2B5EF4-FFF2-40B4-BE49-F238E27FC236}">
                  <a16:creationId xmlns:a16="http://schemas.microsoft.com/office/drawing/2014/main" id="{EF4A92A8-AD54-0713-99A0-5A5D0EC8126C}"/>
                </a:ext>
              </a:extLst>
            </p:cNvPr>
            <p:cNvSpPr/>
            <p:nvPr/>
          </p:nvSpPr>
          <p:spPr>
            <a:xfrm>
              <a:off x="10240722" y="2324312"/>
              <a:ext cx="986042" cy="986042"/>
            </a:xfrm>
            <a:prstGeom prst="ellipse">
              <a:avLst/>
            </a:prstGeom>
            <a:ln w="19050">
              <a:solidFill>
                <a:srgbClr val="0070C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10" name="椭圆 9">
              <a:extLst>
                <a:ext uri="{FF2B5EF4-FFF2-40B4-BE49-F238E27FC236}">
                  <a16:creationId xmlns:a16="http://schemas.microsoft.com/office/drawing/2014/main" id="{D4DBF6FA-45E5-4AE8-B776-FBCA14BC6CBF}"/>
                </a:ext>
              </a:extLst>
            </p:cNvPr>
            <p:cNvSpPr/>
            <p:nvPr/>
          </p:nvSpPr>
          <p:spPr>
            <a:xfrm>
              <a:off x="9495181" y="2773776"/>
              <a:ext cx="1994693" cy="1994693"/>
            </a:xfrm>
            <a:prstGeom prst="ellipse">
              <a:avLst/>
            </a:prstGeom>
            <a:noFill/>
            <a:ln/>
          </p:spPr>
          <p:style>
            <a:lnRef idx="2">
              <a:schemeClr val="accent3"/>
            </a:lnRef>
            <a:fillRef idx="1">
              <a:schemeClr val="lt1"/>
            </a:fillRef>
            <a:effectRef idx="0">
              <a:schemeClr val="accent3"/>
            </a:effectRef>
            <a:fontRef idx="minor">
              <a:schemeClr val="dk1"/>
            </a:fontRef>
          </p:style>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11" name="椭圆 10">
              <a:extLst>
                <a:ext uri="{FF2B5EF4-FFF2-40B4-BE49-F238E27FC236}">
                  <a16:creationId xmlns:a16="http://schemas.microsoft.com/office/drawing/2014/main" id="{851FE60A-9B64-52D8-C261-AB52E0CCDACC}"/>
                </a:ext>
              </a:extLst>
            </p:cNvPr>
            <p:cNvSpPr/>
            <p:nvPr/>
          </p:nvSpPr>
          <p:spPr>
            <a:xfrm>
              <a:off x="9898683" y="2943329"/>
              <a:ext cx="1156492" cy="1156492"/>
            </a:xfrm>
            <a:prstGeom prst="ellipse">
              <a:avLst/>
            </a:prstGeom>
            <a:ln w="19050">
              <a:solidFill>
                <a:srgbClr val="7030A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12" name="椭圆 11">
              <a:extLst>
                <a:ext uri="{FF2B5EF4-FFF2-40B4-BE49-F238E27FC236}">
                  <a16:creationId xmlns:a16="http://schemas.microsoft.com/office/drawing/2014/main" id="{9E6479DF-E7A6-A5F8-A854-014E6B4C6A43}"/>
                </a:ext>
              </a:extLst>
            </p:cNvPr>
            <p:cNvSpPr/>
            <p:nvPr/>
          </p:nvSpPr>
          <p:spPr>
            <a:xfrm>
              <a:off x="10603549" y="3421498"/>
              <a:ext cx="1310393" cy="1310393"/>
            </a:xfrm>
            <a:prstGeom prst="ellipse">
              <a:avLst/>
            </a:prstGeom>
            <a:noFill/>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l"/>
              <a:endParaRPr lang="zh-CN" altLang="en-US">
                <a:solidFill>
                  <a:srgbClr val="0070C0"/>
                </a:solidFill>
                <a:latin typeface="Consolas" panose="020B0609020204030204" pitchFamily="49" charset="0"/>
              </a:endParaRPr>
            </a:p>
          </p:txBody>
        </p:sp>
      </p:grpSp>
    </p:spTree>
    <p:extLst>
      <p:ext uri="{BB962C8B-B14F-4D97-AF65-F5344CB8AC3E}">
        <p14:creationId xmlns:p14="http://schemas.microsoft.com/office/powerpoint/2010/main" val="198310336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幻灯片编号"/>
          <p:cNvSpPr txBox="1">
            <a:spLocks noGrp="1"/>
          </p:cNvSpPr>
          <p:nvPr>
            <p:ph type="sldNum" sz="quarter" idx="2"/>
          </p:nvPr>
        </p:nvSpPr>
        <p:spPr>
          <a:xfrm>
            <a:off x="12478478" y="9215867"/>
            <a:ext cx="281968" cy="4318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fld id="{86CB4B4D-7CA3-9044-876B-883B54F8677D}" type="slidenum">
              <a:rPr/>
              <a:t>11</a:t>
            </a:fld>
            <a:endParaRPr/>
          </a:p>
        </p:txBody>
      </p:sp>
      <p:sp>
        <p:nvSpPr>
          <p:cNvPr id="50" name="考核要求"/>
          <p:cNvSpPr txBox="1">
            <a:spLocks noGrp="1"/>
          </p:cNvSpPr>
          <p:nvPr>
            <p:ph type="title" idx="4294967295"/>
          </p:nvPr>
        </p:nvSpPr>
        <p:spPr>
          <a:xfrm>
            <a:off x="1192106" y="3831448"/>
            <a:ext cx="10620588" cy="2090703"/>
          </a:xfrm>
          <a:prstGeom prst="rect">
            <a:avLst/>
          </a:prstGeom>
          <a:solidFill>
            <a:schemeClr val="accent1">
              <a:hueOff val="114395"/>
              <a:lumOff val="-24975"/>
            </a:schemeClr>
          </a:solidFill>
          <a:effectLst>
            <a:outerShdw blurRad="266700" dir="5400000" rotWithShape="0">
              <a:srgbClr val="000000"/>
            </a:outerShdw>
          </a:effectLst>
        </p:spPr>
        <p:txBody>
          <a:bodyPr lIns="65022" tIns="65022" rIns="65022" bIns="65022"/>
          <a:lstStyle/>
          <a:p>
            <a:pPr>
              <a:defRPr sz="6000">
                <a:solidFill>
                  <a:schemeClr val="accent4">
                    <a:hueOff val="366961"/>
                    <a:satOff val="4172"/>
                    <a:lumOff val="11129"/>
                  </a:schemeClr>
                </a:solidFill>
                <a:effectLst>
                  <a:outerShdw blurRad="12700" dist="63500" dir="18900000" rotWithShape="0">
                    <a:srgbClr val="000000"/>
                  </a:outerShdw>
                </a:effectLst>
              </a:defRPr>
            </a:pPr>
            <a:r>
              <a:t>第3讲 </a:t>
            </a:r>
            <a:r>
              <a:rPr>
                <a:solidFill>
                  <a:srgbClr val="FFFFFF"/>
                </a:solidFill>
              </a:rPr>
              <a:t>逻辑</a:t>
            </a:r>
            <a:r>
              <a:t>思维与</a:t>
            </a:r>
            <a:r>
              <a:rPr lang="zh-CN" altLang="en-US"/>
              <a:t>计算机解题</a:t>
            </a:r>
            <a:endParaRPr/>
          </a:p>
        </p:txBody>
      </p:sp>
      <p:sp>
        <p:nvSpPr>
          <p:cNvPr id="51" name="计算机强大的逻辑分析功能是由人通过程序赋给它的。…"/>
          <p:cNvSpPr txBox="1"/>
          <p:nvPr/>
        </p:nvSpPr>
        <p:spPr>
          <a:xfrm>
            <a:off x="2879100" y="6159745"/>
            <a:ext cx="8933594" cy="144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r" defTabSz="457200">
              <a:lnSpc>
                <a:spcPct val="150000"/>
              </a:lnSpc>
              <a:defRPr sz="1800" b="0">
                <a:solidFill>
                  <a:srgbClr val="5E5E5E"/>
                </a:solidFill>
                <a:latin typeface="冬青黑体简体中文 W3"/>
                <a:ea typeface="冬青黑体简体中文 W3"/>
                <a:cs typeface="冬青黑体简体中文 W3"/>
                <a:sym typeface="冬青黑体简体中文 W3"/>
              </a:defRPr>
            </a:pPr>
            <a:r>
              <a:rPr sz="2000" dirty="0" err="1">
                <a:solidFill>
                  <a:srgbClr val="0070C0"/>
                </a:solidFill>
                <a:latin typeface="华文仿宋" panose="02010600040101010101" pitchFamily="2" charset="-122"/>
                <a:ea typeface="华文仿宋" panose="02010600040101010101" pitchFamily="2" charset="-122"/>
              </a:rPr>
              <a:t>计算机强大的逻辑分析功能是由人通过程序赋给它的</a:t>
            </a:r>
            <a:endParaRPr sz="2000" dirty="0">
              <a:solidFill>
                <a:srgbClr val="0070C0"/>
              </a:solidFill>
              <a:latin typeface="华文仿宋" panose="02010600040101010101" pitchFamily="2" charset="-122"/>
              <a:ea typeface="华文仿宋" panose="02010600040101010101" pitchFamily="2" charset="-122"/>
            </a:endParaRPr>
          </a:p>
          <a:p>
            <a:pPr algn="r" defTabSz="457200">
              <a:lnSpc>
                <a:spcPct val="150000"/>
              </a:lnSpc>
              <a:defRPr sz="1800" b="0">
                <a:solidFill>
                  <a:srgbClr val="5E5E5E"/>
                </a:solidFill>
                <a:latin typeface="冬青黑体简体中文 W3"/>
                <a:ea typeface="冬青黑体简体中文 W3"/>
                <a:cs typeface="冬青黑体简体中文 W3"/>
                <a:sym typeface="冬青黑体简体中文 W3"/>
              </a:defRPr>
            </a:pPr>
            <a:r>
              <a:rPr sz="2000" dirty="0" err="1">
                <a:solidFill>
                  <a:srgbClr val="0070C0"/>
                </a:solidFill>
                <a:latin typeface="华文仿宋" panose="02010600040101010101" pitchFamily="2" charset="-122"/>
                <a:ea typeface="华文仿宋" panose="02010600040101010101" pitchFamily="2" charset="-122"/>
              </a:rPr>
              <a:t>逻辑问题必须转换成计算机能够</a:t>
            </a:r>
            <a:r>
              <a:rPr lang="zh-CN" altLang="en-US" sz="2000" dirty="0">
                <a:solidFill>
                  <a:srgbClr val="0070C0"/>
                </a:solidFill>
                <a:latin typeface="华文仿宋" panose="02010600040101010101" pitchFamily="2" charset="-122"/>
                <a:ea typeface="华文仿宋" panose="02010600040101010101" pitchFamily="2" charset="-122"/>
              </a:rPr>
              <a:t>理解</a:t>
            </a:r>
            <a:r>
              <a:rPr sz="2000" dirty="0">
                <a:solidFill>
                  <a:srgbClr val="0070C0"/>
                </a:solidFill>
                <a:latin typeface="华文仿宋" panose="02010600040101010101" pitchFamily="2" charset="-122"/>
                <a:ea typeface="华文仿宋" panose="02010600040101010101" pitchFamily="2" charset="-122"/>
              </a:rPr>
              <a:t>的</a:t>
            </a:r>
            <a:endParaRPr lang="en-US" sz="2000" dirty="0">
              <a:solidFill>
                <a:srgbClr val="0070C0"/>
              </a:solidFill>
              <a:latin typeface="华文仿宋" panose="02010600040101010101" pitchFamily="2" charset="-122"/>
              <a:ea typeface="华文仿宋" panose="02010600040101010101" pitchFamily="2" charset="-122"/>
            </a:endParaRPr>
          </a:p>
          <a:p>
            <a:pPr algn="r" defTabSz="457200">
              <a:lnSpc>
                <a:spcPct val="150000"/>
              </a:lnSpc>
              <a:defRPr sz="1800" b="0">
                <a:solidFill>
                  <a:srgbClr val="5E5E5E"/>
                </a:solidFill>
                <a:latin typeface="冬青黑体简体中文 W3"/>
                <a:ea typeface="冬青黑体简体中文 W3"/>
                <a:cs typeface="冬青黑体简体中文 W3"/>
                <a:sym typeface="冬青黑体简体中文 W3"/>
              </a:defRPr>
            </a:pPr>
            <a:r>
              <a:rPr sz="2000" dirty="0" err="1">
                <a:solidFill>
                  <a:srgbClr val="0070C0"/>
                </a:solidFill>
                <a:latin typeface="华文仿宋" panose="02010600040101010101" pitchFamily="2" charset="-122"/>
                <a:ea typeface="华文仿宋" panose="02010600040101010101" pitchFamily="2" charset="-122"/>
              </a:rPr>
              <a:t>数学表达式和</a:t>
            </a:r>
            <a:r>
              <a:rPr lang="zh-CN" altLang="en-US" sz="2000" dirty="0">
                <a:solidFill>
                  <a:srgbClr val="0070C0"/>
                </a:solidFill>
                <a:latin typeface="华文仿宋" panose="02010600040101010101" pitchFamily="2" charset="-122"/>
                <a:ea typeface="华文仿宋" panose="02010600040101010101" pitchFamily="2" charset="-122"/>
              </a:rPr>
              <a:t>相应的</a:t>
            </a:r>
            <a:r>
              <a:rPr sz="2000" dirty="0" err="1">
                <a:solidFill>
                  <a:srgbClr val="0070C0"/>
                </a:solidFill>
                <a:latin typeface="华文仿宋" panose="02010600040101010101" pitchFamily="2" charset="-122"/>
                <a:ea typeface="华文仿宋" panose="02010600040101010101" pitchFamily="2" charset="-122"/>
              </a:rPr>
              <a:t>程序指令</a:t>
            </a:r>
            <a:endParaRPr sz="2000" dirty="0">
              <a:solidFill>
                <a:srgbClr val="0070C0"/>
              </a:solidFill>
              <a:latin typeface="华文仿宋" panose="02010600040101010101" pitchFamily="2" charset="-122"/>
              <a:ea typeface="华文仿宋" panose="02010600040101010101" pitchFamily="2" charset="-122"/>
            </a:endParaRPr>
          </a:p>
        </p:txBody>
      </p:sp>
      <p:grpSp>
        <p:nvGrpSpPr>
          <p:cNvPr id="2" name="组合 1">
            <a:extLst>
              <a:ext uri="{FF2B5EF4-FFF2-40B4-BE49-F238E27FC236}">
                <a16:creationId xmlns:a16="http://schemas.microsoft.com/office/drawing/2014/main" id="{172DB7FC-2C62-A8F4-1BB3-258FCDECB529}"/>
              </a:ext>
            </a:extLst>
          </p:cNvPr>
          <p:cNvGrpSpPr/>
          <p:nvPr/>
        </p:nvGrpSpPr>
        <p:grpSpPr>
          <a:xfrm>
            <a:off x="525464" y="7547020"/>
            <a:ext cx="1978472" cy="1757340"/>
            <a:chOff x="9071113" y="2243380"/>
            <a:chExt cx="2842829" cy="2525089"/>
          </a:xfrm>
        </p:grpSpPr>
        <p:sp>
          <p:nvSpPr>
            <p:cNvPr id="3" name="椭圆 2">
              <a:extLst>
                <a:ext uri="{FF2B5EF4-FFF2-40B4-BE49-F238E27FC236}">
                  <a16:creationId xmlns:a16="http://schemas.microsoft.com/office/drawing/2014/main" id="{8912B67E-24D6-FFB7-B88E-E5311D6410AF}"/>
                </a:ext>
              </a:extLst>
            </p:cNvPr>
            <p:cNvSpPr/>
            <p:nvPr/>
          </p:nvSpPr>
          <p:spPr>
            <a:xfrm>
              <a:off x="9071113" y="2243380"/>
              <a:ext cx="1559994" cy="1559994"/>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spAutoFit/>
            </a:bodyPr>
            <a:lstStyle/>
            <a:p>
              <a:pPr algn="l"/>
              <a:endParaRPr lang="zh-CN" altLang="en-US">
                <a:solidFill>
                  <a:srgbClr val="0070C0"/>
                </a:solidFill>
                <a:latin typeface="Consolas" panose="020B0609020204030204" pitchFamily="49" charset="0"/>
              </a:endParaRPr>
            </a:p>
          </p:txBody>
        </p:sp>
        <p:sp>
          <p:nvSpPr>
            <p:cNvPr id="4" name="椭圆 3">
              <a:extLst>
                <a:ext uri="{FF2B5EF4-FFF2-40B4-BE49-F238E27FC236}">
                  <a16:creationId xmlns:a16="http://schemas.microsoft.com/office/drawing/2014/main" id="{BC093B8B-2098-1533-76B7-C3E15BB9EF35}"/>
                </a:ext>
              </a:extLst>
            </p:cNvPr>
            <p:cNvSpPr/>
            <p:nvPr/>
          </p:nvSpPr>
          <p:spPr>
            <a:xfrm>
              <a:off x="10240722" y="2324312"/>
              <a:ext cx="986042" cy="986042"/>
            </a:xfrm>
            <a:prstGeom prst="ellipse">
              <a:avLst/>
            </a:prstGeom>
            <a:ln w="19050">
              <a:solidFill>
                <a:srgbClr val="0070C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5" name="椭圆 4">
              <a:extLst>
                <a:ext uri="{FF2B5EF4-FFF2-40B4-BE49-F238E27FC236}">
                  <a16:creationId xmlns:a16="http://schemas.microsoft.com/office/drawing/2014/main" id="{D83322B1-942C-4F10-4A95-28C31ADF92DD}"/>
                </a:ext>
              </a:extLst>
            </p:cNvPr>
            <p:cNvSpPr/>
            <p:nvPr/>
          </p:nvSpPr>
          <p:spPr>
            <a:xfrm>
              <a:off x="9495181" y="2773776"/>
              <a:ext cx="1994693" cy="1994693"/>
            </a:xfrm>
            <a:prstGeom prst="ellipse">
              <a:avLst/>
            </a:prstGeom>
            <a:noFill/>
            <a:ln/>
          </p:spPr>
          <p:style>
            <a:lnRef idx="2">
              <a:schemeClr val="accent3"/>
            </a:lnRef>
            <a:fillRef idx="1">
              <a:schemeClr val="lt1"/>
            </a:fillRef>
            <a:effectRef idx="0">
              <a:schemeClr val="accent3"/>
            </a:effectRef>
            <a:fontRef idx="minor">
              <a:schemeClr val="dk1"/>
            </a:fontRef>
          </p:style>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6" name="椭圆 5">
              <a:extLst>
                <a:ext uri="{FF2B5EF4-FFF2-40B4-BE49-F238E27FC236}">
                  <a16:creationId xmlns:a16="http://schemas.microsoft.com/office/drawing/2014/main" id="{8EFAD616-7A11-AEBF-4121-B02D5629BFB9}"/>
                </a:ext>
              </a:extLst>
            </p:cNvPr>
            <p:cNvSpPr/>
            <p:nvPr/>
          </p:nvSpPr>
          <p:spPr>
            <a:xfrm>
              <a:off x="9898683" y="2943329"/>
              <a:ext cx="1156492" cy="1156492"/>
            </a:xfrm>
            <a:prstGeom prst="ellipse">
              <a:avLst/>
            </a:prstGeom>
            <a:ln w="19050">
              <a:solidFill>
                <a:srgbClr val="7030A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7" name="椭圆 6">
              <a:extLst>
                <a:ext uri="{FF2B5EF4-FFF2-40B4-BE49-F238E27FC236}">
                  <a16:creationId xmlns:a16="http://schemas.microsoft.com/office/drawing/2014/main" id="{D6063912-22C9-B37F-75BD-2C0CD334D14B}"/>
                </a:ext>
              </a:extLst>
            </p:cNvPr>
            <p:cNvSpPr/>
            <p:nvPr/>
          </p:nvSpPr>
          <p:spPr>
            <a:xfrm>
              <a:off x="10603549" y="3421498"/>
              <a:ext cx="1310393" cy="1310393"/>
            </a:xfrm>
            <a:prstGeom prst="ellipse">
              <a:avLst/>
            </a:prstGeom>
            <a:noFill/>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l"/>
              <a:endParaRPr lang="zh-CN" altLang="en-US">
                <a:solidFill>
                  <a:srgbClr val="0070C0"/>
                </a:solidFill>
                <a:latin typeface="Consolas" panose="020B0609020204030204" pitchFamily="49"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幻灯片编号"/>
          <p:cNvSpPr txBox="1">
            <a:spLocks noGrp="1"/>
          </p:cNvSpPr>
          <p:nvPr>
            <p:ph type="sldNum" sz="quarter" idx="2"/>
          </p:nvPr>
        </p:nvSpPr>
        <p:spPr>
          <a:xfrm>
            <a:off x="12555613" y="9176053"/>
            <a:ext cx="310413"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
        <p:nvSpPr>
          <p:cNvPr id="56" name="【任务3.1】谁做的好事？"/>
          <p:cNvSpPr>
            <a:spLocks noGrp="1"/>
          </p:cNvSpPr>
          <p:nvPr>
            <p:ph type="title"/>
          </p:nvPr>
        </p:nvSpPr>
        <p:spPr>
          <a:xfrm>
            <a:off x="547201" y="354125"/>
            <a:ext cx="6844199" cy="1152045"/>
          </a:xfrm>
          <a:prstGeom prst="rect">
            <a:avLst/>
          </a:prstGeom>
        </p:spPr>
        <p:txBody>
          <a:bodyPr/>
          <a:lstStyle/>
          <a:p>
            <a:r>
              <a:t>【任务3.1】谁做的好事？</a:t>
            </a:r>
          </a:p>
        </p:txBody>
      </p:sp>
      <p:sp>
        <p:nvSpPr>
          <p:cNvPr id="57" name="清华附中有四位同学中的一位做了好事，不留名，表扬信来了之后，校长问这四位是谁做的好事。…"/>
          <p:cNvSpPr txBox="1"/>
          <p:nvPr/>
        </p:nvSpPr>
        <p:spPr>
          <a:xfrm>
            <a:off x="662185" y="2828507"/>
            <a:ext cx="11680430" cy="57929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lnSpc>
                <a:spcPct val="130000"/>
              </a:lnSpc>
              <a:defRPr sz="3600"/>
            </a:pPr>
            <a:r>
              <a:rPr dirty="0" err="1"/>
              <a:t>清华附中有四位同学</a:t>
            </a:r>
            <a:r>
              <a:rPr lang="en-US" dirty="0" err="1"/>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，其</a:t>
            </a:r>
            <a:r>
              <a:rPr dirty="0" err="1"/>
              <a:t>中一位做了好事，不留名，表扬信来了之后，校长问这四位是谁做的好事</a:t>
            </a:r>
            <a:r>
              <a:rPr dirty="0"/>
              <a:t>。</a:t>
            </a:r>
          </a:p>
          <a:p>
            <a:pPr marL="500062" indent="-500062" algn="l">
              <a:lnSpc>
                <a:spcPct val="130000"/>
              </a:lnSpc>
              <a:buSzPct val="145000"/>
              <a:buChar char="•"/>
              <a:defRPr sz="3600">
                <a:solidFill>
                  <a:schemeClr val="accent5">
                    <a:hueOff val="-82419"/>
                    <a:satOff val="-9513"/>
                    <a:lumOff val="-16343"/>
                  </a:schemeClr>
                </a:solidFill>
              </a:defRPr>
            </a:pPr>
            <a:r>
              <a:rPr dirty="0" err="1"/>
              <a:t>A说：不是我</a:t>
            </a:r>
            <a:r>
              <a:rPr dirty="0"/>
              <a:t>。</a:t>
            </a:r>
          </a:p>
          <a:p>
            <a:pPr marL="500062" indent="-500062" algn="l">
              <a:lnSpc>
                <a:spcPct val="130000"/>
              </a:lnSpc>
              <a:buSzPct val="145000"/>
              <a:buChar char="•"/>
              <a:defRPr sz="3600">
                <a:solidFill>
                  <a:schemeClr val="accent5">
                    <a:hueOff val="-82419"/>
                    <a:satOff val="-9513"/>
                    <a:lumOff val="-16343"/>
                  </a:schemeClr>
                </a:solidFill>
              </a:defRPr>
            </a:pPr>
            <a:r>
              <a:rPr dirty="0" err="1"/>
              <a:t>B说：是C</a:t>
            </a:r>
            <a:r>
              <a:rPr dirty="0"/>
              <a:t>。</a:t>
            </a:r>
          </a:p>
          <a:p>
            <a:pPr marL="500062" indent="-500062" algn="l">
              <a:lnSpc>
                <a:spcPct val="130000"/>
              </a:lnSpc>
              <a:buSzPct val="145000"/>
              <a:buChar char="•"/>
              <a:defRPr sz="3600">
                <a:solidFill>
                  <a:schemeClr val="accent5">
                    <a:hueOff val="-82419"/>
                    <a:satOff val="-9513"/>
                    <a:lumOff val="-16343"/>
                  </a:schemeClr>
                </a:solidFill>
              </a:defRPr>
            </a:pPr>
            <a:r>
              <a:rPr dirty="0" err="1"/>
              <a:t>C说：是D</a:t>
            </a:r>
            <a:r>
              <a:rPr dirty="0"/>
              <a:t>。</a:t>
            </a:r>
          </a:p>
          <a:p>
            <a:pPr marL="500062" indent="-500062" algn="l">
              <a:lnSpc>
                <a:spcPct val="130000"/>
              </a:lnSpc>
              <a:buSzPct val="145000"/>
              <a:buChar char="•"/>
              <a:defRPr sz="3600">
                <a:solidFill>
                  <a:schemeClr val="accent5">
                    <a:hueOff val="-82419"/>
                    <a:satOff val="-9513"/>
                    <a:lumOff val="-16343"/>
                  </a:schemeClr>
                </a:solidFill>
              </a:defRPr>
            </a:pPr>
            <a:r>
              <a:rPr dirty="0" err="1"/>
              <a:t>D说：他胡说</a:t>
            </a:r>
            <a:r>
              <a:rPr dirty="0"/>
              <a:t>。</a:t>
            </a:r>
          </a:p>
          <a:p>
            <a:pPr algn="l">
              <a:lnSpc>
                <a:spcPct val="130000"/>
              </a:lnSpc>
              <a:defRPr sz="3600"/>
            </a:pPr>
            <a:r>
              <a:rPr dirty="0" err="1"/>
              <a:t>已知：三个人说的是真话，一个人说的是假话。现在请你根据这些信息，编写程序找出做了好事的人</a:t>
            </a:r>
            <a:r>
              <a:rPr dirty="0"/>
              <a:t>。</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sp>
        <p:nvSpPr>
          <p:cNvPr id="96" name="用枚举法求解任务3.1"/>
          <p:cNvSpPr>
            <a:spLocks noGrp="1"/>
          </p:cNvSpPr>
          <p:nvPr>
            <p:ph type="title"/>
          </p:nvPr>
        </p:nvSpPr>
        <p:spPr>
          <a:xfrm>
            <a:off x="547201" y="354125"/>
            <a:ext cx="6569216" cy="1152045"/>
          </a:xfrm>
          <a:prstGeom prst="rect">
            <a:avLst/>
          </a:prstGeom>
        </p:spPr>
        <p:txBody>
          <a:bodyPr/>
          <a:lstStyle/>
          <a:p>
            <a:r>
              <a:rPr lang="zh-CN" altLang="en-US"/>
              <a:t>分析事件真相的可能性</a:t>
            </a:r>
            <a:endParaRPr/>
          </a:p>
        </p:txBody>
      </p:sp>
      <p:sp>
        <p:nvSpPr>
          <p:cNvPr id="97" name="根据任务3.1的题意，A、B、C、D四个人中只有一位是做好事者。令做好事者为1，未做好事者为0，可以有如下 4 种状态（情况）："/>
          <p:cNvSpPr txBox="1"/>
          <p:nvPr/>
        </p:nvSpPr>
        <p:spPr>
          <a:xfrm>
            <a:off x="631616" y="2073204"/>
            <a:ext cx="12135960" cy="2230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lnSpc>
                <a:spcPct val="130000"/>
              </a:lnSpc>
              <a:defRPr sz="3200" b="0"/>
            </a:lvl1pPr>
          </a:lstStyle>
          <a:p>
            <a:pPr>
              <a:lnSpc>
                <a:spcPct val="150000"/>
              </a:lnSpc>
            </a:pPr>
            <a:r>
              <a:t>根据任务3.1的题意，A、B、C、D四个人中只有一位是做好事者。</a:t>
            </a:r>
            <a:r>
              <a:rPr lang="zh-CN" altLang="en-US"/>
              <a:t>若是</a:t>
            </a:r>
            <a:r>
              <a:rPr err="1"/>
              <a:t>做好事</a:t>
            </a:r>
            <a:r>
              <a:rPr lang="zh-CN" altLang="en-US"/>
              <a:t>的，则记为</a:t>
            </a:r>
            <a:r>
              <a:rPr lang="en-US" altLang="zh-CN"/>
              <a:t>T</a:t>
            </a:r>
            <a:r>
              <a:rPr lang="zh-CN" altLang="en-US"/>
              <a:t>（</a:t>
            </a:r>
            <a:r>
              <a:rPr lang="en-US" altLang="zh-CN"/>
              <a:t>True</a:t>
            </a:r>
            <a:r>
              <a:rPr lang="zh-CN" altLang="en-US"/>
              <a:t>），若不是</a:t>
            </a:r>
            <a:r>
              <a:rPr err="1"/>
              <a:t>做好事</a:t>
            </a:r>
            <a:r>
              <a:rPr lang="zh-CN" altLang="en-US"/>
              <a:t>的，则记为</a:t>
            </a:r>
            <a:r>
              <a:rPr lang="en-US" altLang="zh-CN"/>
              <a:t>F</a:t>
            </a:r>
            <a:r>
              <a:rPr lang="zh-CN" altLang="en-US"/>
              <a:t>（</a:t>
            </a:r>
            <a:r>
              <a:rPr lang="en-US" altLang="zh-CN"/>
              <a:t>False</a:t>
            </a:r>
            <a:r>
              <a:rPr lang="zh-CN" altLang="en-US"/>
              <a:t>）</a:t>
            </a:r>
            <a:r>
              <a:t>，</a:t>
            </a:r>
            <a:r>
              <a:rPr lang="zh-CN" altLang="en-US"/>
              <a:t>则存在</a:t>
            </a:r>
            <a:r>
              <a:rPr err="1"/>
              <a:t>如下</a:t>
            </a:r>
            <a:r>
              <a:t> 4 种</a:t>
            </a:r>
            <a:r>
              <a:rPr lang="zh-CN" altLang="en-US"/>
              <a:t>可能性</a:t>
            </a:r>
            <a:r>
              <a:t>（</a:t>
            </a:r>
            <a:r>
              <a:rPr err="1"/>
              <a:t>情况</a:t>
            </a:r>
            <a:r>
              <a:t>）：</a:t>
            </a:r>
          </a:p>
        </p:txBody>
      </p:sp>
      <p:graphicFrame>
        <p:nvGraphicFramePr>
          <p:cNvPr id="98" name="Table 125"/>
          <p:cNvGraphicFramePr/>
          <p:nvPr>
            <p:extLst>
              <p:ext uri="{D42A27DB-BD31-4B8C-83A1-F6EECF244321}">
                <p14:modId xmlns:p14="http://schemas.microsoft.com/office/powerpoint/2010/main" val="364595159"/>
              </p:ext>
            </p:extLst>
          </p:nvPr>
        </p:nvGraphicFramePr>
        <p:xfrm>
          <a:off x="2181755" y="4598217"/>
          <a:ext cx="8641290" cy="3730363"/>
        </p:xfrm>
        <a:graphic>
          <a:graphicData uri="http://schemas.openxmlformats.org/drawingml/2006/table">
            <a:tbl>
              <a:tblPr>
                <a:tableStyleId>{33BA23B1-9221-436E-865A-0063620EA4FD}</a:tableStyleId>
              </a:tblPr>
              <a:tblGrid>
                <a:gridCol w="1728258">
                  <a:extLst>
                    <a:ext uri="{9D8B030D-6E8A-4147-A177-3AD203B41FA5}">
                      <a16:colId xmlns:a16="http://schemas.microsoft.com/office/drawing/2014/main" val="20000"/>
                    </a:ext>
                  </a:extLst>
                </a:gridCol>
                <a:gridCol w="1728258">
                  <a:extLst>
                    <a:ext uri="{9D8B030D-6E8A-4147-A177-3AD203B41FA5}">
                      <a16:colId xmlns:a16="http://schemas.microsoft.com/office/drawing/2014/main" val="20001"/>
                    </a:ext>
                  </a:extLst>
                </a:gridCol>
                <a:gridCol w="1728258">
                  <a:extLst>
                    <a:ext uri="{9D8B030D-6E8A-4147-A177-3AD203B41FA5}">
                      <a16:colId xmlns:a16="http://schemas.microsoft.com/office/drawing/2014/main" val="20002"/>
                    </a:ext>
                  </a:extLst>
                </a:gridCol>
                <a:gridCol w="1728258">
                  <a:extLst>
                    <a:ext uri="{9D8B030D-6E8A-4147-A177-3AD203B41FA5}">
                      <a16:colId xmlns:a16="http://schemas.microsoft.com/office/drawing/2014/main" val="20003"/>
                    </a:ext>
                  </a:extLst>
                </a:gridCol>
                <a:gridCol w="1728258">
                  <a:extLst>
                    <a:ext uri="{9D8B030D-6E8A-4147-A177-3AD203B41FA5}">
                      <a16:colId xmlns:a16="http://schemas.microsoft.com/office/drawing/2014/main" val="20004"/>
                    </a:ext>
                  </a:extLst>
                </a:gridCol>
              </a:tblGrid>
              <a:tr h="851620">
                <a:tc>
                  <a:txBody>
                    <a:bodyPr/>
                    <a:lstStyle/>
                    <a:p>
                      <a:pPr>
                        <a:lnSpc>
                          <a:spcPct val="100000"/>
                        </a:lnSpc>
                        <a:spcBef>
                          <a:spcPts val="4200"/>
                        </a:spcBef>
                        <a:defRPr sz="1800"/>
                      </a:pPr>
                      <a:r>
                        <a:rPr lang="zh-CN" altLang="en-US" sz="3200">
                          <a:sym typeface="Helvetica Neue"/>
                        </a:rPr>
                        <a:t>可能性</a:t>
                      </a:r>
                      <a:endParaRPr sz="3200">
                        <a:sym typeface="Helvetica Neue"/>
                      </a:endParaRPr>
                    </a:p>
                  </a:txBody>
                  <a:tcPr marL="46800" marR="46800" marT="46800" marB="46800" anchor="ctr" horzOverflow="overflow">
                    <a:lnL w="38100">
                      <a:solidFill>
                        <a:srgbClr val="FFFFFF"/>
                      </a:solidFill>
                    </a:lnL>
                    <a:lnR w="12700">
                      <a:solidFill>
                        <a:srgbClr val="FFFFFF"/>
                      </a:solidFill>
                    </a:lnR>
                    <a:lnT w="38100">
                      <a:solidFill>
                        <a:srgbClr val="FFFFFF"/>
                      </a:solidFill>
                    </a:lnT>
                    <a:lnB w="12700">
                      <a:solidFill>
                        <a:srgbClr val="FFFFFF"/>
                      </a:solidFill>
                    </a:lnB>
                    <a:solidFill>
                      <a:schemeClr val="accent1">
                        <a:lumOff val="16847"/>
                      </a:schemeClr>
                    </a:solidFill>
                  </a:tcPr>
                </a:tc>
                <a:tc>
                  <a:txBody>
                    <a:bodyPr/>
                    <a:lstStyle/>
                    <a:p>
                      <a:pPr>
                        <a:lnSpc>
                          <a:spcPct val="100000"/>
                        </a:lnSpc>
                        <a:spcBef>
                          <a:spcPts val="4200"/>
                        </a:spcBef>
                        <a:defRPr sz="1800"/>
                      </a:pPr>
                      <a:r>
                        <a:rPr sz="3200">
                          <a:sym typeface="Helvetica Neue"/>
                        </a:rPr>
                        <a:t>A</a:t>
                      </a:r>
                    </a:p>
                  </a:txBody>
                  <a:tcPr marL="46800" marR="46800" marT="46800" marB="46800" anchor="ctr"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1">
                        <a:lumOff val="16847"/>
                      </a:schemeClr>
                    </a:solidFill>
                  </a:tcPr>
                </a:tc>
                <a:tc>
                  <a:txBody>
                    <a:bodyPr/>
                    <a:lstStyle/>
                    <a:p>
                      <a:pPr>
                        <a:lnSpc>
                          <a:spcPct val="100000"/>
                        </a:lnSpc>
                        <a:spcBef>
                          <a:spcPts val="4200"/>
                        </a:spcBef>
                        <a:defRPr sz="1800"/>
                      </a:pPr>
                      <a:r>
                        <a:rPr sz="3200">
                          <a:sym typeface="Helvetica Neue"/>
                        </a:rPr>
                        <a:t>B</a:t>
                      </a:r>
                    </a:p>
                  </a:txBody>
                  <a:tcPr marL="46800" marR="46800" marT="46800" marB="46800" anchor="ctr"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1">
                        <a:lumOff val="16847"/>
                      </a:schemeClr>
                    </a:solidFill>
                  </a:tcPr>
                </a:tc>
                <a:tc>
                  <a:txBody>
                    <a:bodyPr/>
                    <a:lstStyle/>
                    <a:p>
                      <a:pPr>
                        <a:lnSpc>
                          <a:spcPct val="100000"/>
                        </a:lnSpc>
                        <a:spcBef>
                          <a:spcPts val="4200"/>
                        </a:spcBef>
                        <a:defRPr sz="1800"/>
                      </a:pPr>
                      <a:r>
                        <a:rPr sz="3200">
                          <a:sym typeface="Helvetica Neue"/>
                        </a:rPr>
                        <a:t>C</a:t>
                      </a:r>
                    </a:p>
                  </a:txBody>
                  <a:tcPr marL="46800" marR="46800" marT="46800" marB="46800" anchor="ctr"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1">
                        <a:lumOff val="16847"/>
                      </a:schemeClr>
                    </a:solidFill>
                  </a:tcPr>
                </a:tc>
                <a:tc>
                  <a:txBody>
                    <a:bodyPr/>
                    <a:lstStyle/>
                    <a:p>
                      <a:pPr>
                        <a:lnSpc>
                          <a:spcPct val="100000"/>
                        </a:lnSpc>
                        <a:spcBef>
                          <a:spcPts val="4200"/>
                        </a:spcBef>
                        <a:defRPr sz="1800"/>
                      </a:pPr>
                      <a:r>
                        <a:rPr sz="3200">
                          <a:sym typeface="Helvetica Neue"/>
                        </a:rPr>
                        <a:t>D</a:t>
                      </a:r>
                    </a:p>
                  </a:txBody>
                  <a:tcPr marL="46800" marR="46800" marT="46800" marB="46800" anchor="ctr" horzOverflow="overflow">
                    <a:lnL w="12700">
                      <a:solidFill>
                        <a:srgbClr val="FFFFFF"/>
                      </a:solidFill>
                    </a:lnL>
                    <a:lnR w="38100">
                      <a:solidFill>
                        <a:srgbClr val="FFFFFF"/>
                      </a:solidFill>
                    </a:lnR>
                    <a:lnT w="38100">
                      <a:solidFill>
                        <a:srgbClr val="FFFFFF"/>
                      </a:solidFill>
                    </a:lnT>
                    <a:lnB w="12700">
                      <a:solidFill>
                        <a:srgbClr val="FFFFFF"/>
                      </a:solidFill>
                    </a:lnB>
                    <a:solidFill>
                      <a:schemeClr val="accent1">
                        <a:lumOff val="16847"/>
                      </a:schemeClr>
                    </a:solidFill>
                  </a:tcPr>
                </a:tc>
                <a:extLst>
                  <a:ext uri="{0D108BD9-81ED-4DB2-BD59-A6C34878D82A}">
                    <a16:rowId xmlns:a16="http://schemas.microsoft.com/office/drawing/2014/main" val="10000"/>
                  </a:ext>
                </a:extLst>
              </a:tr>
              <a:tr h="716929">
                <a:tc>
                  <a:txBody>
                    <a:bodyPr/>
                    <a:lstStyle/>
                    <a:p>
                      <a:pPr>
                        <a:lnSpc>
                          <a:spcPct val="100000"/>
                        </a:lnSpc>
                        <a:spcBef>
                          <a:spcPts val="4200"/>
                        </a:spcBef>
                        <a:defRPr sz="1800"/>
                      </a:pPr>
                      <a:r>
                        <a:rPr lang="zh-CN" altLang="en-US" sz="3200" dirty="0">
                          <a:sym typeface="Helvetica Neue"/>
                        </a:rPr>
                        <a:t>第</a:t>
                      </a:r>
                      <a:r>
                        <a:rPr sz="3200" dirty="0">
                          <a:sym typeface="Helvetica Neue"/>
                        </a:rPr>
                        <a:t>1</a:t>
                      </a:r>
                      <a:r>
                        <a:rPr lang="zh-CN" altLang="en-US" sz="3200" dirty="0">
                          <a:sym typeface="Helvetica Neue"/>
                        </a:rPr>
                        <a:t>种</a:t>
                      </a:r>
                      <a:endParaRPr sz="3200" dirty="0">
                        <a:sym typeface="Helvetica Neue"/>
                      </a:endParaRPr>
                    </a:p>
                  </a:txBody>
                  <a:tcPr marL="46806" marR="46806" marT="46806" marB="46806" anchor="ctr" horzOverflow="overflow">
                    <a:lnL w="38100">
                      <a:solidFill>
                        <a:srgbClr val="FFFFFF"/>
                      </a:solidFill>
                    </a:lnL>
                    <a:lnR w="12700">
                      <a:solidFill>
                        <a:srgbClr val="FFFFFF"/>
                      </a:solidFill>
                    </a:lnR>
                    <a:lnT w="12700">
                      <a:solidFill>
                        <a:srgbClr val="FFFFFF"/>
                      </a:solidFill>
                    </a:lnT>
                    <a:lnB w="12700">
                      <a:solidFill>
                        <a:srgbClr val="FFFFFF"/>
                      </a:solidFill>
                    </a:lnB>
                    <a:solidFill>
                      <a:srgbClr val="D6D5D5"/>
                    </a:solidFill>
                  </a:tcPr>
                </a:tc>
                <a:tc>
                  <a:txBody>
                    <a:bodyPr/>
                    <a:lstStyle/>
                    <a:p>
                      <a:pPr>
                        <a:lnSpc>
                          <a:spcPct val="100000"/>
                        </a:lnSpc>
                        <a:spcBef>
                          <a:spcPts val="4200"/>
                        </a:spcBef>
                        <a:defRPr sz="1800"/>
                      </a:pPr>
                      <a:r>
                        <a:rPr lang="en-US" altLang="zh-CN" sz="3200">
                          <a:sym typeface="Helvetica Neue"/>
                        </a:rPr>
                        <a:t>T</a:t>
                      </a:r>
                      <a:endParaRPr sz="3200">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12700">
                      <a:solidFill>
                        <a:srgbClr val="FFFFFF"/>
                      </a:solidFill>
                    </a:lnB>
                    <a:solidFill>
                      <a:srgbClr val="FFFF00"/>
                    </a:solidFill>
                  </a:tcPr>
                </a:tc>
                <a:tc>
                  <a:txBody>
                    <a:bodyPr/>
                    <a:lstStyle/>
                    <a:p>
                      <a:pPr>
                        <a:lnSpc>
                          <a:spcPct val="100000"/>
                        </a:lnSpc>
                        <a:spcBef>
                          <a:spcPts val="4200"/>
                        </a:spcBef>
                        <a:defRPr sz="1800"/>
                      </a:pPr>
                      <a:r>
                        <a:rPr lang="en-US" sz="3200">
                          <a:sym typeface="Helvetica Neue"/>
                        </a:rPr>
                        <a:t>F</a:t>
                      </a:r>
                      <a:endParaRPr sz="3200">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12700">
                      <a:solidFill>
                        <a:srgbClr val="FFFFFF"/>
                      </a:solidFill>
                    </a:lnB>
                    <a:solidFill>
                      <a:srgbClr val="D6D5D5"/>
                    </a:solidFill>
                  </a:tcPr>
                </a:tc>
                <a:tc>
                  <a:txBody>
                    <a:bodyPr/>
                    <a:lstStyle/>
                    <a:p>
                      <a:pPr>
                        <a:lnSpc>
                          <a:spcPct val="100000"/>
                        </a:lnSpc>
                        <a:spcBef>
                          <a:spcPts val="4200"/>
                        </a:spcBef>
                        <a:defRPr sz="1800"/>
                      </a:pPr>
                      <a:r>
                        <a:rPr lang="en-US" sz="3200">
                          <a:sym typeface="Helvetica Neue"/>
                        </a:rPr>
                        <a:t>F</a:t>
                      </a:r>
                      <a:endParaRPr sz="3200">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12700">
                      <a:solidFill>
                        <a:srgbClr val="FFFFFF"/>
                      </a:solidFill>
                    </a:lnB>
                    <a:solidFill>
                      <a:srgbClr val="D6D5D5"/>
                    </a:solidFill>
                  </a:tcPr>
                </a:tc>
                <a:tc>
                  <a:txBody>
                    <a:bodyPr/>
                    <a:lstStyle/>
                    <a:p>
                      <a:pPr>
                        <a:lnSpc>
                          <a:spcPct val="100000"/>
                        </a:lnSpc>
                        <a:spcBef>
                          <a:spcPts val="4200"/>
                        </a:spcBef>
                        <a:defRPr sz="1800"/>
                      </a:pPr>
                      <a:r>
                        <a:rPr lang="en-US" sz="3200">
                          <a:sym typeface="Helvetica Neue"/>
                        </a:rPr>
                        <a:t>F</a:t>
                      </a:r>
                      <a:endParaRPr sz="3200">
                        <a:sym typeface="Helvetica Neue"/>
                      </a:endParaRPr>
                    </a:p>
                  </a:txBody>
                  <a:tcPr marL="46806" marR="46806" marT="46806" marB="46806" anchor="ctr" horzOverflow="overflow">
                    <a:lnL w="12700">
                      <a:solidFill>
                        <a:srgbClr val="FFFFFF"/>
                      </a:solidFill>
                    </a:lnL>
                    <a:lnR w="38100">
                      <a:solidFill>
                        <a:srgbClr val="FFFFFF"/>
                      </a:solidFill>
                    </a:lnR>
                    <a:lnT w="12700">
                      <a:solidFill>
                        <a:srgbClr val="FFFFFF"/>
                      </a:solidFill>
                    </a:lnT>
                    <a:lnB w="12700">
                      <a:solidFill>
                        <a:srgbClr val="FFFFFF"/>
                      </a:solidFill>
                    </a:lnB>
                    <a:solidFill>
                      <a:srgbClr val="D6D5D5"/>
                    </a:solidFill>
                  </a:tcPr>
                </a:tc>
                <a:extLst>
                  <a:ext uri="{0D108BD9-81ED-4DB2-BD59-A6C34878D82A}">
                    <a16:rowId xmlns:a16="http://schemas.microsoft.com/office/drawing/2014/main" val="10001"/>
                  </a:ext>
                </a:extLst>
              </a:tr>
              <a:tr h="716929">
                <a:tc>
                  <a:txBody>
                    <a:bodyPr/>
                    <a:lstStyle/>
                    <a:p>
                      <a:pPr>
                        <a:lnSpc>
                          <a:spcPct val="100000"/>
                        </a:lnSpc>
                        <a:spcBef>
                          <a:spcPts val="4200"/>
                        </a:spcBef>
                        <a:defRPr sz="1800"/>
                      </a:pPr>
                      <a:r>
                        <a:rPr lang="zh-CN" altLang="en-US" sz="3200" dirty="0">
                          <a:sym typeface="Helvetica Neue"/>
                        </a:rPr>
                        <a:t>第</a:t>
                      </a:r>
                      <a:r>
                        <a:rPr sz="3200" dirty="0">
                          <a:sym typeface="Helvetica Neue"/>
                        </a:rPr>
                        <a:t>2</a:t>
                      </a:r>
                      <a:r>
                        <a:rPr lang="zh-CN" altLang="en-US" sz="3200" dirty="0">
                          <a:sym typeface="Helvetica Neue"/>
                        </a:rPr>
                        <a:t>种</a:t>
                      </a:r>
                      <a:endParaRPr sz="3200" dirty="0">
                        <a:sym typeface="Helvetica Neue"/>
                      </a:endParaRPr>
                    </a:p>
                  </a:txBody>
                  <a:tcPr marL="46806" marR="46806" marT="46806" marB="46806" anchor="ctr" horzOverflow="overflow">
                    <a:lnL w="38100">
                      <a:solidFill>
                        <a:srgbClr val="FFFFFF"/>
                      </a:solidFill>
                    </a:lnL>
                    <a:lnR w="12700">
                      <a:solidFill>
                        <a:srgbClr val="FFFFFF"/>
                      </a:solidFill>
                    </a:lnR>
                    <a:lnT w="12700">
                      <a:solidFill>
                        <a:srgbClr val="FFFFFF"/>
                      </a:solidFill>
                    </a:lnT>
                    <a:lnB w="12700">
                      <a:solidFill>
                        <a:srgbClr val="FFFFFF"/>
                      </a:solidFill>
                    </a:lnB>
                    <a:solidFill>
                      <a:srgbClr val="D6D5D5"/>
                    </a:solidFill>
                  </a:tcPr>
                </a:tc>
                <a:tc>
                  <a:txBody>
                    <a:bodyPr/>
                    <a:lstStyle/>
                    <a:p>
                      <a:pPr>
                        <a:lnSpc>
                          <a:spcPct val="100000"/>
                        </a:lnSpc>
                        <a:spcBef>
                          <a:spcPts val="4200"/>
                        </a:spcBef>
                        <a:defRPr sz="1800"/>
                      </a:pPr>
                      <a:r>
                        <a:rPr lang="en-US" sz="3200">
                          <a:sym typeface="Helvetica Neue"/>
                        </a:rPr>
                        <a:t>F</a:t>
                      </a:r>
                      <a:endParaRPr sz="3200">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12700">
                      <a:solidFill>
                        <a:srgbClr val="FFFFFF"/>
                      </a:solidFill>
                    </a:lnB>
                    <a:solidFill>
                      <a:srgbClr val="D6D5D5"/>
                    </a:solidFill>
                  </a:tcPr>
                </a:tc>
                <a:tc>
                  <a:txBody>
                    <a:bodyPr/>
                    <a:lstStyle/>
                    <a:p>
                      <a:pPr>
                        <a:lnSpc>
                          <a:spcPct val="100000"/>
                        </a:lnSpc>
                        <a:spcBef>
                          <a:spcPts val="4200"/>
                        </a:spcBef>
                        <a:defRPr sz="1800"/>
                      </a:pPr>
                      <a:r>
                        <a:rPr lang="en-US" sz="3200">
                          <a:sym typeface="Helvetica Neue"/>
                        </a:rPr>
                        <a:t>T</a:t>
                      </a:r>
                      <a:endParaRPr sz="3200">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12700">
                      <a:solidFill>
                        <a:srgbClr val="FFFFFF"/>
                      </a:solidFill>
                    </a:lnB>
                    <a:solidFill>
                      <a:srgbClr val="FFFF00"/>
                    </a:solidFill>
                  </a:tcPr>
                </a:tc>
                <a:tc>
                  <a:txBody>
                    <a:bodyPr/>
                    <a:lstStyle/>
                    <a:p>
                      <a:pPr>
                        <a:lnSpc>
                          <a:spcPct val="100000"/>
                        </a:lnSpc>
                        <a:spcBef>
                          <a:spcPts val="4200"/>
                        </a:spcBef>
                        <a:defRPr sz="1800"/>
                      </a:pPr>
                      <a:r>
                        <a:rPr lang="en-US" sz="3200">
                          <a:sym typeface="Helvetica Neue"/>
                        </a:rPr>
                        <a:t>F</a:t>
                      </a:r>
                      <a:endParaRPr sz="3200">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12700">
                      <a:solidFill>
                        <a:srgbClr val="FFFFFF"/>
                      </a:solidFill>
                    </a:lnB>
                    <a:solidFill>
                      <a:srgbClr val="D6D5D5"/>
                    </a:solidFill>
                  </a:tcPr>
                </a:tc>
                <a:tc>
                  <a:txBody>
                    <a:bodyPr/>
                    <a:lstStyle/>
                    <a:p>
                      <a:pPr>
                        <a:lnSpc>
                          <a:spcPct val="100000"/>
                        </a:lnSpc>
                        <a:spcBef>
                          <a:spcPts val="4200"/>
                        </a:spcBef>
                        <a:defRPr sz="1800"/>
                      </a:pPr>
                      <a:r>
                        <a:rPr lang="en-US" sz="3200">
                          <a:sym typeface="Helvetica Neue"/>
                        </a:rPr>
                        <a:t>F</a:t>
                      </a:r>
                      <a:endParaRPr sz="3200">
                        <a:sym typeface="Helvetica Neue"/>
                      </a:endParaRPr>
                    </a:p>
                  </a:txBody>
                  <a:tcPr marL="46806" marR="46806" marT="46806" marB="46806" anchor="ctr" horzOverflow="overflow">
                    <a:lnL w="12700">
                      <a:solidFill>
                        <a:srgbClr val="FFFFFF"/>
                      </a:solidFill>
                    </a:lnL>
                    <a:lnR w="38100">
                      <a:solidFill>
                        <a:srgbClr val="FFFFFF"/>
                      </a:solidFill>
                    </a:lnR>
                    <a:lnT w="12700">
                      <a:solidFill>
                        <a:srgbClr val="FFFFFF"/>
                      </a:solidFill>
                    </a:lnT>
                    <a:lnB w="12700">
                      <a:solidFill>
                        <a:srgbClr val="FFFFFF"/>
                      </a:solidFill>
                    </a:lnB>
                    <a:solidFill>
                      <a:srgbClr val="D6D5D5"/>
                    </a:solidFill>
                  </a:tcPr>
                </a:tc>
                <a:extLst>
                  <a:ext uri="{0D108BD9-81ED-4DB2-BD59-A6C34878D82A}">
                    <a16:rowId xmlns:a16="http://schemas.microsoft.com/office/drawing/2014/main" val="10002"/>
                  </a:ext>
                </a:extLst>
              </a:tr>
              <a:tr h="716929">
                <a:tc>
                  <a:txBody>
                    <a:bodyPr/>
                    <a:lstStyle/>
                    <a:p>
                      <a:pPr marL="0" marR="0" indent="0" algn="ctr" defTabSz="584200" rtl="0" latinLnBrk="0">
                        <a:lnSpc>
                          <a:spcPct val="100000"/>
                        </a:lnSpc>
                        <a:spcBef>
                          <a:spcPts val="4200"/>
                        </a:spcBef>
                        <a:spcAft>
                          <a:spcPts val="0"/>
                        </a:spcAft>
                        <a:buClrTx/>
                        <a:buSzTx/>
                        <a:buFontTx/>
                        <a:buNone/>
                        <a:tabLst/>
                        <a:defRPr sz="1800"/>
                      </a:pPr>
                      <a:r>
                        <a:rPr lang="zh-CN" altLang="en-US" sz="3200" b="0" i="0" u="none" strike="noStrike" cap="none" spc="0" baseline="0" dirty="0">
                          <a:solidFill>
                            <a:srgbClr val="000000"/>
                          </a:solidFill>
                          <a:uFillTx/>
                          <a:latin typeface="Helvetica Neue"/>
                          <a:sym typeface="Helvetica Neue"/>
                        </a:rPr>
                        <a:t>第</a:t>
                      </a:r>
                      <a:r>
                        <a:rPr sz="3200" b="0" i="0" u="none" strike="noStrike" cap="none" spc="0" baseline="0" dirty="0">
                          <a:solidFill>
                            <a:srgbClr val="000000"/>
                          </a:solidFill>
                          <a:uFillTx/>
                          <a:latin typeface="Helvetica Neue"/>
                          <a:sym typeface="Helvetica Neue"/>
                        </a:rPr>
                        <a:t>3</a:t>
                      </a:r>
                      <a:r>
                        <a:rPr lang="zh-CN" altLang="en-US" sz="3200" b="0" i="0" u="none" strike="noStrike" cap="none" spc="0" baseline="0" dirty="0">
                          <a:solidFill>
                            <a:srgbClr val="000000"/>
                          </a:solidFill>
                          <a:uFillTx/>
                          <a:latin typeface="Helvetica Neue"/>
                          <a:sym typeface="Helvetica Neue"/>
                        </a:rPr>
                        <a:t>种</a:t>
                      </a:r>
                      <a:endParaRPr sz="3200" b="0" i="0" u="none" strike="noStrike" cap="none" spc="0" baseline="0" dirty="0">
                        <a:solidFill>
                          <a:srgbClr val="000000"/>
                        </a:solidFill>
                        <a:uFillTx/>
                        <a:latin typeface="Helvetica Neue"/>
                        <a:sym typeface="Helvetica Neue"/>
                      </a:endParaRPr>
                    </a:p>
                  </a:txBody>
                  <a:tcPr marL="46806" marR="46806" marT="46806" marB="46806" anchor="ctr" horzOverflow="overflow">
                    <a:lnL w="38100">
                      <a:solidFill>
                        <a:srgbClr val="FFFFFF"/>
                      </a:solidFill>
                    </a:lnL>
                    <a:lnR w="12700">
                      <a:solidFill>
                        <a:srgbClr val="FFFFFF"/>
                      </a:solidFill>
                    </a:lnR>
                    <a:lnT w="12700">
                      <a:solidFill>
                        <a:srgbClr val="FFFFFF"/>
                      </a:solidFill>
                    </a:lnT>
                    <a:lnB w="12700">
                      <a:solidFill>
                        <a:srgbClr val="FFFFFF"/>
                      </a:solidFill>
                    </a:lnB>
                    <a:solidFill>
                      <a:schemeClr val="bg1">
                        <a:lumMod val="85000"/>
                      </a:schemeClr>
                    </a:solidFill>
                  </a:tcPr>
                </a:tc>
                <a:tc>
                  <a:txBody>
                    <a:bodyPr/>
                    <a:lstStyle/>
                    <a:p>
                      <a:pPr marL="0" marR="0" indent="0" algn="ctr" defTabSz="584200" rtl="0" latinLnBrk="0">
                        <a:lnSpc>
                          <a:spcPct val="100000"/>
                        </a:lnSpc>
                        <a:spcBef>
                          <a:spcPts val="4200"/>
                        </a:spcBef>
                        <a:spcAft>
                          <a:spcPts val="0"/>
                        </a:spcAft>
                        <a:buClrTx/>
                        <a:buSzTx/>
                        <a:buFontTx/>
                        <a:buNone/>
                        <a:tabLst/>
                        <a:defRPr sz="1800"/>
                      </a:pPr>
                      <a:r>
                        <a:rPr lang="en-US" sz="3200" b="0" i="0" u="none" strike="noStrike" cap="none" spc="0" baseline="0">
                          <a:solidFill>
                            <a:srgbClr val="000000"/>
                          </a:solidFill>
                          <a:uFillTx/>
                          <a:latin typeface="Helvetica Neue"/>
                          <a:sym typeface="Helvetica Neue"/>
                        </a:rPr>
                        <a:t>F</a:t>
                      </a:r>
                      <a:endParaRPr sz="3200" b="0" i="0" u="none" strike="noStrike" cap="none" spc="0" baseline="0">
                        <a:solidFill>
                          <a:srgbClr val="000000"/>
                        </a:solidFill>
                        <a:uFillTx/>
                        <a:latin typeface="Helvetica Neue"/>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12700">
                      <a:solidFill>
                        <a:srgbClr val="FFFFFF"/>
                      </a:solidFill>
                    </a:lnB>
                    <a:solidFill>
                      <a:schemeClr val="bg1">
                        <a:lumMod val="85000"/>
                      </a:schemeClr>
                    </a:solidFill>
                  </a:tcPr>
                </a:tc>
                <a:tc>
                  <a:txBody>
                    <a:bodyPr/>
                    <a:lstStyle/>
                    <a:p>
                      <a:pPr marL="0" marR="0" indent="0" algn="ctr" defTabSz="584200" rtl="0" latinLnBrk="0">
                        <a:lnSpc>
                          <a:spcPct val="100000"/>
                        </a:lnSpc>
                        <a:spcBef>
                          <a:spcPts val="4200"/>
                        </a:spcBef>
                        <a:spcAft>
                          <a:spcPts val="0"/>
                        </a:spcAft>
                        <a:buClrTx/>
                        <a:buSzTx/>
                        <a:buFontTx/>
                        <a:buNone/>
                        <a:tabLst/>
                        <a:defRPr sz="1800"/>
                      </a:pPr>
                      <a:r>
                        <a:rPr lang="en-US" sz="3200" b="0" i="0" u="none" strike="noStrike" cap="none" spc="0" baseline="0">
                          <a:solidFill>
                            <a:srgbClr val="000000"/>
                          </a:solidFill>
                          <a:uFillTx/>
                          <a:latin typeface="Helvetica Neue"/>
                          <a:sym typeface="Helvetica Neue"/>
                        </a:rPr>
                        <a:t>F</a:t>
                      </a:r>
                      <a:endParaRPr sz="3200" b="0" i="0" u="none" strike="noStrike" cap="none" spc="0" baseline="0">
                        <a:solidFill>
                          <a:srgbClr val="000000"/>
                        </a:solidFill>
                        <a:uFillTx/>
                        <a:latin typeface="Helvetica Neue"/>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12700">
                      <a:solidFill>
                        <a:srgbClr val="FFFFFF"/>
                      </a:solidFill>
                    </a:lnB>
                    <a:solidFill>
                      <a:schemeClr val="bg1">
                        <a:lumMod val="85000"/>
                      </a:schemeClr>
                    </a:solidFill>
                  </a:tcPr>
                </a:tc>
                <a:tc>
                  <a:txBody>
                    <a:bodyPr/>
                    <a:lstStyle/>
                    <a:p>
                      <a:pPr marL="0" marR="0" indent="0" algn="ctr" defTabSz="584200" rtl="0" latinLnBrk="0">
                        <a:lnSpc>
                          <a:spcPct val="100000"/>
                        </a:lnSpc>
                        <a:spcBef>
                          <a:spcPts val="4200"/>
                        </a:spcBef>
                        <a:spcAft>
                          <a:spcPts val="0"/>
                        </a:spcAft>
                        <a:buClrTx/>
                        <a:buSzTx/>
                        <a:buFontTx/>
                        <a:buNone/>
                        <a:tabLst/>
                        <a:defRPr sz="1800"/>
                      </a:pPr>
                      <a:r>
                        <a:rPr lang="en-US" sz="3200" b="0" i="0" u="none" strike="noStrike" cap="none" spc="0" baseline="0">
                          <a:solidFill>
                            <a:srgbClr val="000000"/>
                          </a:solidFill>
                          <a:uFillTx/>
                          <a:latin typeface="Helvetica Neue"/>
                          <a:sym typeface="Helvetica Neue"/>
                        </a:rPr>
                        <a:t>T</a:t>
                      </a:r>
                      <a:endParaRPr sz="3200" b="0" i="0" u="none" strike="noStrike" cap="none" spc="0" baseline="0">
                        <a:solidFill>
                          <a:srgbClr val="000000"/>
                        </a:solidFill>
                        <a:uFillTx/>
                        <a:latin typeface="Helvetica Neue"/>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12700">
                      <a:solidFill>
                        <a:srgbClr val="FFFFFF"/>
                      </a:solidFill>
                    </a:lnB>
                    <a:solidFill>
                      <a:srgbClr val="FFFF00"/>
                    </a:solidFill>
                  </a:tcPr>
                </a:tc>
                <a:tc>
                  <a:txBody>
                    <a:bodyPr/>
                    <a:lstStyle/>
                    <a:p>
                      <a:pPr marL="0" marR="0" indent="0" algn="ctr" defTabSz="584200" rtl="0" latinLnBrk="0">
                        <a:lnSpc>
                          <a:spcPct val="100000"/>
                        </a:lnSpc>
                        <a:spcBef>
                          <a:spcPts val="4200"/>
                        </a:spcBef>
                        <a:spcAft>
                          <a:spcPts val="0"/>
                        </a:spcAft>
                        <a:buClrTx/>
                        <a:buSzTx/>
                        <a:buFontTx/>
                        <a:buNone/>
                        <a:tabLst/>
                        <a:defRPr sz="1800"/>
                      </a:pPr>
                      <a:r>
                        <a:rPr lang="en-US" sz="3200" b="0" i="0" u="none" strike="noStrike" cap="none" spc="0" baseline="0">
                          <a:solidFill>
                            <a:srgbClr val="000000"/>
                          </a:solidFill>
                          <a:uFillTx/>
                          <a:latin typeface="Helvetica Neue"/>
                          <a:sym typeface="Helvetica Neue"/>
                        </a:rPr>
                        <a:t>F</a:t>
                      </a:r>
                      <a:endParaRPr sz="3200" b="0" i="0" u="none" strike="noStrike" cap="none" spc="0" baseline="0">
                        <a:solidFill>
                          <a:srgbClr val="000000"/>
                        </a:solidFill>
                        <a:uFillTx/>
                        <a:latin typeface="Helvetica Neue"/>
                        <a:sym typeface="Helvetica Neue"/>
                      </a:endParaRPr>
                    </a:p>
                  </a:txBody>
                  <a:tcPr marL="46806" marR="46806" marT="46806" marB="46806" anchor="ctr" horzOverflow="overflow">
                    <a:lnL w="12700">
                      <a:solidFill>
                        <a:srgbClr val="FFFFFF"/>
                      </a:solidFill>
                    </a:lnL>
                    <a:lnR w="38100">
                      <a:solidFill>
                        <a:srgbClr val="FFFFFF"/>
                      </a:solidFill>
                    </a:lnR>
                    <a:lnT w="12700">
                      <a:solidFill>
                        <a:srgbClr val="FFFFFF"/>
                      </a:solidFill>
                    </a:lnT>
                    <a:lnB w="12700">
                      <a:solidFill>
                        <a:srgbClr val="FFFFFF"/>
                      </a:solidFill>
                    </a:lnB>
                    <a:solidFill>
                      <a:schemeClr val="bg1">
                        <a:lumMod val="85000"/>
                      </a:schemeClr>
                    </a:solidFill>
                  </a:tcPr>
                </a:tc>
                <a:extLst>
                  <a:ext uri="{0D108BD9-81ED-4DB2-BD59-A6C34878D82A}">
                    <a16:rowId xmlns:a16="http://schemas.microsoft.com/office/drawing/2014/main" val="10003"/>
                  </a:ext>
                </a:extLst>
              </a:tr>
              <a:tr h="727956">
                <a:tc>
                  <a:txBody>
                    <a:bodyPr/>
                    <a:lstStyle/>
                    <a:p>
                      <a:pPr>
                        <a:lnSpc>
                          <a:spcPct val="100000"/>
                        </a:lnSpc>
                        <a:spcBef>
                          <a:spcPts val="4200"/>
                        </a:spcBef>
                        <a:defRPr sz="1800"/>
                      </a:pPr>
                      <a:r>
                        <a:rPr lang="zh-CN" altLang="en-US" sz="3200" dirty="0">
                          <a:sym typeface="Helvetica Neue"/>
                        </a:rPr>
                        <a:t>第</a:t>
                      </a:r>
                      <a:r>
                        <a:rPr sz="3200" dirty="0">
                          <a:sym typeface="Helvetica Neue"/>
                        </a:rPr>
                        <a:t>4</a:t>
                      </a:r>
                      <a:r>
                        <a:rPr lang="zh-CN" altLang="en-US" sz="3200" dirty="0">
                          <a:sym typeface="Helvetica Neue"/>
                        </a:rPr>
                        <a:t>种</a:t>
                      </a:r>
                      <a:endParaRPr sz="3200" dirty="0">
                        <a:sym typeface="Helvetica Neue"/>
                      </a:endParaRPr>
                    </a:p>
                  </a:txBody>
                  <a:tcPr marL="46806" marR="46806" marT="46806" marB="46806" anchor="ctr" horzOverflow="overflow">
                    <a:lnL w="38100">
                      <a:solidFill>
                        <a:srgbClr val="FFFFFF"/>
                      </a:solidFill>
                    </a:lnL>
                    <a:lnR w="12700">
                      <a:solidFill>
                        <a:srgbClr val="FFFFFF"/>
                      </a:solidFill>
                    </a:lnR>
                    <a:lnT w="12700">
                      <a:solidFill>
                        <a:srgbClr val="FFFFFF"/>
                      </a:solidFill>
                    </a:lnT>
                    <a:lnB w="38100">
                      <a:solidFill>
                        <a:srgbClr val="FFFFFF"/>
                      </a:solidFill>
                    </a:lnB>
                    <a:solidFill>
                      <a:srgbClr val="D6D5D5"/>
                    </a:solidFill>
                  </a:tcPr>
                </a:tc>
                <a:tc>
                  <a:txBody>
                    <a:bodyPr/>
                    <a:lstStyle/>
                    <a:p>
                      <a:pPr>
                        <a:lnSpc>
                          <a:spcPct val="100000"/>
                        </a:lnSpc>
                        <a:spcBef>
                          <a:spcPts val="4200"/>
                        </a:spcBef>
                        <a:defRPr sz="1800"/>
                      </a:pPr>
                      <a:r>
                        <a:rPr lang="en-US" sz="3200">
                          <a:sym typeface="Helvetica Neue"/>
                        </a:rPr>
                        <a:t>F</a:t>
                      </a:r>
                      <a:endParaRPr sz="3200">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38100">
                      <a:solidFill>
                        <a:srgbClr val="FFFFFF"/>
                      </a:solidFill>
                    </a:lnB>
                    <a:solidFill>
                      <a:srgbClr val="D6D5D5"/>
                    </a:solidFill>
                  </a:tcPr>
                </a:tc>
                <a:tc>
                  <a:txBody>
                    <a:bodyPr/>
                    <a:lstStyle/>
                    <a:p>
                      <a:pPr>
                        <a:lnSpc>
                          <a:spcPct val="100000"/>
                        </a:lnSpc>
                        <a:spcBef>
                          <a:spcPts val="4200"/>
                        </a:spcBef>
                        <a:defRPr sz="1800"/>
                      </a:pPr>
                      <a:r>
                        <a:rPr lang="en-US" sz="3200">
                          <a:sym typeface="Helvetica Neue"/>
                        </a:rPr>
                        <a:t>F</a:t>
                      </a:r>
                      <a:endParaRPr sz="3200">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38100">
                      <a:solidFill>
                        <a:srgbClr val="FFFFFF"/>
                      </a:solidFill>
                    </a:lnB>
                    <a:solidFill>
                      <a:srgbClr val="D6D5D5"/>
                    </a:solidFill>
                  </a:tcPr>
                </a:tc>
                <a:tc>
                  <a:txBody>
                    <a:bodyPr/>
                    <a:lstStyle/>
                    <a:p>
                      <a:pPr>
                        <a:lnSpc>
                          <a:spcPct val="100000"/>
                        </a:lnSpc>
                        <a:spcBef>
                          <a:spcPts val="4200"/>
                        </a:spcBef>
                        <a:defRPr sz="1800"/>
                      </a:pPr>
                      <a:r>
                        <a:rPr lang="en-US" sz="3200">
                          <a:sym typeface="Helvetica Neue"/>
                        </a:rPr>
                        <a:t>F</a:t>
                      </a:r>
                      <a:endParaRPr sz="3200">
                        <a:sym typeface="Helvetica Neue"/>
                      </a:endParaRPr>
                    </a:p>
                  </a:txBody>
                  <a:tcPr marL="46806" marR="46806" marT="46806" marB="46806" anchor="ctr" horzOverflow="overflow">
                    <a:lnL w="12700">
                      <a:solidFill>
                        <a:srgbClr val="FFFFFF"/>
                      </a:solidFill>
                    </a:lnL>
                    <a:lnR w="12700">
                      <a:solidFill>
                        <a:srgbClr val="FFFFFF"/>
                      </a:solidFill>
                    </a:lnR>
                    <a:lnT w="12700">
                      <a:solidFill>
                        <a:srgbClr val="FFFFFF"/>
                      </a:solidFill>
                    </a:lnT>
                    <a:lnB w="38100">
                      <a:solidFill>
                        <a:srgbClr val="FFFFFF"/>
                      </a:solidFill>
                    </a:lnB>
                    <a:solidFill>
                      <a:srgbClr val="D6D5D5"/>
                    </a:solidFill>
                  </a:tcPr>
                </a:tc>
                <a:tc>
                  <a:txBody>
                    <a:bodyPr/>
                    <a:lstStyle/>
                    <a:p>
                      <a:pPr>
                        <a:lnSpc>
                          <a:spcPct val="100000"/>
                        </a:lnSpc>
                        <a:spcBef>
                          <a:spcPts val="4200"/>
                        </a:spcBef>
                        <a:defRPr sz="1800"/>
                      </a:pPr>
                      <a:r>
                        <a:rPr lang="en-US" sz="3200" dirty="0">
                          <a:sym typeface="Helvetica Neue"/>
                        </a:rPr>
                        <a:t>T</a:t>
                      </a:r>
                      <a:endParaRPr sz="3200" dirty="0">
                        <a:sym typeface="Helvetica Neue"/>
                      </a:endParaRPr>
                    </a:p>
                  </a:txBody>
                  <a:tcPr marL="46806" marR="46806" marT="46806" marB="46806" anchor="ctr" horzOverflow="overflow">
                    <a:lnL w="12700">
                      <a:solidFill>
                        <a:srgbClr val="FFFFFF"/>
                      </a:solidFill>
                    </a:lnL>
                    <a:lnR w="38100">
                      <a:solidFill>
                        <a:srgbClr val="FFFFFF"/>
                      </a:solidFill>
                    </a:lnR>
                    <a:lnT w="12700">
                      <a:solidFill>
                        <a:srgbClr val="FFFFFF"/>
                      </a:solidFill>
                    </a:lnT>
                    <a:lnB w="38100">
                      <a:solidFill>
                        <a:srgbClr val="FFFFFF"/>
                      </a:solidFill>
                    </a:lnB>
                    <a:solidFill>
                      <a:srgbClr val="FFFF00"/>
                    </a:solidFill>
                  </a:tcPr>
                </a:tc>
                <a:extLst>
                  <a:ext uri="{0D108BD9-81ED-4DB2-BD59-A6C34878D82A}">
                    <a16:rowId xmlns:a16="http://schemas.microsoft.com/office/drawing/2014/main" val="10004"/>
                  </a:ext>
                </a:extLst>
              </a:tr>
            </a:tbl>
          </a:graphicData>
        </a:graphic>
      </p:graphicFrame>
      <p:sp>
        <p:nvSpPr>
          <p:cNvPr id="2" name="文本框 1">
            <a:extLst>
              <a:ext uri="{FF2B5EF4-FFF2-40B4-BE49-F238E27FC236}">
                <a16:creationId xmlns:a16="http://schemas.microsoft.com/office/drawing/2014/main" id="{4398C4ED-B141-4841-BDE3-71ABB6FE4E0E}"/>
              </a:ext>
            </a:extLst>
          </p:cNvPr>
          <p:cNvSpPr txBox="1"/>
          <p:nvPr/>
        </p:nvSpPr>
        <p:spPr>
          <a:xfrm>
            <a:off x="2181755" y="8622854"/>
            <a:ext cx="257923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rgbClr val="0070C0"/>
                </a:solidFill>
                <a:effectLst/>
                <a:uFillTx/>
                <a:latin typeface="Helvetica Neue"/>
                <a:ea typeface="Helvetica Neue"/>
                <a:cs typeface="Helvetica Neue"/>
                <a:sym typeface="Helvetica Neue"/>
              </a:rPr>
              <a:t>T: True;  F: False</a:t>
            </a:r>
            <a:endParaRPr kumimoji="0" lang="zh-CN" altLang="en-US" sz="2400" b="1" i="0" u="none" strike="noStrike" cap="none" spc="0" normalizeH="0" baseline="0">
              <a:ln>
                <a:noFill/>
              </a:ln>
              <a:solidFill>
                <a:srgbClr val="0070C0"/>
              </a:solidFill>
              <a:effectLst/>
              <a:uFillTx/>
              <a:latin typeface="Helvetica Neue"/>
              <a:ea typeface="Helvetica Neue"/>
              <a:cs typeface="Helvetica Neue"/>
              <a:sym typeface="Helvetica Neue"/>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sp>
        <p:nvSpPr>
          <p:cNvPr id="102" name="用枚举法求解任务3.1"/>
          <p:cNvSpPr>
            <a:spLocks noGrp="1"/>
          </p:cNvSpPr>
          <p:nvPr>
            <p:ph type="title"/>
          </p:nvPr>
        </p:nvSpPr>
        <p:spPr>
          <a:xfrm>
            <a:off x="547203" y="354125"/>
            <a:ext cx="7326348" cy="1152045"/>
          </a:xfrm>
          <a:prstGeom prst="rect">
            <a:avLst/>
          </a:prstGeom>
        </p:spPr>
        <p:txBody>
          <a:bodyPr/>
          <a:lstStyle/>
          <a:p>
            <a:pPr algn="r"/>
            <a:r>
              <a:rPr lang="zh-CN" altLang="en-US" b="1">
                <a:solidFill>
                  <a:srgbClr val="FFFF00"/>
                </a:solidFill>
              </a:rPr>
              <a:t>关键点</a:t>
            </a:r>
            <a:r>
              <a:rPr lang="en-US" altLang="zh-CN" b="1">
                <a:solidFill>
                  <a:srgbClr val="FFFF00"/>
                </a:solidFill>
              </a:rPr>
              <a:t>1</a:t>
            </a:r>
            <a:r>
              <a:rPr lang="zh-CN" altLang="en-US" b="1">
                <a:solidFill>
                  <a:srgbClr val="FFFF00"/>
                </a:solidFill>
              </a:rPr>
              <a:t>：</a:t>
            </a:r>
            <a:r>
              <a:rPr lang="zh-CN" altLang="en-US"/>
              <a:t>如何实现推理？</a:t>
            </a:r>
            <a:endParaRPr/>
          </a:p>
        </p:txBody>
      </p:sp>
      <p:sp>
        <p:nvSpPr>
          <p:cNvPr id="103" name="所谓“枚举”，就是按照四种假定（可能性），逐一地去测试四个人的话有几句是真话，如果不满足三句为真，即不符合题目要求，就否定掉这一假定，换下一个可能性再试。…"/>
          <p:cNvSpPr txBox="1"/>
          <p:nvPr/>
        </p:nvSpPr>
        <p:spPr>
          <a:xfrm>
            <a:off x="849978" y="3691678"/>
            <a:ext cx="11304844" cy="48776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just">
              <a:lnSpc>
                <a:spcPct val="200000"/>
              </a:lnSpc>
              <a:defRPr sz="3200"/>
            </a:pPr>
            <a:r>
              <a:rPr lang="en-US" altLang="zh-CN" dirty="0">
                <a:solidFill>
                  <a:srgbClr val="FF0000"/>
                </a:solidFill>
              </a:rPr>
              <a:t>       </a:t>
            </a:r>
            <a:r>
              <a:rPr dirty="0" err="1">
                <a:solidFill>
                  <a:schemeClr val="tx1"/>
                </a:solidFill>
              </a:rPr>
              <a:t>按照</a:t>
            </a:r>
            <a:r>
              <a:rPr lang="zh-CN" altLang="en-US" dirty="0">
                <a:solidFill>
                  <a:schemeClr val="tx1"/>
                </a:solidFill>
              </a:rPr>
              <a:t>题目</a:t>
            </a:r>
            <a:r>
              <a:rPr lang="zh-CN" altLang="en-US" dirty="0"/>
              <a:t>包含的四</a:t>
            </a:r>
            <a:r>
              <a:rPr dirty="0" err="1"/>
              <a:t>种可能性，</a:t>
            </a:r>
            <a:r>
              <a:rPr dirty="0" err="1">
                <a:solidFill>
                  <a:srgbClr val="FF0000"/>
                </a:solidFill>
              </a:rPr>
              <a:t>逐一</a:t>
            </a:r>
            <a:r>
              <a:rPr lang="zh-CN" altLang="en-US" dirty="0"/>
              <a:t>对每一种可能性进行</a:t>
            </a:r>
            <a:r>
              <a:rPr lang="zh-CN" altLang="en-US" dirty="0">
                <a:solidFill>
                  <a:srgbClr val="FF0000"/>
                </a:solidFill>
              </a:rPr>
              <a:t>检验</a:t>
            </a:r>
            <a:r>
              <a:rPr lang="zh-CN" altLang="en-US" dirty="0"/>
              <a:t>，即：依据该可能性，对</a:t>
            </a:r>
            <a:r>
              <a:rPr dirty="0" err="1"/>
              <a:t>四个人的话</a:t>
            </a:r>
            <a:r>
              <a:rPr lang="zh-CN" altLang="en-US" dirty="0"/>
              <a:t>进行检验，看看</a:t>
            </a:r>
            <a:r>
              <a:rPr dirty="0" err="1"/>
              <a:t>有几句是真话</a:t>
            </a:r>
            <a:r>
              <a:rPr lang="zh-CN" altLang="en-US" dirty="0"/>
              <a:t>。</a:t>
            </a:r>
            <a:r>
              <a:rPr dirty="0" err="1"/>
              <a:t>如果不满足三句为真</a:t>
            </a:r>
            <a:r>
              <a:rPr lang="zh-CN" altLang="en-US" dirty="0"/>
              <a:t>的条件</a:t>
            </a:r>
            <a:r>
              <a:rPr dirty="0"/>
              <a:t>，</a:t>
            </a:r>
            <a:r>
              <a:rPr dirty="0" err="1"/>
              <a:t>即不符合题目要求，就</a:t>
            </a:r>
            <a:r>
              <a:rPr lang="zh-CN" altLang="en-US" dirty="0"/>
              <a:t>抛弃</a:t>
            </a:r>
            <a:r>
              <a:rPr dirty="0"/>
              <a:t>这</a:t>
            </a:r>
            <a:r>
              <a:rPr lang="zh-CN" altLang="en-US" dirty="0"/>
              <a:t>种可能性</a:t>
            </a:r>
            <a:r>
              <a:rPr dirty="0"/>
              <a:t>，</a:t>
            </a:r>
            <a:r>
              <a:rPr dirty="0" err="1"/>
              <a:t>换下一个可能性再试</a:t>
            </a:r>
            <a:r>
              <a:rPr dirty="0"/>
              <a:t>。</a:t>
            </a:r>
            <a:endParaRPr lang="en-US" altLang="zh-CN" dirty="0"/>
          </a:p>
          <a:p>
            <a:pPr algn="just">
              <a:lnSpc>
                <a:spcPct val="200000"/>
              </a:lnSpc>
              <a:defRPr sz="3200"/>
            </a:pPr>
            <a:r>
              <a:rPr lang="zh-CN" altLang="en-US" dirty="0"/>
              <a:t>       我们称上述解决问题的思路为“枚举法”。</a:t>
            </a:r>
            <a:endParaRPr lang="en-US" altLang="zh-CN" dirty="0"/>
          </a:p>
        </p:txBody>
      </p:sp>
      <p:sp>
        <p:nvSpPr>
          <p:cNvPr id="5" name="用枚举法求解任务3.1">
            <a:extLst>
              <a:ext uri="{FF2B5EF4-FFF2-40B4-BE49-F238E27FC236}">
                <a16:creationId xmlns:a16="http://schemas.microsoft.com/office/drawing/2014/main" id="{5BF83619-897D-46C9-9251-235ADF627948}"/>
              </a:ext>
            </a:extLst>
          </p:cNvPr>
          <p:cNvSpPr txBox="1">
            <a:spLocks/>
          </p:cNvSpPr>
          <p:nvPr/>
        </p:nvSpPr>
        <p:spPr>
          <a:xfrm>
            <a:off x="547202" y="2468515"/>
            <a:ext cx="5061927" cy="883298"/>
          </a:xfrm>
          <a:prstGeom prst="rect">
            <a:avLst/>
          </a:prstGeom>
          <a:solidFill>
            <a:srgbClr val="00B0F0"/>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ctr">
            <a:noAutofit/>
          </a:bodyPr>
          <a:lstStyle>
            <a:lvl1pPr marL="0" marR="0" indent="0" algn="ctr" defTabSz="584200" rtl="0" latinLnBrk="0">
              <a:lnSpc>
                <a:spcPct val="100000"/>
              </a:lnSpc>
              <a:spcBef>
                <a:spcPts val="0"/>
              </a:spcBef>
              <a:spcAft>
                <a:spcPts val="0"/>
              </a:spcAft>
              <a:buClrTx/>
              <a:buSzTx/>
              <a:buFontTx/>
              <a:buNone/>
              <a:tabLst/>
              <a:defRPr sz="4600" b="0" i="0" u="none" strike="noStrike" cap="none" spc="0" baseline="0">
                <a:solidFill>
                  <a:srgbClr val="FFFFFF"/>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hangingPunct="1"/>
            <a:r>
              <a:rPr lang="zh-CN" altLang="en-US" sz="3600"/>
              <a:t>用</a:t>
            </a:r>
            <a:r>
              <a:rPr lang="zh-CN" altLang="en-US" sz="3600">
                <a:solidFill>
                  <a:schemeClr val="accent4">
                    <a:hueOff val="366961"/>
                    <a:satOff val="4172"/>
                    <a:lumOff val="11129"/>
                  </a:schemeClr>
                </a:solidFill>
              </a:rPr>
              <a:t>枚举法</a:t>
            </a:r>
            <a:r>
              <a:rPr lang="zh-CN" altLang="en-US" sz="3600"/>
              <a:t>验证各可能性</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a:p>
        </p:txBody>
      </p:sp>
      <p:sp>
        <p:nvSpPr>
          <p:cNvPr id="102" name="用枚举法求解任务3.1"/>
          <p:cNvSpPr>
            <a:spLocks noGrp="1"/>
          </p:cNvSpPr>
          <p:nvPr>
            <p:ph type="title"/>
          </p:nvPr>
        </p:nvSpPr>
        <p:spPr>
          <a:xfrm>
            <a:off x="547201" y="354125"/>
            <a:ext cx="6152395" cy="1152045"/>
          </a:xfrm>
          <a:prstGeom prst="rect">
            <a:avLst/>
          </a:prstGeom>
        </p:spPr>
        <p:txBody>
          <a:bodyPr/>
          <a:lstStyle/>
          <a:p>
            <a:r>
              <a:t>用</a:t>
            </a:r>
            <a:r>
              <a:rPr>
                <a:solidFill>
                  <a:schemeClr val="accent4">
                    <a:hueOff val="366961"/>
                    <a:satOff val="4172"/>
                    <a:lumOff val="11129"/>
                  </a:schemeClr>
                </a:solidFill>
              </a:rPr>
              <a:t>枚举法</a:t>
            </a:r>
            <a:r>
              <a:rPr lang="zh-CN" altLang="en-US"/>
              <a:t>验证各可能性</a:t>
            </a:r>
            <a:endParaRPr/>
          </a:p>
        </p:txBody>
      </p:sp>
      <p:sp>
        <p:nvSpPr>
          <p:cNvPr id="103" name="所谓“枚举”，就是按照四种假定（可能性），逐一地去测试四个人的话有几句是真话，如果不满足三句为真，即不符合题目要求，就否定掉这一假定，换下一个可能性再试。…"/>
          <p:cNvSpPr txBox="1"/>
          <p:nvPr/>
        </p:nvSpPr>
        <p:spPr>
          <a:xfrm>
            <a:off x="663711" y="2312711"/>
            <a:ext cx="11304844" cy="7534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just">
              <a:lnSpc>
                <a:spcPct val="150000"/>
              </a:lnSpc>
              <a:defRPr sz="3200"/>
            </a:pPr>
            <a:r>
              <a:rPr>
                <a:solidFill>
                  <a:srgbClr val="FF0000"/>
                </a:solidFill>
                <a:highlight>
                  <a:srgbClr val="FFFF00"/>
                </a:highlight>
              </a:rPr>
              <a:t>按照</a:t>
            </a:r>
            <a:r>
              <a:rPr>
                <a:highlight>
                  <a:srgbClr val="FFFF00"/>
                </a:highlight>
              </a:rPr>
              <a:t>四种可能性，</a:t>
            </a:r>
            <a:r>
              <a:rPr>
                <a:solidFill>
                  <a:schemeClr val="tx1"/>
                </a:solidFill>
                <a:highlight>
                  <a:srgbClr val="FFFF00"/>
                </a:highlight>
              </a:rPr>
              <a:t>逐一</a:t>
            </a:r>
            <a:r>
              <a:rPr lang="zh-CN" altLang="en-US">
                <a:solidFill>
                  <a:schemeClr val="tx1"/>
                </a:solidFill>
                <a:highlight>
                  <a:srgbClr val="FFFF00"/>
                </a:highlight>
              </a:rPr>
              <a:t>对每种可能性</a:t>
            </a:r>
            <a:r>
              <a:rPr>
                <a:solidFill>
                  <a:schemeClr val="tx1"/>
                </a:solidFill>
                <a:highlight>
                  <a:srgbClr val="FFFF00"/>
                </a:highlight>
              </a:rPr>
              <a:t>去测试四个人的话</a:t>
            </a:r>
            <a:r>
              <a:rPr lang="zh-CN" altLang="en-US">
                <a:solidFill>
                  <a:schemeClr val="tx1"/>
                </a:solidFill>
                <a:highlight>
                  <a:srgbClr val="FFFF00"/>
                </a:highlight>
              </a:rPr>
              <a:t>，</a:t>
            </a:r>
            <a:endParaRPr>
              <a:solidFill>
                <a:schemeClr val="tx1"/>
              </a:solidFill>
              <a:highlight>
                <a:srgbClr val="FFFF00"/>
              </a:highlight>
            </a:endParaRPr>
          </a:p>
        </p:txBody>
      </p:sp>
      <p:grpSp>
        <p:nvGrpSpPr>
          <p:cNvPr id="5" name="组合 4">
            <a:extLst>
              <a:ext uri="{FF2B5EF4-FFF2-40B4-BE49-F238E27FC236}">
                <a16:creationId xmlns:a16="http://schemas.microsoft.com/office/drawing/2014/main" id="{784F4D13-501B-44D8-81AB-DB3AB23D107D}"/>
              </a:ext>
            </a:extLst>
          </p:cNvPr>
          <p:cNvGrpSpPr/>
          <p:nvPr/>
        </p:nvGrpSpPr>
        <p:grpSpPr>
          <a:xfrm>
            <a:off x="2082043" y="3467576"/>
            <a:ext cx="8840713" cy="4241800"/>
            <a:chOff x="-4551" y="4157134"/>
            <a:chExt cx="8840713" cy="4241800"/>
          </a:xfrm>
        </p:grpSpPr>
        <p:pic>
          <p:nvPicPr>
            <p:cNvPr id="3" name="图片 2">
              <a:extLst>
                <a:ext uri="{FF2B5EF4-FFF2-40B4-BE49-F238E27FC236}">
                  <a16:creationId xmlns:a16="http://schemas.microsoft.com/office/drawing/2014/main" id="{350EE5A7-A040-4C44-9B04-55BF7EBF88C0}"/>
                </a:ext>
              </a:extLst>
            </p:cNvPr>
            <p:cNvPicPr>
              <a:picLocks noChangeAspect="1"/>
            </p:cNvPicPr>
            <p:nvPr/>
          </p:nvPicPr>
          <p:blipFill rotWithShape="1">
            <a:blip r:embed="rId2">
              <a:extLst>
                <a:ext uri="{28A0092B-C50C-407E-A947-70E740481C1C}">
                  <a14:useLocalDpi xmlns:a14="http://schemas.microsoft.com/office/drawing/2010/main" val="0"/>
                </a:ext>
              </a:extLst>
            </a:blip>
            <a:srcRect t="6484" b="24311"/>
            <a:stretch/>
          </p:blipFill>
          <p:spPr>
            <a:xfrm>
              <a:off x="663711" y="4157134"/>
              <a:ext cx="8172451" cy="4241800"/>
            </a:xfrm>
            <a:prstGeom prst="rect">
              <a:avLst/>
            </a:prstGeom>
            <a:ln w="28575">
              <a:solidFill>
                <a:srgbClr val="00B0F0"/>
              </a:solidFill>
              <a:prstDash val="sysDash"/>
            </a:ln>
          </p:spPr>
        </p:pic>
        <p:sp>
          <p:nvSpPr>
            <p:cNvPr id="4" name="椭圆 3">
              <a:extLst>
                <a:ext uri="{FF2B5EF4-FFF2-40B4-BE49-F238E27FC236}">
                  <a16:creationId xmlns:a16="http://schemas.microsoft.com/office/drawing/2014/main" id="{24829B55-6BAE-4238-B22D-75269E6AE5BC}"/>
                </a:ext>
              </a:extLst>
            </p:cNvPr>
            <p:cNvSpPr/>
            <p:nvPr/>
          </p:nvSpPr>
          <p:spPr>
            <a:xfrm rot="18395186">
              <a:off x="883939" y="4968428"/>
              <a:ext cx="1939885" cy="3716866"/>
            </a:xfrm>
            <a:prstGeom prst="ellipse">
              <a:avLst/>
            </a:prstGeom>
            <a:noFill/>
            <a:ln w="57150" cap="flat">
              <a:solidFill>
                <a:srgbClr val="00B050"/>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36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2" name="文本框 1">
            <a:extLst>
              <a:ext uri="{FF2B5EF4-FFF2-40B4-BE49-F238E27FC236}">
                <a16:creationId xmlns:a16="http://schemas.microsoft.com/office/drawing/2014/main" id="{542C21FA-0474-4A8F-81CC-1ED0F70046D8}"/>
              </a:ext>
            </a:extLst>
          </p:cNvPr>
          <p:cNvSpPr txBox="1"/>
          <p:nvPr/>
        </p:nvSpPr>
        <p:spPr>
          <a:xfrm>
            <a:off x="794543" y="7940567"/>
            <a:ext cx="10128213"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lnSpc>
                <a:spcPct val="150000"/>
              </a:lnSpc>
            </a:pPr>
            <a:r>
              <a:rPr lang="zh-CN" altLang="en-US" dirty="0"/>
              <a:t>“按照可能性进行测试”的过程，与大家熟悉的数学上的“反证法”很相似，都是“先</a:t>
            </a:r>
            <a:r>
              <a:rPr lang="zh-CN" altLang="en-US" dirty="0">
                <a:solidFill>
                  <a:srgbClr val="FF0000"/>
                </a:solidFill>
              </a:rPr>
              <a:t>做出假设</a:t>
            </a:r>
            <a:r>
              <a:rPr lang="zh-CN" altLang="en-US" dirty="0"/>
              <a:t>，然后基于假设</a:t>
            </a:r>
            <a:r>
              <a:rPr lang="zh-CN" altLang="en-US" dirty="0">
                <a:solidFill>
                  <a:srgbClr val="FF0000"/>
                </a:solidFill>
              </a:rPr>
              <a:t>进行推理</a:t>
            </a:r>
            <a:r>
              <a:rPr lang="zh-CN" altLang="en-US" dirty="0"/>
              <a:t>”。</a:t>
            </a:r>
            <a:endParaRPr kumimoji="0" lang="zh-CN" altLang="en-US" sz="24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306627180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
        <p:nvSpPr>
          <p:cNvPr id="102" name="用枚举法求解任务3.1"/>
          <p:cNvSpPr>
            <a:spLocks noGrp="1"/>
          </p:cNvSpPr>
          <p:nvPr>
            <p:ph type="title"/>
          </p:nvPr>
        </p:nvSpPr>
        <p:spPr>
          <a:xfrm>
            <a:off x="547201" y="354125"/>
            <a:ext cx="6152395" cy="1152045"/>
          </a:xfrm>
          <a:prstGeom prst="rect">
            <a:avLst/>
          </a:prstGeom>
        </p:spPr>
        <p:txBody>
          <a:bodyPr/>
          <a:lstStyle/>
          <a:p>
            <a:r>
              <a:t>用</a:t>
            </a:r>
            <a:r>
              <a:rPr>
                <a:solidFill>
                  <a:schemeClr val="accent4">
                    <a:hueOff val="366961"/>
                    <a:satOff val="4172"/>
                    <a:lumOff val="11129"/>
                  </a:schemeClr>
                </a:solidFill>
              </a:rPr>
              <a:t>枚举法</a:t>
            </a:r>
            <a:r>
              <a:rPr lang="zh-CN" altLang="en-US"/>
              <a:t>验证各可能性</a:t>
            </a:r>
            <a:endParaRPr/>
          </a:p>
        </p:txBody>
      </p:sp>
      <p:pic>
        <p:nvPicPr>
          <p:cNvPr id="2" name="图片 1">
            <a:extLst>
              <a:ext uri="{FF2B5EF4-FFF2-40B4-BE49-F238E27FC236}">
                <a16:creationId xmlns:a16="http://schemas.microsoft.com/office/drawing/2014/main" id="{2B36F98A-C40F-4847-B659-148E3EB45E80}"/>
              </a:ext>
            </a:extLst>
          </p:cNvPr>
          <p:cNvPicPr>
            <a:picLocks noChangeAspect="1"/>
          </p:cNvPicPr>
          <p:nvPr/>
        </p:nvPicPr>
        <p:blipFill>
          <a:blip r:embed="rId2"/>
          <a:stretch>
            <a:fillRect/>
          </a:stretch>
        </p:blipFill>
        <p:spPr>
          <a:xfrm>
            <a:off x="793458" y="3761103"/>
            <a:ext cx="5304951" cy="5414950"/>
          </a:xfrm>
          <a:prstGeom prst="rect">
            <a:avLst/>
          </a:prstGeom>
        </p:spPr>
      </p:pic>
      <p:sp>
        <p:nvSpPr>
          <p:cNvPr id="6" name="箭头: 右 5">
            <a:extLst>
              <a:ext uri="{FF2B5EF4-FFF2-40B4-BE49-F238E27FC236}">
                <a16:creationId xmlns:a16="http://schemas.microsoft.com/office/drawing/2014/main" id="{17EEB7C8-13D5-4A22-952B-696892462EB9}"/>
              </a:ext>
            </a:extLst>
          </p:cNvPr>
          <p:cNvSpPr/>
          <p:nvPr/>
        </p:nvSpPr>
        <p:spPr>
          <a:xfrm>
            <a:off x="6098409" y="5767032"/>
            <a:ext cx="874529" cy="701546"/>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36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 name="文本框 6">
            <a:extLst>
              <a:ext uri="{FF2B5EF4-FFF2-40B4-BE49-F238E27FC236}">
                <a16:creationId xmlns:a16="http://schemas.microsoft.com/office/drawing/2014/main" id="{7B7B6ED0-E02E-4F9A-B6B1-1ECD55BCCCB1}"/>
              </a:ext>
            </a:extLst>
          </p:cNvPr>
          <p:cNvSpPr txBox="1"/>
          <p:nvPr/>
        </p:nvSpPr>
        <p:spPr>
          <a:xfrm>
            <a:off x="6022713" y="5295108"/>
            <a:ext cx="102592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70C0"/>
                </a:solidFill>
                <a:effectLst/>
                <a:uFillTx/>
                <a:latin typeface="Helvetica Neue"/>
                <a:ea typeface="Helvetica Neue"/>
                <a:cs typeface="Helvetica Neue"/>
                <a:sym typeface="Helvetica Neue"/>
              </a:rPr>
              <a:t>类似的</a:t>
            </a:r>
          </a:p>
        </p:txBody>
      </p:sp>
      <p:sp>
        <p:nvSpPr>
          <p:cNvPr id="8" name="文本框 7">
            <a:extLst>
              <a:ext uri="{FF2B5EF4-FFF2-40B4-BE49-F238E27FC236}">
                <a16:creationId xmlns:a16="http://schemas.microsoft.com/office/drawing/2014/main" id="{52492749-0F6A-48E3-AC46-A3804499E638}"/>
              </a:ext>
            </a:extLst>
          </p:cNvPr>
          <p:cNvSpPr txBox="1"/>
          <p:nvPr/>
        </p:nvSpPr>
        <p:spPr>
          <a:xfrm>
            <a:off x="7437382" y="5651011"/>
            <a:ext cx="5304951" cy="933589"/>
          </a:xfrm>
          <a:prstGeom prst="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50000"/>
              </a:lnSpc>
              <a:spcBef>
                <a:spcPts val="0"/>
              </a:spcBef>
              <a:spcAft>
                <a:spcPts val="0"/>
              </a:spcAft>
              <a:buClrTx/>
              <a:buSzTx/>
              <a:buFontTx/>
              <a:buNone/>
              <a:tabLst/>
            </a:pPr>
            <a:r>
              <a:rPr kumimoji="0" lang="zh-CN" altLang="en-US" sz="3600" b="1" i="0" u="none" strike="noStrike" cap="none" spc="0" normalizeH="0" baseline="0">
                <a:ln>
                  <a:noFill/>
                </a:ln>
                <a:solidFill>
                  <a:srgbClr val="000000"/>
                </a:solidFill>
                <a:effectLst/>
                <a:uFillTx/>
                <a:latin typeface="Helvetica Neue"/>
                <a:ea typeface="Helvetica Neue"/>
                <a:cs typeface="Helvetica Neue"/>
                <a:sym typeface="Helvetica Neue"/>
              </a:rPr>
              <a:t>假定“做好事者是</a:t>
            </a:r>
            <a:r>
              <a:rPr kumimoji="0" lang="en-US" altLang="zh-CN" sz="3600" b="1" i="0" u="none" strike="noStrike" cap="none" spc="0" normalizeH="0" baseline="0">
                <a:ln>
                  <a:noFill/>
                </a:ln>
                <a:solidFill>
                  <a:srgbClr val="000000"/>
                </a:solidFill>
                <a:effectLst/>
                <a:uFillTx/>
                <a:latin typeface="Helvetica Neue"/>
                <a:ea typeface="Helvetica Neue"/>
                <a:cs typeface="Helvetica Neue"/>
                <a:sym typeface="Helvetica Neue"/>
              </a:rPr>
              <a:t>A</a:t>
            </a:r>
            <a:r>
              <a:rPr kumimoji="0" lang="zh-CN" altLang="en-US" sz="3600" b="1" i="0" u="none" strike="noStrike" cap="none" spc="0" normalizeH="0" baseline="0">
                <a:ln>
                  <a:noFill/>
                </a:ln>
                <a:solidFill>
                  <a:srgbClr val="000000"/>
                </a:solidFill>
                <a:effectLst/>
                <a:uFillTx/>
                <a:latin typeface="Helvetica Neue"/>
                <a:ea typeface="Helvetica Neue"/>
                <a:cs typeface="Helvetica Neue"/>
                <a:sym typeface="Helvetica Neue"/>
              </a:rPr>
              <a:t>”</a:t>
            </a:r>
            <a:endParaRPr kumimoji="0" lang="zh-CN" altLang="en-US" sz="3600" b="1" i="0" u="none" strike="noStrike" cap="none" spc="0" normalizeH="0" baseline="0">
              <a:ln>
                <a:noFill/>
              </a:ln>
              <a:solidFill>
                <a:srgbClr val="FF0000"/>
              </a:solidFill>
              <a:effectLst/>
              <a:uFillTx/>
              <a:sym typeface="Helvetica Neue"/>
            </a:endParaRPr>
          </a:p>
        </p:txBody>
      </p:sp>
      <p:sp>
        <p:nvSpPr>
          <p:cNvPr id="9" name="椭圆 8">
            <a:extLst>
              <a:ext uri="{FF2B5EF4-FFF2-40B4-BE49-F238E27FC236}">
                <a16:creationId xmlns:a16="http://schemas.microsoft.com/office/drawing/2014/main" id="{05CD55C0-6082-44F7-860E-7F018B14EFC7}"/>
              </a:ext>
            </a:extLst>
          </p:cNvPr>
          <p:cNvSpPr/>
          <p:nvPr/>
        </p:nvSpPr>
        <p:spPr>
          <a:xfrm>
            <a:off x="1185333" y="5892800"/>
            <a:ext cx="2421467" cy="1397000"/>
          </a:xfrm>
          <a:prstGeom prst="ellipse">
            <a:avLst/>
          </a:prstGeom>
          <a:noFill/>
          <a:ln w="38100" cap="flat">
            <a:solidFill>
              <a:srgbClr val="00B050"/>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36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0" name="所谓“枚举”，就是按照四种假定（可能性），逐一地去测试四个人的话有几句是真话，如果不满足三句为真，即不符合题目要求，就否定掉这一假定，换下一个可能性再试。…">
            <a:extLst>
              <a:ext uri="{FF2B5EF4-FFF2-40B4-BE49-F238E27FC236}">
                <a16:creationId xmlns:a16="http://schemas.microsoft.com/office/drawing/2014/main" id="{57409EB9-7436-4A57-A90A-43B0CD967833}"/>
              </a:ext>
            </a:extLst>
          </p:cNvPr>
          <p:cNvSpPr txBox="1"/>
          <p:nvPr/>
        </p:nvSpPr>
        <p:spPr>
          <a:xfrm>
            <a:off x="663711" y="2312711"/>
            <a:ext cx="11304844" cy="7534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just">
              <a:lnSpc>
                <a:spcPct val="150000"/>
              </a:lnSpc>
              <a:defRPr sz="3200"/>
            </a:pPr>
            <a:r>
              <a:rPr>
                <a:solidFill>
                  <a:srgbClr val="FF0000"/>
                </a:solidFill>
                <a:highlight>
                  <a:srgbClr val="FFFF00"/>
                </a:highlight>
              </a:rPr>
              <a:t>按照</a:t>
            </a:r>
            <a:r>
              <a:rPr>
                <a:highlight>
                  <a:srgbClr val="FFFF00"/>
                </a:highlight>
              </a:rPr>
              <a:t>四种可能性，</a:t>
            </a:r>
            <a:r>
              <a:rPr>
                <a:solidFill>
                  <a:schemeClr val="tx1"/>
                </a:solidFill>
                <a:highlight>
                  <a:srgbClr val="FFFF00"/>
                </a:highlight>
              </a:rPr>
              <a:t>逐一</a:t>
            </a:r>
            <a:r>
              <a:rPr lang="zh-CN" altLang="en-US">
                <a:solidFill>
                  <a:schemeClr val="tx1"/>
                </a:solidFill>
                <a:highlight>
                  <a:srgbClr val="FFFF00"/>
                </a:highlight>
              </a:rPr>
              <a:t>对每种可能性</a:t>
            </a:r>
            <a:r>
              <a:rPr>
                <a:solidFill>
                  <a:schemeClr val="tx1"/>
                </a:solidFill>
                <a:highlight>
                  <a:srgbClr val="FFFF00"/>
                </a:highlight>
              </a:rPr>
              <a:t>去测试四个人的话</a:t>
            </a:r>
            <a:r>
              <a:rPr lang="zh-CN" altLang="en-US">
                <a:solidFill>
                  <a:schemeClr val="tx1"/>
                </a:solidFill>
                <a:highlight>
                  <a:srgbClr val="FFFF00"/>
                </a:highlight>
              </a:rPr>
              <a:t>，</a:t>
            </a:r>
            <a:endParaRPr>
              <a:solidFill>
                <a:schemeClr val="tx1"/>
              </a:solidFill>
              <a:highlight>
                <a:srgbClr val="FFFF00"/>
              </a:highlight>
            </a:endParaRPr>
          </a:p>
        </p:txBody>
      </p:sp>
      <p:sp>
        <p:nvSpPr>
          <p:cNvPr id="3" name="文本框 2">
            <a:extLst>
              <a:ext uri="{FF2B5EF4-FFF2-40B4-BE49-F238E27FC236}">
                <a16:creationId xmlns:a16="http://schemas.microsoft.com/office/drawing/2014/main" id="{B56B4524-D4E3-70F3-39A0-33246BE6FE5C}"/>
              </a:ext>
            </a:extLst>
          </p:cNvPr>
          <p:cNvSpPr txBox="1"/>
          <p:nvPr/>
        </p:nvSpPr>
        <p:spPr>
          <a:xfrm>
            <a:off x="8884087" y="7393938"/>
            <a:ext cx="3234934"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zh-CN" altLang="en-US" u="none" strike="noStrike" cap="none" spc="0" normalizeH="0" baseline="0" dirty="0">
                <a:ln>
                  <a:noFill/>
                </a:ln>
                <a:solidFill>
                  <a:srgbClr val="FF0000"/>
                </a:solidFill>
                <a:effectLst/>
                <a:uFillTx/>
                <a:latin typeface="Consolas" panose="020B0609020204030204" pitchFamily="49" charset="0"/>
                <a:sym typeface="Helvetica Neue"/>
              </a:rPr>
              <a:t>在计算机（程序）中如何实现上述“假定”呢？</a:t>
            </a:r>
          </a:p>
        </p:txBody>
      </p:sp>
      <p:pic>
        <p:nvPicPr>
          <p:cNvPr id="4" name="图片 3">
            <a:extLst>
              <a:ext uri="{FF2B5EF4-FFF2-40B4-BE49-F238E27FC236}">
                <a16:creationId xmlns:a16="http://schemas.microsoft.com/office/drawing/2014/main" id="{BF9B41A6-243A-8FA2-7586-4E688F343C74}"/>
              </a:ext>
            </a:extLst>
          </p:cNvPr>
          <p:cNvPicPr>
            <a:picLocks noChangeAspect="1"/>
          </p:cNvPicPr>
          <p:nvPr/>
        </p:nvPicPr>
        <p:blipFill>
          <a:blip r:embed="rId3"/>
          <a:stretch>
            <a:fillRect/>
          </a:stretch>
        </p:blipFill>
        <p:spPr>
          <a:xfrm>
            <a:off x="7725828" y="7282980"/>
            <a:ext cx="857942" cy="1190920"/>
          </a:xfrm>
          <a:prstGeom prst="rect">
            <a:avLst/>
          </a:prstGeom>
        </p:spPr>
      </p:pic>
    </p:spTree>
    <p:extLst>
      <p:ext uri="{BB962C8B-B14F-4D97-AF65-F5344CB8AC3E}">
        <p14:creationId xmlns:p14="http://schemas.microsoft.com/office/powerpoint/2010/main" val="267415372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幻灯片编号"/>
          <p:cNvSpPr txBox="1">
            <a:spLocks noGrp="1"/>
          </p:cNvSpPr>
          <p:nvPr>
            <p:ph type="sldNum" sz="quarter" idx="2"/>
          </p:nvPr>
        </p:nvSpPr>
        <p:spPr>
          <a:xfrm>
            <a:off x="12555613" y="9176053"/>
            <a:ext cx="310413"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
        <p:nvSpPr>
          <p:cNvPr id="60" name="如何解决此类问题？"/>
          <p:cNvSpPr>
            <a:spLocks noGrp="1"/>
          </p:cNvSpPr>
          <p:nvPr>
            <p:ph type="title"/>
          </p:nvPr>
        </p:nvSpPr>
        <p:spPr>
          <a:xfrm>
            <a:off x="547201" y="354125"/>
            <a:ext cx="7269705" cy="1152045"/>
          </a:xfrm>
          <a:prstGeom prst="rect">
            <a:avLst/>
          </a:prstGeom>
        </p:spPr>
        <p:txBody>
          <a:bodyPr/>
          <a:lstStyle/>
          <a:p>
            <a:pPr algn="r"/>
            <a:r>
              <a:rPr lang="zh-CN" altLang="en-US" b="1">
                <a:solidFill>
                  <a:srgbClr val="FFFF00"/>
                </a:solidFill>
              </a:rPr>
              <a:t>关键点</a:t>
            </a:r>
            <a:r>
              <a:rPr lang="en-US" altLang="zh-CN" b="1">
                <a:solidFill>
                  <a:srgbClr val="FFFF00"/>
                </a:solidFill>
              </a:rPr>
              <a:t>2</a:t>
            </a:r>
            <a:r>
              <a:rPr lang="zh-CN" altLang="en-US" b="1">
                <a:solidFill>
                  <a:srgbClr val="FFFF00"/>
                </a:solidFill>
              </a:rPr>
              <a:t>：</a:t>
            </a:r>
            <a:r>
              <a:rPr err="1"/>
              <a:t>如何</a:t>
            </a:r>
            <a:r>
              <a:rPr lang="zh-CN" altLang="en-US"/>
              <a:t>表示语义</a:t>
            </a:r>
            <a:r>
              <a:t>？</a:t>
            </a:r>
          </a:p>
        </p:txBody>
      </p:sp>
      <p:sp>
        <p:nvSpPr>
          <p:cNvPr id="6" name="为了完成任务3.1，首先需要做的是：将四个人说的四句话（自然语言）转换成计算机可以计算的（计算机只能“理解”可以计算的东西）式子。…">
            <a:extLst>
              <a:ext uri="{FF2B5EF4-FFF2-40B4-BE49-F238E27FC236}">
                <a16:creationId xmlns:a16="http://schemas.microsoft.com/office/drawing/2014/main" id="{2B2477D6-A798-45B3-B046-41F682C7F0B5}"/>
              </a:ext>
            </a:extLst>
          </p:cNvPr>
          <p:cNvSpPr txBox="1"/>
          <p:nvPr/>
        </p:nvSpPr>
        <p:spPr>
          <a:xfrm>
            <a:off x="563908" y="2836360"/>
            <a:ext cx="12063077" cy="53267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lnSpc>
                <a:spcPct val="200000"/>
              </a:lnSpc>
              <a:defRPr sz="3200" b="0">
                <a:latin typeface="冬青黑体简体中文 W3"/>
                <a:ea typeface="冬青黑体简体中文 W3"/>
                <a:cs typeface="冬青黑体简体中文 W3"/>
                <a:sym typeface="冬青黑体简体中文 W3"/>
              </a:defRPr>
            </a:pPr>
            <a:r>
              <a:rPr lang="zh-CN" altLang="en-US" sz="4400" dirty="0"/>
              <a:t>         要将自然语言表达的语义（即</a:t>
            </a:r>
            <a:r>
              <a:rPr sz="4400" dirty="0" err="1"/>
              <a:t>四个人说的四句话</a:t>
            </a:r>
            <a:r>
              <a:rPr lang="zh-CN" altLang="en-US" sz="4400" dirty="0"/>
              <a:t>的意思</a:t>
            </a:r>
            <a:r>
              <a:rPr sz="4400" dirty="0"/>
              <a:t>）</a:t>
            </a:r>
            <a:r>
              <a:rPr lang="zh-CN" altLang="en-US" sz="4400" dirty="0"/>
              <a:t>，用</a:t>
            </a:r>
            <a:r>
              <a:rPr sz="4400" dirty="0" err="1">
                <a:highlight>
                  <a:srgbClr val="FFFF00"/>
                </a:highlight>
              </a:rPr>
              <a:t>计算机可以</a:t>
            </a:r>
            <a:r>
              <a:rPr lang="zh-CN" altLang="en-US" sz="4400" dirty="0">
                <a:highlight>
                  <a:srgbClr val="FFFF00"/>
                </a:highlight>
              </a:rPr>
              <a:t>处理（运</a:t>
            </a:r>
            <a:r>
              <a:rPr sz="4400" dirty="0">
                <a:highlight>
                  <a:srgbClr val="FFFF00"/>
                </a:highlight>
              </a:rPr>
              <a:t>算</a:t>
            </a:r>
            <a:r>
              <a:rPr lang="zh-CN" altLang="en-US" sz="4400" dirty="0">
                <a:highlight>
                  <a:srgbClr val="FFFF00"/>
                </a:highlight>
              </a:rPr>
              <a:t>）</a:t>
            </a:r>
            <a:r>
              <a:rPr sz="4400" dirty="0">
                <a:highlight>
                  <a:srgbClr val="FFFF00"/>
                </a:highlight>
              </a:rPr>
              <a:t>的</a:t>
            </a:r>
            <a:r>
              <a:rPr lang="zh-CN" altLang="en-US" sz="4400" dirty="0">
                <a:highlight>
                  <a:srgbClr val="FFFF00"/>
                </a:highlight>
              </a:rPr>
              <a:t>式子</a:t>
            </a:r>
            <a:r>
              <a:rPr lang="zh-CN" altLang="en-US" sz="4400" dirty="0"/>
              <a:t>来表示，只有这样，才能通过程序语言编程来“指挥”（控制）</a:t>
            </a:r>
            <a:r>
              <a:rPr sz="4400" dirty="0" err="1"/>
              <a:t>计算机</a:t>
            </a:r>
            <a:r>
              <a:rPr lang="zh-CN" altLang="en-US" sz="4400" dirty="0"/>
              <a:t>进行处理</a:t>
            </a:r>
            <a:r>
              <a:rPr sz="4400" dirty="0"/>
              <a:t>。</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a:p>
        </p:txBody>
      </p:sp>
      <p:sp>
        <p:nvSpPr>
          <p:cNvPr id="102" name="用枚举法求解任务3.1"/>
          <p:cNvSpPr>
            <a:spLocks noGrp="1"/>
          </p:cNvSpPr>
          <p:nvPr>
            <p:ph type="title"/>
          </p:nvPr>
        </p:nvSpPr>
        <p:spPr>
          <a:xfrm>
            <a:off x="547201" y="354125"/>
            <a:ext cx="8241957" cy="1152045"/>
          </a:xfrm>
          <a:prstGeom prst="rect">
            <a:avLst/>
          </a:prstGeom>
        </p:spPr>
        <p:txBody>
          <a:bodyPr/>
          <a:lstStyle/>
          <a:p>
            <a:pPr algn="r"/>
            <a:r>
              <a:rPr lang="zh-CN" altLang="en-US"/>
              <a:t>如何表达“</a:t>
            </a:r>
            <a:r>
              <a:rPr lang="zh-CN" altLang="en-US" b="1">
                <a:solidFill>
                  <a:srgbClr val="FFFF00"/>
                </a:solidFill>
              </a:rPr>
              <a:t>假定做好事者是</a:t>
            </a:r>
            <a:r>
              <a:rPr lang="en-US" altLang="zh-CN" b="1">
                <a:solidFill>
                  <a:srgbClr val="FFFF00"/>
                </a:solidFill>
              </a:rPr>
              <a:t>A</a:t>
            </a:r>
            <a:r>
              <a:rPr lang="zh-CN" altLang="en-US"/>
              <a:t>”？</a:t>
            </a:r>
            <a:endParaRPr/>
          </a:p>
        </p:txBody>
      </p:sp>
      <p:sp>
        <p:nvSpPr>
          <p:cNvPr id="8" name="文本框 7">
            <a:extLst>
              <a:ext uri="{FF2B5EF4-FFF2-40B4-BE49-F238E27FC236}">
                <a16:creationId xmlns:a16="http://schemas.microsoft.com/office/drawing/2014/main" id="{52492749-0F6A-48E3-AC46-A3804499E638}"/>
              </a:ext>
            </a:extLst>
          </p:cNvPr>
          <p:cNvSpPr txBox="1"/>
          <p:nvPr/>
        </p:nvSpPr>
        <p:spPr>
          <a:xfrm>
            <a:off x="6821045" y="2628908"/>
            <a:ext cx="1375766" cy="933589"/>
          </a:xfrm>
          <a:prstGeom prst="rect">
            <a:avLst/>
          </a:prstGeom>
          <a:solidFill>
            <a:schemeClr val="accent6">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50000"/>
              </a:lnSpc>
              <a:spcBef>
                <a:spcPts val="0"/>
              </a:spcBef>
              <a:spcAft>
                <a:spcPts val="0"/>
              </a:spcAft>
              <a:buClrTx/>
              <a:buSzTx/>
              <a:buFontTx/>
              <a:buNone/>
              <a:tabLst/>
            </a:pPr>
            <a:r>
              <a:rPr kumimoji="0" lang="zh-CN" altLang="en-US" sz="3600" b="1" i="0" u="none" strike="noStrike" cap="none" spc="0" normalizeH="0" baseline="0">
                <a:ln>
                  <a:noFill/>
                </a:ln>
                <a:solidFill>
                  <a:srgbClr val="000000"/>
                </a:solidFill>
                <a:effectLst/>
                <a:uFillTx/>
                <a:latin typeface="Helvetica Neue"/>
                <a:ea typeface="Helvetica Neue"/>
                <a:cs typeface="Helvetica Neue"/>
                <a:sym typeface="Helvetica Neue"/>
              </a:rPr>
              <a:t>假定</a:t>
            </a:r>
            <a:endParaRPr kumimoji="0" lang="zh-CN" altLang="en-US" sz="3600" b="1" i="0" u="none" strike="noStrike" cap="none" spc="0" normalizeH="0" baseline="0">
              <a:ln>
                <a:noFill/>
              </a:ln>
              <a:solidFill>
                <a:srgbClr val="FF0000"/>
              </a:solidFill>
              <a:effectLst/>
              <a:uFillTx/>
              <a:sym typeface="Helvetica Neue"/>
            </a:endParaRPr>
          </a:p>
        </p:txBody>
      </p:sp>
      <p:sp>
        <p:nvSpPr>
          <p:cNvPr id="3" name="箭头: 右 2">
            <a:extLst>
              <a:ext uri="{FF2B5EF4-FFF2-40B4-BE49-F238E27FC236}">
                <a16:creationId xmlns:a16="http://schemas.microsoft.com/office/drawing/2014/main" id="{720A82ED-9AF2-48B3-AE1E-4AE9D9F25807}"/>
              </a:ext>
            </a:extLst>
          </p:cNvPr>
          <p:cNvSpPr/>
          <p:nvPr/>
        </p:nvSpPr>
        <p:spPr>
          <a:xfrm>
            <a:off x="5610520" y="2904635"/>
            <a:ext cx="777923" cy="382137"/>
          </a:xfrm>
          <a:prstGeom prst="rightArrow">
            <a:avLst/>
          </a:prstGeom>
          <a:solidFill>
            <a:schemeClr val="accent5">
              <a:lumMod val="60000"/>
              <a:lumOff val="40000"/>
            </a:schemeClr>
          </a:solidFill>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11" name="文本框 10">
            <a:extLst>
              <a:ext uri="{FF2B5EF4-FFF2-40B4-BE49-F238E27FC236}">
                <a16:creationId xmlns:a16="http://schemas.microsoft.com/office/drawing/2014/main" id="{888F1DE1-6532-41B7-9C43-5A1BFE3E9CF0}"/>
              </a:ext>
            </a:extLst>
          </p:cNvPr>
          <p:cNvSpPr txBox="1"/>
          <p:nvPr/>
        </p:nvSpPr>
        <p:spPr>
          <a:xfrm>
            <a:off x="8629413" y="2628908"/>
            <a:ext cx="3646748" cy="933589"/>
          </a:xfrm>
          <a:prstGeom prst="rect">
            <a:avLst/>
          </a:prstGeom>
          <a:solidFill>
            <a:schemeClr val="accent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50000"/>
              </a:lnSpc>
              <a:spcBef>
                <a:spcPts val="0"/>
              </a:spcBef>
              <a:spcAft>
                <a:spcPts val="0"/>
              </a:spcAft>
              <a:buClrTx/>
              <a:buSzTx/>
              <a:buFontTx/>
              <a:buNone/>
              <a:tabLst/>
            </a:pPr>
            <a:r>
              <a:rPr kumimoji="0" lang="zh-CN" altLang="en-US" sz="3600" b="1" i="0" u="none" strike="noStrike" cap="none" spc="0" normalizeH="0" baseline="0">
                <a:ln>
                  <a:noFill/>
                </a:ln>
                <a:solidFill>
                  <a:srgbClr val="000000"/>
                </a:solidFill>
                <a:effectLst/>
                <a:uFillTx/>
                <a:latin typeface="Helvetica Neue"/>
                <a:ea typeface="Helvetica Neue"/>
                <a:cs typeface="Helvetica Neue"/>
                <a:sym typeface="Helvetica Neue"/>
              </a:rPr>
              <a:t> “做好事者是</a:t>
            </a:r>
            <a:r>
              <a:rPr kumimoji="0" lang="en-US" altLang="zh-CN" sz="3600" b="1" i="0" u="none" strike="noStrike" cap="none" spc="0" normalizeH="0" baseline="0">
                <a:ln>
                  <a:noFill/>
                </a:ln>
                <a:solidFill>
                  <a:srgbClr val="000000"/>
                </a:solidFill>
                <a:effectLst/>
                <a:uFillTx/>
                <a:latin typeface="Helvetica Neue"/>
                <a:ea typeface="Helvetica Neue"/>
                <a:cs typeface="Helvetica Neue"/>
                <a:sym typeface="Helvetica Neue"/>
              </a:rPr>
              <a:t>A</a:t>
            </a:r>
            <a:r>
              <a:rPr kumimoji="0" lang="zh-CN" altLang="en-US" sz="3600" b="1" i="0" u="none" strike="noStrike" cap="none" spc="0" normalizeH="0" baseline="0">
                <a:ln>
                  <a:noFill/>
                </a:ln>
                <a:solidFill>
                  <a:srgbClr val="000000"/>
                </a:solidFill>
                <a:effectLst/>
                <a:uFillTx/>
                <a:latin typeface="Helvetica Neue"/>
                <a:ea typeface="Helvetica Neue"/>
                <a:cs typeface="Helvetica Neue"/>
                <a:sym typeface="Helvetica Neue"/>
              </a:rPr>
              <a:t>”</a:t>
            </a:r>
            <a:endParaRPr kumimoji="0" lang="zh-CN" altLang="en-US" sz="3600" b="1" i="0" u="none" strike="noStrike" cap="none" spc="0" normalizeH="0" baseline="0">
              <a:ln>
                <a:noFill/>
              </a:ln>
              <a:solidFill>
                <a:srgbClr val="FF0000"/>
              </a:solidFill>
              <a:effectLst/>
              <a:uFillTx/>
              <a:sym typeface="Helvetica Neue"/>
            </a:endParaRPr>
          </a:p>
        </p:txBody>
      </p:sp>
      <p:sp>
        <p:nvSpPr>
          <p:cNvPr id="14" name="文本框 13">
            <a:extLst>
              <a:ext uri="{FF2B5EF4-FFF2-40B4-BE49-F238E27FC236}">
                <a16:creationId xmlns:a16="http://schemas.microsoft.com/office/drawing/2014/main" id="{DD632126-99EE-48B8-BE4E-2A85CE2FC093}"/>
              </a:ext>
            </a:extLst>
          </p:cNvPr>
          <p:cNvSpPr txBox="1"/>
          <p:nvPr/>
        </p:nvSpPr>
        <p:spPr>
          <a:xfrm>
            <a:off x="547201" y="2628908"/>
            <a:ext cx="4611653" cy="933589"/>
          </a:xfrm>
          <a:prstGeom prst="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50000"/>
              </a:lnSpc>
              <a:spcBef>
                <a:spcPts val="0"/>
              </a:spcBef>
              <a:spcAft>
                <a:spcPts val="0"/>
              </a:spcAft>
              <a:buClrTx/>
              <a:buSzTx/>
              <a:buFontTx/>
              <a:buNone/>
              <a:tabLst/>
            </a:pPr>
            <a:r>
              <a:rPr kumimoji="0" lang="zh-CN" altLang="en-US" sz="3600" b="1" i="0" u="none" strike="noStrike" cap="none" spc="0" normalizeH="0" baseline="0">
                <a:ln>
                  <a:noFill/>
                </a:ln>
                <a:solidFill>
                  <a:srgbClr val="000000"/>
                </a:solidFill>
                <a:effectLst/>
                <a:uFillTx/>
                <a:latin typeface="Helvetica Neue"/>
                <a:ea typeface="Helvetica Neue"/>
                <a:cs typeface="Helvetica Neue"/>
                <a:sym typeface="Helvetica Neue"/>
              </a:rPr>
              <a:t>假定 “做好事者是</a:t>
            </a:r>
            <a:r>
              <a:rPr kumimoji="0" lang="en-US" altLang="zh-CN" sz="3600" b="1" i="0" u="none" strike="noStrike" cap="none" spc="0" normalizeH="0" baseline="0">
                <a:ln>
                  <a:noFill/>
                </a:ln>
                <a:solidFill>
                  <a:srgbClr val="000000"/>
                </a:solidFill>
                <a:effectLst/>
                <a:uFillTx/>
                <a:latin typeface="Helvetica Neue"/>
                <a:ea typeface="Helvetica Neue"/>
                <a:cs typeface="Helvetica Neue"/>
                <a:sym typeface="Helvetica Neue"/>
              </a:rPr>
              <a:t>A</a:t>
            </a:r>
            <a:r>
              <a:rPr kumimoji="0" lang="zh-CN" altLang="en-US" sz="3600" b="1" i="0" u="none" strike="noStrike" cap="none" spc="0" normalizeH="0" baseline="0">
                <a:ln>
                  <a:noFill/>
                </a:ln>
                <a:solidFill>
                  <a:srgbClr val="000000"/>
                </a:solidFill>
                <a:effectLst/>
                <a:uFillTx/>
                <a:latin typeface="Helvetica Neue"/>
                <a:ea typeface="Helvetica Neue"/>
                <a:cs typeface="Helvetica Neue"/>
                <a:sym typeface="Helvetica Neue"/>
              </a:rPr>
              <a:t>”</a:t>
            </a:r>
            <a:endParaRPr kumimoji="0" lang="zh-CN" altLang="en-US" sz="3600" b="1" i="0" u="none" strike="noStrike" cap="none" spc="0" normalizeH="0" baseline="0">
              <a:ln>
                <a:noFill/>
              </a:ln>
              <a:solidFill>
                <a:srgbClr val="FF0000"/>
              </a:solidFill>
              <a:effectLst/>
              <a:uFillTx/>
              <a:sym typeface="Helvetica Neue"/>
            </a:endParaRPr>
          </a:p>
        </p:txBody>
      </p:sp>
      <p:sp>
        <p:nvSpPr>
          <p:cNvPr id="4" name="文本框 3">
            <a:extLst>
              <a:ext uri="{FF2B5EF4-FFF2-40B4-BE49-F238E27FC236}">
                <a16:creationId xmlns:a16="http://schemas.microsoft.com/office/drawing/2014/main" id="{2E5CCED1-0CA5-494D-B38F-B4EB6ADA0C24}"/>
              </a:ext>
            </a:extLst>
          </p:cNvPr>
          <p:cNvSpPr txBox="1"/>
          <p:nvPr/>
        </p:nvSpPr>
        <p:spPr>
          <a:xfrm>
            <a:off x="547201" y="4330395"/>
            <a:ext cx="11728960" cy="39805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       根据前面的分析，“假定 </a:t>
            </a:r>
            <a:r>
              <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rPr>
              <a:t>XXX</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”是对某个可能性（</a:t>
            </a:r>
            <a:r>
              <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rPr>
              <a:t>XXX</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）的</a:t>
            </a:r>
            <a:r>
              <a:rPr kumimoji="0" lang="zh-CN" altLang="en-US"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临时性承认或接受</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，是为了开展后续推理、论证的一种条件设定（设置）动作，也就是：有某个东西（条件）被临时性的设置为某个特定的内容了。</a:t>
            </a:r>
            <a:endPar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endParaRPr>
          </a:p>
          <a:p>
            <a:pPr marL="0" marR="0" indent="0" algn="l" defTabSz="584200" rtl="0" fontAlgn="auto" latinLnBrk="0" hangingPunct="0">
              <a:lnSpc>
                <a:spcPct val="150000"/>
              </a:lnSpc>
              <a:spcBef>
                <a:spcPts val="0"/>
              </a:spcBef>
              <a:spcAft>
                <a:spcPts val="0"/>
              </a:spcAft>
              <a:buClrTx/>
              <a:buSzTx/>
              <a:buFontTx/>
              <a:buNone/>
              <a:tabLst/>
            </a:pPr>
            <a:endParaRPr lang="en-US" altLang="zh-CN" dirty="0"/>
          </a:p>
          <a:p>
            <a:pPr marL="0" marR="0" indent="0" algn="l" defTabSz="584200" rtl="0" fontAlgn="auto" latinLnBrk="0" hangingPunct="0">
              <a:lnSpc>
                <a:spcPct val="150000"/>
              </a:lnSpc>
              <a:spcBef>
                <a:spcPts val="0"/>
              </a:spcBef>
              <a:spcAft>
                <a:spcPts val="0"/>
              </a:spcAft>
              <a:buClrTx/>
              <a:buSzTx/>
              <a:buFontTx/>
              <a:buNone/>
              <a:tabLst/>
            </a:pP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       根据前一讲学习的知识，上述</a:t>
            </a:r>
            <a:r>
              <a:rPr kumimoji="0" lang="zh-CN" altLang="en-US" b="1" i="0" u="none" strike="noStrike" cap="none" spc="0" normalizeH="0" baseline="0" dirty="0">
                <a:ln>
                  <a:noFill/>
                </a:ln>
                <a:solidFill>
                  <a:srgbClr val="FF0000"/>
                </a:solidFill>
                <a:effectLst/>
                <a:uFillTx/>
                <a:latin typeface="Helvetica Neue"/>
                <a:ea typeface="Helvetica Neue"/>
                <a:cs typeface="Helvetica Neue"/>
                <a:sym typeface="Helvetica Neue"/>
              </a:rPr>
              <a:t>对“某个东西的内容设定”，与编程语言中的“变量赋值”是对应的</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，或者说，可以用变量来表示那个条件，用值来表示其内容，用赋值来表示对条件内容的设定。</a:t>
            </a:r>
          </a:p>
        </p:txBody>
      </p:sp>
    </p:spTree>
    <p:extLst>
      <p:ext uri="{BB962C8B-B14F-4D97-AF65-F5344CB8AC3E}">
        <p14:creationId xmlns:p14="http://schemas.microsoft.com/office/powerpoint/2010/main" val="187511777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sp>
        <p:nvSpPr>
          <p:cNvPr id="102" name="用枚举法求解任务3.1"/>
          <p:cNvSpPr>
            <a:spLocks noGrp="1"/>
          </p:cNvSpPr>
          <p:nvPr>
            <p:ph type="title"/>
          </p:nvPr>
        </p:nvSpPr>
        <p:spPr>
          <a:xfrm>
            <a:off x="547201" y="354125"/>
            <a:ext cx="8241957" cy="1152045"/>
          </a:xfrm>
          <a:prstGeom prst="rect">
            <a:avLst/>
          </a:prstGeom>
        </p:spPr>
        <p:txBody>
          <a:bodyPr/>
          <a:lstStyle/>
          <a:p>
            <a:pPr algn="r"/>
            <a:r>
              <a:rPr lang="zh-CN" altLang="en-US"/>
              <a:t>如何表达“</a:t>
            </a:r>
            <a:r>
              <a:rPr lang="zh-CN" altLang="en-US" b="1">
                <a:solidFill>
                  <a:srgbClr val="FFFF00"/>
                </a:solidFill>
              </a:rPr>
              <a:t>假定做好事者是</a:t>
            </a:r>
            <a:r>
              <a:rPr lang="en-US" altLang="zh-CN" b="1">
                <a:solidFill>
                  <a:srgbClr val="FFFF00"/>
                </a:solidFill>
              </a:rPr>
              <a:t>A</a:t>
            </a:r>
            <a:r>
              <a:rPr lang="zh-CN" altLang="en-US"/>
              <a:t>”？</a:t>
            </a:r>
            <a:endParaRPr/>
          </a:p>
        </p:txBody>
      </p:sp>
      <p:sp>
        <p:nvSpPr>
          <p:cNvPr id="11" name="文本框 10">
            <a:extLst>
              <a:ext uri="{FF2B5EF4-FFF2-40B4-BE49-F238E27FC236}">
                <a16:creationId xmlns:a16="http://schemas.microsoft.com/office/drawing/2014/main" id="{888F1DE1-6532-41B7-9C43-5A1BFE3E9CF0}"/>
              </a:ext>
            </a:extLst>
          </p:cNvPr>
          <p:cNvSpPr txBox="1"/>
          <p:nvPr/>
        </p:nvSpPr>
        <p:spPr>
          <a:xfrm>
            <a:off x="547201" y="2424192"/>
            <a:ext cx="3646748" cy="933589"/>
          </a:xfrm>
          <a:prstGeom prst="rect">
            <a:avLst/>
          </a:prstGeom>
          <a:solidFill>
            <a:schemeClr val="accent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50000"/>
              </a:lnSpc>
              <a:spcBef>
                <a:spcPts val="0"/>
              </a:spcBef>
              <a:spcAft>
                <a:spcPts val="0"/>
              </a:spcAft>
              <a:buClrTx/>
              <a:buSzTx/>
              <a:buFontTx/>
              <a:buNone/>
              <a:tabLst/>
            </a:pPr>
            <a:r>
              <a:rPr kumimoji="0" lang="zh-CN" altLang="en-US" sz="3600" b="1" i="0" u="none" strike="noStrike" cap="none" spc="0" normalizeH="0" baseline="0" dirty="0">
                <a:ln>
                  <a:noFill/>
                </a:ln>
                <a:solidFill>
                  <a:srgbClr val="000000"/>
                </a:solidFill>
                <a:effectLst/>
                <a:uFillTx/>
                <a:latin typeface="Helvetica Neue"/>
                <a:ea typeface="Helvetica Neue"/>
                <a:cs typeface="Helvetica Neue"/>
                <a:sym typeface="Helvetica Neue"/>
              </a:rPr>
              <a:t> “做好事者是</a:t>
            </a:r>
            <a:r>
              <a:rPr kumimoji="0" lang="en-US" altLang="zh-CN" sz="3600" b="1" i="0" u="none" strike="noStrike" cap="none" spc="0" normalizeH="0" baseline="0" dirty="0">
                <a:ln>
                  <a:noFill/>
                </a:ln>
                <a:solidFill>
                  <a:srgbClr val="000000"/>
                </a:solidFill>
                <a:effectLst/>
                <a:uFillTx/>
                <a:latin typeface="Helvetica Neue"/>
                <a:ea typeface="Helvetica Neue"/>
                <a:cs typeface="Helvetica Neue"/>
                <a:sym typeface="Helvetica Neue"/>
              </a:rPr>
              <a:t>A</a:t>
            </a:r>
            <a:r>
              <a:rPr kumimoji="0" lang="zh-CN" altLang="en-US" sz="3600" b="1" i="0" u="none" strike="noStrike" cap="none" spc="0" normalizeH="0" baseline="0" dirty="0">
                <a:ln>
                  <a:noFill/>
                </a:ln>
                <a:solidFill>
                  <a:srgbClr val="000000"/>
                </a:solidFill>
                <a:effectLst/>
                <a:uFillTx/>
                <a:latin typeface="Helvetica Neue"/>
                <a:ea typeface="Helvetica Neue"/>
                <a:cs typeface="Helvetica Neue"/>
                <a:sym typeface="Helvetica Neue"/>
              </a:rPr>
              <a:t>”</a:t>
            </a:r>
            <a:endParaRPr kumimoji="0" lang="zh-CN" altLang="en-US" sz="3600" b="1" i="0" u="none" strike="noStrike" cap="none" spc="0" normalizeH="0" baseline="0" dirty="0">
              <a:ln>
                <a:noFill/>
              </a:ln>
              <a:solidFill>
                <a:srgbClr val="FF0000"/>
              </a:solidFill>
              <a:effectLst/>
              <a:uFillTx/>
              <a:sym typeface="Helvetica Neue"/>
            </a:endParaRPr>
          </a:p>
        </p:txBody>
      </p:sp>
      <p:sp>
        <p:nvSpPr>
          <p:cNvPr id="10" name="文本框 9">
            <a:extLst>
              <a:ext uri="{FF2B5EF4-FFF2-40B4-BE49-F238E27FC236}">
                <a16:creationId xmlns:a16="http://schemas.microsoft.com/office/drawing/2014/main" id="{75771FD5-68CD-47BF-BCFA-3AAD0E9BAD0A}"/>
              </a:ext>
            </a:extLst>
          </p:cNvPr>
          <p:cNvSpPr txBox="1"/>
          <p:nvPr/>
        </p:nvSpPr>
        <p:spPr>
          <a:xfrm>
            <a:off x="676855" y="3643543"/>
            <a:ext cx="11428709" cy="56425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       上面的这种“假定”，表达的语义是</a:t>
            </a:r>
            <a:r>
              <a:rPr kumimoji="0" lang="zh-CN" altLang="en-US"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a:t>
            </a:r>
            <a:r>
              <a:rPr kumimoji="0" lang="en-US" altLang="zh-CN"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X</a:t>
            </a:r>
            <a:r>
              <a:rPr kumimoji="0" lang="zh-CN" altLang="en-US"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是</a:t>
            </a:r>
            <a:r>
              <a:rPr kumimoji="0" lang="en-US" altLang="zh-CN"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Y</a:t>
            </a:r>
            <a:r>
              <a:rPr kumimoji="0" lang="zh-CN" altLang="en-US"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a:t>
            </a:r>
            <a:r>
              <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rPr>
              <a:t>X</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对应做好事者，</a:t>
            </a:r>
            <a:r>
              <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rPr>
              <a:t>Y</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对应</a:t>
            </a:r>
            <a:r>
              <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rPr>
              <a:t>A</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a:t>
            </a:r>
            <a:endPar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endParaRPr>
          </a:p>
          <a:p>
            <a:pPr marL="0" marR="0" indent="0" algn="l" defTabSz="584200" rtl="0" fontAlgn="auto" latinLnBrk="0" hangingPunct="0">
              <a:lnSpc>
                <a:spcPct val="150000"/>
              </a:lnSpc>
              <a:spcBef>
                <a:spcPts val="0"/>
              </a:spcBef>
              <a:spcAft>
                <a:spcPts val="0"/>
              </a:spcAft>
              <a:buClrTx/>
              <a:buSzTx/>
              <a:buFontTx/>
              <a:buNone/>
              <a:tabLst/>
            </a:pPr>
            <a:endPar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endParaRPr>
          </a:p>
          <a:p>
            <a:pPr algn="l">
              <a:lnSpc>
                <a:spcPct val="150000"/>
              </a:lnSpc>
            </a:pP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       根据前面的分析，需要用一个变量来表示“好事者”（即</a:t>
            </a:r>
            <a:r>
              <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rPr>
              <a:t>X</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），把值（即</a:t>
            </a:r>
            <a:r>
              <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rPr>
              <a:t>A</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）赋给变量，在编程语言中，这里的</a:t>
            </a:r>
            <a:r>
              <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rPr>
              <a:t>A</a:t>
            </a:r>
            <a:r>
              <a:rPr kumimoji="0" lang="zh-CN" altLang="en-US" b="1" i="0" u="none" strike="noStrike" cap="none" spc="0" normalizeH="0" baseline="0" dirty="0">
                <a:ln>
                  <a:noFill/>
                </a:ln>
                <a:solidFill>
                  <a:srgbClr val="00B0F0"/>
                </a:solidFill>
                <a:effectLst/>
                <a:uFillTx/>
                <a:latin typeface="Helvetica Neue"/>
                <a:ea typeface="Helvetica Neue"/>
                <a:cs typeface="Helvetica Neue"/>
                <a:sym typeface="Helvetica Neue"/>
              </a:rPr>
              <a:t>可以</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用字符类型的数据来表示，即</a:t>
            </a:r>
            <a:r>
              <a:rPr lang="en-US" altLang="zh-CN" dirty="0"/>
              <a:t> 'A'</a:t>
            </a:r>
            <a:r>
              <a:rPr lang="zh-CN" altLang="en-US" dirty="0"/>
              <a:t>。</a:t>
            </a:r>
            <a:endParaRPr lang="en-US" altLang="zh-CN" dirty="0"/>
          </a:p>
          <a:p>
            <a:pPr algn="l">
              <a:lnSpc>
                <a:spcPct val="150000"/>
              </a:lnSpc>
            </a:pPr>
            <a:endParaRPr kumimoji="0" lang="en-US" altLang="zh-CN" b="1" i="0" u="none" strike="noStrike" cap="none" spc="0" normalizeH="0" baseline="0" dirty="0">
              <a:ln>
                <a:noFill/>
              </a:ln>
              <a:solidFill>
                <a:srgbClr val="000000"/>
              </a:solidFill>
              <a:effectLst/>
              <a:uFillTx/>
              <a:sym typeface="Helvetica Neue"/>
            </a:endParaRPr>
          </a:p>
          <a:p>
            <a:pPr algn="l">
              <a:lnSpc>
                <a:spcPct val="150000"/>
              </a:lnSpc>
            </a:pPr>
            <a:r>
              <a:rPr kumimoji="0" lang="zh-CN" altLang="en-US" b="1" i="0" u="none" strike="noStrike" cap="none" spc="0" normalizeH="0" baseline="0" dirty="0">
                <a:ln>
                  <a:noFill/>
                </a:ln>
                <a:solidFill>
                  <a:srgbClr val="000000"/>
                </a:solidFill>
                <a:effectLst/>
                <a:uFillTx/>
                <a:sym typeface="Helvetica Neue"/>
              </a:rPr>
              <a:t>       由于变量要存储的内容是字符类型的数据，所以我们定义一个字符类型的变量来存储（也可理解为“表示、代表”）“做好事者”的名字（或代号），即：</a:t>
            </a:r>
            <a:endParaRPr lang="en-US" altLang="zh-CN" dirty="0"/>
          </a:p>
          <a:p>
            <a:pPr algn="l">
              <a:lnSpc>
                <a:spcPct val="150000"/>
              </a:lnSpc>
            </a:pPr>
            <a:r>
              <a:rPr lang="en-US" altLang="zh-CN" dirty="0">
                <a:latin typeface="Lucida Console" panose="020B0609040504020204" pitchFamily="49" charset="0"/>
              </a:rPr>
              <a:t>    char </a:t>
            </a:r>
            <a:r>
              <a:rPr lang="en-US" altLang="zh-CN" dirty="0" err="1">
                <a:latin typeface="Lucida Console" panose="020B0609040504020204" pitchFamily="49" charset="0"/>
              </a:rPr>
              <a:t>thisman</a:t>
            </a:r>
            <a:r>
              <a:rPr lang="en-US" altLang="zh-CN" dirty="0">
                <a:latin typeface="Lucida Console" panose="020B0609040504020204" pitchFamily="49" charset="0"/>
              </a:rPr>
              <a:t>;</a:t>
            </a:r>
          </a:p>
          <a:p>
            <a:pPr algn="l">
              <a:lnSpc>
                <a:spcPct val="150000"/>
              </a:lnSpc>
            </a:pPr>
            <a:r>
              <a:rPr kumimoji="0" lang="zh-CN" altLang="en-US" b="1" i="0" u="none" strike="noStrike" cap="none" spc="0" normalizeH="0" baseline="0" dirty="0">
                <a:ln>
                  <a:noFill/>
                </a:ln>
                <a:solidFill>
                  <a:srgbClr val="000000"/>
                </a:solidFill>
                <a:effectLst/>
                <a:uFillTx/>
                <a:latin typeface="Lucida Console" panose="020B0609040504020204" pitchFamily="49" charset="0"/>
                <a:sym typeface="Helvetica Neue"/>
              </a:rPr>
              <a:t>则，在推理过程中</a:t>
            </a:r>
            <a:r>
              <a:rPr kumimoji="0" lang="zh-CN" altLang="en-US" b="1" i="0" u="none" strike="noStrike" cap="none" spc="0" normalizeH="0" baseline="0" dirty="0">
                <a:ln>
                  <a:noFill/>
                </a:ln>
                <a:solidFill>
                  <a:srgbClr val="000000"/>
                </a:solidFill>
                <a:effectLst/>
                <a:highlight>
                  <a:srgbClr val="FFFF00"/>
                </a:highlight>
                <a:uFillTx/>
                <a:latin typeface="Lucida Console" panose="020B0609040504020204" pitchFamily="49" charset="0"/>
                <a:sym typeface="Helvetica Neue"/>
              </a:rPr>
              <a:t>临时性的假定</a:t>
            </a:r>
            <a:r>
              <a:rPr kumimoji="0" lang="zh-CN" altLang="en-US" b="1" i="0" u="none" strike="noStrike" cap="none" spc="0" normalizeH="0" baseline="0" dirty="0">
                <a:ln>
                  <a:noFill/>
                </a:ln>
                <a:solidFill>
                  <a:srgbClr val="000000"/>
                </a:solidFill>
                <a:effectLst/>
                <a:uFillTx/>
                <a:latin typeface="Lucida Console" panose="020B0609040504020204" pitchFamily="49" charset="0"/>
                <a:sym typeface="Helvetica Neue"/>
              </a:rPr>
              <a:t>“做好事者是</a:t>
            </a:r>
            <a:r>
              <a:rPr kumimoji="0" lang="en-US" altLang="zh-CN" b="1" i="0" u="none" strike="noStrike" cap="none" spc="0" normalizeH="0" baseline="0" dirty="0">
                <a:ln>
                  <a:noFill/>
                </a:ln>
                <a:solidFill>
                  <a:srgbClr val="000000"/>
                </a:solidFill>
                <a:effectLst/>
                <a:uFillTx/>
                <a:latin typeface="Lucida Console" panose="020B0609040504020204" pitchFamily="49" charset="0"/>
                <a:sym typeface="Helvetica Neue"/>
              </a:rPr>
              <a:t>A</a:t>
            </a:r>
            <a:r>
              <a:rPr kumimoji="0" lang="zh-CN" altLang="en-US" b="1" i="0" u="none" strike="noStrike" cap="none" spc="0" normalizeH="0" baseline="0" dirty="0">
                <a:ln>
                  <a:noFill/>
                </a:ln>
                <a:solidFill>
                  <a:srgbClr val="000000"/>
                </a:solidFill>
                <a:effectLst/>
                <a:uFillTx/>
                <a:latin typeface="Lucida Console" panose="020B0609040504020204" pitchFamily="49" charset="0"/>
                <a:sym typeface="Helvetica Neue"/>
              </a:rPr>
              <a:t>” 对应一条</a:t>
            </a:r>
            <a:r>
              <a:rPr kumimoji="0" lang="zh-CN" altLang="en-US" b="1" i="0" u="none" strike="noStrike" cap="none" spc="0" normalizeH="0" baseline="0" dirty="0">
                <a:ln>
                  <a:noFill/>
                </a:ln>
                <a:solidFill>
                  <a:srgbClr val="000000"/>
                </a:solidFill>
                <a:effectLst/>
                <a:highlight>
                  <a:srgbClr val="FFFF00"/>
                </a:highlight>
                <a:uFillTx/>
                <a:latin typeface="Lucida Console" panose="020B0609040504020204" pitchFamily="49" charset="0"/>
                <a:sym typeface="Helvetica Neue"/>
              </a:rPr>
              <a:t>赋值语句</a:t>
            </a:r>
            <a:r>
              <a:rPr kumimoji="0" lang="en-US" altLang="zh-CN" b="1" i="0" u="none" strike="noStrike" cap="none" spc="0" normalizeH="0" baseline="0" dirty="0">
                <a:ln>
                  <a:noFill/>
                </a:ln>
                <a:solidFill>
                  <a:srgbClr val="000000"/>
                </a:solidFill>
                <a:effectLst/>
                <a:highlight>
                  <a:srgbClr val="FFFF00"/>
                </a:highlight>
                <a:uFillTx/>
                <a:latin typeface="Lucida Console" panose="020B0609040504020204" pitchFamily="49" charset="0"/>
                <a:sym typeface="Helvetica Neue"/>
              </a:rPr>
              <a:t>:</a:t>
            </a:r>
            <a:r>
              <a:rPr kumimoji="0" lang="zh-CN" altLang="en-US" b="1" i="0" u="none" strike="noStrike" cap="none" spc="0" normalizeH="0" baseline="0" dirty="0">
                <a:ln>
                  <a:noFill/>
                </a:ln>
                <a:solidFill>
                  <a:srgbClr val="000000"/>
                </a:solidFill>
                <a:effectLst/>
                <a:uFillTx/>
                <a:latin typeface="Lucida Console" panose="020B0609040504020204" pitchFamily="49" charset="0"/>
                <a:sym typeface="Helvetica Neue"/>
              </a:rPr>
              <a:t> </a:t>
            </a:r>
            <a:endParaRPr kumimoji="0" lang="en-US" altLang="zh-CN" b="1" i="0" u="none" strike="noStrike" cap="none" spc="0" normalizeH="0" baseline="0" dirty="0">
              <a:ln>
                <a:noFill/>
              </a:ln>
              <a:solidFill>
                <a:srgbClr val="000000"/>
              </a:solidFill>
              <a:effectLst/>
              <a:uFillTx/>
              <a:latin typeface="Lucida Console" panose="020B0609040504020204" pitchFamily="49" charset="0"/>
              <a:sym typeface="Helvetica Neue"/>
            </a:endParaRPr>
          </a:p>
          <a:p>
            <a:pPr algn="l">
              <a:lnSpc>
                <a:spcPct val="150000"/>
              </a:lnSpc>
            </a:pPr>
            <a:r>
              <a:rPr lang="en-US" altLang="zh-CN" dirty="0">
                <a:latin typeface="Lucida Console" panose="020B0609040504020204" pitchFamily="49" charset="0"/>
              </a:rPr>
              <a:t>    </a:t>
            </a:r>
            <a:r>
              <a:rPr kumimoji="0" lang="en-US" altLang="zh-CN" b="1" i="0" u="none" strike="noStrike" cap="none" spc="0" normalizeH="0" baseline="0" dirty="0" err="1">
                <a:ln>
                  <a:noFill/>
                </a:ln>
                <a:solidFill>
                  <a:srgbClr val="000000"/>
                </a:solidFill>
                <a:effectLst/>
                <a:uFillTx/>
                <a:latin typeface="Lucida Console" panose="020B0609040504020204" pitchFamily="49" charset="0"/>
                <a:sym typeface="Helvetica Neue"/>
              </a:rPr>
              <a:t>thisman</a:t>
            </a:r>
            <a:r>
              <a:rPr kumimoji="0" lang="en-US" altLang="zh-CN" b="1" i="0" u="none" strike="noStrike" cap="none" spc="0" normalizeH="0" baseline="0" dirty="0">
                <a:ln>
                  <a:noFill/>
                </a:ln>
                <a:solidFill>
                  <a:srgbClr val="000000"/>
                </a:solidFill>
                <a:effectLst/>
                <a:uFillTx/>
                <a:latin typeface="Lucida Console" panose="020B0609040504020204" pitchFamily="49" charset="0"/>
                <a:sym typeface="Helvetica Neue"/>
              </a:rPr>
              <a:t> = </a:t>
            </a:r>
            <a:r>
              <a:rPr lang="en-US" altLang="zh-CN" dirty="0"/>
              <a:t>'</a:t>
            </a:r>
            <a:r>
              <a:rPr kumimoji="0" lang="en-US" altLang="zh-CN" b="1" i="0" u="none" strike="noStrike" cap="none" spc="0" normalizeH="0" baseline="0" dirty="0">
                <a:ln>
                  <a:noFill/>
                </a:ln>
                <a:solidFill>
                  <a:srgbClr val="000000"/>
                </a:solidFill>
                <a:effectLst/>
                <a:uFillTx/>
                <a:latin typeface="Lucida Console" panose="020B0609040504020204" pitchFamily="49" charset="0"/>
                <a:sym typeface="Helvetica Neue"/>
              </a:rPr>
              <a:t>A</a:t>
            </a:r>
            <a:r>
              <a:rPr lang="en-US" altLang="zh-CN" dirty="0"/>
              <a:t>'</a:t>
            </a:r>
            <a:r>
              <a:rPr kumimoji="0" lang="en-US" altLang="zh-CN" b="1" i="0" u="none" strike="noStrike" cap="none" spc="0" normalizeH="0" baseline="0" dirty="0">
                <a:ln>
                  <a:noFill/>
                </a:ln>
                <a:solidFill>
                  <a:srgbClr val="000000"/>
                </a:solidFill>
                <a:effectLst/>
                <a:uFillTx/>
                <a:latin typeface="Lucida Console" panose="020B0609040504020204" pitchFamily="49" charset="0"/>
                <a:sym typeface="Helvetica Neue"/>
              </a:rPr>
              <a:t>;</a:t>
            </a:r>
            <a:endParaRPr kumimoji="0" lang="zh-CN" altLang="en-US" b="1" i="0" u="none" strike="noStrike" cap="none" spc="0" normalizeH="0" baseline="0" dirty="0">
              <a:ln>
                <a:noFill/>
              </a:ln>
              <a:solidFill>
                <a:srgbClr val="000000"/>
              </a:solidFill>
              <a:effectLst/>
              <a:uFillTx/>
              <a:latin typeface="Lucida Console" panose="020B0609040504020204" pitchFamily="49" charset="0"/>
              <a:sym typeface="Helvetica Neue"/>
            </a:endParaRPr>
          </a:p>
        </p:txBody>
      </p:sp>
    </p:spTree>
    <p:extLst>
      <p:ext uri="{BB962C8B-B14F-4D97-AF65-F5344CB8AC3E}">
        <p14:creationId xmlns:p14="http://schemas.microsoft.com/office/powerpoint/2010/main" val="151440221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B36F98A-C40F-4847-B659-148E3EB45E80}"/>
              </a:ext>
            </a:extLst>
          </p:cNvPr>
          <p:cNvPicPr>
            <a:picLocks noChangeAspect="1"/>
          </p:cNvPicPr>
          <p:nvPr/>
        </p:nvPicPr>
        <p:blipFill>
          <a:blip r:embed="rId2"/>
          <a:stretch>
            <a:fillRect/>
          </a:stretch>
        </p:blipFill>
        <p:spPr>
          <a:xfrm>
            <a:off x="719089" y="2976357"/>
            <a:ext cx="5304951" cy="5414950"/>
          </a:xfrm>
          <a:prstGeom prst="rect">
            <a:avLst/>
          </a:prstGeom>
        </p:spPr>
      </p:pic>
      <p:sp>
        <p:nvSpPr>
          <p:cNvPr id="101"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20</a:t>
            </a:fld>
            <a:endParaRPr/>
          </a:p>
        </p:txBody>
      </p:sp>
      <p:sp>
        <p:nvSpPr>
          <p:cNvPr id="102" name="用枚举法求解任务3.1"/>
          <p:cNvSpPr>
            <a:spLocks noGrp="1"/>
          </p:cNvSpPr>
          <p:nvPr>
            <p:ph type="title"/>
          </p:nvPr>
        </p:nvSpPr>
        <p:spPr>
          <a:xfrm>
            <a:off x="547201" y="354125"/>
            <a:ext cx="4925551" cy="1152045"/>
          </a:xfrm>
          <a:prstGeom prst="rect">
            <a:avLst/>
          </a:prstGeom>
        </p:spPr>
        <p:txBody>
          <a:bodyPr/>
          <a:lstStyle/>
          <a:p>
            <a:r>
              <a:rPr lang="zh-CN" altLang="en-US" dirty="0"/>
              <a:t>对假设进行</a:t>
            </a:r>
            <a:r>
              <a:rPr lang="zh-CN" altLang="en-US" b="1" dirty="0">
                <a:solidFill>
                  <a:srgbClr val="FFFF00"/>
                </a:solidFill>
              </a:rPr>
              <a:t>验证</a:t>
            </a:r>
            <a:endParaRPr b="1" dirty="0">
              <a:solidFill>
                <a:srgbClr val="FFFF00"/>
              </a:solidFill>
            </a:endParaRPr>
          </a:p>
        </p:txBody>
      </p:sp>
      <p:sp>
        <p:nvSpPr>
          <p:cNvPr id="6" name="箭头: 右 5">
            <a:extLst>
              <a:ext uri="{FF2B5EF4-FFF2-40B4-BE49-F238E27FC236}">
                <a16:creationId xmlns:a16="http://schemas.microsoft.com/office/drawing/2014/main" id="{17EEB7C8-13D5-4A22-952B-696892462EB9}"/>
              </a:ext>
            </a:extLst>
          </p:cNvPr>
          <p:cNvSpPr/>
          <p:nvPr/>
        </p:nvSpPr>
        <p:spPr>
          <a:xfrm>
            <a:off x="6543497" y="7118159"/>
            <a:ext cx="874529" cy="701546"/>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36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 name="文本框 6">
            <a:extLst>
              <a:ext uri="{FF2B5EF4-FFF2-40B4-BE49-F238E27FC236}">
                <a16:creationId xmlns:a16="http://schemas.microsoft.com/office/drawing/2014/main" id="{7B7B6ED0-E02E-4F9A-B6B1-1ECD55BCCCB1}"/>
              </a:ext>
            </a:extLst>
          </p:cNvPr>
          <p:cNvSpPr txBox="1"/>
          <p:nvPr/>
        </p:nvSpPr>
        <p:spPr>
          <a:xfrm>
            <a:off x="6461389" y="6646235"/>
            <a:ext cx="102592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70C0"/>
                </a:solidFill>
                <a:effectLst/>
                <a:uFillTx/>
                <a:latin typeface="Helvetica Neue"/>
                <a:ea typeface="Helvetica Neue"/>
                <a:cs typeface="Helvetica Neue"/>
                <a:sym typeface="Helvetica Neue"/>
              </a:rPr>
              <a:t>类似的</a:t>
            </a:r>
          </a:p>
        </p:txBody>
      </p:sp>
      <p:sp>
        <p:nvSpPr>
          <p:cNvPr id="3" name="矩形: 圆角 2">
            <a:extLst>
              <a:ext uri="{FF2B5EF4-FFF2-40B4-BE49-F238E27FC236}">
                <a16:creationId xmlns:a16="http://schemas.microsoft.com/office/drawing/2014/main" id="{0976E597-A4A4-4212-BF01-57D3B021C31F}"/>
              </a:ext>
            </a:extLst>
          </p:cNvPr>
          <p:cNvSpPr/>
          <p:nvPr/>
        </p:nvSpPr>
        <p:spPr>
          <a:xfrm>
            <a:off x="1282889" y="6550925"/>
            <a:ext cx="4462817" cy="1371600"/>
          </a:xfrm>
          <a:prstGeom prst="roundRect">
            <a:avLst>
              <a:gd name="adj" fmla="val 4727"/>
            </a:avLst>
          </a:prstGeom>
          <a:noFill/>
          <a:ln w="38100">
            <a:solidFill>
              <a:srgbClr val="00B050"/>
            </a:solidFill>
            <a:prstDash val="dash"/>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4" name="文本框 3">
            <a:extLst>
              <a:ext uri="{FF2B5EF4-FFF2-40B4-BE49-F238E27FC236}">
                <a16:creationId xmlns:a16="http://schemas.microsoft.com/office/drawing/2014/main" id="{15FDBAFC-987C-4AB8-A3E0-977998BDB305}"/>
              </a:ext>
            </a:extLst>
          </p:cNvPr>
          <p:cNvSpPr txBox="1"/>
          <p:nvPr/>
        </p:nvSpPr>
        <p:spPr>
          <a:xfrm>
            <a:off x="7899710" y="6550925"/>
            <a:ext cx="4012575" cy="14875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lnSpc>
                <a:spcPct val="150000"/>
              </a:lnSpc>
            </a:pPr>
            <a:r>
              <a:rPr lang="zh-CN" altLang="en-US" sz="2000"/>
              <a:t>根据某个假设，对</a:t>
            </a:r>
            <a:r>
              <a:rPr lang="en-US" altLang="zh-CN" sz="2000"/>
              <a:t>ABCD</a:t>
            </a:r>
            <a:r>
              <a:rPr lang="zh-CN" altLang="en-US" sz="2000"/>
              <a:t>四个人的话进行</a:t>
            </a:r>
            <a:r>
              <a:rPr lang="zh-CN" altLang="en-US" sz="2000">
                <a:highlight>
                  <a:srgbClr val="FFFF00"/>
                </a:highlight>
              </a:rPr>
              <a:t>计算（推理）</a:t>
            </a:r>
            <a:r>
              <a:rPr lang="zh-CN" altLang="en-US" sz="2000"/>
              <a:t>，来验证假设是不是成立。</a:t>
            </a:r>
          </a:p>
        </p:txBody>
      </p:sp>
    </p:spTree>
    <p:extLst>
      <p:ext uri="{BB962C8B-B14F-4D97-AF65-F5344CB8AC3E}">
        <p14:creationId xmlns:p14="http://schemas.microsoft.com/office/powerpoint/2010/main" val="223124364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21</a:t>
            </a:fld>
            <a:endParaRPr/>
          </a:p>
        </p:txBody>
      </p:sp>
      <p:sp>
        <p:nvSpPr>
          <p:cNvPr id="91" name="用关系表达式改写四个人说的话"/>
          <p:cNvSpPr>
            <a:spLocks noGrp="1"/>
          </p:cNvSpPr>
          <p:nvPr>
            <p:ph type="title"/>
          </p:nvPr>
        </p:nvSpPr>
        <p:spPr>
          <a:xfrm>
            <a:off x="547201" y="354125"/>
            <a:ext cx="8733277" cy="1152045"/>
          </a:xfrm>
          <a:prstGeom prst="rect">
            <a:avLst/>
          </a:prstGeom>
        </p:spPr>
        <p:txBody>
          <a:bodyPr/>
          <a:lstStyle/>
          <a:p>
            <a:pPr algn="r"/>
            <a:r>
              <a:rPr lang="zh-CN" altLang="en-US"/>
              <a:t>判断性的话（</a:t>
            </a:r>
            <a:r>
              <a:rPr lang="zh-CN" altLang="en-US" b="1">
                <a:solidFill>
                  <a:srgbClr val="FFFF00"/>
                </a:solidFill>
              </a:rPr>
              <a:t>命题</a:t>
            </a:r>
            <a:r>
              <a:rPr lang="zh-CN" altLang="en-US"/>
              <a:t>）如何表示？</a:t>
            </a:r>
            <a:endParaRPr/>
          </a:p>
        </p:txBody>
      </p:sp>
      <p:graphicFrame>
        <p:nvGraphicFramePr>
          <p:cNvPr id="92" name="表格"/>
          <p:cNvGraphicFramePr/>
          <p:nvPr>
            <p:extLst>
              <p:ext uri="{D42A27DB-BD31-4B8C-83A1-F6EECF244321}">
                <p14:modId xmlns:p14="http://schemas.microsoft.com/office/powerpoint/2010/main" val="3568419595"/>
              </p:ext>
            </p:extLst>
          </p:nvPr>
        </p:nvGraphicFramePr>
        <p:xfrm>
          <a:off x="1276066" y="3620359"/>
          <a:ext cx="9899618" cy="4430205"/>
        </p:xfrm>
        <a:graphic>
          <a:graphicData uri="http://schemas.openxmlformats.org/drawingml/2006/table">
            <a:tbl>
              <a:tblPr>
                <a:tableStyleId>{33BA23B1-9221-436E-865A-0063620EA4FD}</a:tableStyleId>
              </a:tblPr>
              <a:tblGrid>
                <a:gridCol w="2108579">
                  <a:extLst>
                    <a:ext uri="{9D8B030D-6E8A-4147-A177-3AD203B41FA5}">
                      <a16:colId xmlns:a16="http://schemas.microsoft.com/office/drawing/2014/main" val="20000"/>
                    </a:ext>
                  </a:extLst>
                </a:gridCol>
                <a:gridCol w="3684896">
                  <a:extLst>
                    <a:ext uri="{9D8B030D-6E8A-4147-A177-3AD203B41FA5}">
                      <a16:colId xmlns:a16="http://schemas.microsoft.com/office/drawing/2014/main" val="20001"/>
                    </a:ext>
                  </a:extLst>
                </a:gridCol>
                <a:gridCol w="4106143">
                  <a:extLst>
                    <a:ext uri="{9D8B030D-6E8A-4147-A177-3AD203B41FA5}">
                      <a16:colId xmlns:a16="http://schemas.microsoft.com/office/drawing/2014/main" val="20002"/>
                    </a:ext>
                  </a:extLst>
                </a:gridCol>
              </a:tblGrid>
              <a:tr h="409485">
                <a:tc>
                  <a:txBody>
                    <a:bodyPr/>
                    <a:lstStyle/>
                    <a:p>
                      <a:pPr defTabSz="457200">
                        <a:lnSpc>
                          <a:spcPts val="8000"/>
                        </a:lnSpc>
                        <a:defRPr sz="1800"/>
                      </a:pPr>
                      <a:r>
                        <a:rPr sz="2800" dirty="0" err="1">
                          <a:latin typeface="冬青黑体简体中文 W3"/>
                          <a:ea typeface="冬青黑体简体中文 W3"/>
                          <a:cs typeface="冬青黑体简体中文 W3"/>
                          <a:sym typeface="冬青黑体简体中文 W3"/>
                        </a:rPr>
                        <a:t>说话人</a:t>
                      </a:r>
                      <a:endParaRPr sz="2800" dirty="0">
                        <a:latin typeface="冬青黑体简体中文 W3"/>
                        <a:ea typeface="冬青黑体简体中文 W3"/>
                        <a:cs typeface="冬青黑体简体中文 W3"/>
                        <a:sym typeface="冬青黑体简体中文 W3"/>
                      </a:endParaRPr>
                    </a:p>
                  </a:txBody>
                  <a:tcPr marL="12700" marR="12700" marT="12700" marB="0" anchor="ctr" horzOverflow="overflow">
                    <a:lnL w="38100">
                      <a:solidFill>
                        <a:srgbClr val="FFFFFF"/>
                      </a:solidFill>
                      <a:miter lim="400000"/>
                    </a:lnL>
                    <a:lnT w="38100">
                      <a:solidFill>
                        <a:srgbClr val="FFFFFF"/>
                      </a:solidFill>
                      <a:miter lim="400000"/>
                    </a:lnT>
                    <a:solidFill>
                      <a:schemeClr val="accent1">
                        <a:lumOff val="16847"/>
                      </a:schemeClr>
                    </a:solidFill>
                  </a:tcPr>
                </a:tc>
                <a:tc>
                  <a:txBody>
                    <a:bodyPr/>
                    <a:lstStyle/>
                    <a:p>
                      <a:pPr defTabSz="457200">
                        <a:lnSpc>
                          <a:spcPts val="8000"/>
                        </a:lnSpc>
                        <a:defRPr sz="1800"/>
                      </a:pPr>
                      <a:r>
                        <a:rPr sz="2800">
                          <a:latin typeface="冬青黑体简体中文 W3"/>
                          <a:ea typeface="冬青黑体简体中文 W3"/>
                          <a:cs typeface="冬青黑体简体中文 W3"/>
                          <a:sym typeface="冬青黑体简体中文 W3"/>
                        </a:rPr>
                        <a:t>说的话</a:t>
                      </a:r>
                    </a:p>
                  </a:txBody>
                  <a:tcPr marL="12700" marR="12700" marT="12700" marB="0" anchor="ctr" horzOverflow="overflow">
                    <a:lnT w="38100">
                      <a:solidFill>
                        <a:srgbClr val="FFFFFF"/>
                      </a:solidFill>
                      <a:miter lim="400000"/>
                    </a:lnT>
                    <a:solidFill>
                      <a:schemeClr val="accent1">
                        <a:lumOff val="16847"/>
                      </a:schemeClr>
                    </a:solidFill>
                  </a:tcPr>
                </a:tc>
                <a:tc>
                  <a:txBody>
                    <a:bodyPr/>
                    <a:lstStyle/>
                    <a:p>
                      <a:pPr defTabSz="457200">
                        <a:lnSpc>
                          <a:spcPts val="8000"/>
                        </a:lnSpc>
                        <a:defRPr sz="1800"/>
                      </a:pPr>
                      <a:r>
                        <a:rPr sz="2800" dirty="0" err="1">
                          <a:latin typeface="冬青黑体简体中文 W3"/>
                          <a:ea typeface="冬青黑体简体中文 W3"/>
                          <a:cs typeface="冬青黑体简体中文 W3"/>
                          <a:sym typeface="冬青黑体简体中文 W3"/>
                        </a:rPr>
                        <a:t>写成关系表达式</a:t>
                      </a:r>
                      <a:endParaRPr sz="2800" dirty="0">
                        <a:latin typeface="冬青黑体简体中文 W3"/>
                        <a:ea typeface="冬青黑体简体中文 W3"/>
                        <a:cs typeface="冬青黑体简体中文 W3"/>
                        <a:sym typeface="冬青黑体简体中文 W3"/>
                      </a:endParaRPr>
                    </a:p>
                  </a:txBody>
                  <a:tcPr marL="12700" marR="12700" marT="12700" marB="0" anchor="ctr" horzOverflow="overflow">
                    <a:lnR w="38100">
                      <a:solidFill>
                        <a:srgbClr val="FFFFFF"/>
                      </a:solidFill>
                      <a:miter lim="400000"/>
                    </a:lnR>
                    <a:lnT w="38100">
                      <a:solidFill>
                        <a:srgbClr val="FFFFFF"/>
                      </a:solidFill>
                      <a:miter lim="400000"/>
                    </a:lnT>
                    <a:solidFill>
                      <a:schemeClr val="accent1">
                        <a:lumOff val="16847"/>
                      </a:schemeClr>
                    </a:solidFill>
                  </a:tcPr>
                </a:tc>
                <a:extLst>
                  <a:ext uri="{0D108BD9-81ED-4DB2-BD59-A6C34878D82A}">
                    <a16:rowId xmlns:a16="http://schemas.microsoft.com/office/drawing/2014/main" val="10000"/>
                  </a:ext>
                </a:extLst>
              </a:tr>
              <a:tr h="770229">
                <a:tc>
                  <a:txBody>
                    <a:bodyPr/>
                    <a:lstStyle/>
                    <a:p>
                      <a:pPr defTabSz="457200">
                        <a:lnSpc>
                          <a:spcPts val="8100"/>
                        </a:lnSpc>
                        <a:defRPr sz="1800"/>
                      </a:pPr>
                      <a:r>
                        <a:rPr sz="2800">
                          <a:latin typeface="冬青黑体简体中文 W3"/>
                          <a:ea typeface="冬青黑体简体中文 W3"/>
                          <a:cs typeface="冬青黑体简体中文 W3"/>
                          <a:sym typeface="冬青黑体简体中文 W3"/>
                        </a:rPr>
                        <a:t>A</a:t>
                      </a:r>
                    </a:p>
                  </a:txBody>
                  <a:tcPr marL="12700" marR="12700" marT="12700" marB="0" anchor="ctr" horzOverflow="overflow">
                    <a:lnL w="38100">
                      <a:solidFill>
                        <a:srgbClr val="FFFFFF"/>
                      </a:solidFill>
                      <a:miter lim="400000"/>
                    </a:lnL>
                    <a:solidFill>
                      <a:srgbClr val="D6D5D5"/>
                    </a:solidFill>
                  </a:tcPr>
                </a:tc>
                <a:tc>
                  <a:txBody>
                    <a:bodyPr/>
                    <a:lstStyle/>
                    <a:p>
                      <a:pPr algn="l" defTabSz="457200">
                        <a:lnSpc>
                          <a:spcPts val="8100"/>
                        </a:lnSpc>
                        <a:defRPr sz="1800"/>
                      </a:pPr>
                      <a:r>
                        <a:rPr sz="2800">
                          <a:latin typeface="冬青黑体简体中文 W3"/>
                          <a:ea typeface="冬青黑体简体中文 W3"/>
                          <a:cs typeface="冬青黑体简体中文 W3"/>
                          <a:sym typeface="冬青黑体简体中文 W3"/>
                        </a:rPr>
                        <a:t>“</a:t>
                      </a:r>
                      <a:r>
                        <a:rPr lang="en-US" altLang="zh-CN" sz="2800">
                          <a:latin typeface="冬青黑体简体中文 W3"/>
                          <a:ea typeface="冬青黑体简体中文 W3"/>
                          <a:cs typeface="冬青黑体简体中文 W3"/>
                          <a:sym typeface="冬青黑体简体中文 W3"/>
                        </a:rPr>
                        <a:t>[</a:t>
                      </a:r>
                      <a:r>
                        <a:rPr lang="zh-CN" altLang="en-US" sz="2800">
                          <a:latin typeface="冬青黑体简体中文 W3"/>
                          <a:ea typeface="冬青黑体简体中文 W3"/>
                          <a:cs typeface="冬青黑体简体中文 W3"/>
                          <a:sym typeface="冬青黑体简体中文 W3"/>
                        </a:rPr>
                        <a:t>这个人</a:t>
                      </a:r>
                      <a:r>
                        <a:rPr lang="en-US" altLang="zh-CN" sz="2800">
                          <a:latin typeface="冬青黑体简体中文 W3"/>
                          <a:ea typeface="冬青黑体简体中文 W3"/>
                          <a:cs typeface="冬青黑体简体中文 W3"/>
                          <a:sym typeface="冬青黑体简体中文 W3"/>
                        </a:rPr>
                        <a:t>]</a:t>
                      </a:r>
                      <a:r>
                        <a:rPr sz="2800">
                          <a:latin typeface="冬青黑体简体中文 W3"/>
                          <a:ea typeface="冬青黑体简体中文 W3"/>
                          <a:cs typeface="冬青黑体简体中文 W3"/>
                          <a:sym typeface="冬青黑体简体中文 W3"/>
                        </a:rPr>
                        <a:t>不是我”</a:t>
                      </a:r>
                    </a:p>
                  </a:txBody>
                  <a:tcPr marL="12700" marR="12700" marT="12700" marB="0" anchor="ctr" horzOverflow="overflow">
                    <a:solidFill>
                      <a:srgbClr val="D6D5D5"/>
                    </a:solidFill>
                  </a:tcPr>
                </a:tc>
                <a:tc>
                  <a:txBody>
                    <a:bodyPr/>
                    <a:lstStyle/>
                    <a:p>
                      <a:pPr defTabSz="457200">
                        <a:lnSpc>
                          <a:spcPts val="8100"/>
                        </a:lnSpc>
                        <a:defRPr sz="1800"/>
                      </a:pPr>
                      <a:r>
                        <a:rPr sz="2800" b="1">
                          <a:solidFill>
                            <a:schemeClr val="accent5">
                              <a:hueOff val="-82419"/>
                              <a:satOff val="-9513"/>
                              <a:lumOff val="-16343"/>
                            </a:schemeClr>
                          </a:solidFill>
                          <a:latin typeface="Courier"/>
                          <a:ea typeface="Courier"/>
                          <a:cs typeface="Courier"/>
                        </a:rPr>
                        <a:t>thisman != 'A'</a:t>
                      </a:r>
                    </a:p>
                  </a:txBody>
                  <a:tcPr marL="12700" marR="12700" marT="12700" marB="0" anchor="ctr" horzOverflow="overflow">
                    <a:lnR w="38100">
                      <a:solidFill>
                        <a:srgbClr val="FFFFFF"/>
                      </a:solidFill>
                      <a:miter lim="400000"/>
                    </a:lnR>
                    <a:solidFill>
                      <a:srgbClr val="D6D5D5"/>
                    </a:solidFill>
                  </a:tcPr>
                </a:tc>
                <a:extLst>
                  <a:ext uri="{0D108BD9-81ED-4DB2-BD59-A6C34878D82A}">
                    <a16:rowId xmlns:a16="http://schemas.microsoft.com/office/drawing/2014/main" val="10001"/>
                  </a:ext>
                </a:extLst>
              </a:tr>
              <a:tr h="770229">
                <a:tc>
                  <a:txBody>
                    <a:bodyPr/>
                    <a:lstStyle/>
                    <a:p>
                      <a:pPr defTabSz="457200">
                        <a:lnSpc>
                          <a:spcPts val="8100"/>
                        </a:lnSpc>
                        <a:defRPr sz="1800"/>
                      </a:pPr>
                      <a:r>
                        <a:rPr sz="2800">
                          <a:latin typeface="冬青黑体简体中文 W3"/>
                          <a:ea typeface="冬青黑体简体中文 W3"/>
                          <a:cs typeface="冬青黑体简体中文 W3"/>
                          <a:sym typeface="冬青黑体简体中文 W3"/>
                        </a:rPr>
                        <a:t>B</a:t>
                      </a:r>
                    </a:p>
                  </a:txBody>
                  <a:tcPr marL="12700" marR="12700" marT="12700" marB="0" anchor="ctr" horzOverflow="overflow">
                    <a:lnL w="38100">
                      <a:solidFill>
                        <a:srgbClr val="FFFFFF"/>
                      </a:solidFill>
                      <a:miter lim="400000"/>
                    </a:lnL>
                    <a:solidFill>
                      <a:srgbClr val="D6D5D5"/>
                    </a:solidFill>
                  </a:tcPr>
                </a:tc>
                <a:tc>
                  <a:txBody>
                    <a:bodyPr/>
                    <a:lstStyle/>
                    <a:p>
                      <a:pPr algn="l" defTabSz="457200">
                        <a:lnSpc>
                          <a:spcPts val="8100"/>
                        </a:lnSpc>
                        <a:defRPr sz="1800"/>
                      </a:pPr>
                      <a:r>
                        <a:rPr sz="2800">
                          <a:latin typeface="冬青黑体简体中文 W3"/>
                          <a:ea typeface="冬青黑体简体中文 W3"/>
                          <a:cs typeface="冬青黑体简体中文 W3"/>
                          <a:sym typeface="冬青黑体简体中文 W3"/>
                        </a:rPr>
                        <a:t>“</a:t>
                      </a:r>
                      <a:r>
                        <a:rPr lang="en-US" altLang="zh-CN" sz="2800">
                          <a:latin typeface="冬青黑体简体中文 W3"/>
                          <a:ea typeface="冬青黑体简体中文 W3"/>
                          <a:cs typeface="冬青黑体简体中文 W3"/>
                          <a:sym typeface="冬青黑体简体中文 W3"/>
                        </a:rPr>
                        <a:t>[</a:t>
                      </a:r>
                      <a:r>
                        <a:rPr lang="zh-CN" altLang="en-US" sz="2800">
                          <a:latin typeface="冬青黑体简体中文 W3"/>
                          <a:ea typeface="冬青黑体简体中文 W3"/>
                          <a:cs typeface="冬青黑体简体中文 W3"/>
                          <a:sym typeface="冬青黑体简体中文 W3"/>
                        </a:rPr>
                        <a:t>这个人</a:t>
                      </a:r>
                      <a:r>
                        <a:rPr lang="en-US" altLang="zh-CN" sz="2800">
                          <a:latin typeface="冬青黑体简体中文 W3"/>
                          <a:ea typeface="冬青黑体简体中文 W3"/>
                          <a:cs typeface="冬青黑体简体中文 W3"/>
                          <a:sym typeface="冬青黑体简体中文 W3"/>
                        </a:rPr>
                        <a:t>]</a:t>
                      </a:r>
                      <a:r>
                        <a:rPr sz="2800">
                          <a:latin typeface="冬青黑体简体中文 W3"/>
                          <a:ea typeface="冬青黑体简体中文 W3"/>
                          <a:cs typeface="冬青黑体简体中文 W3"/>
                          <a:sym typeface="冬青黑体简体中文 W3"/>
                        </a:rPr>
                        <a:t>是C”</a:t>
                      </a:r>
                    </a:p>
                  </a:txBody>
                  <a:tcPr marL="12700" marR="12700" marT="12700" marB="0" anchor="ctr" horzOverflow="overflow">
                    <a:solidFill>
                      <a:srgbClr val="D6D5D5"/>
                    </a:solidFill>
                  </a:tcPr>
                </a:tc>
                <a:tc>
                  <a:txBody>
                    <a:bodyPr/>
                    <a:lstStyle/>
                    <a:p>
                      <a:pPr defTabSz="457200">
                        <a:lnSpc>
                          <a:spcPts val="8100"/>
                        </a:lnSpc>
                        <a:defRPr sz="1800"/>
                      </a:pPr>
                      <a:r>
                        <a:rPr sz="2800" b="1">
                          <a:solidFill>
                            <a:schemeClr val="accent5">
                              <a:hueOff val="-82419"/>
                              <a:satOff val="-9513"/>
                              <a:lumOff val="-16343"/>
                            </a:schemeClr>
                          </a:solidFill>
                          <a:latin typeface="Courier"/>
                          <a:ea typeface="Courier"/>
                          <a:cs typeface="Courier"/>
                        </a:rPr>
                        <a:t>thisman == 'C'</a:t>
                      </a:r>
                    </a:p>
                  </a:txBody>
                  <a:tcPr marL="12700" marR="12700" marT="12700" marB="0" anchor="ctr" horzOverflow="overflow">
                    <a:lnR w="38100">
                      <a:solidFill>
                        <a:srgbClr val="FFFFFF"/>
                      </a:solidFill>
                      <a:miter lim="400000"/>
                    </a:lnR>
                    <a:solidFill>
                      <a:srgbClr val="D6D5D5"/>
                    </a:solidFill>
                  </a:tcPr>
                </a:tc>
                <a:extLst>
                  <a:ext uri="{0D108BD9-81ED-4DB2-BD59-A6C34878D82A}">
                    <a16:rowId xmlns:a16="http://schemas.microsoft.com/office/drawing/2014/main" val="10002"/>
                  </a:ext>
                </a:extLst>
              </a:tr>
              <a:tr h="770229">
                <a:tc>
                  <a:txBody>
                    <a:bodyPr/>
                    <a:lstStyle/>
                    <a:p>
                      <a:pPr defTabSz="457200">
                        <a:lnSpc>
                          <a:spcPts val="8100"/>
                        </a:lnSpc>
                        <a:defRPr sz="1800"/>
                      </a:pPr>
                      <a:r>
                        <a:rPr sz="2800">
                          <a:latin typeface="冬青黑体简体中文 W3"/>
                          <a:ea typeface="冬青黑体简体中文 W3"/>
                          <a:cs typeface="冬青黑体简体中文 W3"/>
                          <a:sym typeface="冬青黑体简体中文 W3"/>
                        </a:rPr>
                        <a:t>C</a:t>
                      </a:r>
                    </a:p>
                  </a:txBody>
                  <a:tcPr marL="12700" marR="12700" marT="12700" marB="0" anchor="ctr" horzOverflow="overflow">
                    <a:lnL w="38100">
                      <a:solidFill>
                        <a:srgbClr val="FFFFFF"/>
                      </a:solidFill>
                      <a:miter lim="400000"/>
                    </a:lnL>
                    <a:solidFill>
                      <a:srgbClr val="D6D5D5"/>
                    </a:solidFill>
                  </a:tcPr>
                </a:tc>
                <a:tc>
                  <a:txBody>
                    <a:bodyPr/>
                    <a:lstStyle/>
                    <a:p>
                      <a:pPr algn="l" defTabSz="457200">
                        <a:lnSpc>
                          <a:spcPts val="8100"/>
                        </a:lnSpc>
                        <a:defRPr sz="1800"/>
                      </a:pPr>
                      <a:r>
                        <a:rPr sz="2800">
                          <a:latin typeface="冬青黑体简体中文 W3"/>
                          <a:ea typeface="冬青黑体简体中文 W3"/>
                          <a:cs typeface="冬青黑体简体中文 W3"/>
                          <a:sym typeface="冬青黑体简体中文 W3"/>
                        </a:rPr>
                        <a:t>“</a:t>
                      </a:r>
                      <a:r>
                        <a:rPr lang="en-US" altLang="zh-CN" sz="2800">
                          <a:latin typeface="冬青黑体简体中文 W3"/>
                          <a:ea typeface="冬青黑体简体中文 W3"/>
                          <a:cs typeface="冬青黑体简体中文 W3"/>
                          <a:sym typeface="冬青黑体简体中文 W3"/>
                        </a:rPr>
                        <a:t>[</a:t>
                      </a:r>
                      <a:r>
                        <a:rPr lang="zh-CN" altLang="en-US" sz="2800">
                          <a:latin typeface="冬青黑体简体中文 W3"/>
                          <a:ea typeface="冬青黑体简体中文 W3"/>
                          <a:cs typeface="冬青黑体简体中文 W3"/>
                          <a:sym typeface="冬青黑体简体中文 W3"/>
                        </a:rPr>
                        <a:t>这个人</a:t>
                      </a:r>
                      <a:r>
                        <a:rPr lang="en-US" altLang="zh-CN" sz="2800">
                          <a:latin typeface="冬青黑体简体中文 W3"/>
                          <a:ea typeface="冬青黑体简体中文 W3"/>
                          <a:cs typeface="冬青黑体简体中文 W3"/>
                          <a:sym typeface="冬青黑体简体中文 W3"/>
                        </a:rPr>
                        <a:t>]</a:t>
                      </a:r>
                      <a:r>
                        <a:rPr sz="2800">
                          <a:latin typeface="冬青黑体简体中文 W3"/>
                          <a:ea typeface="冬青黑体简体中文 W3"/>
                          <a:cs typeface="冬青黑体简体中文 W3"/>
                          <a:sym typeface="冬青黑体简体中文 W3"/>
                        </a:rPr>
                        <a:t>是D”</a:t>
                      </a:r>
                    </a:p>
                  </a:txBody>
                  <a:tcPr marL="12700" marR="12700" marT="12700" marB="0" anchor="ctr" horzOverflow="overflow">
                    <a:solidFill>
                      <a:srgbClr val="D6D5D5"/>
                    </a:solidFill>
                  </a:tcPr>
                </a:tc>
                <a:tc>
                  <a:txBody>
                    <a:bodyPr/>
                    <a:lstStyle/>
                    <a:p>
                      <a:pPr defTabSz="457200">
                        <a:lnSpc>
                          <a:spcPts val="8100"/>
                        </a:lnSpc>
                        <a:defRPr sz="1800"/>
                      </a:pPr>
                      <a:r>
                        <a:rPr sz="2800" b="1">
                          <a:solidFill>
                            <a:schemeClr val="accent5">
                              <a:hueOff val="-82419"/>
                              <a:satOff val="-9513"/>
                              <a:lumOff val="-16343"/>
                            </a:schemeClr>
                          </a:solidFill>
                          <a:latin typeface="Courier"/>
                          <a:ea typeface="Courier"/>
                          <a:cs typeface="Courier"/>
                        </a:rPr>
                        <a:t>thisman == 'D'</a:t>
                      </a:r>
                    </a:p>
                  </a:txBody>
                  <a:tcPr marL="12700" marR="12700" marT="12700" marB="0" anchor="ctr" horzOverflow="overflow">
                    <a:lnR w="38100">
                      <a:solidFill>
                        <a:srgbClr val="FFFFFF"/>
                      </a:solidFill>
                      <a:miter lim="400000"/>
                    </a:lnR>
                    <a:solidFill>
                      <a:srgbClr val="D6D5D5"/>
                    </a:solidFill>
                  </a:tcPr>
                </a:tc>
                <a:extLst>
                  <a:ext uri="{0D108BD9-81ED-4DB2-BD59-A6C34878D82A}">
                    <a16:rowId xmlns:a16="http://schemas.microsoft.com/office/drawing/2014/main" val="10003"/>
                  </a:ext>
                </a:extLst>
              </a:tr>
              <a:tr h="770229">
                <a:tc>
                  <a:txBody>
                    <a:bodyPr/>
                    <a:lstStyle/>
                    <a:p>
                      <a:pPr defTabSz="457200">
                        <a:lnSpc>
                          <a:spcPts val="8100"/>
                        </a:lnSpc>
                        <a:defRPr sz="1800"/>
                      </a:pPr>
                      <a:r>
                        <a:rPr sz="2800">
                          <a:latin typeface="冬青黑体简体中文 W3"/>
                          <a:ea typeface="冬青黑体简体中文 W3"/>
                          <a:cs typeface="冬青黑体简体中文 W3"/>
                          <a:sym typeface="冬青黑体简体中文 W3"/>
                        </a:rPr>
                        <a:t>D</a:t>
                      </a:r>
                    </a:p>
                  </a:txBody>
                  <a:tcPr marL="12700" marR="12700" marT="12700" marB="0" anchor="ctr" horzOverflow="overflow">
                    <a:lnL w="38100">
                      <a:solidFill>
                        <a:srgbClr val="FFFFFF"/>
                      </a:solidFill>
                      <a:miter lim="400000"/>
                    </a:lnL>
                    <a:lnB w="38100">
                      <a:solidFill>
                        <a:srgbClr val="FFFFFF"/>
                      </a:solidFill>
                      <a:miter lim="400000"/>
                    </a:lnB>
                    <a:solidFill>
                      <a:srgbClr val="D6D5D5"/>
                    </a:solidFill>
                  </a:tcPr>
                </a:tc>
                <a:tc>
                  <a:txBody>
                    <a:bodyPr/>
                    <a:lstStyle/>
                    <a:p>
                      <a:pPr algn="l" defTabSz="457200">
                        <a:lnSpc>
                          <a:spcPts val="8100"/>
                        </a:lnSpc>
                        <a:defRPr sz="1800"/>
                      </a:pPr>
                      <a:r>
                        <a:rPr sz="2800">
                          <a:latin typeface="冬青黑体简体中文 W3"/>
                          <a:ea typeface="冬青黑体简体中文 W3"/>
                          <a:cs typeface="冬青黑体简体中文 W3"/>
                          <a:sym typeface="冬青黑体简体中文 W3"/>
                        </a:rPr>
                        <a:t>“他</a:t>
                      </a:r>
                      <a:r>
                        <a:rPr lang="en-US" altLang="zh-CN" sz="2800">
                          <a:solidFill>
                            <a:srgbClr val="FF0000"/>
                          </a:solidFill>
                          <a:latin typeface="冬青黑体简体中文 W3"/>
                          <a:ea typeface="冬青黑体简体中文 W3"/>
                          <a:cs typeface="冬青黑体简体中文 W3"/>
                          <a:sym typeface="冬青黑体简体中文 W3"/>
                        </a:rPr>
                        <a:t>(C)</a:t>
                      </a:r>
                      <a:r>
                        <a:rPr sz="2800">
                          <a:latin typeface="冬青黑体简体中文 W3"/>
                          <a:ea typeface="冬青黑体简体中文 W3"/>
                          <a:cs typeface="冬青黑体简体中文 W3"/>
                          <a:sym typeface="冬青黑体简体中文 W3"/>
                        </a:rPr>
                        <a:t>胡说”</a:t>
                      </a:r>
                    </a:p>
                  </a:txBody>
                  <a:tcPr marL="12700" marR="12700" marT="12700" marB="0" anchor="ctr" horzOverflow="overflow">
                    <a:lnB w="38100">
                      <a:solidFill>
                        <a:srgbClr val="FFFFFF"/>
                      </a:solidFill>
                      <a:miter lim="400000"/>
                    </a:lnB>
                    <a:solidFill>
                      <a:srgbClr val="D6D5D5"/>
                    </a:solidFill>
                  </a:tcPr>
                </a:tc>
                <a:tc>
                  <a:txBody>
                    <a:bodyPr/>
                    <a:lstStyle/>
                    <a:p>
                      <a:pPr defTabSz="457200">
                        <a:lnSpc>
                          <a:spcPts val="8100"/>
                        </a:lnSpc>
                        <a:defRPr sz="1800"/>
                      </a:pPr>
                      <a:r>
                        <a:rPr sz="2800" b="1" dirty="0" err="1">
                          <a:solidFill>
                            <a:schemeClr val="accent5">
                              <a:hueOff val="-82419"/>
                              <a:satOff val="-9513"/>
                              <a:lumOff val="-16343"/>
                            </a:schemeClr>
                          </a:solidFill>
                          <a:latin typeface="Courier"/>
                          <a:ea typeface="Courier"/>
                          <a:cs typeface="Courier"/>
                        </a:rPr>
                        <a:t>thisman</a:t>
                      </a:r>
                      <a:r>
                        <a:rPr sz="2800" b="1" dirty="0">
                          <a:solidFill>
                            <a:schemeClr val="accent5">
                              <a:hueOff val="-82419"/>
                              <a:satOff val="-9513"/>
                              <a:lumOff val="-16343"/>
                            </a:schemeClr>
                          </a:solidFill>
                          <a:latin typeface="Courier"/>
                          <a:ea typeface="Courier"/>
                          <a:cs typeface="Courier"/>
                        </a:rPr>
                        <a:t> != 'D'</a:t>
                      </a:r>
                    </a:p>
                  </a:txBody>
                  <a:tcPr marL="12700" marR="12700" marT="12700" marB="0" anchor="ctr" horzOverflow="overflow">
                    <a:lnR w="38100">
                      <a:solidFill>
                        <a:srgbClr val="FFFFFF"/>
                      </a:solidFill>
                      <a:miter lim="400000"/>
                    </a:lnR>
                    <a:lnB w="38100">
                      <a:solidFill>
                        <a:srgbClr val="FFFFFF"/>
                      </a:solidFill>
                      <a:miter lim="400000"/>
                    </a:lnB>
                    <a:solidFill>
                      <a:srgbClr val="D6D5D5"/>
                    </a:solidFill>
                  </a:tcPr>
                </a:tc>
                <a:extLst>
                  <a:ext uri="{0D108BD9-81ED-4DB2-BD59-A6C34878D82A}">
                    <a16:rowId xmlns:a16="http://schemas.microsoft.com/office/drawing/2014/main" val="10004"/>
                  </a:ext>
                </a:extLst>
              </a:tr>
            </a:tbl>
          </a:graphicData>
        </a:graphic>
      </p:graphicFrame>
      <p:sp>
        <p:nvSpPr>
          <p:cNvPr id="2" name="文本框 1">
            <a:extLst>
              <a:ext uri="{FF2B5EF4-FFF2-40B4-BE49-F238E27FC236}">
                <a16:creationId xmlns:a16="http://schemas.microsoft.com/office/drawing/2014/main" id="{F561D1EF-A56F-4699-AF2C-56DFA9B615C5}"/>
              </a:ext>
            </a:extLst>
          </p:cNvPr>
          <p:cNvSpPr txBox="1"/>
          <p:nvPr/>
        </p:nvSpPr>
        <p:spPr>
          <a:xfrm>
            <a:off x="2950063" y="8439726"/>
            <a:ext cx="8554999"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lnSpc>
                <a:spcPct val="150000"/>
              </a:lnSpc>
            </a:pPr>
            <a:r>
              <a:rPr lang="zh-CN" altLang="en-US" sz="2000"/>
              <a:t>“</a:t>
            </a:r>
            <a:r>
              <a:rPr lang="en-US" altLang="zh-CN" sz="2000"/>
              <a:t>C</a:t>
            </a:r>
            <a:r>
              <a:rPr lang="zh-CN" altLang="en-US" sz="2000"/>
              <a:t>胡说”的意思，是说</a:t>
            </a:r>
            <a:r>
              <a:rPr lang="en-US" altLang="zh-CN" sz="2000"/>
              <a:t>C</a:t>
            </a:r>
            <a:r>
              <a:rPr lang="zh-CN" altLang="en-US" sz="2000"/>
              <a:t>说的不对，意思是</a:t>
            </a:r>
            <a:r>
              <a:rPr lang="en-US" altLang="zh-CN" sz="2000"/>
              <a:t>C</a:t>
            </a:r>
            <a:r>
              <a:rPr lang="zh-CN" altLang="en-US" sz="2000"/>
              <a:t>所说的 </a:t>
            </a:r>
            <a:r>
              <a:rPr lang="en-US" altLang="zh-CN" sz="2000" err="1"/>
              <a:t>thisman</a:t>
            </a:r>
            <a:r>
              <a:rPr lang="en-US" altLang="zh-CN" sz="2000"/>
              <a:t> = 'D'</a:t>
            </a:r>
            <a:r>
              <a:rPr lang="zh-CN" altLang="en-US" sz="2000"/>
              <a:t> 是错的，即：</a:t>
            </a:r>
            <a:r>
              <a:rPr lang="en-US" altLang="zh-CN" sz="2000"/>
              <a:t>D</a:t>
            </a:r>
            <a:r>
              <a:rPr lang="zh-CN" altLang="en-US" sz="2000"/>
              <a:t>的观点是 </a:t>
            </a:r>
            <a:r>
              <a:rPr lang="en-US" altLang="zh-CN" sz="2000" err="1"/>
              <a:t>thisman</a:t>
            </a:r>
            <a:r>
              <a:rPr lang="en-US" altLang="zh-CN" sz="2000"/>
              <a:t> != 'D'</a:t>
            </a:r>
          </a:p>
        </p:txBody>
      </p:sp>
      <p:sp>
        <p:nvSpPr>
          <p:cNvPr id="7" name="文本框 6">
            <a:extLst>
              <a:ext uri="{FF2B5EF4-FFF2-40B4-BE49-F238E27FC236}">
                <a16:creationId xmlns:a16="http://schemas.microsoft.com/office/drawing/2014/main" id="{EBB195AF-AEDA-4391-9B9E-B63129A95673}"/>
              </a:ext>
            </a:extLst>
          </p:cNvPr>
          <p:cNvSpPr txBox="1"/>
          <p:nvPr/>
        </p:nvSpPr>
        <p:spPr>
          <a:xfrm>
            <a:off x="547201" y="2118927"/>
            <a:ext cx="11790375"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lnSpc>
                <a:spcPct val="150000"/>
              </a:lnSpc>
            </a:pPr>
            <a:r>
              <a:rPr lang="zh-CN" altLang="en-US" dirty="0"/>
              <a:t>陈述</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命题的句式 </a:t>
            </a:r>
            <a:r>
              <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rPr>
              <a:t>——</a:t>
            </a:r>
            <a:r>
              <a:rPr kumimoji="0" lang="en-US" altLang="zh-CN" b="1" i="0" u="none" strike="noStrike" cap="none" spc="0" normalizeH="0" baseline="0" dirty="0">
                <a:ln>
                  <a:noFill/>
                </a:ln>
                <a:solidFill>
                  <a:srgbClr val="FF0000"/>
                </a:solidFill>
                <a:effectLst/>
                <a:uFillTx/>
                <a:latin typeface="Helvetica Neue"/>
                <a:ea typeface="Helvetica Neue"/>
                <a:cs typeface="Helvetica Neue"/>
                <a:sym typeface="Helvetica Neue"/>
              </a:rPr>
              <a:t> </a:t>
            </a:r>
            <a:r>
              <a:rPr kumimoji="0" lang="zh-CN" altLang="en-US" b="1" i="0" u="none" strike="noStrike" cap="none" spc="0" normalizeH="0" baseline="0" dirty="0">
                <a:ln>
                  <a:noFill/>
                </a:ln>
                <a:solidFill>
                  <a:srgbClr val="FF0000"/>
                </a:solidFill>
                <a:effectLst/>
                <a:uFillTx/>
                <a:latin typeface="Helvetica Neue"/>
                <a:ea typeface="Helvetica Neue"/>
                <a:cs typeface="Helvetica Neue"/>
                <a:sym typeface="Helvetica Neue"/>
              </a:rPr>
              <a:t>“</a:t>
            </a:r>
            <a:r>
              <a:rPr kumimoji="0" lang="en-US" altLang="zh-CN" b="1" i="0" u="none" strike="noStrike" cap="none" spc="0" normalizeH="0" baseline="0" dirty="0">
                <a:ln>
                  <a:noFill/>
                </a:ln>
                <a:solidFill>
                  <a:srgbClr val="FF0000"/>
                </a:solidFill>
                <a:effectLst/>
                <a:uFillTx/>
                <a:latin typeface="Helvetica Neue"/>
                <a:ea typeface="Helvetica Neue"/>
                <a:cs typeface="Helvetica Neue"/>
                <a:sym typeface="Helvetica Neue"/>
              </a:rPr>
              <a:t>X</a:t>
            </a:r>
            <a:r>
              <a:rPr kumimoji="0" lang="zh-CN" altLang="en-US" b="1" i="0" u="none" strike="noStrike" cap="none" spc="0" normalizeH="0" baseline="0" dirty="0">
                <a:ln>
                  <a:noFill/>
                </a:ln>
                <a:solidFill>
                  <a:srgbClr val="FF0000"/>
                </a:solidFill>
                <a:effectLst/>
                <a:uFillTx/>
                <a:latin typeface="Helvetica Neue"/>
                <a:ea typeface="Helvetica Neue"/>
                <a:cs typeface="Helvetica Neue"/>
                <a:sym typeface="Helvetica Neue"/>
              </a:rPr>
              <a:t>是</a:t>
            </a:r>
            <a:r>
              <a:rPr kumimoji="0" lang="en-US" altLang="zh-CN" b="1" i="0" u="none" strike="noStrike" cap="none" spc="0" normalizeH="0" baseline="0" dirty="0">
                <a:ln>
                  <a:noFill/>
                </a:ln>
                <a:solidFill>
                  <a:srgbClr val="FF0000"/>
                </a:solidFill>
                <a:effectLst/>
                <a:uFillTx/>
                <a:latin typeface="Helvetica Neue"/>
                <a:ea typeface="Helvetica Neue"/>
                <a:cs typeface="Helvetica Neue"/>
                <a:sym typeface="Helvetica Neue"/>
              </a:rPr>
              <a:t>Y</a:t>
            </a:r>
            <a:r>
              <a:rPr kumimoji="0" lang="zh-CN" altLang="en-US" b="1" i="0" u="none" strike="noStrike" cap="none" spc="0" normalizeH="0" baseline="0" dirty="0">
                <a:ln>
                  <a:noFill/>
                </a:ln>
                <a:solidFill>
                  <a:srgbClr val="FF0000"/>
                </a:solidFill>
                <a:effectLst/>
                <a:uFillTx/>
                <a:latin typeface="Helvetica Neue"/>
                <a:ea typeface="Helvetica Neue"/>
                <a:cs typeface="Helvetica Neue"/>
                <a:sym typeface="Helvetica Neue"/>
              </a:rPr>
              <a:t>”，表达的是一种判断，对是否具有相等关系的判断</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。命题的“值”只有“真”与“假”两种。在用编程语言来表示命题“</a:t>
            </a:r>
            <a:r>
              <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rPr>
              <a:t>X</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是</a:t>
            </a:r>
            <a:r>
              <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rPr>
              <a:t>Y</a:t>
            </a:r>
            <a:r>
              <a:rPr kumimoji="0" lang="zh-CN" altLang="en-US" b="1" i="0" u="none" strike="noStrike" cap="none" spc="0" normalizeH="0" baseline="0" dirty="0">
                <a:ln>
                  <a:noFill/>
                </a:ln>
                <a:solidFill>
                  <a:srgbClr val="000000"/>
                </a:solidFill>
                <a:effectLst/>
                <a:uFillTx/>
                <a:latin typeface="Helvetica Neue"/>
                <a:ea typeface="Helvetica Neue"/>
                <a:cs typeface="Helvetica Neue"/>
                <a:sym typeface="Helvetica Neue"/>
              </a:rPr>
              <a:t>”时，要使用关系运算。</a:t>
            </a:r>
            <a:endParaRPr kumimoji="0" lang="en-US" altLang="zh-CN"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22</a:t>
            </a:fld>
            <a:endParaRPr/>
          </a:p>
        </p:txBody>
      </p:sp>
      <p:sp>
        <p:nvSpPr>
          <p:cNvPr id="106" name="（1）假定 thisman = 'A'，代入四句话中"/>
          <p:cNvSpPr>
            <a:spLocks noGrp="1"/>
          </p:cNvSpPr>
          <p:nvPr>
            <p:ph type="title"/>
          </p:nvPr>
        </p:nvSpPr>
        <p:spPr>
          <a:xfrm>
            <a:off x="547201" y="354125"/>
            <a:ext cx="10128213" cy="1152045"/>
          </a:xfrm>
          <a:prstGeom prst="rect">
            <a:avLst/>
          </a:prstGeom>
          <a:solidFill>
            <a:schemeClr val="accent5">
              <a:hueOff val="-82419"/>
              <a:satOff val="-9513"/>
              <a:lumOff val="-16343"/>
            </a:schemeClr>
          </a:solidFill>
          <a:ln w="12700">
            <a:miter lim="400000"/>
          </a:ln>
          <a:effectLst>
            <a:outerShdw blurRad="190500" dist="8455" dir="5400000" rotWithShape="0">
              <a:srgbClr val="000000"/>
            </a:outerShdw>
          </a:effectLst>
        </p:spPr>
        <p:txBody>
          <a:bodyPr lIns="65022" tIns="65022" rIns="65022" bIns="65022" anchor="ctr">
            <a:noAutofit/>
          </a:bodyPr>
          <a:lstStyle/>
          <a:p>
            <a:r>
              <a:rPr lang="zh-CN" altLang="en-US" b="1">
                <a:solidFill>
                  <a:srgbClr val="FFFF00"/>
                </a:solidFill>
                <a:sym typeface="Helvetica Neue"/>
              </a:rPr>
              <a:t>逐一</a:t>
            </a:r>
            <a:r>
              <a:rPr lang="zh-CN" altLang="en-US">
                <a:sym typeface="Helvetica Neue"/>
              </a:rPr>
              <a:t>测试</a:t>
            </a:r>
            <a:r>
              <a:rPr lang="en-US" altLang="zh-CN">
                <a:sym typeface="Helvetica Neue"/>
              </a:rPr>
              <a:t>4</a:t>
            </a:r>
            <a:r>
              <a:rPr lang="zh-CN" altLang="en-US">
                <a:sym typeface="Helvetica Neue"/>
              </a:rPr>
              <a:t>种可能性：代入四句话中</a:t>
            </a:r>
          </a:p>
        </p:txBody>
      </p:sp>
      <p:pic>
        <p:nvPicPr>
          <p:cNvPr id="3" name="图片 2">
            <a:extLst>
              <a:ext uri="{FF2B5EF4-FFF2-40B4-BE49-F238E27FC236}">
                <a16:creationId xmlns:a16="http://schemas.microsoft.com/office/drawing/2014/main" id="{A9E2D1D8-8F37-4FAB-A369-84309BC61E46}"/>
              </a:ext>
            </a:extLst>
          </p:cNvPr>
          <p:cNvPicPr>
            <a:picLocks noChangeAspect="1"/>
          </p:cNvPicPr>
          <p:nvPr/>
        </p:nvPicPr>
        <p:blipFill rotWithShape="1">
          <a:blip r:embed="rId2">
            <a:extLst>
              <a:ext uri="{28A0092B-C50C-407E-A947-70E740481C1C}">
                <a14:useLocalDpi xmlns:a14="http://schemas.microsoft.com/office/drawing/2010/main" val="0"/>
              </a:ext>
            </a:extLst>
          </a:blip>
          <a:srcRect r="47124"/>
          <a:stretch/>
        </p:blipFill>
        <p:spPr>
          <a:xfrm>
            <a:off x="663711" y="4184132"/>
            <a:ext cx="3611955" cy="4096268"/>
          </a:xfrm>
          <a:prstGeom prst="rect">
            <a:avLst/>
          </a:prstGeom>
        </p:spPr>
      </p:pic>
      <p:sp>
        <p:nvSpPr>
          <p:cNvPr id="9" name="文本框 8">
            <a:extLst>
              <a:ext uri="{FF2B5EF4-FFF2-40B4-BE49-F238E27FC236}">
                <a16:creationId xmlns:a16="http://schemas.microsoft.com/office/drawing/2014/main" id="{52AC78F7-33F9-4ACE-8DD7-5A65C80C6449}"/>
              </a:ext>
            </a:extLst>
          </p:cNvPr>
          <p:cNvSpPr txBox="1"/>
          <p:nvPr/>
        </p:nvSpPr>
        <p:spPr>
          <a:xfrm>
            <a:off x="663711" y="3343121"/>
            <a:ext cx="10128213"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lang="en-US" altLang="zh-CN">
                <a:solidFill>
                  <a:srgbClr val="FF0000"/>
                </a:solidFill>
              </a:rPr>
              <a:t>STEP 1. </a:t>
            </a:r>
            <a:r>
              <a:rPr lang="zh-CN" altLang="en-US">
                <a:solidFill>
                  <a:srgbClr val="FF0000"/>
                </a:solidFill>
              </a:rPr>
              <a:t>做出假设，即 </a:t>
            </a:r>
            <a:r>
              <a:rPr lang="en-US" altLang="zh-CN"/>
              <a:t>thisman = 'A'</a:t>
            </a:r>
            <a:endPar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4" name="箭头: 右 3">
            <a:extLst>
              <a:ext uri="{FF2B5EF4-FFF2-40B4-BE49-F238E27FC236}">
                <a16:creationId xmlns:a16="http://schemas.microsoft.com/office/drawing/2014/main" id="{0C298C70-C94B-4487-8D49-C734CA969708}"/>
              </a:ext>
            </a:extLst>
          </p:cNvPr>
          <p:cNvSpPr/>
          <p:nvPr/>
        </p:nvSpPr>
        <p:spPr>
          <a:xfrm>
            <a:off x="5626100" y="6283311"/>
            <a:ext cx="889000" cy="499533"/>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36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 name="文本框 10">
            <a:extLst>
              <a:ext uri="{FF2B5EF4-FFF2-40B4-BE49-F238E27FC236}">
                <a16:creationId xmlns:a16="http://schemas.microsoft.com/office/drawing/2014/main" id="{5A651E72-4CA0-41F5-B74F-90F5277B37C0}"/>
              </a:ext>
            </a:extLst>
          </p:cNvPr>
          <p:cNvSpPr txBox="1"/>
          <p:nvPr/>
        </p:nvSpPr>
        <p:spPr>
          <a:xfrm>
            <a:off x="4381500" y="5072723"/>
            <a:ext cx="3378200"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lang="zh-CN" altLang="en-US">
                <a:solidFill>
                  <a:srgbClr val="FF0000"/>
                </a:solidFill>
              </a:rPr>
              <a:t>基于假设 </a:t>
            </a:r>
            <a:r>
              <a:rPr lang="en-US" altLang="zh-CN"/>
              <a:t>thisman = 'A'</a:t>
            </a:r>
          </a:p>
          <a:p>
            <a:pPr marL="0" marR="0" indent="0" defTabSz="584200" rtl="0" fontAlgn="auto" latinLnBrk="0" hangingPunct="0">
              <a:lnSpc>
                <a:spcPct val="150000"/>
              </a:lnSpc>
              <a:spcBef>
                <a:spcPts val="0"/>
              </a:spcBef>
              <a:spcAft>
                <a:spcPts val="0"/>
              </a:spcAft>
              <a:buClrTx/>
              <a:buSzTx/>
              <a:buFontTx/>
              <a:buNone/>
              <a:tabLst/>
            </a:pPr>
            <a:r>
              <a:rPr lang="en-US" altLang="zh-CN"/>
              <a:t>STEP 2.</a:t>
            </a:r>
            <a:r>
              <a:rPr lang="zh-CN" altLang="en-US"/>
              <a:t> 进行推理</a:t>
            </a:r>
            <a:endPar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pic>
        <p:nvPicPr>
          <p:cNvPr id="12" name="图片 11">
            <a:extLst>
              <a:ext uri="{FF2B5EF4-FFF2-40B4-BE49-F238E27FC236}">
                <a16:creationId xmlns:a16="http://schemas.microsoft.com/office/drawing/2014/main" id="{76671BC5-0EF4-4720-8B61-09A73585D82C}"/>
              </a:ext>
            </a:extLst>
          </p:cNvPr>
          <p:cNvPicPr>
            <a:picLocks noChangeAspect="1"/>
          </p:cNvPicPr>
          <p:nvPr/>
        </p:nvPicPr>
        <p:blipFill rotWithShape="1">
          <a:blip r:embed="rId2">
            <a:extLst>
              <a:ext uri="{28A0092B-C50C-407E-A947-70E740481C1C}">
                <a14:useLocalDpi xmlns:a14="http://schemas.microsoft.com/office/drawing/2010/main" val="0"/>
              </a:ext>
            </a:extLst>
          </a:blip>
          <a:srcRect l="52876" r="18196"/>
          <a:stretch/>
        </p:blipFill>
        <p:spPr>
          <a:xfrm>
            <a:off x="7865534" y="4184132"/>
            <a:ext cx="1976045" cy="4096268"/>
          </a:xfrm>
          <a:prstGeom prst="rect">
            <a:avLst/>
          </a:prstGeom>
        </p:spPr>
      </p:pic>
      <p:sp>
        <p:nvSpPr>
          <p:cNvPr id="13" name="箭头: 右 12">
            <a:extLst>
              <a:ext uri="{FF2B5EF4-FFF2-40B4-BE49-F238E27FC236}">
                <a16:creationId xmlns:a16="http://schemas.microsoft.com/office/drawing/2014/main" id="{2B4C5CCF-636A-42BF-9584-69ED93E94A93}"/>
              </a:ext>
            </a:extLst>
          </p:cNvPr>
          <p:cNvSpPr/>
          <p:nvPr/>
        </p:nvSpPr>
        <p:spPr>
          <a:xfrm>
            <a:off x="11152916" y="6283310"/>
            <a:ext cx="889000" cy="499533"/>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36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4" name="文本框 13">
            <a:extLst>
              <a:ext uri="{FF2B5EF4-FFF2-40B4-BE49-F238E27FC236}">
                <a16:creationId xmlns:a16="http://schemas.microsoft.com/office/drawing/2014/main" id="{1E644860-7204-4A19-93D7-A5F1360E2D22}"/>
              </a:ext>
            </a:extLst>
          </p:cNvPr>
          <p:cNvSpPr txBox="1"/>
          <p:nvPr/>
        </p:nvSpPr>
        <p:spPr>
          <a:xfrm>
            <a:off x="10003604" y="5171595"/>
            <a:ext cx="987286"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lang="en-US" altLang="zh-CN">
                <a:solidFill>
                  <a:srgbClr val="FF0000"/>
                </a:solidFill>
              </a:rPr>
              <a:t>false</a:t>
            </a:r>
            <a:endPar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15" name="文本框 14">
            <a:extLst>
              <a:ext uri="{FF2B5EF4-FFF2-40B4-BE49-F238E27FC236}">
                <a16:creationId xmlns:a16="http://schemas.microsoft.com/office/drawing/2014/main" id="{5514B2D1-C696-453E-875B-B15B0CA7EC4F}"/>
              </a:ext>
            </a:extLst>
          </p:cNvPr>
          <p:cNvSpPr txBox="1"/>
          <p:nvPr/>
        </p:nvSpPr>
        <p:spPr>
          <a:xfrm>
            <a:off x="10003604" y="5955015"/>
            <a:ext cx="987286"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lang="en-US" altLang="zh-CN">
                <a:solidFill>
                  <a:srgbClr val="FF0000"/>
                </a:solidFill>
              </a:rPr>
              <a:t>false</a:t>
            </a:r>
            <a:endPar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16" name="文本框 15">
            <a:extLst>
              <a:ext uri="{FF2B5EF4-FFF2-40B4-BE49-F238E27FC236}">
                <a16:creationId xmlns:a16="http://schemas.microsoft.com/office/drawing/2014/main" id="{57EE2BBD-0B7A-41EB-B359-3ECAF65B65D8}"/>
              </a:ext>
            </a:extLst>
          </p:cNvPr>
          <p:cNvSpPr txBox="1"/>
          <p:nvPr/>
        </p:nvSpPr>
        <p:spPr>
          <a:xfrm>
            <a:off x="10003604" y="6732917"/>
            <a:ext cx="987286"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lang="en-US" altLang="zh-CN">
                <a:solidFill>
                  <a:srgbClr val="FF0000"/>
                </a:solidFill>
              </a:rPr>
              <a:t>false</a:t>
            </a:r>
            <a:endPar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17" name="文本框 16">
            <a:extLst>
              <a:ext uri="{FF2B5EF4-FFF2-40B4-BE49-F238E27FC236}">
                <a16:creationId xmlns:a16="http://schemas.microsoft.com/office/drawing/2014/main" id="{AEADC508-EF44-4FDB-B4A5-8E996BECDBBB}"/>
              </a:ext>
            </a:extLst>
          </p:cNvPr>
          <p:cNvSpPr txBox="1"/>
          <p:nvPr/>
        </p:nvSpPr>
        <p:spPr>
          <a:xfrm>
            <a:off x="10003604" y="7491316"/>
            <a:ext cx="987286"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kumimoji="0" lang="en-US" altLang="zh-CN" sz="2400" b="1" i="0" u="none" strike="noStrike" cap="none" spc="0" normalizeH="0" baseline="0">
                <a:ln>
                  <a:noFill/>
                </a:ln>
                <a:solidFill>
                  <a:srgbClr val="FF0000"/>
                </a:solidFill>
                <a:effectLst/>
                <a:highlight>
                  <a:srgbClr val="FFFF00"/>
                </a:highlight>
                <a:uFillTx/>
                <a:latin typeface="Helvetica Neue"/>
                <a:ea typeface="Helvetica Neue"/>
                <a:cs typeface="Helvetica Neue"/>
                <a:sym typeface="Helvetica Neue"/>
              </a:rPr>
              <a:t>true</a:t>
            </a:r>
            <a:endParaRPr kumimoji="0" lang="zh-CN" altLang="en-US" sz="2400" b="1" i="0" u="none" strike="noStrike" cap="none" spc="0" normalizeH="0" baseline="0">
              <a:ln>
                <a:noFill/>
              </a:ln>
              <a:solidFill>
                <a:srgbClr val="000000"/>
              </a:solidFill>
              <a:effectLst/>
              <a:highlight>
                <a:srgbClr val="FFFF00"/>
              </a:highlight>
              <a:uFillTx/>
              <a:latin typeface="Helvetica Neue"/>
              <a:ea typeface="Helvetica Neue"/>
              <a:cs typeface="Helvetica Neue"/>
              <a:sym typeface="Helvetica Neue"/>
            </a:endParaRPr>
          </a:p>
        </p:txBody>
      </p:sp>
      <p:sp>
        <p:nvSpPr>
          <p:cNvPr id="18" name="只有一句是真话，不满足题目要求，所以，做好事的不是A">
            <a:extLst>
              <a:ext uri="{FF2B5EF4-FFF2-40B4-BE49-F238E27FC236}">
                <a16:creationId xmlns:a16="http://schemas.microsoft.com/office/drawing/2014/main" id="{E5C6A224-D600-43D5-AD10-0455C6061A88}"/>
              </a:ext>
            </a:extLst>
          </p:cNvPr>
          <p:cNvSpPr txBox="1"/>
          <p:nvPr/>
        </p:nvSpPr>
        <p:spPr>
          <a:xfrm>
            <a:off x="663711" y="8584286"/>
            <a:ext cx="10174260" cy="471924"/>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r>
              <a:t>只有</a:t>
            </a:r>
            <a:r>
              <a:rPr>
                <a:solidFill>
                  <a:schemeClr val="tx1"/>
                </a:solidFill>
              </a:rPr>
              <a:t>一句</a:t>
            </a:r>
            <a:r>
              <a:t>是真话，不满足题目要求，所以，</a:t>
            </a:r>
            <a:r>
              <a:rPr lang="zh-CN" altLang="en-US">
                <a:solidFill>
                  <a:srgbClr val="FF0000"/>
                </a:solidFill>
              </a:rPr>
              <a:t>假设不成立</a:t>
            </a:r>
            <a:r>
              <a:rPr lang="zh-CN" altLang="en-US"/>
              <a:t>，</a:t>
            </a:r>
            <a:r>
              <a:t>做好事的不是A</a:t>
            </a:r>
            <a:r>
              <a:rPr lang="zh-CN" altLang="en-US"/>
              <a:t>。</a:t>
            </a:r>
            <a:endParaRPr/>
          </a:p>
        </p:txBody>
      </p:sp>
      <p:sp>
        <p:nvSpPr>
          <p:cNvPr id="20" name="（1）假定 thisman = 'A'，代入四句话中">
            <a:extLst>
              <a:ext uri="{FF2B5EF4-FFF2-40B4-BE49-F238E27FC236}">
                <a16:creationId xmlns:a16="http://schemas.microsoft.com/office/drawing/2014/main" id="{EDD9591B-41CE-44CF-8806-1D981B5CFF68}"/>
              </a:ext>
            </a:extLst>
          </p:cNvPr>
          <p:cNvSpPr txBox="1">
            <a:spLocks/>
          </p:cNvSpPr>
          <p:nvPr/>
        </p:nvSpPr>
        <p:spPr>
          <a:xfrm>
            <a:off x="547201" y="2200562"/>
            <a:ext cx="7714767" cy="838674"/>
          </a:xfrm>
          <a:prstGeom prst="rect">
            <a:avLst/>
          </a:prstGeom>
          <a:solidFill>
            <a:schemeClr val="accent5">
              <a:lumMod val="20000"/>
              <a:lumOff val="80000"/>
            </a:schemeClr>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ctr">
            <a:noAutofit/>
          </a:bodyPr>
          <a:lstStyle>
            <a:lvl1pPr marL="0" marR="0" indent="0" algn="ctr" defTabSz="584200" rtl="0" latinLnBrk="0">
              <a:lnSpc>
                <a:spcPct val="100000"/>
              </a:lnSpc>
              <a:spcBef>
                <a:spcPts val="0"/>
              </a:spcBef>
              <a:spcAft>
                <a:spcPts val="0"/>
              </a:spcAft>
              <a:buClrTx/>
              <a:buSzTx/>
              <a:buFontTx/>
              <a:buNone/>
              <a:tabLst/>
              <a:defRPr sz="4600" b="0" i="0" u="none" strike="noStrike" cap="none" spc="0" baseline="0">
                <a:solidFill>
                  <a:srgbClr val="FFFFFF"/>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l" hangingPunct="1"/>
            <a:r>
              <a:rPr lang="zh-CN" altLang="en-US" sz="3200">
                <a:solidFill>
                  <a:schemeClr val="tx1"/>
                </a:solidFill>
              </a:rPr>
              <a:t>（</a:t>
            </a:r>
            <a:r>
              <a:rPr lang="en-US" altLang="zh-CN" sz="3200">
                <a:solidFill>
                  <a:schemeClr val="tx1"/>
                </a:solidFill>
              </a:rPr>
              <a:t>1</a:t>
            </a:r>
            <a:r>
              <a:rPr lang="zh-CN" altLang="en-US" sz="3200">
                <a:solidFill>
                  <a:schemeClr val="tx1"/>
                </a:solidFill>
              </a:rPr>
              <a:t>）假定 </a:t>
            </a:r>
            <a:r>
              <a:rPr lang="en-US" sz="3200" err="1">
                <a:solidFill>
                  <a:schemeClr val="tx1"/>
                </a:solidFill>
              </a:rPr>
              <a:t>thisman</a:t>
            </a:r>
            <a:r>
              <a:rPr lang="en-US" sz="3200">
                <a:solidFill>
                  <a:schemeClr val="tx1"/>
                </a:solidFill>
              </a:rPr>
              <a:t> </a:t>
            </a:r>
            <a:r>
              <a:rPr lang="zh-CN" altLang="en-US" sz="3200">
                <a:solidFill>
                  <a:schemeClr val="tx1"/>
                </a:solidFill>
              </a:rPr>
              <a:t>是 </a:t>
            </a:r>
            <a:r>
              <a:rPr lang="en-US" altLang="zh-CN" sz="3200">
                <a:solidFill>
                  <a:schemeClr val="tx1"/>
                </a:solidFill>
              </a:rPr>
              <a:t>'</a:t>
            </a:r>
            <a:r>
              <a:rPr lang="en-US" sz="3200">
                <a:solidFill>
                  <a:schemeClr val="tx1"/>
                </a:solidFill>
              </a:rPr>
              <a:t>A'，</a:t>
            </a:r>
            <a:r>
              <a:rPr lang="zh-CN" altLang="en-US" sz="3200">
                <a:solidFill>
                  <a:schemeClr val="tx1"/>
                </a:solidFill>
              </a:rPr>
              <a:t>代入四句话中</a:t>
            </a:r>
          </a:p>
        </p:txBody>
      </p:sp>
    </p:spTree>
    <p:extLst>
      <p:ext uri="{BB962C8B-B14F-4D97-AF65-F5344CB8AC3E}">
        <p14:creationId xmlns:p14="http://schemas.microsoft.com/office/powerpoint/2010/main" val="35797933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23</a:t>
            </a:fld>
            <a:endParaRPr/>
          </a:p>
        </p:txBody>
      </p:sp>
      <p:sp>
        <p:nvSpPr>
          <p:cNvPr id="112" name="只有两句是真话，不满足题目要求，所以，做好事的不是B"/>
          <p:cNvSpPr txBox="1"/>
          <p:nvPr/>
        </p:nvSpPr>
        <p:spPr>
          <a:xfrm>
            <a:off x="901749" y="8466765"/>
            <a:ext cx="7948880" cy="520701"/>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err="1"/>
              <a:t>只有</a:t>
            </a:r>
            <a:r>
              <a:rPr err="1">
                <a:solidFill>
                  <a:schemeClr val="accent5">
                    <a:hueOff val="-82419"/>
                    <a:satOff val="-9513"/>
                    <a:lumOff val="-16343"/>
                  </a:schemeClr>
                </a:solidFill>
              </a:rPr>
              <a:t>两句</a:t>
            </a:r>
            <a:r>
              <a:rPr err="1"/>
              <a:t>是真话，不满足题目要求，所以，做好事的不是B</a:t>
            </a:r>
            <a:endParaRPr/>
          </a:p>
        </p:txBody>
      </p:sp>
      <p:graphicFrame>
        <p:nvGraphicFramePr>
          <p:cNvPr id="113" name="表格"/>
          <p:cNvGraphicFramePr/>
          <p:nvPr/>
        </p:nvGraphicFramePr>
        <p:xfrm>
          <a:off x="901749" y="3157105"/>
          <a:ext cx="11201300" cy="5226050"/>
        </p:xfrm>
        <a:graphic>
          <a:graphicData uri="http://schemas.openxmlformats.org/drawingml/2006/table">
            <a:tbl>
              <a:tblPr>
                <a:tableStyleId>{33BA23B1-9221-436E-865A-0063620EA4FD}</a:tableStyleId>
              </a:tblPr>
              <a:tblGrid>
                <a:gridCol w="2015242">
                  <a:extLst>
                    <a:ext uri="{9D8B030D-6E8A-4147-A177-3AD203B41FA5}">
                      <a16:colId xmlns:a16="http://schemas.microsoft.com/office/drawing/2014/main" val="20000"/>
                    </a:ext>
                  </a:extLst>
                </a:gridCol>
                <a:gridCol w="3916931">
                  <a:extLst>
                    <a:ext uri="{9D8B030D-6E8A-4147-A177-3AD203B41FA5}">
                      <a16:colId xmlns:a16="http://schemas.microsoft.com/office/drawing/2014/main" val="20001"/>
                    </a:ext>
                  </a:extLst>
                </a:gridCol>
                <a:gridCol w="3253885">
                  <a:extLst>
                    <a:ext uri="{9D8B030D-6E8A-4147-A177-3AD203B41FA5}">
                      <a16:colId xmlns:a16="http://schemas.microsoft.com/office/drawing/2014/main" val="20002"/>
                    </a:ext>
                  </a:extLst>
                </a:gridCol>
                <a:gridCol w="2015242">
                  <a:extLst>
                    <a:ext uri="{9D8B030D-6E8A-4147-A177-3AD203B41FA5}">
                      <a16:colId xmlns:a16="http://schemas.microsoft.com/office/drawing/2014/main" val="20003"/>
                    </a:ext>
                  </a:extLst>
                </a:gridCol>
              </a:tblGrid>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说话人</a:t>
                      </a:r>
                    </a:p>
                  </a:txBody>
                  <a:tcPr marL="62230" marR="62230" marT="62230" marB="62230" anchor="ctr" horzOverflow="overflow">
                    <a:lnL w="38100">
                      <a:solidFill>
                        <a:srgbClr val="FFFFFF"/>
                      </a:solidFill>
                      <a:miter lim="400000"/>
                    </a:lnL>
                    <a:lnT w="38100">
                      <a:solidFill>
                        <a:srgbClr val="FFFFFF"/>
                      </a:solidFill>
                      <a:miter lim="400000"/>
                    </a:lnT>
                    <a:solidFill>
                      <a:schemeClr val="accent1">
                        <a:lumOff val="16847"/>
                      </a:schemeClr>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说的话</a:t>
                      </a:r>
                    </a:p>
                  </a:txBody>
                  <a:tcPr marL="62230" marR="62230" marT="62230" marB="62230" anchor="ctr" horzOverflow="overflow">
                    <a:lnT w="38100">
                      <a:solidFill>
                        <a:srgbClr val="FFFFFF"/>
                      </a:solidFill>
                      <a:miter lim="400000"/>
                    </a:lnT>
                    <a:solidFill>
                      <a:schemeClr val="accent1">
                        <a:lumOff val="16847"/>
                      </a:schemeClr>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关系表达式</a:t>
                      </a:r>
                    </a:p>
                  </a:txBody>
                  <a:tcPr marL="62230" marR="62230" marT="62230" marB="62230" anchor="ctr" horzOverflow="overflow">
                    <a:lnT w="38100">
                      <a:solidFill>
                        <a:srgbClr val="FFFFFF"/>
                      </a:solidFill>
                      <a:miter lim="400000"/>
                    </a:lnT>
                    <a:solidFill>
                      <a:schemeClr val="accent1">
                        <a:lumOff val="16847"/>
                      </a:schemeClr>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真话吗</a:t>
                      </a:r>
                    </a:p>
                  </a:txBody>
                  <a:tcPr marL="62230" marR="62230" marT="62230" marB="62230" anchor="ctr" horzOverflow="overflow">
                    <a:lnR w="38100">
                      <a:solidFill>
                        <a:srgbClr val="FFFFFF"/>
                      </a:solidFill>
                      <a:miter lim="400000"/>
                    </a:lnR>
                    <a:lnT w="38100">
                      <a:solidFill>
                        <a:srgbClr val="FFFFFF"/>
                      </a:solidFill>
                      <a:miter lim="400000"/>
                    </a:lnT>
                    <a:solidFill>
                      <a:schemeClr val="accent1">
                        <a:lumOff val="16847"/>
                      </a:schemeClr>
                    </a:solidFill>
                  </a:tcPr>
                </a:tc>
                <a:extLst>
                  <a:ext uri="{0D108BD9-81ED-4DB2-BD59-A6C34878D82A}">
                    <a16:rowId xmlns:a16="http://schemas.microsoft.com/office/drawing/2014/main" val="10000"/>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A</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'A';</a:t>
                      </a:r>
                    </a:p>
                  </a:txBody>
                  <a:tcPr marL="62230" marR="62230" marT="62230" marB="62230" anchor="ctr" horzOverflow="overflow">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'B'</a:t>
                      </a:r>
                      <a:r>
                        <a:t> != 'A'</a:t>
                      </a:r>
                    </a:p>
                  </a:txBody>
                  <a:tcPr marL="62230" marR="62230" marT="62230" marB="62230" anchor="ctr" horzOverflow="overflow">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冬青黑体简体中文 W6"/>
                          <a:ea typeface="冬青黑体简体中文 W6"/>
                          <a:cs typeface="冬青黑体简体中文 W6"/>
                          <a:sym typeface="冬青黑体简体中文 W6"/>
                        </a:rPr>
                        <a:t>1</a:t>
                      </a:r>
                    </a:p>
                  </a:txBody>
                  <a:tcPr marL="62230" marR="62230" marT="62230" marB="62230" anchor="ctr" horzOverflow="overflow">
                    <a:lnR w="38100">
                      <a:solidFill>
                        <a:srgbClr val="FFFFFF"/>
                      </a:solidFill>
                      <a:miter lim="400000"/>
                    </a:lnR>
                    <a:lnB w="38100">
                      <a:solidFill>
                        <a:srgbClr val="FFFFFF"/>
                      </a:solidFill>
                      <a:miter lim="400000"/>
                    </a:lnB>
                    <a:solidFill>
                      <a:srgbClr val="D6D5D5"/>
                    </a:solidFill>
                  </a:tcPr>
                </a:tc>
                <a:extLst>
                  <a:ext uri="{0D108BD9-81ED-4DB2-BD59-A6C34878D82A}">
                    <a16:rowId xmlns:a16="http://schemas.microsoft.com/office/drawing/2014/main" val="10001"/>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B</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'C';</a:t>
                      </a:r>
                    </a:p>
                  </a:txBody>
                  <a:tcPr marL="62230" marR="62230" marT="62230" marB="62230" anchor="ctr" horzOverflow="overflow">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'B'</a:t>
                      </a:r>
                      <a:r>
                        <a:t> == 'C'</a:t>
                      </a:r>
                    </a:p>
                  </a:txBody>
                  <a:tcPr marL="62230" marR="62230" marT="62230" marB="62230" anchor="ctr" horzOverflow="overflow">
                    <a:solidFill>
                      <a:srgbClr val="D6D5D5"/>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0</a:t>
                      </a:r>
                    </a:p>
                  </a:txBody>
                  <a:tcPr marL="62230" marR="62230" marT="62230" marB="62230" anchor="ctr" horzOverflow="overflow">
                    <a:lnR w="38100">
                      <a:solidFill>
                        <a:srgbClr val="FFFFFF"/>
                      </a:solidFill>
                      <a:miter lim="400000"/>
                    </a:lnR>
                    <a:lnT w="38100">
                      <a:solidFill>
                        <a:srgbClr val="FFFFFF"/>
                      </a:solidFill>
                      <a:miter lim="400000"/>
                    </a:lnT>
                    <a:solidFill>
                      <a:srgbClr val="D6D5D5"/>
                    </a:solidFill>
                  </a:tcPr>
                </a:tc>
                <a:extLst>
                  <a:ext uri="{0D108BD9-81ED-4DB2-BD59-A6C34878D82A}">
                    <a16:rowId xmlns:a16="http://schemas.microsoft.com/office/drawing/2014/main" val="10002"/>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C</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'D';</a:t>
                      </a:r>
                    </a:p>
                  </a:txBody>
                  <a:tcPr marL="62230" marR="62230" marT="62230" marB="62230" anchor="ctr" horzOverflow="overflow">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'B'</a:t>
                      </a:r>
                      <a:r>
                        <a:t> == 'D'</a:t>
                      </a:r>
                    </a:p>
                  </a:txBody>
                  <a:tcPr marL="62230" marR="62230" marT="62230" marB="62230" anchor="ctr" horzOverflow="overflow">
                    <a:solidFill>
                      <a:srgbClr val="D6D5D5"/>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0</a:t>
                      </a:r>
                    </a:p>
                  </a:txBody>
                  <a:tcPr marL="62230" marR="62230" marT="62230" marB="62230" anchor="ctr" horzOverflow="overflow">
                    <a:lnR w="38100">
                      <a:solidFill>
                        <a:srgbClr val="FFFFFF"/>
                      </a:solidFill>
                      <a:miter lim="400000"/>
                    </a:lnR>
                    <a:solidFill>
                      <a:srgbClr val="D6D5D5"/>
                    </a:solidFill>
                  </a:tcPr>
                </a:tc>
                <a:extLst>
                  <a:ext uri="{0D108BD9-81ED-4DB2-BD59-A6C34878D82A}">
                    <a16:rowId xmlns:a16="http://schemas.microsoft.com/office/drawing/2014/main" val="10003"/>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D</a:t>
                      </a:r>
                    </a:p>
                  </a:txBody>
                  <a:tcPr marL="62230" marR="62230" marT="62230" marB="62230" anchor="ctr" horzOverflow="overflow">
                    <a:lnL w="38100">
                      <a:solidFill>
                        <a:srgbClr val="FFFFFF"/>
                      </a:solidFill>
                      <a:miter lim="400000"/>
                    </a:lnL>
                    <a:lnB w="38100">
                      <a:solidFill>
                        <a:srgbClr val="FFFFFF"/>
                      </a:solidFill>
                      <a:miter lim="400000"/>
                    </a:lnB>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'D';</a:t>
                      </a:r>
                    </a:p>
                  </a:txBody>
                  <a:tcPr marL="62230" marR="62230" marT="62230" marB="62230" anchor="ctr" horzOverflow="overflow">
                    <a:lnB w="38100">
                      <a:solidFill>
                        <a:srgbClr val="FFFFFF"/>
                      </a:solidFill>
                      <a:miter lim="400000"/>
                    </a:lnB>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'B'</a:t>
                      </a:r>
                      <a:r>
                        <a:t> != 'D'</a:t>
                      </a:r>
                    </a:p>
                  </a:txBody>
                  <a:tcPr marL="62230" marR="62230" marT="62230" marB="62230" anchor="ctr" horzOverflow="overflow">
                    <a:lnB w="38100">
                      <a:solidFill>
                        <a:srgbClr val="FFFFFF"/>
                      </a:solidFill>
                      <a:miter lim="400000"/>
                    </a:lnB>
                    <a:solidFill>
                      <a:srgbClr val="D6D5D5"/>
                    </a:solidFill>
                  </a:tcPr>
                </a:tc>
                <a:tc>
                  <a:txBody>
                    <a:bodyPr/>
                    <a:lstStyle/>
                    <a:p>
                      <a:pPr defTabSz="457200">
                        <a:lnSpc>
                          <a:spcPts val="8500"/>
                        </a:lnSpc>
                        <a:defRPr sz="1800"/>
                      </a:pPr>
                      <a:r>
                        <a:rPr sz="3000" dirty="0">
                          <a:solidFill>
                            <a:schemeClr val="accent5">
                              <a:hueOff val="-82419"/>
                              <a:satOff val="-9513"/>
                              <a:lumOff val="-16343"/>
                            </a:schemeClr>
                          </a:solidFill>
                          <a:latin typeface="冬青黑体简体中文 W6"/>
                          <a:ea typeface="冬青黑体简体中文 W6"/>
                          <a:cs typeface="冬青黑体简体中文 W6"/>
                          <a:sym typeface="冬青黑体简体中文 W6"/>
                        </a:rPr>
                        <a:t>1</a:t>
                      </a:r>
                    </a:p>
                  </a:txBody>
                  <a:tcPr marL="62230" marR="62230" marT="62230" marB="62230" anchor="ctr" horzOverflow="overflow">
                    <a:lnR w="38100">
                      <a:solidFill>
                        <a:srgbClr val="FFFFFF"/>
                      </a:solidFill>
                      <a:miter lim="400000"/>
                    </a:lnR>
                    <a:lnB w="38100">
                      <a:solidFill>
                        <a:srgbClr val="FFFFFF"/>
                      </a:solidFill>
                      <a:miter lim="400000"/>
                    </a:lnB>
                    <a:solidFill>
                      <a:srgbClr val="D6D5D5"/>
                    </a:solidFill>
                  </a:tcPr>
                </a:tc>
                <a:extLst>
                  <a:ext uri="{0D108BD9-81ED-4DB2-BD59-A6C34878D82A}">
                    <a16:rowId xmlns:a16="http://schemas.microsoft.com/office/drawing/2014/main" val="10004"/>
                  </a:ext>
                </a:extLst>
              </a:tr>
            </a:tbl>
          </a:graphicData>
        </a:graphic>
      </p:graphicFrame>
      <p:sp>
        <p:nvSpPr>
          <p:cNvPr id="10" name="（1）假定 thisman = 'A'，代入四句话中">
            <a:extLst>
              <a:ext uri="{FF2B5EF4-FFF2-40B4-BE49-F238E27FC236}">
                <a16:creationId xmlns:a16="http://schemas.microsoft.com/office/drawing/2014/main" id="{DB4F3F15-410F-4B51-86DC-8C52E7B5CA0E}"/>
              </a:ext>
            </a:extLst>
          </p:cNvPr>
          <p:cNvSpPr txBox="1">
            <a:spLocks/>
          </p:cNvSpPr>
          <p:nvPr/>
        </p:nvSpPr>
        <p:spPr>
          <a:xfrm>
            <a:off x="547201" y="2200562"/>
            <a:ext cx="7714767" cy="838674"/>
          </a:xfrm>
          <a:prstGeom prst="rect">
            <a:avLst/>
          </a:prstGeom>
          <a:solidFill>
            <a:schemeClr val="accent5">
              <a:lumMod val="20000"/>
              <a:lumOff val="80000"/>
            </a:schemeClr>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ctr">
            <a:noAutofit/>
          </a:bodyPr>
          <a:lstStyle>
            <a:lvl1pPr marL="0" marR="0" indent="0" algn="ctr" defTabSz="584200" rtl="0" latinLnBrk="0">
              <a:lnSpc>
                <a:spcPct val="100000"/>
              </a:lnSpc>
              <a:spcBef>
                <a:spcPts val="0"/>
              </a:spcBef>
              <a:spcAft>
                <a:spcPts val="0"/>
              </a:spcAft>
              <a:buClrTx/>
              <a:buSzTx/>
              <a:buFontTx/>
              <a:buNone/>
              <a:tabLst/>
              <a:defRPr sz="4600" b="0" i="0" u="none" strike="noStrike" cap="none" spc="0" baseline="0">
                <a:solidFill>
                  <a:srgbClr val="FFFFFF"/>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l" hangingPunct="1"/>
            <a:r>
              <a:rPr lang="zh-CN" altLang="en-US" sz="3200">
                <a:solidFill>
                  <a:schemeClr val="tx1"/>
                </a:solidFill>
              </a:rPr>
              <a:t>（</a:t>
            </a:r>
            <a:r>
              <a:rPr lang="en-US" altLang="zh-CN" sz="3200">
                <a:solidFill>
                  <a:schemeClr val="tx1"/>
                </a:solidFill>
              </a:rPr>
              <a:t>2</a:t>
            </a:r>
            <a:r>
              <a:rPr lang="zh-CN" altLang="en-US" sz="3200">
                <a:solidFill>
                  <a:schemeClr val="tx1"/>
                </a:solidFill>
              </a:rPr>
              <a:t>）假定 </a:t>
            </a:r>
            <a:r>
              <a:rPr lang="en-US" sz="3200" err="1">
                <a:solidFill>
                  <a:schemeClr val="tx1"/>
                </a:solidFill>
              </a:rPr>
              <a:t>thisman</a:t>
            </a:r>
            <a:r>
              <a:rPr lang="en-US" sz="3200">
                <a:solidFill>
                  <a:schemeClr val="tx1"/>
                </a:solidFill>
              </a:rPr>
              <a:t> </a:t>
            </a:r>
            <a:r>
              <a:rPr lang="zh-CN" altLang="en-US" sz="3200">
                <a:solidFill>
                  <a:schemeClr val="tx1"/>
                </a:solidFill>
              </a:rPr>
              <a:t>是 </a:t>
            </a:r>
            <a:r>
              <a:rPr lang="en-US" altLang="zh-CN" sz="3200">
                <a:solidFill>
                  <a:schemeClr val="tx1"/>
                </a:solidFill>
              </a:rPr>
              <a:t>'B</a:t>
            </a:r>
            <a:r>
              <a:rPr lang="en-US" sz="3200">
                <a:solidFill>
                  <a:schemeClr val="tx1"/>
                </a:solidFill>
              </a:rPr>
              <a:t>'，</a:t>
            </a:r>
            <a:r>
              <a:rPr lang="zh-CN" altLang="en-US" sz="3200">
                <a:solidFill>
                  <a:schemeClr val="tx1"/>
                </a:solidFill>
              </a:rPr>
              <a:t>代入四句话中</a:t>
            </a:r>
          </a:p>
        </p:txBody>
      </p:sp>
      <p:sp>
        <p:nvSpPr>
          <p:cNvPr id="17" name="（1）假定 thisman = 'A'，代入四句话中">
            <a:extLst>
              <a:ext uri="{FF2B5EF4-FFF2-40B4-BE49-F238E27FC236}">
                <a16:creationId xmlns:a16="http://schemas.microsoft.com/office/drawing/2014/main" id="{F08FFA96-9892-4844-983B-F25A8B4086CC}"/>
              </a:ext>
            </a:extLst>
          </p:cNvPr>
          <p:cNvSpPr>
            <a:spLocks noGrp="1"/>
          </p:cNvSpPr>
          <p:nvPr>
            <p:ph type="title"/>
          </p:nvPr>
        </p:nvSpPr>
        <p:spPr>
          <a:xfrm>
            <a:off x="547201" y="354125"/>
            <a:ext cx="10128213" cy="1152045"/>
          </a:xfrm>
          <a:prstGeom prst="rect">
            <a:avLst/>
          </a:prstGeom>
          <a:solidFill>
            <a:schemeClr val="accent5">
              <a:hueOff val="-82419"/>
              <a:satOff val="-9513"/>
              <a:lumOff val="-16343"/>
            </a:schemeClr>
          </a:solidFill>
          <a:ln w="12700">
            <a:miter lim="400000"/>
          </a:ln>
          <a:effectLst>
            <a:outerShdw blurRad="190500" dist="8455" dir="5400000" rotWithShape="0">
              <a:srgbClr val="000000"/>
            </a:outerShdw>
          </a:effectLst>
        </p:spPr>
        <p:txBody>
          <a:bodyPr lIns="65022" tIns="65022" rIns="65022" bIns="65022" anchor="ctr">
            <a:noAutofit/>
          </a:bodyPr>
          <a:lstStyle/>
          <a:p>
            <a:r>
              <a:rPr lang="zh-CN" altLang="en-US" b="1">
                <a:solidFill>
                  <a:srgbClr val="FFFF00"/>
                </a:solidFill>
                <a:sym typeface="Helvetica Neue"/>
              </a:rPr>
              <a:t>逐一</a:t>
            </a:r>
            <a:r>
              <a:rPr lang="zh-CN" altLang="en-US">
                <a:sym typeface="Helvetica Neue"/>
              </a:rPr>
              <a:t>测试</a:t>
            </a:r>
            <a:r>
              <a:rPr lang="en-US" altLang="zh-CN">
                <a:sym typeface="Helvetica Neue"/>
              </a:rPr>
              <a:t>4</a:t>
            </a:r>
            <a:r>
              <a:rPr lang="zh-CN" altLang="en-US">
                <a:sym typeface="Helvetica Neue"/>
              </a:rPr>
              <a:t>种可能性：代入四句话中</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24</a:t>
            </a:fld>
            <a:endParaRPr/>
          </a:p>
        </p:txBody>
      </p:sp>
      <p:sp>
        <p:nvSpPr>
          <p:cNvPr id="117" name="正好三句是真话，满足题目要求，所以，做好事的是C！"/>
          <p:cNvSpPr txBox="1"/>
          <p:nvPr/>
        </p:nvSpPr>
        <p:spPr>
          <a:xfrm>
            <a:off x="901749" y="8466764"/>
            <a:ext cx="7655358" cy="520701"/>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正好</a:t>
            </a:r>
            <a:r>
              <a:rPr>
                <a:solidFill>
                  <a:schemeClr val="accent5">
                    <a:hueOff val="-82419"/>
                    <a:satOff val="-9513"/>
                    <a:lumOff val="-16343"/>
                  </a:schemeClr>
                </a:solidFill>
              </a:rPr>
              <a:t>三句</a:t>
            </a:r>
            <a:r>
              <a:t>是真话，满足题目要求，所以，做好事的是C！</a:t>
            </a:r>
          </a:p>
        </p:txBody>
      </p:sp>
      <p:graphicFrame>
        <p:nvGraphicFramePr>
          <p:cNvPr id="118" name="表格"/>
          <p:cNvGraphicFramePr/>
          <p:nvPr/>
        </p:nvGraphicFramePr>
        <p:xfrm>
          <a:off x="901749" y="3157105"/>
          <a:ext cx="11201300" cy="5226050"/>
        </p:xfrm>
        <a:graphic>
          <a:graphicData uri="http://schemas.openxmlformats.org/drawingml/2006/table">
            <a:tbl>
              <a:tblPr>
                <a:tableStyleId>{33BA23B1-9221-436E-865A-0063620EA4FD}</a:tableStyleId>
              </a:tblPr>
              <a:tblGrid>
                <a:gridCol w="2015242">
                  <a:extLst>
                    <a:ext uri="{9D8B030D-6E8A-4147-A177-3AD203B41FA5}">
                      <a16:colId xmlns:a16="http://schemas.microsoft.com/office/drawing/2014/main" val="20000"/>
                    </a:ext>
                  </a:extLst>
                </a:gridCol>
                <a:gridCol w="3916931">
                  <a:extLst>
                    <a:ext uri="{9D8B030D-6E8A-4147-A177-3AD203B41FA5}">
                      <a16:colId xmlns:a16="http://schemas.microsoft.com/office/drawing/2014/main" val="20001"/>
                    </a:ext>
                  </a:extLst>
                </a:gridCol>
                <a:gridCol w="3253885">
                  <a:extLst>
                    <a:ext uri="{9D8B030D-6E8A-4147-A177-3AD203B41FA5}">
                      <a16:colId xmlns:a16="http://schemas.microsoft.com/office/drawing/2014/main" val="20002"/>
                    </a:ext>
                  </a:extLst>
                </a:gridCol>
                <a:gridCol w="2015242">
                  <a:extLst>
                    <a:ext uri="{9D8B030D-6E8A-4147-A177-3AD203B41FA5}">
                      <a16:colId xmlns:a16="http://schemas.microsoft.com/office/drawing/2014/main" val="20003"/>
                    </a:ext>
                  </a:extLst>
                </a:gridCol>
              </a:tblGrid>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说话人</a:t>
                      </a:r>
                    </a:p>
                  </a:txBody>
                  <a:tcPr marL="62230" marR="62230" marT="62230" marB="62230" anchor="ctr" horzOverflow="overflow">
                    <a:lnL w="38100">
                      <a:solidFill>
                        <a:srgbClr val="FFFFFF"/>
                      </a:solidFill>
                      <a:miter lim="400000"/>
                    </a:lnL>
                    <a:lnT w="38100">
                      <a:solidFill>
                        <a:srgbClr val="FFFFFF"/>
                      </a:solidFill>
                      <a:miter lim="400000"/>
                    </a:lnT>
                    <a:solidFill>
                      <a:schemeClr val="accent1">
                        <a:lumOff val="16847"/>
                      </a:schemeClr>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说的话</a:t>
                      </a:r>
                    </a:p>
                  </a:txBody>
                  <a:tcPr marL="62230" marR="62230" marT="62230" marB="62230" anchor="ctr" horzOverflow="overflow">
                    <a:lnT w="38100">
                      <a:solidFill>
                        <a:srgbClr val="FFFFFF"/>
                      </a:solidFill>
                      <a:miter lim="400000"/>
                    </a:lnT>
                    <a:solidFill>
                      <a:schemeClr val="accent1">
                        <a:lumOff val="16847"/>
                      </a:schemeClr>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关系表达式</a:t>
                      </a:r>
                    </a:p>
                  </a:txBody>
                  <a:tcPr marL="62230" marR="62230" marT="62230" marB="62230" anchor="ctr" horzOverflow="overflow">
                    <a:lnT w="38100">
                      <a:solidFill>
                        <a:srgbClr val="FFFFFF"/>
                      </a:solidFill>
                      <a:miter lim="400000"/>
                    </a:lnT>
                    <a:solidFill>
                      <a:schemeClr val="accent1">
                        <a:lumOff val="16847"/>
                      </a:schemeClr>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真话吗</a:t>
                      </a:r>
                    </a:p>
                  </a:txBody>
                  <a:tcPr marL="62230" marR="62230" marT="62230" marB="62230" anchor="ctr" horzOverflow="overflow">
                    <a:lnR w="38100">
                      <a:solidFill>
                        <a:srgbClr val="FFFFFF"/>
                      </a:solidFill>
                      <a:miter lim="400000"/>
                    </a:lnR>
                    <a:lnT w="38100">
                      <a:solidFill>
                        <a:srgbClr val="FFFFFF"/>
                      </a:solidFill>
                      <a:miter lim="400000"/>
                    </a:lnT>
                    <a:solidFill>
                      <a:schemeClr val="accent1">
                        <a:lumOff val="16847"/>
                      </a:schemeClr>
                    </a:solidFill>
                  </a:tcPr>
                </a:tc>
                <a:extLst>
                  <a:ext uri="{0D108BD9-81ED-4DB2-BD59-A6C34878D82A}">
                    <a16:rowId xmlns:a16="http://schemas.microsoft.com/office/drawing/2014/main" val="10000"/>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A</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'A';</a:t>
                      </a:r>
                    </a:p>
                  </a:txBody>
                  <a:tcPr marL="62230" marR="62230" marT="62230" marB="62230" anchor="ctr" horzOverflow="overflow">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'C'</a:t>
                      </a:r>
                      <a:r>
                        <a:t> != 'A'</a:t>
                      </a:r>
                    </a:p>
                  </a:txBody>
                  <a:tcPr marL="62230" marR="62230" marT="62230" marB="62230" anchor="ctr" horzOverflow="overflow">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冬青黑体简体中文 W6"/>
                          <a:ea typeface="冬青黑体简体中文 W6"/>
                          <a:cs typeface="冬青黑体简体中文 W6"/>
                          <a:sym typeface="冬青黑体简体中文 W6"/>
                        </a:rPr>
                        <a:t>1</a:t>
                      </a:r>
                    </a:p>
                  </a:txBody>
                  <a:tcPr marL="62230" marR="62230" marT="62230" marB="62230" anchor="ctr" horzOverflow="overflow">
                    <a:lnR w="38100">
                      <a:solidFill>
                        <a:srgbClr val="FFFFFF"/>
                      </a:solidFill>
                      <a:miter lim="400000"/>
                    </a:lnR>
                    <a:lnB w="38100">
                      <a:solidFill>
                        <a:srgbClr val="FFFFFF"/>
                      </a:solidFill>
                      <a:miter lim="400000"/>
                    </a:lnB>
                    <a:solidFill>
                      <a:srgbClr val="D6D5D5"/>
                    </a:solidFill>
                  </a:tcPr>
                </a:tc>
                <a:extLst>
                  <a:ext uri="{0D108BD9-81ED-4DB2-BD59-A6C34878D82A}">
                    <a16:rowId xmlns:a16="http://schemas.microsoft.com/office/drawing/2014/main" val="10001"/>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B</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'C';</a:t>
                      </a:r>
                    </a:p>
                  </a:txBody>
                  <a:tcPr marL="62230" marR="62230" marT="62230" marB="62230" anchor="ctr" horzOverflow="overflow">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'C'</a:t>
                      </a:r>
                      <a:r>
                        <a:t> == 'C'</a:t>
                      </a:r>
                    </a:p>
                  </a:txBody>
                  <a:tcPr marL="62230" marR="62230" marT="62230" marB="62230" anchor="ctr" horzOverflow="overflow">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冬青黑体简体中文 W6"/>
                          <a:ea typeface="冬青黑体简体中文 W6"/>
                          <a:cs typeface="冬青黑体简体中文 W6"/>
                          <a:sym typeface="冬青黑体简体中文 W6"/>
                        </a:rPr>
                        <a:t>1</a:t>
                      </a:r>
                    </a:p>
                  </a:txBody>
                  <a:tcPr marL="62230" marR="62230" marT="62230" marB="62230" anchor="ctr" horzOverflow="overflow">
                    <a:lnR w="38100">
                      <a:solidFill>
                        <a:srgbClr val="FFFFFF"/>
                      </a:solidFill>
                      <a:miter lim="400000"/>
                    </a:lnR>
                    <a:lnT w="38100">
                      <a:solidFill>
                        <a:srgbClr val="FFFFFF"/>
                      </a:solidFill>
                      <a:miter lim="400000"/>
                    </a:lnT>
                    <a:lnB w="38100">
                      <a:solidFill>
                        <a:srgbClr val="FFFFFF"/>
                      </a:solidFill>
                      <a:miter lim="400000"/>
                    </a:lnB>
                    <a:solidFill>
                      <a:srgbClr val="D6D5D5"/>
                    </a:solidFill>
                  </a:tcPr>
                </a:tc>
                <a:extLst>
                  <a:ext uri="{0D108BD9-81ED-4DB2-BD59-A6C34878D82A}">
                    <a16:rowId xmlns:a16="http://schemas.microsoft.com/office/drawing/2014/main" val="10002"/>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C</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'D';</a:t>
                      </a:r>
                    </a:p>
                  </a:txBody>
                  <a:tcPr marL="62230" marR="62230" marT="62230" marB="62230" anchor="ctr" horzOverflow="overflow">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'C'</a:t>
                      </a:r>
                      <a:r>
                        <a:t> == 'D'</a:t>
                      </a:r>
                    </a:p>
                  </a:txBody>
                  <a:tcPr marL="62230" marR="62230" marT="62230" marB="62230" anchor="ctr" horzOverflow="overflow">
                    <a:solidFill>
                      <a:srgbClr val="D6D5D5"/>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0</a:t>
                      </a:r>
                    </a:p>
                  </a:txBody>
                  <a:tcPr marL="62230" marR="62230" marT="62230" marB="62230" anchor="ctr" horzOverflow="overflow">
                    <a:lnR w="38100">
                      <a:solidFill>
                        <a:srgbClr val="FFFFFF"/>
                      </a:solidFill>
                      <a:miter lim="400000"/>
                    </a:lnR>
                    <a:lnT w="38100">
                      <a:solidFill>
                        <a:srgbClr val="FFFFFF"/>
                      </a:solidFill>
                      <a:miter lim="400000"/>
                    </a:lnT>
                    <a:solidFill>
                      <a:srgbClr val="D6D5D5"/>
                    </a:solidFill>
                  </a:tcPr>
                </a:tc>
                <a:extLst>
                  <a:ext uri="{0D108BD9-81ED-4DB2-BD59-A6C34878D82A}">
                    <a16:rowId xmlns:a16="http://schemas.microsoft.com/office/drawing/2014/main" val="10003"/>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D</a:t>
                      </a:r>
                    </a:p>
                  </a:txBody>
                  <a:tcPr marL="62230" marR="62230" marT="62230" marB="62230" anchor="ctr" horzOverflow="overflow">
                    <a:lnL w="38100">
                      <a:solidFill>
                        <a:srgbClr val="FFFFFF"/>
                      </a:solidFill>
                      <a:miter lim="400000"/>
                    </a:lnL>
                    <a:lnB w="38100">
                      <a:solidFill>
                        <a:srgbClr val="FFFFFF"/>
                      </a:solidFill>
                      <a:miter lim="400000"/>
                    </a:lnB>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'D';</a:t>
                      </a:r>
                    </a:p>
                  </a:txBody>
                  <a:tcPr marL="62230" marR="62230" marT="62230" marB="62230" anchor="ctr" horzOverflow="overflow">
                    <a:lnB w="38100">
                      <a:solidFill>
                        <a:srgbClr val="FFFFFF"/>
                      </a:solidFill>
                      <a:miter lim="400000"/>
                    </a:lnB>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'C'</a:t>
                      </a:r>
                      <a:r>
                        <a:t> != 'D'</a:t>
                      </a:r>
                    </a:p>
                  </a:txBody>
                  <a:tcPr marL="62230" marR="62230" marT="62230" marB="62230" anchor="ctr" horzOverflow="overflow">
                    <a:lnB w="38100">
                      <a:solidFill>
                        <a:srgbClr val="FFFFFF"/>
                      </a:solidFill>
                      <a:miter lim="400000"/>
                    </a:lnB>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冬青黑体简体中文 W6"/>
                          <a:ea typeface="冬青黑体简体中文 W6"/>
                          <a:cs typeface="冬青黑体简体中文 W6"/>
                          <a:sym typeface="冬青黑体简体中文 W6"/>
                        </a:rPr>
                        <a:t>1</a:t>
                      </a:r>
                    </a:p>
                  </a:txBody>
                  <a:tcPr marL="62230" marR="62230" marT="62230" marB="62230" anchor="ctr" horzOverflow="overflow">
                    <a:lnR w="38100">
                      <a:solidFill>
                        <a:srgbClr val="FFFFFF"/>
                      </a:solidFill>
                      <a:miter lim="400000"/>
                    </a:lnR>
                    <a:lnB w="38100">
                      <a:solidFill>
                        <a:srgbClr val="FFFFFF"/>
                      </a:solidFill>
                      <a:miter lim="400000"/>
                    </a:lnB>
                    <a:solidFill>
                      <a:srgbClr val="D6D5D5"/>
                    </a:solidFill>
                  </a:tcPr>
                </a:tc>
                <a:extLst>
                  <a:ext uri="{0D108BD9-81ED-4DB2-BD59-A6C34878D82A}">
                    <a16:rowId xmlns:a16="http://schemas.microsoft.com/office/drawing/2014/main" val="10004"/>
                  </a:ext>
                </a:extLst>
              </a:tr>
            </a:tbl>
          </a:graphicData>
        </a:graphic>
      </p:graphicFrame>
      <p:sp>
        <p:nvSpPr>
          <p:cNvPr id="10" name="（1）假定 thisman = 'A'，代入四句话中">
            <a:extLst>
              <a:ext uri="{FF2B5EF4-FFF2-40B4-BE49-F238E27FC236}">
                <a16:creationId xmlns:a16="http://schemas.microsoft.com/office/drawing/2014/main" id="{3FB36780-4075-4E5B-8B35-E1383B02DDA2}"/>
              </a:ext>
            </a:extLst>
          </p:cNvPr>
          <p:cNvSpPr txBox="1">
            <a:spLocks/>
          </p:cNvSpPr>
          <p:nvPr/>
        </p:nvSpPr>
        <p:spPr>
          <a:xfrm>
            <a:off x="547201" y="2200562"/>
            <a:ext cx="7714767" cy="838674"/>
          </a:xfrm>
          <a:prstGeom prst="rect">
            <a:avLst/>
          </a:prstGeom>
          <a:solidFill>
            <a:schemeClr val="accent3">
              <a:lumMod val="20000"/>
              <a:lumOff val="80000"/>
            </a:schemeClr>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ctr">
            <a:noAutofit/>
          </a:bodyPr>
          <a:lstStyle>
            <a:lvl1pPr marL="0" marR="0" indent="0" algn="ctr" defTabSz="584200" rtl="0" latinLnBrk="0">
              <a:lnSpc>
                <a:spcPct val="100000"/>
              </a:lnSpc>
              <a:spcBef>
                <a:spcPts val="0"/>
              </a:spcBef>
              <a:spcAft>
                <a:spcPts val="0"/>
              </a:spcAft>
              <a:buClrTx/>
              <a:buSzTx/>
              <a:buFontTx/>
              <a:buNone/>
              <a:tabLst/>
              <a:defRPr sz="4600" b="0" i="0" u="none" strike="noStrike" cap="none" spc="0" baseline="0">
                <a:solidFill>
                  <a:srgbClr val="FFFFFF"/>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l" hangingPunct="1"/>
            <a:r>
              <a:rPr lang="zh-CN" altLang="en-US" sz="3200">
                <a:solidFill>
                  <a:schemeClr val="tx1"/>
                </a:solidFill>
              </a:rPr>
              <a:t>（</a:t>
            </a:r>
            <a:r>
              <a:rPr lang="en-US" altLang="zh-CN" sz="3200">
                <a:solidFill>
                  <a:schemeClr val="tx1"/>
                </a:solidFill>
              </a:rPr>
              <a:t>3</a:t>
            </a:r>
            <a:r>
              <a:rPr lang="zh-CN" altLang="en-US" sz="3200">
                <a:solidFill>
                  <a:schemeClr val="tx1"/>
                </a:solidFill>
              </a:rPr>
              <a:t>）假定 </a:t>
            </a:r>
            <a:r>
              <a:rPr lang="en-US" sz="3200" err="1">
                <a:solidFill>
                  <a:schemeClr val="tx1"/>
                </a:solidFill>
              </a:rPr>
              <a:t>thisman</a:t>
            </a:r>
            <a:r>
              <a:rPr lang="en-US" sz="3200">
                <a:solidFill>
                  <a:schemeClr val="tx1"/>
                </a:solidFill>
              </a:rPr>
              <a:t> </a:t>
            </a:r>
            <a:r>
              <a:rPr lang="zh-CN" altLang="en-US" sz="3200">
                <a:solidFill>
                  <a:schemeClr val="tx1"/>
                </a:solidFill>
              </a:rPr>
              <a:t>是 </a:t>
            </a:r>
            <a:r>
              <a:rPr lang="en-US" altLang="zh-CN" sz="3200">
                <a:solidFill>
                  <a:schemeClr val="tx1"/>
                </a:solidFill>
              </a:rPr>
              <a:t>'C</a:t>
            </a:r>
            <a:r>
              <a:rPr lang="en-US" sz="3200">
                <a:solidFill>
                  <a:schemeClr val="tx1"/>
                </a:solidFill>
              </a:rPr>
              <a:t>'，</a:t>
            </a:r>
            <a:r>
              <a:rPr lang="zh-CN" altLang="en-US" sz="3200">
                <a:solidFill>
                  <a:schemeClr val="tx1"/>
                </a:solidFill>
              </a:rPr>
              <a:t>代入四句话中</a:t>
            </a:r>
          </a:p>
        </p:txBody>
      </p:sp>
      <p:sp>
        <p:nvSpPr>
          <p:cNvPr id="16" name="（1）假定 thisman = 'A'，代入四句话中">
            <a:extLst>
              <a:ext uri="{FF2B5EF4-FFF2-40B4-BE49-F238E27FC236}">
                <a16:creationId xmlns:a16="http://schemas.microsoft.com/office/drawing/2014/main" id="{600E7B87-4FB7-47CA-842F-576C82C4DB3D}"/>
              </a:ext>
            </a:extLst>
          </p:cNvPr>
          <p:cNvSpPr>
            <a:spLocks noGrp="1"/>
          </p:cNvSpPr>
          <p:nvPr>
            <p:ph type="title"/>
          </p:nvPr>
        </p:nvSpPr>
        <p:spPr>
          <a:xfrm>
            <a:off x="547201" y="354125"/>
            <a:ext cx="10128213" cy="1152045"/>
          </a:xfrm>
          <a:prstGeom prst="rect">
            <a:avLst/>
          </a:prstGeom>
          <a:solidFill>
            <a:schemeClr val="accent5">
              <a:hueOff val="-82419"/>
              <a:satOff val="-9513"/>
              <a:lumOff val="-16343"/>
            </a:schemeClr>
          </a:solidFill>
          <a:ln w="12700">
            <a:miter lim="400000"/>
          </a:ln>
          <a:effectLst>
            <a:outerShdw blurRad="190500" dist="8455" dir="5400000" rotWithShape="0">
              <a:srgbClr val="000000"/>
            </a:outerShdw>
          </a:effectLst>
        </p:spPr>
        <p:txBody>
          <a:bodyPr lIns="65022" tIns="65022" rIns="65022" bIns="65022" anchor="ctr">
            <a:noAutofit/>
          </a:bodyPr>
          <a:lstStyle/>
          <a:p>
            <a:r>
              <a:rPr lang="zh-CN" altLang="en-US" b="1">
                <a:solidFill>
                  <a:srgbClr val="FFFF00"/>
                </a:solidFill>
                <a:sym typeface="Helvetica Neue"/>
              </a:rPr>
              <a:t>逐一</a:t>
            </a:r>
            <a:r>
              <a:rPr lang="zh-CN" altLang="en-US">
                <a:sym typeface="Helvetica Neue"/>
              </a:rPr>
              <a:t>测试</a:t>
            </a:r>
            <a:r>
              <a:rPr lang="en-US" altLang="zh-CN">
                <a:sym typeface="Helvetica Neue"/>
              </a:rPr>
              <a:t>4</a:t>
            </a:r>
            <a:r>
              <a:rPr lang="zh-CN" altLang="en-US">
                <a:sym typeface="Helvetica Neue"/>
              </a:rPr>
              <a:t>种可能性：代入四句话中</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25</a:t>
            </a:fld>
            <a:endParaRPr/>
          </a:p>
        </p:txBody>
      </p:sp>
      <p:sp>
        <p:nvSpPr>
          <p:cNvPr id="122" name="只有两句是真话，不满足题目要求，所以，做好事的不是D"/>
          <p:cNvSpPr txBox="1"/>
          <p:nvPr/>
        </p:nvSpPr>
        <p:spPr>
          <a:xfrm>
            <a:off x="901749" y="8483696"/>
            <a:ext cx="7960158" cy="520701"/>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只有</a:t>
            </a:r>
            <a:r>
              <a:rPr>
                <a:solidFill>
                  <a:schemeClr val="accent5">
                    <a:hueOff val="-82419"/>
                    <a:satOff val="-9513"/>
                    <a:lumOff val="-16343"/>
                  </a:schemeClr>
                </a:solidFill>
              </a:rPr>
              <a:t>两句</a:t>
            </a:r>
            <a:r>
              <a:t>是真话，不满足题目要求，所以，做好事的不是D</a:t>
            </a:r>
          </a:p>
        </p:txBody>
      </p:sp>
      <p:graphicFrame>
        <p:nvGraphicFramePr>
          <p:cNvPr id="123" name="表格"/>
          <p:cNvGraphicFramePr/>
          <p:nvPr/>
        </p:nvGraphicFramePr>
        <p:xfrm>
          <a:off x="901749" y="3157105"/>
          <a:ext cx="11201300" cy="5226050"/>
        </p:xfrm>
        <a:graphic>
          <a:graphicData uri="http://schemas.openxmlformats.org/drawingml/2006/table">
            <a:tbl>
              <a:tblPr>
                <a:tableStyleId>{33BA23B1-9221-436E-865A-0063620EA4FD}</a:tableStyleId>
              </a:tblPr>
              <a:tblGrid>
                <a:gridCol w="2015242">
                  <a:extLst>
                    <a:ext uri="{9D8B030D-6E8A-4147-A177-3AD203B41FA5}">
                      <a16:colId xmlns:a16="http://schemas.microsoft.com/office/drawing/2014/main" val="20000"/>
                    </a:ext>
                  </a:extLst>
                </a:gridCol>
                <a:gridCol w="3916931">
                  <a:extLst>
                    <a:ext uri="{9D8B030D-6E8A-4147-A177-3AD203B41FA5}">
                      <a16:colId xmlns:a16="http://schemas.microsoft.com/office/drawing/2014/main" val="20001"/>
                    </a:ext>
                  </a:extLst>
                </a:gridCol>
                <a:gridCol w="3253885">
                  <a:extLst>
                    <a:ext uri="{9D8B030D-6E8A-4147-A177-3AD203B41FA5}">
                      <a16:colId xmlns:a16="http://schemas.microsoft.com/office/drawing/2014/main" val="20002"/>
                    </a:ext>
                  </a:extLst>
                </a:gridCol>
                <a:gridCol w="2015242">
                  <a:extLst>
                    <a:ext uri="{9D8B030D-6E8A-4147-A177-3AD203B41FA5}">
                      <a16:colId xmlns:a16="http://schemas.microsoft.com/office/drawing/2014/main" val="20003"/>
                    </a:ext>
                  </a:extLst>
                </a:gridCol>
              </a:tblGrid>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说话人</a:t>
                      </a:r>
                    </a:p>
                  </a:txBody>
                  <a:tcPr marL="62230" marR="62230" marT="62230" marB="62230" anchor="ctr" horzOverflow="overflow">
                    <a:lnL w="38100">
                      <a:solidFill>
                        <a:srgbClr val="FFFFFF"/>
                      </a:solidFill>
                      <a:miter lim="400000"/>
                    </a:lnL>
                    <a:lnT w="38100">
                      <a:solidFill>
                        <a:srgbClr val="FFFFFF"/>
                      </a:solidFill>
                      <a:miter lim="400000"/>
                    </a:lnT>
                    <a:solidFill>
                      <a:schemeClr val="accent1">
                        <a:lumOff val="16847"/>
                      </a:schemeClr>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说的话</a:t>
                      </a:r>
                    </a:p>
                  </a:txBody>
                  <a:tcPr marL="62230" marR="62230" marT="62230" marB="62230" anchor="ctr" horzOverflow="overflow">
                    <a:lnT w="38100">
                      <a:solidFill>
                        <a:srgbClr val="FFFFFF"/>
                      </a:solidFill>
                      <a:miter lim="400000"/>
                    </a:lnT>
                    <a:solidFill>
                      <a:schemeClr val="accent1">
                        <a:lumOff val="16847"/>
                      </a:schemeClr>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关系表达式</a:t>
                      </a:r>
                    </a:p>
                  </a:txBody>
                  <a:tcPr marL="62230" marR="62230" marT="62230" marB="62230" anchor="ctr" horzOverflow="overflow">
                    <a:lnT w="38100">
                      <a:solidFill>
                        <a:srgbClr val="FFFFFF"/>
                      </a:solidFill>
                      <a:miter lim="400000"/>
                    </a:lnT>
                    <a:solidFill>
                      <a:schemeClr val="accent1">
                        <a:lumOff val="16847"/>
                      </a:schemeClr>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真话吗</a:t>
                      </a:r>
                    </a:p>
                  </a:txBody>
                  <a:tcPr marL="62230" marR="62230" marT="62230" marB="62230" anchor="ctr" horzOverflow="overflow">
                    <a:lnR w="38100">
                      <a:solidFill>
                        <a:srgbClr val="FFFFFF"/>
                      </a:solidFill>
                      <a:miter lim="400000"/>
                    </a:lnR>
                    <a:lnT w="38100">
                      <a:solidFill>
                        <a:srgbClr val="FFFFFF"/>
                      </a:solidFill>
                      <a:miter lim="400000"/>
                    </a:lnT>
                    <a:solidFill>
                      <a:schemeClr val="accent1">
                        <a:lumOff val="16847"/>
                      </a:schemeClr>
                    </a:solidFill>
                  </a:tcPr>
                </a:tc>
                <a:extLst>
                  <a:ext uri="{0D108BD9-81ED-4DB2-BD59-A6C34878D82A}">
                    <a16:rowId xmlns:a16="http://schemas.microsoft.com/office/drawing/2014/main" val="10000"/>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A</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'A';</a:t>
                      </a:r>
                    </a:p>
                  </a:txBody>
                  <a:tcPr marL="62230" marR="62230" marT="62230" marB="62230" anchor="ctr" horzOverflow="overflow">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'D'</a:t>
                      </a:r>
                      <a:r>
                        <a:t> != 'A'</a:t>
                      </a:r>
                    </a:p>
                  </a:txBody>
                  <a:tcPr marL="62230" marR="62230" marT="62230" marB="62230" anchor="ctr" horzOverflow="overflow">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冬青黑体简体中文 W6"/>
                          <a:ea typeface="冬青黑体简体中文 W6"/>
                          <a:cs typeface="冬青黑体简体中文 W6"/>
                          <a:sym typeface="冬青黑体简体中文 W6"/>
                        </a:rPr>
                        <a:t>1</a:t>
                      </a:r>
                    </a:p>
                  </a:txBody>
                  <a:tcPr marL="62230" marR="62230" marT="62230" marB="62230" anchor="ctr" horzOverflow="overflow">
                    <a:lnR w="38100">
                      <a:solidFill>
                        <a:srgbClr val="FFFFFF"/>
                      </a:solidFill>
                      <a:miter lim="400000"/>
                    </a:lnR>
                    <a:lnB w="38100">
                      <a:solidFill>
                        <a:srgbClr val="FFFFFF"/>
                      </a:solidFill>
                      <a:miter lim="400000"/>
                    </a:lnB>
                    <a:solidFill>
                      <a:srgbClr val="D6D5D5"/>
                    </a:solidFill>
                  </a:tcPr>
                </a:tc>
                <a:extLst>
                  <a:ext uri="{0D108BD9-81ED-4DB2-BD59-A6C34878D82A}">
                    <a16:rowId xmlns:a16="http://schemas.microsoft.com/office/drawing/2014/main" val="10001"/>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B</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'C';</a:t>
                      </a:r>
                    </a:p>
                  </a:txBody>
                  <a:tcPr marL="62230" marR="62230" marT="62230" marB="62230" anchor="ctr" horzOverflow="overflow">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'D'</a:t>
                      </a:r>
                      <a:r>
                        <a:t> == 'C'</a:t>
                      </a:r>
                    </a:p>
                  </a:txBody>
                  <a:tcPr marL="62230" marR="62230" marT="62230" marB="62230" anchor="ctr" horzOverflow="overflow">
                    <a:solidFill>
                      <a:srgbClr val="D6D5D5"/>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0</a:t>
                      </a:r>
                    </a:p>
                  </a:txBody>
                  <a:tcPr marL="62230" marR="62230" marT="62230" marB="62230" anchor="ctr" horzOverflow="overflow">
                    <a:lnR w="38100">
                      <a:solidFill>
                        <a:srgbClr val="FFFFFF"/>
                      </a:solidFill>
                      <a:miter lim="400000"/>
                    </a:lnR>
                    <a:lnT w="38100">
                      <a:solidFill>
                        <a:srgbClr val="FFFFFF"/>
                      </a:solidFill>
                      <a:miter lim="400000"/>
                    </a:lnT>
                    <a:solidFill>
                      <a:srgbClr val="D6D5D5"/>
                    </a:solidFill>
                  </a:tcPr>
                </a:tc>
                <a:extLst>
                  <a:ext uri="{0D108BD9-81ED-4DB2-BD59-A6C34878D82A}">
                    <a16:rowId xmlns:a16="http://schemas.microsoft.com/office/drawing/2014/main" val="10002"/>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C</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'D';</a:t>
                      </a:r>
                    </a:p>
                  </a:txBody>
                  <a:tcPr marL="62230" marR="62230" marT="62230" marB="62230" anchor="ctr" horzOverflow="overflow">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'D'</a:t>
                      </a:r>
                      <a:r>
                        <a:t> == 'D'</a:t>
                      </a:r>
                    </a:p>
                  </a:txBody>
                  <a:tcPr marL="62230" marR="62230" marT="62230" marB="62230" anchor="ctr" horzOverflow="overflow">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冬青黑体简体中文 W6"/>
                          <a:ea typeface="冬青黑体简体中文 W6"/>
                          <a:cs typeface="冬青黑体简体中文 W6"/>
                          <a:sym typeface="冬青黑体简体中文 W6"/>
                        </a:rPr>
                        <a:t>1</a:t>
                      </a:r>
                    </a:p>
                  </a:txBody>
                  <a:tcPr marL="62230" marR="62230" marT="62230" marB="62230" anchor="ctr" horzOverflow="overflow">
                    <a:lnR w="38100">
                      <a:solidFill>
                        <a:srgbClr val="FFFFFF"/>
                      </a:solidFill>
                      <a:miter lim="400000"/>
                    </a:lnR>
                    <a:lnB w="38100">
                      <a:solidFill>
                        <a:srgbClr val="FFFFFF"/>
                      </a:solidFill>
                      <a:miter lim="400000"/>
                    </a:lnB>
                    <a:solidFill>
                      <a:srgbClr val="D6D5D5"/>
                    </a:solidFill>
                  </a:tcPr>
                </a:tc>
                <a:extLst>
                  <a:ext uri="{0D108BD9-81ED-4DB2-BD59-A6C34878D82A}">
                    <a16:rowId xmlns:a16="http://schemas.microsoft.com/office/drawing/2014/main" val="10003"/>
                  </a:ext>
                </a:extLst>
              </a:tr>
              <a:tr h="891066">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D</a:t>
                      </a:r>
                    </a:p>
                  </a:txBody>
                  <a:tcPr marL="62230" marR="62230" marT="62230" marB="62230" anchor="ctr" horzOverflow="overflow">
                    <a:lnL w="38100">
                      <a:solidFill>
                        <a:srgbClr val="FFFFFF"/>
                      </a:solidFill>
                      <a:miter lim="400000"/>
                    </a:lnL>
                    <a:lnB w="38100">
                      <a:solidFill>
                        <a:srgbClr val="FFFFFF"/>
                      </a:solidFill>
                      <a:miter lim="400000"/>
                    </a:lnB>
                    <a:solidFill>
                      <a:srgbClr val="D6D5D5"/>
                    </a:solidFill>
                  </a:tcPr>
                </a:tc>
                <a:tc>
                  <a:txBody>
                    <a:bodyPr/>
                    <a:lstStyle/>
                    <a:p>
                      <a:pPr defTabSz="457200">
                        <a:lnSpc>
                          <a:spcPts val="8500"/>
                        </a:lnSpc>
                        <a:defRPr sz="1800"/>
                      </a:pPr>
                      <a:r>
                        <a:rPr sz="3000">
                          <a:solidFill>
                            <a:schemeClr val="accent5">
                              <a:hueOff val="-82419"/>
                              <a:satOff val="-9513"/>
                              <a:lumOff val="-16343"/>
                            </a:schemeClr>
                          </a:solidFill>
                          <a:latin typeface="Courier"/>
                          <a:ea typeface="Courier"/>
                          <a:cs typeface="Courier"/>
                        </a:rPr>
                        <a:t>thisman != 'D';</a:t>
                      </a:r>
                    </a:p>
                  </a:txBody>
                  <a:tcPr marL="62230" marR="62230" marT="62230" marB="62230" anchor="ctr" horzOverflow="overflow">
                    <a:lnB w="38100">
                      <a:solidFill>
                        <a:srgbClr val="FFFFFF"/>
                      </a:solidFill>
                      <a:miter lim="400000"/>
                    </a:lnB>
                    <a:solidFill>
                      <a:srgbClr val="D6D5D5"/>
                    </a:solidFill>
                  </a:tcPr>
                </a:tc>
                <a:tc>
                  <a:txBody>
                    <a:bodyPr/>
                    <a:lstStyle/>
                    <a:p>
                      <a:pPr defTabSz="457200">
                        <a:lnSpc>
                          <a:spcPts val="8500"/>
                        </a:lnSpc>
                        <a:defRPr sz="3000" b="1">
                          <a:solidFill>
                            <a:schemeClr val="accent3">
                              <a:hueOff val="914337"/>
                              <a:satOff val="31515"/>
                              <a:lumOff val="-30790"/>
                            </a:schemeClr>
                          </a:solidFill>
                          <a:latin typeface="Courier"/>
                          <a:ea typeface="Courier"/>
                          <a:cs typeface="Courier"/>
                        </a:defRPr>
                      </a:pPr>
                      <a:r>
                        <a:rPr>
                          <a:solidFill>
                            <a:srgbClr val="000000"/>
                          </a:solidFill>
                        </a:rPr>
                        <a:t>'D'</a:t>
                      </a:r>
                      <a:r>
                        <a:t> != 'D'</a:t>
                      </a:r>
                    </a:p>
                  </a:txBody>
                  <a:tcPr marL="62230" marR="62230" marT="62230" marB="62230" anchor="ctr" horzOverflow="overflow">
                    <a:lnB w="38100">
                      <a:solidFill>
                        <a:srgbClr val="FFFFFF"/>
                      </a:solidFill>
                      <a:miter lim="400000"/>
                    </a:lnB>
                    <a:solidFill>
                      <a:srgbClr val="D6D5D5"/>
                    </a:solidFill>
                  </a:tcPr>
                </a:tc>
                <a:tc>
                  <a:txBody>
                    <a:bodyPr/>
                    <a:lstStyle/>
                    <a:p>
                      <a:pPr defTabSz="457200">
                        <a:lnSpc>
                          <a:spcPts val="8500"/>
                        </a:lnSpc>
                        <a:defRPr sz="1800"/>
                      </a:pPr>
                      <a:r>
                        <a:rPr sz="3000">
                          <a:latin typeface="冬青黑体简体中文 W3"/>
                          <a:ea typeface="冬青黑体简体中文 W3"/>
                          <a:cs typeface="冬青黑体简体中文 W3"/>
                          <a:sym typeface="冬青黑体简体中文 W3"/>
                        </a:rPr>
                        <a:t>0</a:t>
                      </a:r>
                    </a:p>
                  </a:txBody>
                  <a:tcPr marL="62230" marR="62230" marT="62230" marB="62230" anchor="ctr" horzOverflow="overflow">
                    <a:lnR w="38100">
                      <a:solidFill>
                        <a:srgbClr val="FFFFFF"/>
                      </a:solidFill>
                      <a:miter lim="400000"/>
                    </a:lnR>
                    <a:lnT w="38100">
                      <a:solidFill>
                        <a:srgbClr val="FFFFFF"/>
                      </a:solidFill>
                      <a:miter lim="400000"/>
                    </a:lnT>
                    <a:solidFill>
                      <a:srgbClr val="D6D5D5"/>
                    </a:solidFill>
                  </a:tcPr>
                </a:tc>
                <a:extLst>
                  <a:ext uri="{0D108BD9-81ED-4DB2-BD59-A6C34878D82A}">
                    <a16:rowId xmlns:a16="http://schemas.microsoft.com/office/drawing/2014/main" val="10004"/>
                  </a:ext>
                </a:extLst>
              </a:tr>
            </a:tbl>
          </a:graphicData>
        </a:graphic>
      </p:graphicFrame>
      <p:sp>
        <p:nvSpPr>
          <p:cNvPr id="10" name="（1）假定 thisman = 'A'，代入四句话中">
            <a:extLst>
              <a:ext uri="{FF2B5EF4-FFF2-40B4-BE49-F238E27FC236}">
                <a16:creationId xmlns:a16="http://schemas.microsoft.com/office/drawing/2014/main" id="{30B7BCAE-2B16-4692-9901-511AF19E904E}"/>
              </a:ext>
            </a:extLst>
          </p:cNvPr>
          <p:cNvSpPr txBox="1">
            <a:spLocks/>
          </p:cNvSpPr>
          <p:nvPr/>
        </p:nvSpPr>
        <p:spPr>
          <a:xfrm>
            <a:off x="547201" y="2200562"/>
            <a:ext cx="7714767" cy="838674"/>
          </a:xfrm>
          <a:prstGeom prst="rect">
            <a:avLst/>
          </a:prstGeom>
          <a:solidFill>
            <a:schemeClr val="tx1">
              <a:lumMod val="50000"/>
              <a:lumOff val="50000"/>
            </a:schemeClr>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ctr">
            <a:noAutofit/>
          </a:bodyPr>
          <a:lstStyle>
            <a:lvl1pPr marL="0" marR="0" indent="0" algn="ctr" defTabSz="584200" rtl="0" latinLnBrk="0">
              <a:lnSpc>
                <a:spcPct val="100000"/>
              </a:lnSpc>
              <a:spcBef>
                <a:spcPts val="0"/>
              </a:spcBef>
              <a:spcAft>
                <a:spcPts val="0"/>
              </a:spcAft>
              <a:buClrTx/>
              <a:buSzTx/>
              <a:buFontTx/>
              <a:buNone/>
              <a:tabLst/>
              <a:defRPr sz="4600" b="0" i="0" u="none" strike="noStrike" cap="none" spc="0" baseline="0">
                <a:solidFill>
                  <a:srgbClr val="FFFFFF"/>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l" hangingPunct="1"/>
            <a:r>
              <a:rPr lang="zh-CN" altLang="en-US" sz="3200">
                <a:solidFill>
                  <a:srgbClr val="FFFF00"/>
                </a:solidFill>
              </a:rPr>
              <a:t>（</a:t>
            </a:r>
            <a:r>
              <a:rPr lang="en-US" altLang="zh-CN" sz="3200">
                <a:solidFill>
                  <a:srgbClr val="FFFF00"/>
                </a:solidFill>
              </a:rPr>
              <a:t>4</a:t>
            </a:r>
            <a:r>
              <a:rPr lang="zh-CN" altLang="en-US" sz="3200">
                <a:solidFill>
                  <a:srgbClr val="FFFF00"/>
                </a:solidFill>
              </a:rPr>
              <a:t>）假定 </a:t>
            </a:r>
            <a:r>
              <a:rPr lang="en-US" sz="3200" err="1">
                <a:solidFill>
                  <a:srgbClr val="FFFF00"/>
                </a:solidFill>
              </a:rPr>
              <a:t>thisman</a:t>
            </a:r>
            <a:r>
              <a:rPr lang="en-US" sz="3200">
                <a:solidFill>
                  <a:srgbClr val="FFFF00"/>
                </a:solidFill>
              </a:rPr>
              <a:t> </a:t>
            </a:r>
            <a:r>
              <a:rPr lang="zh-CN" altLang="en-US" sz="3200">
                <a:solidFill>
                  <a:srgbClr val="FFFF00"/>
                </a:solidFill>
              </a:rPr>
              <a:t>是 </a:t>
            </a:r>
            <a:r>
              <a:rPr lang="en-US" altLang="zh-CN" sz="3200">
                <a:solidFill>
                  <a:srgbClr val="FFFF00"/>
                </a:solidFill>
              </a:rPr>
              <a:t>'D</a:t>
            </a:r>
            <a:r>
              <a:rPr lang="en-US" sz="3200">
                <a:solidFill>
                  <a:srgbClr val="FFFF00"/>
                </a:solidFill>
              </a:rPr>
              <a:t>'，</a:t>
            </a:r>
            <a:r>
              <a:rPr lang="zh-CN" altLang="en-US" sz="3200">
                <a:solidFill>
                  <a:srgbClr val="FFFF00"/>
                </a:solidFill>
              </a:rPr>
              <a:t>代入四句话中</a:t>
            </a:r>
          </a:p>
        </p:txBody>
      </p:sp>
      <p:sp>
        <p:nvSpPr>
          <p:cNvPr id="17" name="（1）假定 thisman = 'A'，代入四句话中">
            <a:extLst>
              <a:ext uri="{FF2B5EF4-FFF2-40B4-BE49-F238E27FC236}">
                <a16:creationId xmlns:a16="http://schemas.microsoft.com/office/drawing/2014/main" id="{E329F623-088A-43BD-BC4A-F2B0AEB5AD09}"/>
              </a:ext>
            </a:extLst>
          </p:cNvPr>
          <p:cNvSpPr>
            <a:spLocks noGrp="1"/>
          </p:cNvSpPr>
          <p:nvPr>
            <p:ph type="title"/>
          </p:nvPr>
        </p:nvSpPr>
        <p:spPr>
          <a:xfrm>
            <a:off x="547201" y="354125"/>
            <a:ext cx="10128213" cy="1152045"/>
          </a:xfrm>
          <a:prstGeom prst="rect">
            <a:avLst/>
          </a:prstGeom>
          <a:solidFill>
            <a:schemeClr val="accent5">
              <a:hueOff val="-82419"/>
              <a:satOff val="-9513"/>
              <a:lumOff val="-16343"/>
            </a:schemeClr>
          </a:solidFill>
          <a:ln w="12700">
            <a:miter lim="400000"/>
          </a:ln>
          <a:effectLst>
            <a:outerShdw blurRad="190500" dist="8455" dir="5400000" rotWithShape="0">
              <a:srgbClr val="000000"/>
            </a:outerShdw>
          </a:effectLst>
        </p:spPr>
        <p:txBody>
          <a:bodyPr lIns="65022" tIns="65022" rIns="65022" bIns="65022" anchor="ctr">
            <a:noAutofit/>
          </a:bodyPr>
          <a:lstStyle/>
          <a:p>
            <a:r>
              <a:rPr lang="zh-CN" altLang="en-US" b="1">
                <a:solidFill>
                  <a:srgbClr val="FFFF00"/>
                </a:solidFill>
                <a:sym typeface="Helvetica Neue"/>
              </a:rPr>
              <a:t>逐一</a:t>
            </a:r>
            <a:r>
              <a:rPr lang="zh-CN" altLang="en-US">
                <a:sym typeface="Helvetica Neue"/>
              </a:rPr>
              <a:t>测试</a:t>
            </a:r>
            <a:r>
              <a:rPr lang="en-US" altLang="zh-CN">
                <a:sym typeface="Helvetica Neue"/>
              </a:rPr>
              <a:t>4</a:t>
            </a:r>
            <a:r>
              <a:rPr lang="zh-CN" altLang="en-US">
                <a:sym typeface="Helvetica Neue"/>
              </a:rPr>
              <a:t>种可能性：代入四句话中</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D09FFB7D-5CA9-469E-A44A-0CDE74873048}"/>
              </a:ext>
            </a:extLst>
          </p:cNvPr>
          <p:cNvSpPr/>
          <p:nvPr/>
        </p:nvSpPr>
        <p:spPr>
          <a:xfrm>
            <a:off x="5957248" y="4342301"/>
            <a:ext cx="6011839" cy="3798589"/>
          </a:xfrm>
          <a:prstGeom prst="roundRect">
            <a:avLst>
              <a:gd name="adj" fmla="val 1836"/>
            </a:avLst>
          </a:prstGeom>
          <a:solidFill>
            <a:schemeClr val="accent6">
              <a:lumMod val="20000"/>
              <a:lumOff val="80000"/>
            </a:schemeClr>
          </a:solidFill>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71"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26</a:t>
            </a:fld>
            <a:endParaRPr/>
          </a:p>
        </p:txBody>
      </p:sp>
      <p:sp>
        <p:nvSpPr>
          <p:cNvPr id="72" name="【试一试】什么是关系运算表达式"/>
          <p:cNvSpPr>
            <a:spLocks noGrp="1"/>
          </p:cNvSpPr>
          <p:nvPr>
            <p:ph type="title"/>
          </p:nvPr>
        </p:nvSpPr>
        <p:spPr>
          <a:xfrm>
            <a:off x="547201" y="354125"/>
            <a:ext cx="7013659" cy="1152045"/>
          </a:xfrm>
          <a:prstGeom prst="rect">
            <a:avLst/>
          </a:prstGeom>
        </p:spPr>
        <p:txBody>
          <a:bodyPr/>
          <a:lstStyle>
            <a:lvl1pPr algn="l"/>
          </a:lstStyle>
          <a:p>
            <a:pPr algn="r"/>
            <a:r>
              <a:rPr lang="zh-CN" altLang="en-US"/>
              <a:t>如何对假设进行检验呢？</a:t>
            </a:r>
            <a:endParaRPr/>
          </a:p>
        </p:txBody>
      </p:sp>
      <p:pic>
        <p:nvPicPr>
          <p:cNvPr id="7" name="图片 6">
            <a:extLst>
              <a:ext uri="{FF2B5EF4-FFF2-40B4-BE49-F238E27FC236}">
                <a16:creationId xmlns:a16="http://schemas.microsoft.com/office/drawing/2014/main" id="{088580B9-A7D3-4B5E-B4FB-CE2ECB4CE479}"/>
              </a:ext>
            </a:extLst>
          </p:cNvPr>
          <p:cNvPicPr>
            <a:picLocks noChangeAspect="1"/>
          </p:cNvPicPr>
          <p:nvPr/>
        </p:nvPicPr>
        <p:blipFill rotWithShape="1">
          <a:blip r:embed="rId2">
            <a:extLst>
              <a:ext uri="{28A0092B-C50C-407E-A947-70E740481C1C}">
                <a14:useLocalDpi xmlns:a14="http://schemas.microsoft.com/office/drawing/2010/main" val="0"/>
              </a:ext>
            </a:extLst>
          </a:blip>
          <a:srcRect l="52876" t="7896" r="956" b="3721"/>
          <a:stretch/>
        </p:blipFill>
        <p:spPr>
          <a:xfrm>
            <a:off x="6073255" y="4498433"/>
            <a:ext cx="3069897" cy="3524213"/>
          </a:xfrm>
          <a:prstGeom prst="rect">
            <a:avLst/>
          </a:prstGeom>
        </p:spPr>
      </p:pic>
      <p:sp>
        <p:nvSpPr>
          <p:cNvPr id="8" name="所谓“枚举”，就是按照四种假定（可能性），逐一地去测试四个人的话有几句是真话，如果不满足三句为真，即不符合题目要求，就否定掉这一假定，换下一个可能性再试。…">
            <a:extLst>
              <a:ext uri="{FF2B5EF4-FFF2-40B4-BE49-F238E27FC236}">
                <a16:creationId xmlns:a16="http://schemas.microsoft.com/office/drawing/2014/main" id="{7CD6BA86-D12F-4A52-8C38-7ECEE8400971}"/>
              </a:ext>
            </a:extLst>
          </p:cNvPr>
          <p:cNvSpPr txBox="1"/>
          <p:nvPr/>
        </p:nvSpPr>
        <p:spPr>
          <a:xfrm>
            <a:off x="547201" y="2248890"/>
            <a:ext cx="11421886" cy="753411"/>
          </a:xfrm>
          <a:prstGeom prst="rect">
            <a:avLst/>
          </a:prstGeom>
          <a:solidFill>
            <a:schemeClr val="accent6">
              <a:lumMod val="20000"/>
              <a:lumOff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just">
              <a:lnSpc>
                <a:spcPct val="150000"/>
              </a:lnSpc>
              <a:defRPr sz="3200"/>
            </a:pPr>
            <a:r>
              <a:rPr lang="zh-CN" altLang="en-US">
                <a:solidFill>
                  <a:schemeClr val="tx1"/>
                </a:solidFill>
              </a:rPr>
              <a:t>通过给变量赋值，做出假设，例如：</a:t>
            </a:r>
            <a:r>
              <a:rPr lang="en-US" altLang="zh-CN" err="1">
                <a:solidFill>
                  <a:srgbClr val="7030A0"/>
                </a:solidFill>
                <a:latin typeface="Lucida Console" panose="020B0609040504020204" pitchFamily="49" charset="0"/>
              </a:rPr>
              <a:t>thisman</a:t>
            </a:r>
            <a:r>
              <a:rPr lang="en-US" altLang="zh-CN">
                <a:solidFill>
                  <a:srgbClr val="7030A0"/>
                </a:solidFill>
                <a:latin typeface="Lucida Console" panose="020B0609040504020204" pitchFamily="49" charset="0"/>
              </a:rPr>
              <a:t> = 'A'</a:t>
            </a:r>
            <a:endParaRPr>
              <a:solidFill>
                <a:srgbClr val="7030A0"/>
              </a:solidFill>
              <a:latin typeface="Lucida Console" panose="020B0609040504020204" pitchFamily="49" charset="0"/>
            </a:endParaRPr>
          </a:p>
        </p:txBody>
      </p:sp>
      <p:pic>
        <p:nvPicPr>
          <p:cNvPr id="10" name="图片 9">
            <a:extLst>
              <a:ext uri="{FF2B5EF4-FFF2-40B4-BE49-F238E27FC236}">
                <a16:creationId xmlns:a16="http://schemas.microsoft.com/office/drawing/2014/main" id="{9A1C7B00-EB2E-4751-8219-2952E88D0B1B}"/>
              </a:ext>
            </a:extLst>
          </p:cNvPr>
          <p:cNvPicPr>
            <a:picLocks noChangeAspect="1"/>
          </p:cNvPicPr>
          <p:nvPr/>
        </p:nvPicPr>
        <p:blipFill>
          <a:blip r:embed="rId3"/>
          <a:stretch>
            <a:fillRect/>
          </a:stretch>
        </p:blipFill>
        <p:spPr>
          <a:xfrm>
            <a:off x="630380" y="3379377"/>
            <a:ext cx="4548946" cy="4761513"/>
          </a:xfrm>
          <a:prstGeom prst="rect">
            <a:avLst/>
          </a:prstGeom>
        </p:spPr>
      </p:pic>
      <p:sp>
        <p:nvSpPr>
          <p:cNvPr id="11" name="矩形: 圆角 10">
            <a:extLst>
              <a:ext uri="{FF2B5EF4-FFF2-40B4-BE49-F238E27FC236}">
                <a16:creationId xmlns:a16="http://schemas.microsoft.com/office/drawing/2014/main" id="{B9DB5275-AB9D-4040-B3A7-C88BDA9E57C8}"/>
              </a:ext>
            </a:extLst>
          </p:cNvPr>
          <p:cNvSpPr/>
          <p:nvPr/>
        </p:nvSpPr>
        <p:spPr>
          <a:xfrm>
            <a:off x="1177809" y="6555883"/>
            <a:ext cx="3742209" cy="1086864"/>
          </a:xfrm>
          <a:prstGeom prst="roundRect">
            <a:avLst>
              <a:gd name="adj" fmla="val 4727"/>
            </a:avLst>
          </a:prstGeom>
          <a:noFill/>
          <a:ln w="38100">
            <a:solidFill>
              <a:srgbClr val="00B050"/>
            </a:solidFill>
            <a:prstDash val="dash"/>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2" name="箭头: 右 1">
            <a:extLst>
              <a:ext uri="{FF2B5EF4-FFF2-40B4-BE49-F238E27FC236}">
                <a16:creationId xmlns:a16="http://schemas.microsoft.com/office/drawing/2014/main" id="{4B02CB2B-83A2-4C7D-AAF7-2999D638D8FB}"/>
              </a:ext>
            </a:extLst>
          </p:cNvPr>
          <p:cNvSpPr/>
          <p:nvPr/>
        </p:nvSpPr>
        <p:spPr>
          <a:xfrm>
            <a:off x="5179326" y="6833183"/>
            <a:ext cx="634621" cy="532263"/>
          </a:xfrm>
          <a:prstGeom prst="rightArrow">
            <a:avLst/>
          </a:prstGeom>
          <a:solidFill>
            <a:schemeClr val="accent6">
              <a:lumMod val="75000"/>
            </a:schemeClr>
          </a:solidFill>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3" name="文本框 2">
            <a:extLst>
              <a:ext uri="{FF2B5EF4-FFF2-40B4-BE49-F238E27FC236}">
                <a16:creationId xmlns:a16="http://schemas.microsoft.com/office/drawing/2014/main" id="{379F901B-A13F-4D8D-81D5-FAB634D4FB46}"/>
              </a:ext>
            </a:extLst>
          </p:cNvPr>
          <p:cNvSpPr txBox="1"/>
          <p:nvPr/>
        </p:nvSpPr>
        <p:spPr>
          <a:xfrm>
            <a:off x="9457051" y="6073394"/>
            <a:ext cx="2369940" cy="1949252"/>
          </a:xfrm>
          <a:prstGeom prst="rect">
            <a:avLst/>
          </a:prstGeom>
          <a:noFill/>
          <a:ln w="12700" cap="flat">
            <a:solidFill>
              <a:srgbClr val="00B050"/>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zh-CN" altLang="en-US" sz="2000" b="1" i="0" u="none" strike="noStrike" cap="none" spc="0" normalizeH="0" baseline="0">
                <a:ln>
                  <a:noFill/>
                </a:ln>
                <a:solidFill>
                  <a:srgbClr val="000000"/>
                </a:solidFill>
                <a:effectLst/>
                <a:uFillTx/>
                <a:latin typeface="Helvetica Neue"/>
                <a:ea typeface="Helvetica Neue"/>
                <a:cs typeface="Helvetica Neue"/>
                <a:sym typeface="Helvetica Neue"/>
              </a:rPr>
              <a:t>从左表计算可得真话数量是</a:t>
            </a:r>
            <a:r>
              <a:rPr kumimoji="0" lang="en-US" altLang="zh-CN" sz="2000" b="1" i="0" u="none" strike="noStrike" cap="none" spc="0" normalizeH="0" baseline="0">
                <a:ln>
                  <a:noFill/>
                </a:ln>
                <a:solidFill>
                  <a:srgbClr val="000000"/>
                </a:solidFill>
                <a:effectLst/>
                <a:uFillTx/>
                <a:latin typeface="Helvetica Neue"/>
                <a:ea typeface="Helvetica Neue"/>
                <a:cs typeface="Helvetica Neue"/>
                <a:sym typeface="Helvetica Neue"/>
              </a:rPr>
              <a:t>1</a:t>
            </a:r>
            <a:r>
              <a:rPr kumimoji="0" lang="zh-CN" altLang="en-US" sz="2000" b="1" i="0" u="none" strike="noStrike" cap="none" spc="0" normalizeH="0" baseline="0">
                <a:ln>
                  <a:noFill/>
                </a:ln>
                <a:solidFill>
                  <a:srgbClr val="000000"/>
                </a:solidFill>
                <a:effectLst/>
                <a:uFillTx/>
                <a:latin typeface="Helvetica Neue"/>
                <a:ea typeface="Helvetica Neue"/>
                <a:cs typeface="Helvetica Neue"/>
                <a:sym typeface="Helvetica Neue"/>
              </a:rPr>
              <a:t>，与事实（</a:t>
            </a:r>
            <a:r>
              <a:rPr kumimoji="0" lang="en-US" altLang="zh-CN" sz="2000" b="1" i="0" u="none" strike="noStrike" cap="none" spc="0" normalizeH="0" baseline="0">
                <a:ln>
                  <a:noFill/>
                </a:ln>
                <a:solidFill>
                  <a:srgbClr val="000000"/>
                </a:solidFill>
                <a:effectLst/>
                <a:uFillTx/>
                <a:latin typeface="Helvetica Neue"/>
                <a:ea typeface="Helvetica Neue"/>
                <a:cs typeface="Helvetica Neue"/>
                <a:sym typeface="Helvetica Neue"/>
              </a:rPr>
              <a:t>3</a:t>
            </a:r>
            <a:r>
              <a:rPr kumimoji="0" lang="zh-CN" altLang="en-US" sz="2000" b="1" i="0" u="none" strike="noStrike" cap="none" spc="0" normalizeH="0" baseline="0">
                <a:ln>
                  <a:noFill/>
                </a:ln>
                <a:solidFill>
                  <a:srgbClr val="000000"/>
                </a:solidFill>
                <a:effectLst/>
                <a:uFillTx/>
                <a:latin typeface="Helvetica Neue"/>
                <a:ea typeface="Helvetica Neue"/>
                <a:cs typeface="Helvetica Neue"/>
                <a:sym typeface="Helvetica Neue"/>
              </a:rPr>
              <a:t>名学生说真话）不符。</a:t>
            </a:r>
          </a:p>
        </p:txBody>
      </p:sp>
      <p:sp>
        <p:nvSpPr>
          <p:cNvPr id="13" name="所谓“枚举”，就是按照四种假定（可能性），逐一地去测试四个人的话有几句是真话，如果不满足三句为真，即不符合题目要求，就否定掉这一假定，换下一个可能性再试。…">
            <a:extLst>
              <a:ext uri="{FF2B5EF4-FFF2-40B4-BE49-F238E27FC236}">
                <a16:creationId xmlns:a16="http://schemas.microsoft.com/office/drawing/2014/main" id="{6B508133-7910-49D2-85FF-4BA881F98016}"/>
              </a:ext>
            </a:extLst>
          </p:cNvPr>
          <p:cNvSpPr txBox="1"/>
          <p:nvPr/>
        </p:nvSpPr>
        <p:spPr>
          <a:xfrm>
            <a:off x="547201" y="8533666"/>
            <a:ext cx="11421886" cy="753411"/>
          </a:xfrm>
          <a:prstGeom prst="rect">
            <a:avLst/>
          </a:prstGeom>
          <a:solidFill>
            <a:schemeClr val="accent6">
              <a:lumMod val="20000"/>
              <a:lumOff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just">
              <a:lnSpc>
                <a:spcPct val="150000"/>
              </a:lnSpc>
              <a:defRPr sz="3200"/>
            </a:pPr>
            <a:r>
              <a:rPr lang="zh-CN" altLang="en-US" dirty="0">
                <a:solidFill>
                  <a:schemeClr val="tx1"/>
                </a:solidFill>
                <a:latin typeface="Lucida Console" panose="020B0609040504020204" pitchFamily="49" charset="0"/>
              </a:rPr>
              <a:t>所以，假设（即“做好事者是</a:t>
            </a:r>
            <a:r>
              <a:rPr lang="en-US" altLang="zh-CN" dirty="0">
                <a:solidFill>
                  <a:schemeClr val="tx1"/>
                </a:solidFill>
                <a:latin typeface="Lucida Console" panose="020B0609040504020204" pitchFamily="49" charset="0"/>
              </a:rPr>
              <a:t>A</a:t>
            </a:r>
            <a:r>
              <a:rPr lang="zh-CN" altLang="en-US" dirty="0">
                <a:solidFill>
                  <a:schemeClr val="tx1"/>
                </a:solidFill>
                <a:latin typeface="Lucida Console" panose="020B0609040504020204" pitchFamily="49" charset="0"/>
              </a:rPr>
              <a:t>”）不成立。</a:t>
            </a:r>
            <a:endParaRPr dirty="0">
              <a:solidFill>
                <a:schemeClr val="tx1"/>
              </a:solidFill>
              <a:latin typeface="Lucida Console" panose="020B0609040504020204" pitchFamily="49" charset="0"/>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34B49A-81DB-4E9E-9903-36EBC857B578}"/>
              </a:ext>
            </a:extLst>
          </p:cNvPr>
          <p:cNvSpPr>
            <a:spLocks noGrp="1"/>
          </p:cNvSpPr>
          <p:nvPr>
            <p:ph type="title"/>
          </p:nvPr>
        </p:nvSpPr>
        <p:spPr>
          <a:xfrm>
            <a:off x="547201" y="354125"/>
            <a:ext cx="7957528" cy="1152045"/>
          </a:xfrm>
        </p:spPr>
        <p:txBody>
          <a:bodyPr/>
          <a:lstStyle/>
          <a:p>
            <a:pPr algn="r"/>
            <a:r>
              <a:rPr lang="zh-CN" altLang="en-US"/>
              <a:t>如何数真话的数量（</a:t>
            </a:r>
            <a:r>
              <a:rPr lang="zh-CN" altLang="en-US" b="1">
                <a:solidFill>
                  <a:srgbClr val="FFFF00"/>
                </a:solidFill>
              </a:rPr>
              <a:t>方法</a:t>
            </a:r>
            <a:r>
              <a:rPr lang="en-US" altLang="zh-CN" b="1">
                <a:solidFill>
                  <a:srgbClr val="FFFF00"/>
                </a:solidFill>
              </a:rPr>
              <a:t>1</a:t>
            </a:r>
            <a:r>
              <a:rPr lang="zh-CN" altLang="en-US"/>
              <a:t>）</a:t>
            </a:r>
          </a:p>
        </p:txBody>
      </p:sp>
      <p:sp>
        <p:nvSpPr>
          <p:cNvPr id="5" name="矩形 4">
            <a:extLst>
              <a:ext uri="{FF2B5EF4-FFF2-40B4-BE49-F238E27FC236}">
                <a16:creationId xmlns:a16="http://schemas.microsoft.com/office/drawing/2014/main" id="{C3682218-7BE9-493A-8D3E-914FFDE39A67}"/>
              </a:ext>
            </a:extLst>
          </p:cNvPr>
          <p:cNvSpPr/>
          <p:nvPr/>
        </p:nvSpPr>
        <p:spPr>
          <a:xfrm>
            <a:off x="2915840" y="2301946"/>
            <a:ext cx="9424113" cy="6962547"/>
          </a:xfrm>
          <a:prstGeom prst="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char</a:t>
            </a: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a:t>
            </a: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int</a:t>
            </a:r>
            <a:r>
              <a:rPr lang="en-US" altLang="zh-CN" sz="2000">
                <a:latin typeface="Lucida Console" panose="020B0609040504020204" pitchFamily="49" charset="0"/>
                <a:ea typeface="新宋体" panose="02010609030101010101" pitchFamily="49" charset="-122"/>
              </a:rPr>
              <a:t> sum;</a:t>
            </a:r>
          </a:p>
          <a:p>
            <a:pPr algn="l">
              <a:lnSpc>
                <a:spcPct val="150000"/>
              </a:lnSpc>
            </a:pP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'A'</a:t>
            </a:r>
            <a:r>
              <a:rPr lang="en-US" altLang="zh-CN" sz="2000">
                <a:latin typeface="Lucida Console" panose="020B0609040504020204" pitchFamily="49" charset="0"/>
                <a:ea typeface="新宋体" panose="02010609030101010101" pitchFamily="49" charset="-122"/>
              </a:rPr>
              <a:t>;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假设做好事者为</a:t>
            </a:r>
            <a:r>
              <a:rPr lang="en-US" altLang="zh-CN" sz="2000">
                <a:solidFill>
                  <a:srgbClr val="008000"/>
                </a:solidFill>
                <a:latin typeface="Lucida Console" panose="020B0609040504020204" pitchFamily="49" charset="0"/>
                <a:ea typeface="新宋体" panose="02010609030101010101" pitchFamily="49" charset="-122"/>
              </a:rPr>
              <a:t>A</a:t>
            </a: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sum = 0;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计数器初始值为</a:t>
            </a:r>
            <a:r>
              <a:rPr lang="en-US" altLang="zh-CN" sz="2000">
                <a:solidFill>
                  <a:srgbClr val="008000"/>
                </a:solidFill>
                <a:latin typeface="Lucida Console" panose="020B0609040504020204" pitchFamily="49" charset="0"/>
                <a:ea typeface="新宋体" panose="02010609030101010101" pitchFamily="49" charset="-122"/>
              </a:rPr>
              <a:t>0</a:t>
            </a:r>
          </a:p>
          <a:p>
            <a:pPr algn="l">
              <a:lnSpc>
                <a:spcPct val="150000"/>
              </a:lnSpc>
            </a:pP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if</a:t>
            </a: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'A'</a:t>
            </a:r>
            <a:r>
              <a:rPr lang="en-US" altLang="zh-CN" sz="2000">
                <a:latin typeface="Lucida Console" panose="020B0609040504020204" pitchFamily="49" charset="0"/>
                <a:ea typeface="新宋体" panose="02010609030101010101" pitchFamily="49" charset="-122"/>
              </a:rPr>
              <a:t>) sum++;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若</a:t>
            </a:r>
            <a:r>
              <a:rPr lang="en-US" altLang="zh-CN" sz="2000">
                <a:solidFill>
                  <a:srgbClr val="008000"/>
                </a:solidFill>
                <a:latin typeface="Lucida Console" panose="020B0609040504020204" pitchFamily="49" charset="0"/>
                <a:ea typeface="新宋体" panose="02010609030101010101" pitchFamily="49" charset="-122"/>
              </a:rPr>
              <a:t>A</a:t>
            </a:r>
            <a:r>
              <a:rPr lang="zh-CN" altLang="en-US" sz="2000">
                <a:solidFill>
                  <a:srgbClr val="008000"/>
                </a:solidFill>
                <a:latin typeface="Lucida Console" panose="020B0609040504020204" pitchFamily="49" charset="0"/>
                <a:ea typeface="新宋体" panose="02010609030101010101" pitchFamily="49" charset="-122"/>
              </a:rPr>
              <a:t>说的话为真，则</a:t>
            </a:r>
            <a:r>
              <a:rPr lang="en-US" altLang="zh-CN" sz="2000">
                <a:solidFill>
                  <a:srgbClr val="008000"/>
                </a:solidFill>
                <a:latin typeface="Lucida Console" panose="020B0609040504020204" pitchFamily="49" charset="0"/>
                <a:ea typeface="新宋体" panose="02010609030101010101" pitchFamily="49" charset="-122"/>
              </a:rPr>
              <a:t>sum</a:t>
            </a:r>
            <a:r>
              <a:rPr lang="zh-CN" altLang="en-US" sz="2000">
                <a:solidFill>
                  <a:srgbClr val="008000"/>
                </a:solidFill>
                <a:latin typeface="Lucida Console" panose="020B0609040504020204" pitchFamily="49" charset="0"/>
                <a:ea typeface="新宋体" panose="02010609030101010101" pitchFamily="49" charset="-122"/>
              </a:rPr>
              <a:t>加</a:t>
            </a:r>
            <a:r>
              <a:rPr lang="en-US" altLang="zh-CN" sz="2000">
                <a:solidFill>
                  <a:srgbClr val="008000"/>
                </a:solidFill>
                <a:latin typeface="Lucida Console" panose="020B0609040504020204" pitchFamily="49" charset="0"/>
                <a:ea typeface="新宋体" panose="02010609030101010101" pitchFamily="49" charset="-122"/>
              </a:rPr>
              <a:t>1</a:t>
            </a: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if</a:t>
            </a: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'C'</a:t>
            </a:r>
            <a:r>
              <a:rPr lang="en-US" altLang="zh-CN" sz="2000">
                <a:latin typeface="Lucida Console" panose="020B0609040504020204" pitchFamily="49" charset="0"/>
                <a:ea typeface="新宋体" panose="02010609030101010101" pitchFamily="49" charset="-122"/>
              </a:rPr>
              <a:t>) sum++;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若</a:t>
            </a:r>
            <a:r>
              <a:rPr lang="en-US" altLang="zh-CN" sz="2000">
                <a:solidFill>
                  <a:srgbClr val="008000"/>
                </a:solidFill>
                <a:latin typeface="Lucida Console" panose="020B0609040504020204" pitchFamily="49" charset="0"/>
                <a:ea typeface="新宋体" panose="02010609030101010101" pitchFamily="49" charset="-122"/>
              </a:rPr>
              <a:t>B</a:t>
            </a:r>
            <a:r>
              <a:rPr lang="zh-CN" altLang="en-US" sz="2000">
                <a:solidFill>
                  <a:srgbClr val="008000"/>
                </a:solidFill>
                <a:latin typeface="Lucida Console" panose="020B0609040504020204" pitchFamily="49" charset="0"/>
                <a:ea typeface="新宋体" panose="02010609030101010101" pitchFamily="49" charset="-122"/>
              </a:rPr>
              <a:t>说的话为真，则</a:t>
            </a:r>
            <a:r>
              <a:rPr lang="en-US" altLang="zh-CN" sz="2000">
                <a:solidFill>
                  <a:srgbClr val="008000"/>
                </a:solidFill>
                <a:latin typeface="Lucida Console" panose="020B0609040504020204" pitchFamily="49" charset="0"/>
                <a:ea typeface="新宋体" panose="02010609030101010101" pitchFamily="49" charset="-122"/>
              </a:rPr>
              <a:t>sum</a:t>
            </a:r>
            <a:r>
              <a:rPr lang="zh-CN" altLang="en-US" sz="2000">
                <a:solidFill>
                  <a:srgbClr val="008000"/>
                </a:solidFill>
                <a:latin typeface="Lucida Console" panose="020B0609040504020204" pitchFamily="49" charset="0"/>
                <a:ea typeface="新宋体" panose="02010609030101010101" pitchFamily="49" charset="-122"/>
              </a:rPr>
              <a:t>加</a:t>
            </a:r>
            <a:r>
              <a:rPr lang="en-US" altLang="zh-CN" sz="2000">
                <a:solidFill>
                  <a:srgbClr val="008000"/>
                </a:solidFill>
                <a:latin typeface="Lucida Console" panose="020B0609040504020204" pitchFamily="49" charset="0"/>
                <a:ea typeface="新宋体" panose="02010609030101010101" pitchFamily="49" charset="-122"/>
              </a:rPr>
              <a:t>1</a:t>
            </a: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if</a:t>
            </a: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sum++;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若</a:t>
            </a:r>
            <a:r>
              <a:rPr lang="en-US" altLang="zh-CN" sz="2000">
                <a:solidFill>
                  <a:srgbClr val="008000"/>
                </a:solidFill>
                <a:latin typeface="Lucida Console" panose="020B0609040504020204" pitchFamily="49" charset="0"/>
                <a:ea typeface="新宋体" panose="02010609030101010101" pitchFamily="49" charset="-122"/>
              </a:rPr>
              <a:t>C</a:t>
            </a:r>
            <a:r>
              <a:rPr lang="zh-CN" altLang="en-US" sz="2000">
                <a:solidFill>
                  <a:srgbClr val="008000"/>
                </a:solidFill>
                <a:latin typeface="Lucida Console" panose="020B0609040504020204" pitchFamily="49" charset="0"/>
                <a:ea typeface="新宋体" panose="02010609030101010101" pitchFamily="49" charset="-122"/>
              </a:rPr>
              <a:t>说的话为真，则</a:t>
            </a:r>
            <a:r>
              <a:rPr lang="en-US" altLang="zh-CN" sz="2000">
                <a:solidFill>
                  <a:srgbClr val="008000"/>
                </a:solidFill>
                <a:latin typeface="Lucida Console" panose="020B0609040504020204" pitchFamily="49" charset="0"/>
                <a:ea typeface="新宋体" panose="02010609030101010101" pitchFamily="49" charset="-122"/>
              </a:rPr>
              <a:t>sum</a:t>
            </a:r>
            <a:r>
              <a:rPr lang="zh-CN" altLang="en-US" sz="2000">
                <a:solidFill>
                  <a:srgbClr val="008000"/>
                </a:solidFill>
                <a:latin typeface="Lucida Console" panose="020B0609040504020204" pitchFamily="49" charset="0"/>
                <a:ea typeface="新宋体" panose="02010609030101010101" pitchFamily="49" charset="-122"/>
              </a:rPr>
              <a:t>加</a:t>
            </a:r>
            <a:r>
              <a:rPr lang="en-US" altLang="zh-CN" sz="2000">
                <a:solidFill>
                  <a:srgbClr val="008000"/>
                </a:solidFill>
                <a:latin typeface="Lucida Console" panose="020B0609040504020204" pitchFamily="49" charset="0"/>
                <a:ea typeface="新宋体" panose="02010609030101010101" pitchFamily="49" charset="-122"/>
              </a:rPr>
              <a:t>1</a:t>
            </a: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if</a:t>
            </a: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sum++;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若</a:t>
            </a:r>
            <a:r>
              <a:rPr lang="en-US" altLang="zh-CN" sz="2000">
                <a:solidFill>
                  <a:srgbClr val="008000"/>
                </a:solidFill>
                <a:latin typeface="Lucida Console" panose="020B0609040504020204" pitchFamily="49" charset="0"/>
                <a:ea typeface="新宋体" panose="02010609030101010101" pitchFamily="49" charset="-122"/>
              </a:rPr>
              <a:t>D</a:t>
            </a:r>
            <a:r>
              <a:rPr lang="zh-CN" altLang="en-US" sz="2000">
                <a:solidFill>
                  <a:srgbClr val="008000"/>
                </a:solidFill>
                <a:latin typeface="Lucida Console" panose="020B0609040504020204" pitchFamily="49" charset="0"/>
                <a:ea typeface="新宋体" panose="02010609030101010101" pitchFamily="49" charset="-122"/>
              </a:rPr>
              <a:t>说的话为真，则</a:t>
            </a:r>
            <a:r>
              <a:rPr lang="en-US" altLang="zh-CN" sz="2000">
                <a:solidFill>
                  <a:srgbClr val="008000"/>
                </a:solidFill>
                <a:latin typeface="Lucida Console" panose="020B0609040504020204" pitchFamily="49" charset="0"/>
                <a:ea typeface="新宋体" panose="02010609030101010101" pitchFamily="49" charset="-122"/>
              </a:rPr>
              <a:t>sum</a:t>
            </a:r>
            <a:r>
              <a:rPr lang="zh-CN" altLang="en-US" sz="2000">
                <a:solidFill>
                  <a:srgbClr val="008000"/>
                </a:solidFill>
                <a:latin typeface="Lucida Console" panose="020B0609040504020204" pitchFamily="49" charset="0"/>
                <a:ea typeface="新宋体" panose="02010609030101010101" pitchFamily="49" charset="-122"/>
              </a:rPr>
              <a:t>加</a:t>
            </a:r>
            <a:r>
              <a:rPr lang="en-US" altLang="zh-CN" sz="2000">
                <a:solidFill>
                  <a:srgbClr val="008000"/>
                </a:solidFill>
                <a:latin typeface="Lucida Console" panose="020B0609040504020204" pitchFamily="49" charset="0"/>
                <a:ea typeface="新宋体" panose="02010609030101010101" pitchFamily="49" charset="-122"/>
              </a:rPr>
              <a:t>1</a:t>
            </a:r>
            <a:endParaRPr lang="zh-CN" altLang="en-US" sz="2000">
              <a:latin typeface="Lucida Console" panose="020B0609040504020204" pitchFamily="49" charset="0"/>
              <a:ea typeface="新宋体" panose="02010609030101010101" pitchFamily="49" charset="-122"/>
            </a:endParaRPr>
          </a:p>
          <a:p>
            <a:pPr algn="l">
              <a:lnSpc>
                <a:spcPct val="150000"/>
              </a:lnSpc>
            </a:pP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if</a:t>
            </a:r>
            <a:r>
              <a:rPr lang="en-US" altLang="zh-CN" sz="2000">
                <a:latin typeface="Lucida Console" panose="020B0609040504020204" pitchFamily="49" charset="0"/>
                <a:ea typeface="新宋体" panose="02010609030101010101" pitchFamily="49" charset="-122"/>
              </a:rPr>
              <a:t> (sum == 3)</a:t>
            </a: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a:t>
            </a:r>
            <a:r>
              <a:rPr lang="en-US" altLang="zh-CN" sz="2000">
                <a:solidFill>
                  <a:srgbClr val="008080"/>
                </a:solidFill>
                <a:latin typeface="Lucida Console" panose="020B0609040504020204" pitchFamily="49" charset="0"/>
                <a:ea typeface="新宋体" panose="02010609030101010101" pitchFamily="49" charset="-122"/>
              </a:rPr>
              <a:t>&lt;&lt;</a:t>
            </a:r>
            <a:r>
              <a:rPr lang="en-US" altLang="zh-CN" sz="2000">
                <a:latin typeface="Lucida Console" panose="020B0609040504020204" pitchFamily="49" charset="0"/>
                <a:ea typeface="新宋体" panose="02010609030101010101" pitchFamily="49" charset="-122"/>
              </a:rPr>
              <a:t> </a:t>
            </a:r>
            <a:r>
              <a:rPr lang="en-US" altLang="zh-CN" sz="2000">
                <a:solidFill>
                  <a:srgbClr val="A31515"/>
                </a:solidFill>
                <a:latin typeface="Lucida Console" panose="020B0609040504020204" pitchFamily="49" charset="0"/>
                <a:ea typeface="新宋体" panose="02010609030101010101" pitchFamily="49" charset="-122"/>
              </a:rPr>
              <a:t>"this man is A\n"</a:t>
            </a:r>
            <a:r>
              <a:rPr lang="en-US" altLang="zh-CN" sz="2000">
                <a:latin typeface="Lucida Console" panose="020B0609040504020204" pitchFamily="49" charset="0"/>
                <a:ea typeface="新宋体" panose="02010609030101010101" pitchFamily="49" charset="-122"/>
              </a:rPr>
              <a:t>;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若真话数量为</a:t>
            </a:r>
            <a:r>
              <a:rPr lang="en-US" altLang="zh-CN" sz="2000">
                <a:solidFill>
                  <a:srgbClr val="008000"/>
                </a:solidFill>
                <a:latin typeface="Lucida Console" panose="020B0609040504020204" pitchFamily="49" charset="0"/>
                <a:ea typeface="新宋体" panose="02010609030101010101" pitchFamily="49" charset="-122"/>
              </a:rPr>
              <a:t>3</a:t>
            </a:r>
            <a:r>
              <a:rPr lang="zh-CN" altLang="en-US" sz="2000">
                <a:solidFill>
                  <a:srgbClr val="008000"/>
                </a:solidFill>
                <a:latin typeface="Lucida Console" panose="020B0609040504020204" pitchFamily="49" charset="0"/>
                <a:ea typeface="新宋体" panose="02010609030101010101" pitchFamily="49" charset="-122"/>
              </a:rPr>
              <a:t>，则做好事者为</a:t>
            </a:r>
            <a:r>
              <a:rPr lang="en-US" altLang="zh-CN" sz="2000">
                <a:solidFill>
                  <a:srgbClr val="008000"/>
                </a:solidFill>
                <a:latin typeface="Lucida Console" panose="020B0609040504020204" pitchFamily="49" charset="0"/>
                <a:ea typeface="新宋体" panose="02010609030101010101" pitchFamily="49" charset="-122"/>
              </a:rPr>
              <a:t>A</a:t>
            </a: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else</a:t>
            </a: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&lt;&lt; </a:t>
            </a:r>
            <a:r>
              <a:rPr lang="en-US" altLang="zh-CN" sz="2000">
                <a:solidFill>
                  <a:srgbClr val="A31515"/>
                </a:solidFill>
                <a:latin typeface="Lucida Console" panose="020B0609040504020204" pitchFamily="49" charset="0"/>
                <a:ea typeface="新宋体" panose="02010609030101010101" pitchFamily="49" charset="-122"/>
              </a:rPr>
              <a:t>"this man is NOT A\n"</a:t>
            </a:r>
            <a:r>
              <a:rPr lang="zh-CN" altLang="en-US" sz="2000">
                <a:latin typeface="Lucida Console" panose="020B0609040504020204" pitchFamily="49" charset="0"/>
                <a:ea typeface="新宋体" panose="02010609030101010101" pitchFamily="49" charset="-122"/>
              </a:rPr>
              <a:t>；</a:t>
            </a:r>
            <a:endParaRPr lang="zh-CN" altLang="en-US" sz="2000">
              <a:latin typeface="Lucida Console" panose="020B0609040504020204" pitchFamily="49" charset="0"/>
            </a:endParaRPr>
          </a:p>
        </p:txBody>
      </p:sp>
      <p:sp>
        <p:nvSpPr>
          <p:cNvPr id="6" name="左中括号 5">
            <a:extLst>
              <a:ext uri="{FF2B5EF4-FFF2-40B4-BE49-F238E27FC236}">
                <a16:creationId xmlns:a16="http://schemas.microsoft.com/office/drawing/2014/main" id="{3841DD6A-FE5F-414C-9757-9098E735527D}"/>
              </a:ext>
            </a:extLst>
          </p:cNvPr>
          <p:cNvSpPr/>
          <p:nvPr/>
        </p:nvSpPr>
        <p:spPr>
          <a:xfrm>
            <a:off x="2625636" y="3884023"/>
            <a:ext cx="182880" cy="687977"/>
          </a:xfrm>
          <a:prstGeom prst="leftBracket">
            <a:avLst/>
          </a:prstGeom>
          <a:noFill/>
          <a:ln w="254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7" name="文本框 6">
            <a:extLst>
              <a:ext uri="{FF2B5EF4-FFF2-40B4-BE49-F238E27FC236}">
                <a16:creationId xmlns:a16="http://schemas.microsoft.com/office/drawing/2014/main" id="{2B1825C7-8BE9-406E-9794-B09BA145B3D3}"/>
              </a:ext>
            </a:extLst>
          </p:cNvPr>
          <p:cNvSpPr txBox="1"/>
          <p:nvPr/>
        </p:nvSpPr>
        <p:spPr>
          <a:xfrm>
            <a:off x="948592" y="2589970"/>
            <a:ext cx="1333698"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变量定义</a:t>
            </a:r>
          </a:p>
        </p:txBody>
      </p:sp>
      <p:sp>
        <p:nvSpPr>
          <p:cNvPr id="8" name="左中括号 7">
            <a:extLst>
              <a:ext uri="{FF2B5EF4-FFF2-40B4-BE49-F238E27FC236}">
                <a16:creationId xmlns:a16="http://schemas.microsoft.com/office/drawing/2014/main" id="{1A5B3F91-44BB-4262-B663-185D3351A61B}"/>
              </a:ext>
            </a:extLst>
          </p:cNvPr>
          <p:cNvSpPr/>
          <p:nvPr/>
        </p:nvSpPr>
        <p:spPr>
          <a:xfrm>
            <a:off x="2625636" y="2481944"/>
            <a:ext cx="182880" cy="687977"/>
          </a:xfrm>
          <a:prstGeom prst="leftBracket">
            <a:avLst/>
          </a:prstGeom>
          <a:noFill/>
          <a:ln w="254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9" name="文本框 8">
            <a:extLst>
              <a:ext uri="{FF2B5EF4-FFF2-40B4-BE49-F238E27FC236}">
                <a16:creationId xmlns:a16="http://schemas.microsoft.com/office/drawing/2014/main" id="{E0284316-97AF-4B80-830C-850D8AB7DF96}"/>
              </a:ext>
            </a:extLst>
          </p:cNvPr>
          <p:cNvSpPr txBox="1"/>
          <p:nvPr/>
        </p:nvSpPr>
        <p:spPr>
          <a:xfrm>
            <a:off x="948592" y="3961569"/>
            <a:ext cx="133369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设定初值</a:t>
            </a:r>
          </a:p>
        </p:txBody>
      </p:sp>
      <p:sp>
        <p:nvSpPr>
          <p:cNvPr id="10" name="左中括号 9">
            <a:extLst>
              <a:ext uri="{FF2B5EF4-FFF2-40B4-BE49-F238E27FC236}">
                <a16:creationId xmlns:a16="http://schemas.microsoft.com/office/drawing/2014/main" id="{65D6F913-D20B-400D-8E5B-F1D47E8A02CE}"/>
              </a:ext>
            </a:extLst>
          </p:cNvPr>
          <p:cNvSpPr/>
          <p:nvPr/>
        </p:nvSpPr>
        <p:spPr>
          <a:xfrm>
            <a:off x="2625636" y="5216435"/>
            <a:ext cx="182880" cy="1619794"/>
          </a:xfrm>
          <a:prstGeom prst="leftBracket">
            <a:avLst/>
          </a:prstGeom>
          <a:noFill/>
          <a:ln w="254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11" name="文本框 10">
            <a:extLst>
              <a:ext uri="{FF2B5EF4-FFF2-40B4-BE49-F238E27FC236}">
                <a16:creationId xmlns:a16="http://schemas.microsoft.com/office/drawing/2014/main" id="{96786F20-0092-4B20-B180-423B9EF122E8}"/>
              </a:ext>
            </a:extLst>
          </p:cNvPr>
          <p:cNvSpPr txBox="1"/>
          <p:nvPr/>
        </p:nvSpPr>
        <p:spPr>
          <a:xfrm>
            <a:off x="948593" y="5631828"/>
            <a:ext cx="1333698"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统计</a:t>
            </a:r>
            <a:endParaRPr kumimoji="0" lang="en-US" altLang="zh-CN" sz="2400" b="1" i="0" u="none" strike="noStrike" cap="none" spc="0" normalizeH="0" baseline="0">
              <a:ln>
                <a:noFill/>
              </a:ln>
              <a:solidFill>
                <a:srgbClr val="000000"/>
              </a:solidFill>
              <a:effectLst/>
              <a:uFillTx/>
              <a:latin typeface="Helvetica Neue"/>
              <a:ea typeface="Helvetica Neue"/>
              <a:cs typeface="Helvetica Neue"/>
              <a:sym typeface="Helvetica Neue"/>
            </a:endParaRPr>
          </a:p>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真话数量</a:t>
            </a:r>
            <a:endParaRPr kumimoji="0" lang="en-US" altLang="zh-CN"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12" name="左中括号 11">
            <a:extLst>
              <a:ext uri="{FF2B5EF4-FFF2-40B4-BE49-F238E27FC236}">
                <a16:creationId xmlns:a16="http://schemas.microsoft.com/office/drawing/2014/main" id="{7D965192-8858-4B89-B2F2-A804A2CA6034}"/>
              </a:ext>
            </a:extLst>
          </p:cNvPr>
          <p:cNvSpPr/>
          <p:nvPr/>
        </p:nvSpPr>
        <p:spPr>
          <a:xfrm>
            <a:off x="2629869" y="7512023"/>
            <a:ext cx="178647" cy="1619794"/>
          </a:xfrm>
          <a:prstGeom prst="leftBracket">
            <a:avLst/>
          </a:prstGeom>
          <a:noFill/>
          <a:ln w="254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13" name="文本框 12">
            <a:extLst>
              <a:ext uri="{FF2B5EF4-FFF2-40B4-BE49-F238E27FC236}">
                <a16:creationId xmlns:a16="http://schemas.microsoft.com/office/drawing/2014/main" id="{A467E4E2-6CD4-4B42-B8C4-6164A3A461BD}"/>
              </a:ext>
            </a:extLst>
          </p:cNvPr>
          <p:cNvSpPr txBox="1"/>
          <p:nvPr/>
        </p:nvSpPr>
        <p:spPr>
          <a:xfrm>
            <a:off x="948592" y="7901292"/>
            <a:ext cx="1333698"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判断假设</a:t>
            </a:r>
            <a:endParaRPr kumimoji="0" lang="en-US" altLang="zh-CN" sz="2400" b="1" i="0" u="none" strike="noStrike" cap="none" spc="0" normalizeH="0" baseline="0">
              <a:ln>
                <a:noFill/>
              </a:ln>
              <a:solidFill>
                <a:srgbClr val="000000"/>
              </a:solidFill>
              <a:effectLst/>
              <a:uFillTx/>
              <a:latin typeface="Helvetica Neue"/>
              <a:ea typeface="Helvetica Neue"/>
              <a:cs typeface="Helvetica Neue"/>
              <a:sym typeface="Helvetica Neue"/>
            </a:endParaRPr>
          </a:p>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是否成立</a:t>
            </a:r>
            <a:endParaRPr kumimoji="0" lang="en-US" altLang="zh-CN"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14" name="幻灯片编号">
            <a:extLst>
              <a:ext uri="{FF2B5EF4-FFF2-40B4-BE49-F238E27FC236}">
                <a16:creationId xmlns:a16="http://schemas.microsoft.com/office/drawing/2014/main" id="{C6042B54-97FF-42E5-92A7-E93AC0259B6B}"/>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27</a:t>
            </a:fld>
            <a:endParaRPr/>
          </a:p>
        </p:txBody>
      </p:sp>
    </p:spTree>
    <p:extLst>
      <p:ext uri="{BB962C8B-B14F-4D97-AF65-F5344CB8AC3E}">
        <p14:creationId xmlns:p14="http://schemas.microsoft.com/office/powerpoint/2010/main" val="30713374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34B49A-81DB-4E9E-9903-36EBC857B578}"/>
              </a:ext>
            </a:extLst>
          </p:cNvPr>
          <p:cNvSpPr>
            <a:spLocks noGrp="1"/>
          </p:cNvSpPr>
          <p:nvPr>
            <p:ph type="title"/>
          </p:nvPr>
        </p:nvSpPr>
        <p:spPr>
          <a:xfrm>
            <a:off x="547201" y="354125"/>
            <a:ext cx="7811872" cy="1152045"/>
          </a:xfrm>
        </p:spPr>
        <p:txBody>
          <a:bodyPr/>
          <a:lstStyle/>
          <a:p>
            <a:pPr algn="r"/>
            <a:r>
              <a:rPr lang="zh-CN" altLang="en-US"/>
              <a:t>如何数真话的数量（</a:t>
            </a:r>
            <a:r>
              <a:rPr lang="zh-CN" altLang="en-US" b="1">
                <a:solidFill>
                  <a:srgbClr val="FFFF00"/>
                </a:solidFill>
              </a:rPr>
              <a:t>方法</a:t>
            </a:r>
            <a:r>
              <a:rPr lang="en-US" altLang="zh-CN" b="1">
                <a:solidFill>
                  <a:srgbClr val="FFFF00"/>
                </a:solidFill>
              </a:rPr>
              <a:t>2</a:t>
            </a:r>
            <a:r>
              <a:rPr lang="zh-CN" altLang="en-US"/>
              <a:t>）</a:t>
            </a:r>
          </a:p>
        </p:txBody>
      </p:sp>
      <p:sp>
        <p:nvSpPr>
          <p:cNvPr id="5" name="矩形 4">
            <a:extLst>
              <a:ext uri="{FF2B5EF4-FFF2-40B4-BE49-F238E27FC236}">
                <a16:creationId xmlns:a16="http://schemas.microsoft.com/office/drawing/2014/main" id="{C3682218-7BE9-493A-8D3E-914FFDE39A67}"/>
              </a:ext>
            </a:extLst>
          </p:cNvPr>
          <p:cNvSpPr/>
          <p:nvPr/>
        </p:nvSpPr>
        <p:spPr>
          <a:xfrm>
            <a:off x="2640710" y="2747008"/>
            <a:ext cx="9424113" cy="6039217"/>
          </a:xfrm>
          <a:prstGeom prst="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char</a:t>
            </a: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a:t>
            </a: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int</a:t>
            </a:r>
            <a:r>
              <a:rPr lang="en-US" altLang="zh-CN" sz="2000">
                <a:latin typeface="Lucida Console" panose="020B0609040504020204" pitchFamily="49" charset="0"/>
                <a:ea typeface="新宋体" panose="02010609030101010101" pitchFamily="49" charset="-122"/>
              </a:rPr>
              <a:t> sum;</a:t>
            </a:r>
          </a:p>
          <a:p>
            <a:pPr algn="l">
              <a:lnSpc>
                <a:spcPct val="150000"/>
              </a:lnSpc>
            </a:pPr>
            <a:endParaRPr lang="zh-CN" altLang="en-US" sz="2000">
              <a:latin typeface="Lucida Console" panose="020B0609040504020204" pitchFamily="49" charset="0"/>
              <a:ea typeface="新宋体" panose="02010609030101010101" pitchFamily="49" charset="-122"/>
            </a:endParaRPr>
          </a:p>
          <a:p>
            <a:pPr algn="l">
              <a:lnSpc>
                <a:spcPct val="150000"/>
              </a:lnSpc>
            </a:pP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'A'</a:t>
            </a:r>
            <a:r>
              <a:rPr lang="en-US" altLang="zh-CN" sz="2000">
                <a:latin typeface="Lucida Console" panose="020B0609040504020204" pitchFamily="49" charset="0"/>
                <a:ea typeface="新宋体" panose="02010609030101010101" pitchFamily="49" charset="-122"/>
              </a:rPr>
              <a:t>;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假设做好事者为</a:t>
            </a:r>
            <a:r>
              <a:rPr lang="en-US" altLang="zh-CN" sz="2000">
                <a:solidFill>
                  <a:srgbClr val="008000"/>
                </a:solidFill>
                <a:latin typeface="Lucida Console" panose="020B0609040504020204" pitchFamily="49" charset="0"/>
                <a:ea typeface="新宋体" panose="02010609030101010101" pitchFamily="49" charset="-122"/>
              </a:rPr>
              <a:t>A</a:t>
            </a:r>
            <a:endParaRPr lang="en-US" altLang="zh-CN" sz="2000">
              <a:latin typeface="Lucida Console" panose="020B0609040504020204" pitchFamily="49" charset="0"/>
              <a:ea typeface="新宋体" panose="02010609030101010101" pitchFamily="49" charset="-122"/>
            </a:endParaRPr>
          </a:p>
          <a:p>
            <a:pPr algn="l">
              <a:lnSpc>
                <a:spcPct val="150000"/>
              </a:lnSpc>
            </a:pP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sum =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'A’</a:t>
            </a:r>
            <a:r>
              <a:rPr lang="en-US" altLang="zh-CN" sz="2000">
                <a:latin typeface="Lucida Console" panose="020B0609040504020204" pitchFamily="49" charset="0"/>
                <a:ea typeface="新宋体" panose="02010609030101010101" pitchFamily="49" charset="-122"/>
              </a:rPr>
              <a:t>) +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'C'</a:t>
            </a:r>
            <a:r>
              <a:rPr lang="en-US" altLang="zh-CN" sz="2000">
                <a:latin typeface="Lucida Console" panose="020B0609040504020204" pitchFamily="49" charset="0"/>
                <a:ea typeface="新宋体" panose="02010609030101010101" pitchFamily="49" charset="-122"/>
              </a:rPr>
              <a:t>) +</a:t>
            </a: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      </a:t>
            </a:r>
            <a:r>
              <a:rPr lang="en-US" altLang="zh-CN" sz="2000">
                <a:latin typeface="Lucida Console" panose="020B0609040504020204" pitchFamily="49" charset="0"/>
                <a:ea typeface="新宋体" panose="02010609030101010101" pitchFamily="49" charset="-122"/>
              </a:rPr>
              <a:t>(</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a:t>
            </a:r>
            <a:r>
              <a:rPr lang="en-US" altLang="zh-CN" sz="2000">
                <a:solidFill>
                  <a:srgbClr val="0000FF"/>
                </a:solidFill>
                <a:latin typeface="Lucida Console" panose="020B0609040504020204" pitchFamily="49" charset="0"/>
                <a:ea typeface="新宋体" panose="02010609030101010101" pitchFamily="49" charset="-122"/>
              </a:rPr>
              <a:t> </a:t>
            </a:r>
            <a:r>
              <a:rPr lang="en-US" altLang="zh-CN" sz="2000">
                <a:latin typeface="Lucida Console" panose="020B0609040504020204" pitchFamily="49" charset="0"/>
                <a:ea typeface="新宋体" panose="02010609030101010101" pitchFamily="49" charset="-122"/>
              </a:rPr>
              <a:t>(</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a:t>
            </a:r>
            <a:endParaRPr lang="zh-CN" altLang="en-US" sz="2000">
              <a:latin typeface="Lucida Console" panose="020B0609040504020204" pitchFamily="49" charset="0"/>
              <a:ea typeface="新宋体" panose="02010609030101010101" pitchFamily="49" charset="-122"/>
            </a:endParaRPr>
          </a:p>
          <a:p>
            <a:pPr algn="l">
              <a:lnSpc>
                <a:spcPct val="150000"/>
              </a:lnSpc>
            </a:pP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if</a:t>
            </a:r>
            <a:r>
              <a:rPr lang="en-US" altLang="zh-CN" sz="2000">
                <a:latin typeface="Lucida Console" panose="020B0609040504020204" pitchFamily="49" charset="0"/>
                <a:ea typeface="新宋体" panose="02010609030101010101" pitchFamily="49" charset="-122"/>
              </a:rPr>
              <a:t> (sum == 3)</a:t>
            </a: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a:t>
            </a:r>
            <a:r>
              <a:rPr lang="en-US" altLang="zh-CN" sz="2000">
                <a:solidFill>
                  <a:srgbClr val="008080"/>
                </a:solidFill>
                <a:latin typeface="Lucida Console" panose="020B0609040504020204" pitchFamily="49" charset="0"/>
                <a:ea typeface="新宋体" panose="02010609030101010101" pitchFamily="49" charset="-122"/>
              </a:rPr>
              <a:t>&lt;&lt;</a:t>
            </a:r>
            <a:r>
              <a:rPr lang="en-US" altLang="zh-CN" sz="2000">
                <a:latin typeface="Lucida Console" panose="020B0609040504020204" pitchFamily="49" charset="0"/>
                <a:ea typeface="新宋体" panose="02010609030101010101" pitchFamily="49" charset="-122"/>
              </a:rPr>
              <a:t> </a:t>
            </a:r>
            <a:r>
              <a:rPr lang="en-US" altLang="zh-CN" sz="2000">
                <a:solidFill>
                  <a:srgbClr val="A31515"/>
                </a:solidFill>
                <a:latin typeface="Lucida Console" panose="020B0609040504020204" pitchFamily="49" charset="0"/>
                <a:ea typeface="新宋体" panose="02010609030101010101" pitchFamily="49" charset="-122"/>
              </a:rPr>
              <a:t>"this man is A\n"</a:t>
            </a:r>
            <a:r>
              <a:rPr lang="en-US" altLang="zh-CN" sz="2000">
                <a:latin typeface="Lucida Console" panose="020B0609040504020204" pitchFamily="49" charset="0"/>
                <a:ea typeface="新宋体" panose="02010609030101010101" pitchFamily="49" charset="-122"/>
              </a:rPr>
              <a:t>;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若真话数量为</a:t>
            </a:r>
            <a:r>
              <a:rPr lang="en-US" altLang="zh-CN" sz="2000">
                <a:solidFill>
                  <a:srgbClr val="008000"/>
                </a:solidFill>
                <a:latin typeface="Lucida Console" panose="020B0609040504020204" pitchFamily="49" charset="0"/>
                <a:ea typeface="新宋体" panose="02010609030101010101" pitchFamily="49" charset="-122"/>
              </a:rPr>
              <a:t>3</a:t>
            </a:r>
            <a:r>
              <a:rPr lang="zh-CN" altLang="en-US" sz="2000">
                <a:solidFill>
                  <a:srgbClr val="008000"/>
                </a:solidFill>
                <a:latin typeface="Lucida Console" panose="020B0609040504020204" pitchFamily="49" charset="0"/>
                <a:ea typeface="新宋体" panose="02010609030101010101" pitchFamily="49" charset="-122"/>
              </a:rPr>
              <a:t>，则做好事者为</a:t>
            </a:r>
            <a:r>
              <a:rPr lang="en-US" altLang="zh-CN" sz="2000">
                <a:solidFill>
                  <a:srgbClr val="008000"/>
                </a:solidFill>
                <a:latin typeface="Lucida Console" panose="020B0609040504020204" pitchFamily="49" charset="0"/>
                <a:ea typeface="新宋体" panose="02010609030101010101" pitchFamily="49" charset="-122"/>
              </a:rPr>
              <a:t>A</a:t>
            </a: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else</a:t>
            </a: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&lt;&lt; </a:t>
            </a:r>
            <a:r>
              <a:rPr lang="en-US" altLang="zh-CN" sz="2000">
                <a:solidFill>
                  <a:srgbClr val="A31515"/>
                </a:solidFill>
                <a:latin typeface="Lucida Console" panose="020B0609040504020204" pitchFamily="49" charset="0"/>
                <a:ea typeface="新宋体" panose="02010609030101010101" pitchFamily="49" charset="-122"/>
              </a:rPr>
              <a:t>"this man is NOT A\n"</a:t>
            </a:r>
            <a:r>
              <a:rPr lang="zh-CN" altLang="en-US" sz="2000">
                <a:latin typeface="Lucida Console" panose="020B0609040504020204" pitchFamily="49" charset="0"/>
                <a:ea typeface="新宋体" panose="02010609030101010101" pitchFamily="49" charset="-122"/>
              </a:rPr>
              <a:t>；</a:t>
            </a:r>
            <a:endParaRPr lang="zh-CN" altLang="en-US" sz="2000">
              <a:latin typeface="Lucida Console" panose="020B0609040504020204" pitchFamily="49" charset="0"/>
            </a:endParaRPr>
          </a:p>
        </p:txBody>
      </p:sp>
      <p:sp>
        <p:nvSpPr>
          <p:cNvPr id="6" name="左中括号 5">
            <a:extLst>
              <a:ext uri="{FF2B5EF4-FFF2-40B4-BE49-F238E27FC236}">
                <a16:creationId xmlns:a16="http://schemas.microsoft.com/office/drawing/2014/main" id="{3841DD6A-FE5F-414C-9757-9098E735527D}"/>
              </a:ext>
            </a:extLst>
          </p:cNvPr>
          <p:cNvSpPr/>
          <p:nvPr/>
        </p:nvSpPr>
        <p:spPr>
          <a:xfrm>
            <a:off x="2346273" y="4518105"/>
            <a:ext cx="182880" cy="687977"/>
          </a:xfrm>
          <a:prstGeom prst="leftBracket">
            <a:avLst/>
          </a:prstGeom>
          <a:noFill/>
          <a:ln w="254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7" name="文本框 6">
            <a:extLst>
              <a:ext uri="{FF2B5EF4-FFF2-40B4-BE49-F238E27FC236}">
                <a16:creationId xmlns:a16="http://schemas.microsoft.com/office/drawing/2014/main" id="{2B1825C7-8BE9-406E-9794-B09BA145B3D3}"/>
              </a:ext>
            </a:extLst>
          </p:cNvPr>
          <p:cNvSpPr txBox="1"/>
          <p:nvPr/>
        </p:nvSpPr>
        <p:spPr>
          <a:xfrm>
            <a:off x="673462" y="3035032"/>
            <a:ext cx="1333698"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变量定义</a:t>
            </a:r>
          </a:p>
        </p:txBody>
      </p:sp>
      <p:sp>
        <p:nvSpPr>
          <p:cNvPr id="8" name="左中括号 7">
            <a:extLst>
              <a:ext uri="{FF2B5EF4-FFF2-40B4-BE49-F238E27FC236}">
                <a16:creationId xmlns:a16="http://schemas.microsoft.com/office/drawing/2014/main" id="{1A5B3F91-44BB-4262-B663-185D3351A61B}"/>
              </a:ext>
            </a:extLst>
          </p:cNvPr>
          <p:cNvSpPr/>
          <p:nvPr/>
        </p:nvSpPr>
        <p:spPr>
          <a:xfrm>
            <a:off x="2350506" y="2927006"/>
            <a:ext cx="182880" cy="687977"/>
          </a:xfrm>
          <a:prstGeom prst="leftBracket">
            <a:avLst/>
          </a:prstGeom>
          <a:noFill/>
          <a:ln w="254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9" name="文本框 8">
            <a:extLst>
              <a:ext uri="{FF2B5EF4-FFF2-40B4-BE49-F238E27FC236}">
                <a16:creationId xmlns:a16="http://schemas.microsoft.com/office/drawing/2014/main" id="{E0284316-97AF-4B80-830C-850D8AB7DF96}"/>
              </a:ext>
            </a:extLst>
          </p:cNvPr>
          <p:cNvSpPr txBox="1"/>
          <p:nvPr/>
        </p:nvSpPr>
        <p:spPr>
          <a:xfrm>
            <a:off x="669229" y="4595651"/>
            <a:ext cx="133369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设定初值</a:t>
            </a:r>
          </a:p>
        </p:txBody>
      </p:sp>
      <p:sp>
        <p:nvSpPr>
          <p:cNvPr id="10" name="左中括号 9">
            <a:extLst>
              <a:ext uri="{FF2B5EF4-FFF2-40B4-BE49-F238E27FC236}">
                <a16:creationId xmlns:a16="http://schemas.microsoft.com/office/drawing/2014/main" id="{65D6F913-D20B-400D-8E5B-F1D47E8A02CE}"/>
              </a:ext>
            </a:extLst>
          </p:cNvPr>
          <p:cNvSpPr/>
          <p:nvPr/>
        </p:nvSpPr>
        <p:spPr>
          <a:xfrm>
            <a:off x="2350506" y="5677681"/>
            <a:ext cx="178647" cy="687977"/>
          </a:xfrm>
          <a:prstGeom prst="leftBracket">
            <a:avLst/>
          </a:prstGeom>
          <a:noFill/>
          <a:ln w="254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11" name="文本框 10">
            <a:extLst>
              <a:ext uri="{FF2B5EF4-FFF2-40B4-BE49-F238E27FC236}">
                <a16:creationId xmlns:a16="http://schemas.microsoft.com/office/drawing/2014/main" id="{96786F20-0092-4B20-B180-423B9EF122E8}"/>
              </a:ext>
            </a:extLst>
          </p:cNvPr>
          <p:cNvSpPr txBox="1"/>
          <p:nvPr/>
        </p:nvSpPr>
        <p:spPr>
          <a:xfrm>
            <a:off x="673462" y="5621150"/>
            <a:ext cx="1333698"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统计</a:t>
            </a:r>
            <a:endParaRPr kumimoji="0" lang="en-US" altLang="zh-CN" sz="2400" b="1" i="0" u="none" strike="noStrike" cap="none" spc="0" normalizeH="0" baseline="0">
              <a:ln>
                <a:noFill/>
              </a:ln>
              <a:solidFill>
                <a:srgbClr val="000000"/>
              </a:solidFill>
              <a:effectLst/>
              <a:uFillTx/>
              <a:latin typeface="Helvetica Neue"/>
              <a:ea typeface="Helvetica Neue"/>
              <a:cs typeface="Helvetica Neue"/>
              <a:sym typeface="Helvetica Neue"/>
            </a:endParaRPr>
          </a:p>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真话数量</a:t>
            </a:r>
            <a:endParaRPr kumimoji="0" lang="en-US" altLang="zh-CN"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12" name="左中括号 11">
            <a:extLst>
              <a:ext uri="{FF2B5EF4-FFF2-40B4-BE49-F238E27FC236}">
                <a16:creationId xmlns:a16="http://schemas.microsoft.com/office/drawing/2014/main" id="{7D965192-8858-4B89-B2F2-A804A2CA6034}"/>
              </a:ext>
            </a:extLst>
          </p:cNvPr>
          <p:cNvSpPr/>
          <p:nvPr/>
        </p:nvSpPr>
        <p:spPr>
          <a:xfrm>
            <a:off x="2350506" y="7098636"/>
            <a:ext cx="178647" cy="1619794"/>
          </a:xfrm>
          <a:prstGeom prst="leftBracket">
            <a:avLst/>
          </a:prstGeom>
          <a:noFill/>
          <a:ln w="254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13" name="文本框 12">
            <a:extLst>
              <a:ext uri="{FF2B5EF4-FFF2-40B4-BE49-F238E27FC236}">
                <a16:creationId xmlns:a16="http://schemas.microsoft.com/office/drawing/2014/main" id="{A467E4E2-6CD4-4B42-B8C4-6164A3A461BD}"/>
              </a:ext>
            </a:extLst>
          </p:cNvPr>
          <p:cNvSpPr txBox="1"/>
          <p:nvPr/>
        </p:nvSpPr>
        <p:spPr>
          <a:xfrm>
            <a:off x="673462" y="7487905"/>
            <a:ext cx="1333698"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判断假设</a:t>
            </a:r>
            <a:endParaRPr kumimoji="0" lang="en-US" altLang="zh-CN" sz="2400" b="1" i="0" u="none" strike="noStrike" cap="none" spc="0" normalizeH="0" baseline="0">
              <a:ln>
                <a:noFill/>
              </a:ln>
              <a:solidFill>
                <a:srgbClr val="000000"/>
              </a:solidFill>
              <a:effectLst/>
              <a:uFillTx/>
              <a:latin typeface="Helvetica Neue"/>
              <a:ea typeface="Helvetica Neue"/>
              <a:cs typeface="Helvetica Neue"/>
              <a:sym typeface="Helvetica Neue"/>
            </a:endParaRPr>
          </a:p>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是否成立</a:t>
            </a:r>
            <a:endParaRPr kumimoji="0" lang="en-US" altLang="zh-CN" sz="2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14" name="幻灯片编号">
            <a:extLst>
              <a:ext uri="{FF2B5EF4-FFF2-40B4-BE49-F238E27FC236}">
                <a16:creationId xmlns:a16="http://schemas.microsoft.com/office/drawing/2014/main" id="{C6042B54-97FF-42E5-92A7-E93AC0259B6B}"/>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28</a:t>
            </a:fld>
            <a:endParaRPr/>
          </a:p>
        </p:txBody>
      </p:sp>
    </p:spTree>
    <p:extLst>
      <p:ext uri="{BB962C8B-B14F-4D97-AF65-F5344CB8AC3E}">
        <p14:creationId xmlns:p14="http://schemas.microsoft.com/office/powerpoint/2010/main" val="136191016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34B49A-81DB-4E9E-9903-36EBC857B578}"/>
              </a:ext>
            </a:extLst>
          </p:cNvPr>
          <p:cNvSpPr>
            <a:spLocks noGrp="1"/>
          </p:cNvSpPr>
          <p:nvPr>
            <p:ph type="title"/>
          </p:nvPr>
        </p:nvSpPr>
        <p:spPr>
          <a:xfrm>
            <a:off x="547201" y="354125"/>
            <a:ext cx="6670895" cy="1152045"/>
          </a:xfrm>
        </p:spPr>
        <p:txBody>
          <a:bodyPr/>
          <a:lstStyle/>
          <a:p>
            <a:pPr algn="r"/>
            <a:r>
              <a:rPr lang="zh-CN" altLang="en-US"/>
              <a:t>如何枚举</a:t>
            </a:r>
            <a:r>
              <a:rPr lang="en-US" altLang="zh-CN"/>
              <a:t>4</a:t>
            </a:r>
            <a:r>
              <a:rPr lang="zh-CN" altLang="en-US"/>
              <a:t>种可能性呢？</a:t>
            </a:r>
          </a:p>
        </p:txBody>
      </p:sp>
      <p:sp>
        <p:nvSpPr>
          <p:cNvPr id="5" name="矩形 4">
            <a:extLst>
              <a:ext uri="{FF2B5EF4-FFF2-40B4-BE49-F238E27FC236}">
                <a16:creationId xmlns:a16="http://schemas.microsoft.com/office/drawing/2014/main" id="{C3682218-7BE9-493A-8D3E-914FFDE39A67}"/>
              </a:ext>
            </a:extLst>
          </p:cNvPr>
          <p:cNvSpPr/>
          <p:nvPr/>
        </p:nvSpPr>
        <p:spPr>
          <a:xfrm>
            <a:off x="547201" y="2239462"/>
            <a:ext cx="6980720" cy="4192558"/>
          </a:xfrm>
          <a:prstGeom prst="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pPr algn="l">
              <a:lnSpc>
                <a:spcPct val="150000"/>
              </a:lnSpc>
            </a:pP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'A'</a:t>
            </a:r>
            <a:r>
              <a:rPr lang="en-US" altLang="zh-CN" sz="2000">
                <a:latin typeface="Lucida Console" panose="020B0609040504020204" pitchFamily="49" charset="0"/>
                <a:ea typeface="新宋体" panose="02010609030101010101" pitchFamily="49" charset="-122"/>
              </a:rPr>
              <a:t>;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假设做好事者为</a:t>
            </a:r>
            <a:r>
              <a:rPr lang="en-US" altLang="zh-CN" sz="2000">
                <a:solidFill>
                  <a:srgbClr val="008000"/>
                </a:solidFill>
                <a:latin typeface="Lucida Console" panose="020B0609040504020204" pitchFamily="49" charset="0"/>
                <a:ea typeface="新宋体" panose="02010609030101010101" pitchFamily="49" charset="-122"/>
              </a:rPr>
              <a:t>A</a:t>
            </a:r>
            <a:endParaRPr lang="en-US" altLang="zh-CN" sz="2000">
              <a:latin typeface="Lucida Console" panose="020B0609040504020204" pitchFamily="49" charset="0"/>
              <a:ea typeface="新宋体" panose="02010609030101010101" pitchFamily="49" charset="-122"/>
            </a:endParaRPr>
          </a:p>
          <a:p>
            <a:pPr algn="l">
              <a:lnSpc>
                <a:spcPct val="150000"/>
              </a:lnSpc>
            </a:pP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sum =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'A’</a:t>
            </a:r>
            <a:r>
              <a:rPr lang="en-US" altLang="zh-CN" sz="2000">
                <a:latin typeface="Lucida Console" panose="020B0609040504020204" pitchFamily="49" charset="0"/>
                <a:ea typeface="新宋体" panose="02010609030101010101" pitchFamily="49" charset="-122"/>
              </a:rPr>
              <a:t>) +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'C'</a:t>
            </a:r>
            <a:r>
              <a:rPr lang="en-US" altLang="zh-CN" sz="2000">
                <a:latin typeface="Lucida Console" panose="020B0609040504020204" pitchFamily="49" charset="0"/>
                <a:ea typeface="新宋体" panose="02010609030101010101" pitchFamily="49" charset="-122"/>
              </a:rPr>
              <a:t>) +</a:t>
            </a: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      </a:t>
            </a:r>
            <a:r>
              <a:rPr lang="en-US" altLang="zh-CN" sz="2000">
                <a:latin typeface="Lucida Console" panose="020B0609040504020204" pitchFamily="49" charset="0"/>
                <a:ea typeface="新宋体" panose="02010609030101010101" pitchFamily="49" charset="-122"/>
              </a:rPr>
              <a:t>(</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a:t>
            </a:r>
            <a:r>
              <a:rPr lang="en-US" altLang="zh-CN" sz="2000">
                <a:solidFill>
                  <a:srgbClr val="0000FF"/>
                </a:solidFill>
                <a:latin typeface="Lucida Console" panose="020B0609040504020204" pitchFamily="49" charset="0"/>
                <a:ea typeface="新宋体" panose="02010609030101010101" pitchFamily="49" charset="-122"/>
              </a:rPr>
              <a:t> </a:t>
            </a:r>
            <a:r>
              <a:rPr lang="en-US" altLang="zh-CN" sz="2000">
                <a:latin typeface="Lucida Console" panose="020B0609040504020204" pitchFamily="49" charset="0"/>
                <a:ea typeface="新宋体" panose="02010609030101010101" pitchFamily="49" charset="-122"/>
              </a:rPr>
              <a:t>(</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a:t>
            </a:r>
            <a:endParaRPr lang="zh-CN" altLang="en-US" sz="2000">
              <a:latin typeface="Lucida Console" panose="020B0609040504020204" pitchFamily="49" charset="0"/>
              <a:ea typeface="新宋体" panose="02010609030101010101" pitchFamily="49" charset="-122"/>
            </a:endParaRPr>
          </a:p>
          <a:p>
            <a:pPr algn="l">
              <a:lnSpc>
                <a:spcPct val="150000"/>
              </a:lnSpc>
            </a:pP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if</a:t>
            </a:r>
            <a:r>
              <a:rPr lang="en-US" altLang="zh-CN" sz="2000">
                <a:latin typeface="Lucida Console" panose="020B0609040504020204" pitchFamily="49" charset="0"/>
                <a:ea typeface="新宋体" panose="02010609030101010101" pitchFamily="49" charset="-122"/>
              </a:rPr>
              <a:t> (sum == 3)</a:t>
            </a: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a:t>
            </a:r>
            <a:r>
              <a:rPr lang="en-US" altLang="zh-CN" sz="2000">
                <a:solidFill>
                  <a:srgbClr val="008080"/>
                </a:solidFill>
                <a:latin typeface="Lucida Console" panose="020B0609040504020204" pitchFamily="49" charset="0"/>
                <a:ea typeface="新宋体" panose="02010609030101010101" pitchFamily="49" charset="-122"/>
              </a:rPr>
              <a:t>&lt;&lt;</a:t>
            </a:r>
            <a:r>
              <a:rPr lang="en-US" altLang="zh-CN" sz="2000">
                <a:latin typeface="Lucida Console" panose="020B0609040504020204" pitchFamily="49" charset="0"/>
                <a:ea typeface="新宋体" panose="02010609030101010101" pitchFamily="49" charset="-122"/>
              </a:rPr>
              <a:t> </a:t>
            </a:r>
            <a:r>
              <a:rPr lang="en-US" altLang="zh-CN" sz="2000">
                <a:solidFill>
                  <a:srgbClr val="A31515"/>
                </a:solidFill>
                <a:latin typeface="Lucida Console" panose="020B0609040504020204" pitchFamily="49" charset="0"/>
                <a:ea typeface="新宋体" panose="02010609030101010101" pitchFamily="49" charset="-122"/>
              </a:rPr>
              <a:t>"this man is A\n"</a:t>
            </a:r>
            <a:r>
              <a:rPr lang="en-US" altLang="zh-CN" sz="2000">
                <a:latin typeface="Lucida Console" panose="020B0609040504020204" pitchFamily="49" charset="0"/>
                <a:ea typeface="新宋体" panose="02010609030101010101" pitchFamily="49" charset="-122"/>
              </a:rPr>
              <a:t>; </a:t>
            </a: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else</a:t>
            </a: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&lt;&lt; </a:t>
            </a:r>
            <a:r>
              <a:rPr lang="en-US" altLang="zh-CN" sz="2000">
                <a:solidFill>
                  <a:srgbClr val="A31515"/>
                </a:solidFill>
                <a:latin typeface="Lucida Console" panose="020B0609040504020204" pitchFamily="49" charset="0"/>
                <a:ea typeface="新宋体" panose="02010609030101010101" pitchFamily="49" charset="-122"/>
              </a:rPr>
              <a:t>"this man is NOT A\n"</a:t>
            </a:r>
            <a:r>
              <a:rPr lang="zh-CN" altLang="en-US" sz="2000">
                <a:latin typeface="Lucida Console" panose="020B0609040504020204" pitchFamily="49" charset="0"/>
                <a:ea typeface="新宋体" panose="02010609030101010101" pitchFamily="49" charset="-122"/>
              </a:rPr>
              <a:t>；</a:t>
            </a:r>
            <a:endParaRPr lang="zh-CN" altLang="en-US" sz="2000">
              <a:latin typeface="Lucida Console" panose="020B0609040504020204" pitchFamily="49" charset="0"/>
            </a:endParaRPr>
          </a:p>
        </p:txBody>
      </p:sp>
      <p:sp>
        <p:nvSpPr>
          <p:cNvPr id="14" name="幻灯片编号">
            <a:extLst>
              <a:ext uri="{FF2B5EF4-FFF2-40B4-BE49-F238E27FC236}">
                <a16:creationId xmlns:a16="http://schemas.microsoft.com/office/drawing/2014/main" id="{C6042B54-97FF-42E5-92A7-E93AC0259B6B}"/>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29</a:t>
            </a:fld>
            <a:endParaRPr/>
          </a:p>
        </p:txBody>
      </p:sp>
      <p:sp>
        <p:nvSpPr>
          <p:cNvPr id="15" name="矩形 14">
            <a:extLst>
              <a:ext uri="{FF2B5EF4-FFF2-40B4-BE49-F238E27FC236}">
                <a16:creationId xmlns:a16="http://schemas.microsoft.com/office/drawing/2014/main" id="{811B375F-F13C-4E72-9951-94A7171D859B}"/>
              </a:ext>
            </a:extLst>
          </p:cNvPr>
          <p:cNvSpPr/>
          <p:nvPr/>
        </p:nvSpPr>
        <p:spPr>
          <a:xfrm>
            <a:off x="1521295" y="2869647"/>
            <a:ext cx="6980720" cy="4192558"/>
          </a:xfrm>
          <a:prstGeom prst="rect">
            <a:avLst/>
          </a:prstGeom>
          <a:solidFill>
            <a:schemeClr val="accent3">
              <a:lumMod val="20000"/>
              <a:lumOff val="80000"/>
            </a:schemeClr>
          </a:solidFill>
          <a:effectLst>
            <a:outerShdw blurRad="50800" dist="38100" dir="2700000" algn="tl" rotWithShape="0">
              <a:prstClr val="black">
                <a:alpha val="40000"/>
              </a:prstClr>
            </a:outerShdw>
          </a:effectLst>
        </p:spPr>
        <p:txBody>
          <a:bodyPr wrap="square">
            <a:spAutoFit/>
          </a:bodyPr>
          <a:lstStyle/>
          <a:p>
            <a:pPr algn="l">
              <a:lnSpc>
                <a:spcPct val="150000"/>
              </a:lnSpc>
            </a:pP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'B'</a:t>
            </a:r>
            <a:r>
              <a:rPr lang="en-US" altLang="zh-CN" sz="2000">
                <a:latin typeface="Lucida Console" panose="020B0609040504020204" pitchFamily="49" charset="0"/>
                <a:ea typeface="新宋体" panose="02010609030101010101" pitchFamily="49" charset="-122"/>
              </a:rPr>
              <a:t>;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假设做好事者为</a:t>
            </a:r>
            <a:r>
              <a:rPr lang="en-US" altLang="zh-CN" sz="2000">
                <a:solidFill>
                  <a:srgbClr val="008000"/>
                </a:solidFill>
                <a:latin typeface="Lucida Console" panose="020B0609040504020204" pitchFamily="49" charset="0"/>
                <a:ea typeface="新宋体" panose="02010609030101010101" pitchFamily="49" charset="-122"/>
              </a:rPr>
              <a:t>B</a:t>
            </a:r>
            <a:endParaRPr lang="en-US" altLang="zh-CN" sz="2000">
              <a:latin typeface="Lucida Console" panose="020B0609040504020204" pitchFamily="49" charset="0"/>
              <a:ea typeface="新宋体" panose="02010609030101010101" pitchFamily="49" charset="-122"/>
            </a:endParaRPr>
          </a:p>
          <a:p>
            <a:pPr algn="l">
              <a:lnSpc>
                <a:spcPct val="150000"/>
              </a:lnSpc>
            </a:pP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sum =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'A’</a:t>
            </a:r>
            <a:r>
              <a:rPr lang="en-US" altLang="zh-CN" sz="2000">
                <a:latin typeface="Lucida Console" panose="020B0609040504020204" pitchFamily="49" charset="0"/>
                <a:ea typeface="新宋体" panose="02010609030101010101" pitchFamily="49" charset="-122"/>
              </a:rPr>
              <a:t>) +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'C'</a:t>
            </a:r>
            <a:r>
              <a:rPr lang="en-US" altLang="zh-CN" sz="2000">
                <a:latin typeface="Lucida Console" panose="020B0609040504020204" pitchFamily="49" charset="0"/>
                <a:ea typeface="新宋体" panose="02010609030101010101" pitchFamily="49" charset="-122"/>
              </a:rPr>
              <a:t>) +</a:t>
            </a: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      </a:t>
            </a:r>
            <a:r>
              <a:rPr lang="en-US" altLang="zh-CN" sz="2000">
                <a:latin typeface="Lucida Console" panose="020B0609040504020204" pitchFamily="49" charset="0"/>
                <a:ea typeface="新宋体" panose="02010609030101010101" pitchFamily="49" charset="-122"/>
              </a:rPr>
              <a:t>(</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a:t>
            </a:r>
            <a:r>
              <a:rPr lang="en-US" altLang="zh-CN" sz="2000">
                <a:solidFill>
                  <a:srgbClr val="0000FF"/>
                </a:solidFill>
                <a:latin typeface="Lucida Console" panose="020B0609040504020204" pitchFamily="49" charset="0"/>
                <a:ea typeface="新宋体" panose="02010609030101010101" pitchFamily="49" charset="-122"/>
              </a:rPr>
              <a:t> </a:t>
            </a:r>
            <a:r>
              <a:rPr lang="en-US" altLang="zh-CN" sz="2000">
                <a:latin typeface="Lucida Console" panose="020B0609040504020204" pitchFamily="49" charset="0"/>
                <a:ea typeface="新宋体" panose="02010609030101010101" pitchFamily="49" charset="-122"/>
              </a:rPr>
              <a:t>(</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a:t>
            </a:r>
            <a:endParaRPr lang="zh-CN" altLang="en-US" sz="2000">
              <a:latin typeface="Lucida Console" panose="020B0609040504020204" pitchFamily="49" charset="0"/>
              <a:ea typeface="新宋体" panose="02010609030101010101" pitchFamily="49" charset="-122"/>
            </a:endParaRPr>
          </a:p>
          <a:p>
            <a:pPr algn="l">
              <a:lnSpc>
                <a:spcPct val="150000"/>
              </a:lnSpc>
            </a:pP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if</a:t>
            </a:r>
            <a:r>
              <a:rPr lang="en-US" altLang="zh-CN" sz="2000">
                <a:latin typeface="Lucida Console" panose="020B0609040504020204" pitchFamily="49" charset="0"/>
                <a:ea typeface="新宋体" panose="02010609030101010101" pitchFamily="49" charset="-122"/>
              </a:rPr>
              <a:t> (sum == 3)</a:t>
            </a: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a:t>
            </a:r>
            <a:r>
              <a:rPr lang="en-US" altLang="zh-CN" sz="2000">
                <a:solidFill>
                  <a:srgbClr val="008080"/>
                </a:solidFill>
                <a:latin typeface="Lucida Console" panose="020B0609040504020204" pitchFamily="49" charset="0"/>
                <a:ea typeface="新宋体" panose="02010609030101010101" pitchFamily="49" charset="-122"/>
              </a:rPr>
              <a:t>&lt;&lt;</a:t>
            </a:r>
            <a:r>
              <a:rPr lang="en-US" altLang="zh-CN" sz="2000">
                <a:latin typeface="Lucida Console" panose="020B0609040504020204" pitchFamily="49" charset="0"/>
                <a:ea typeface="新宋体" panose="02010609030101010101" pitchFamily="49" charset="-122"/>
              </a:rPr>
              <a:t> </a:t>
            </a:r>
            <a:r>
              <a:rPr lang="en-US" altLang="zh-CN" sz="2000">
                <a:solidFill>
                  <a:srgbClr val="A31515"/>
                </a:solidFill>
                <a:latin typeface="Lucida Console" panose="020B0609040504020204" pitchFamily="49" charset="0"/>
                <a:ea typeface="新宋体" panose="02010609030101010101" pitchFamily="49" charset="-122"/>
              </a:rPr>
              <a:t>"this man is B\n"</a:t>
            </a:r>
            <a:r>
              <a:rPr lang="en-US" altLang="zh-CN" sz="2000">
                <a:latin typeface="Lucida Console" panose="020B0609040504020204" pitchFamily="49" charset="0"/>
                <a:ea typeface="新宋体" panose="02010609030101010101" pitchFamily="49" charset="-122"/>
              </a:rPr>
              <a:t>; </a:t>
            </a: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else</a:t>
            </a: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&lt;&lt; </a:t>
            </a:r>
            <a:r>
              <a:rPr lang="en-US" altLang="zh-CN" sz="2000">
                <a:solidFill>
                  <a:srgbClr val="A31515"/>
                </a:solidFill>
                <a:latin typeface="Lucida Console" panose="020B0609040504020204" pitchFamily="49" charset="0"/>
                <a:ea typeface="新宋体" panose="02010609030101010101" pitchFamily="49" charset="-122"/>
              </a:rPr>
              <a:t>"this man is NOT B\n"</a:t>
            </a:r>
            <a:r>
              <a:rPr lang="zh-CN" altLang="en-US" sz="2000">
                <a:latin typeface="Lucida Console" panose="020B0609040504020204" pitchFamily="49" charset="0"/>
                <a:ea typeface="新宋体" panose="02010609030101010101" pitchFamily="49" charset="-122"/>
              </a:rPr>
              <a:t>；</a:t>
            </a:r>
            <a:endParaRPr lang="zh-CN" altLang="en-US" sz="2000">
              <a:latin typeface="Lucida Console" panose="020B0609040504020204" pitchFamily="49" charset="0"/>
            </a:endParaRPr>
          </a:p>
        </p:txBody>
      </p:sp>
      <p:sp>
        <p:nvSpPr>
          <p:cNvPr id="16" name="矩形 15">
            <a:extLst>
              <a:ext uri="{FF2B5EF4-FFF2-40B4-BE49-F238E27FC236}">
                <a16:creationId xmlns:a16="http://schemas.microsoft.com/office/drawing/2014/main" id="{2DCFBB79-5BBF-4435-9F20-959A5E70B468}"/>
              </a:ext>
            </a:extLst>
          </p:cNvPr>
          <p:cNvSpPr/>
          <p:nvPr/>
        </p:nvSpPr>
        <p:spPr>
          <a:xfrm>
            <a:off x="2561649" y="3555705"/>
            <a:ext cx="6980720" cy="4192558"/>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a:spAutoFit/>
          </a:bodyPr>
          <a:lstStyle/>
          <a:p>
            <a:pPr algn="l">
              <a:lnSpc>
                <a:spcPct val="150000"/>
              </a:lnSpc>
            </a:pP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'C'</a:t>
            </a:r>
            <a:r>
              <a:rPr lang="en-US" altLang="zh-CN" sz="2000">
                <a:latin typeface="Lucida Console" panose="020B0609040504020204" pitchFamily="49" charset="0"/>
                <a:ea typeface="新宋体" panose="02010609030101010101" pitchFamily="49" charset="-122"/>
              </a:rPr>
              <a:t>;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假设做好事者为</a:t>
            </a:r>
            <a:r>
              <a:rPr lang="en-US" altLang="zh-CN" sz="2000">
                <a:solidFill>
                  <a:srgbClr val="008000"/>
                </a:solidFill>
                <a:latin typeface="Lucida Console" panose="020B0609040504020204" pitchFamily="49" charset="0"/>
                <a:ea typeface="新宋体" panose="02010609030101010101" pitchFamily="49" charset="-122"/>
              </a:rPr>
              <a:t>C</a:t>
            </a:r>
            <a:endParaRPr lang="en-US" altLang="zh-CN" sz="2000">
              <a:latin typeface="Lucida Console" panose="020B0609040504020204" pitchFamily="49" charset="0"/>
              <a:ea typeface="新宋体" panose="02010609030101010101" pitchFamily="49" charset="-122"/>
            </a:endParaRPr>
          </a:p>
          <a:p>
            <a:pPr algn="l">
              <a:lnSpc>
                <a:spcPct val="150000"/>
              </a:lnSpc>
            </a:pP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sum =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'A’</a:t>
            </a:r>
            <a:r>
              <a:rPr lang="en-US" altLang="zh-CN" sz="2000">
                <a:latin typeface="Lucida Console" panose="020B0609040504020204" pitchFamily="49" charset="0"/>
                <a:ea typeface="新宋体" panose="02010609030101010101" pitchFamily="49" charset="-122"/>
              </a:rPr>
              <a:t>) +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'C'</a:t>
            </a:r>
            <a:r>
              <a:rPr lang="en-US" altLang="zh-CN" sz="2000">
                <a:latin typeface="Lucida Console" panose="020B0609040504020204" pitchFamily="49" charset="0"/>
                <a:ea typeface="新宋体" panose="02010609030101010101" pitchFamily="49" charset="-122"/>
              </a:rPr>
              <a:t>) +</a:t>
            </a: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      </a:t>
            </a:r>
            <a:r>
              <a:rPr lang="en-US" altLang="zh-CN" sz="2000">
                <a:latin typeface="Lucida Console" panose="020B0609040504020204" pitchFamily="49" charset="0"/>
                <a:ea typeface="新宋体" panose="02010609030101010101" pitchFamily="49" charset="-122"/>
              </a:rPr>
              <a:t>(</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a:t>
            </a:r>
            <a:r>
              <a:rPr lang="en-US" altLang="zh-CN" sz="2000">
                <a:solidFill>
                  <a:srgbClr val="0000FF"/>
                </a:solidFill>
                <a:latin typeface="Lucida Console" panose="020B0609040504020204" pitchFamily="49" charset="0"/>
                <a:ea typeface="新宋体" panose="02010609030101010101" pitchFamily="49" charset="-122"/>
              </a:rPr>
              <a:t> </a:t>
            </a:r>
            <a:r>
              <a:rPr lang="en-US" altLang="zh-CN" sz="2000">
                <a:latin typeface="Lucida Console" panose="020B0609040504020204" pitchFamily="49" charset="0"/>
                <a:ea typeface="新宋体" panose="02010609030101010101" pitchFamily="49" charset="-122"/>
              </a:rPr>
              <a:t>(</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a:t>
            </a:r>
            <a:endParaRPr lang="zh-CN" altLang="en-US" sz="2000">
              <a:latin typeface="Lucida Console" panose="020B0609040504020204" pitchFamily="49" charset="0"/>
              <a:ea typeface="新宋体" panose="02010609030101010101" pitchFamily="49" charset="-122"/>
            </a:endParaRPr>
          </a:p>
          <a:p>
            <a:pPr algn="l">
              <a:lnSpc>
                <a:spcPct val="150000"/>
              </a:lnSpc>
            </a:pP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if</a:t>
            </a:r>
            <a:r>
              <a:rPr lang="en-US" altLang="zh-CN" sz="2000">
                <a:latin typeface="Lucida Console" panose="020B0609040504020204" pitchFamily="49" charset="0"/>
                <a:ea typeface="新宋体" panose="02010609030101010101" pitchFamily="49" charset="-122"/>
              </a:rPr>
              <a:t> (sum == 3)</a:t>
            </a: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a:t>
            </a:r>
            <a:r>
              <a:rPr lang="en-US" altLang="zh-CN" sz="2000">
                <a:solidFill>
                  <a:srgbClr val="008080"/>
                </a:solidFill>
                <a:latin typeface="Lucida Console" panose="020B0609040504020204" pitchFamily="49" charset="0"/>
                <a:ea typeface="新宋体" panose="02010609030101010101" pitchFamily="49" charset="-122"/>
              </a:rPr>
              <a:t>&lt;&lt;</a:t>
            </a:r>
            <a:r>
              <a:rPr lang="en-US" altLang="zh-CN" sz="2000">
                <a:latin typeface="Lucida Console" panose="020B0609040504020204" pitchFamily="49" charset="0"/>
                <a:ea typeface="新宋体" panose="02010609030101010101" pitchFamily="49" charset="-122"/>
              </a:rPr>
              <a:t> </a:t>
            </a:r>
            <a:r>
              <a:rPr lang="en-US" altLang="zh-CN" sz="2000">
                <a:solidFill>
                  <a:srgbClr val="A31515"/>
                </a:solidFill>
                <a:latin typeface="Lucida Console" panose="020B0609040504020204" pitchFamily="49" charset="0"/>
                <a:ea typeface="新宋体" panose="02010609030101010101" pitchFamily="49" charset="-122"/>
              </a:rPr>
              <a:t>"this man is C\n"</a:t>
            </a:r>
            <a:r>
              <a:rPr lang="en-US" altLang="zh-CN" sz="2000">
                <a:latin typeface="Lucida Console" panose="020B0609040504020204" pitchFamily="49" charset="0"/>
                <a:ea typeface="新宋体" panose="02010609030101010101" pitchFamily="49" charset="-122"/>
              </a:rPr>
              <a:t>; </a:t>
            </a: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else</a:t>
            </a: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&lt;&lt; </a:t>
            </a:r>
            <a:r>
              <a:rPr lang="en-US" altLang="zh-CN" sz="2000">
                <a:solidFill>
                  <a:srgbClr val="A31515"/>
                </a:solidFill>
                <a:latin typeface="Lucida Console" panose="020B0609040504020204" pitchFamily="49" charset="0"/>
                <a:ea typeface="新宋体" panose="02010609030101010101" pitchFamily="49" charset="-122"/>
              </a:rPr>
              <a:t>"this man is NOT C\n"</a:t>
            </a:r>
            <a:r>
              <a:rPr lang="zh-CN" altLang="en-US" sz="2000">
                <a:latin typeface="Lucida Console" panose="020B0609040504020204" pitchFamily="49" charset="0"/>
                <a:ea typeface="新宋体" panose="02010609030101010101" pitchFamily="49" charset="-122"/>
              </a:rPr>
              <a:t>；</a:t>
            </a:r>
            <a:endParaRPr lang="zh-CN" altLang="en-US" sz="2000">
              <a:latin typeface="Lucida Console" panose="020B0609040504020204" pitchFamily="49" charset="0"/>
            </a:endParaRPr>
          </a:p>
        </p:txBody>
      </p:sp>
      <p:sp>
        <p:nvSpPr>
          <p:cNvPr id="17" name="矩形 16">
            <a:extLst>
              <a:ext uri="{FF2B5EF4-FFF2-40B4-BE49-F238E27FC236}">
                <a16:creationId xmlns:a16="http://schemas.microsoft.com/office/drawing/2014/main" id="{AF4B0175-3D3C-4C81-A099-3B4C4463CC3D}"/>
              </a:ext>
            </a:extLst>
          </p:cNvPr>
          <p:cNvSpPr/>
          <p:nvPr/>
        </p:nvSpPr>
        <p:spPr>
          <a:xfrm>
            <a:off x="3515623" y="4241763"/>
            <a:ext cx="6980720" cy="4192558"/>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txBody>
          <a:bodyPr wrap="square">
            <a:spAutoFit/>
          </a:bodyPr>
          <a:lstStyle/>
          <a:p>
            <a:pPr algn="l">
              <a:lnSpc>
                <a:spcPct val="150000"/>
              </a:lnSpc>
            </a:pP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a:t>
            </a:r>
            <a:r>
              <a:rPr lang="en-US" altLang="zh-CN" sz="2000">
                <a:solidFill>
                  <a:srgbClr val="008000"/>
                </a:solidFill>
                <a:latin typeface="Lucida Console" panose="020B0609040504020204" pitchFamily="49" charset="0"/>
                <a:ea typeface="新宋体" panose="02010609030101010101" pitchFamily="49" charset="-122"/>
              </a:rPr>
              <a:t>// </a:t>
            </a:r>
            <a:r>
              <a:rPr lang="zh-CN" altLang="en-US" sz="2000">
                <a:solidFill>
                  <a:srgbClr val="008000"/>
                </a:solidFill>
                <a:latin typeface="Lucida Console" panose="020B0609040504020204" pitchFamily="49" charset="0"/>
                <a:ea typeface="新宋体" panose="02010609030101010101" pitchFamily="49" charset="-122"/>
              </a:rPr>
              <a:t>假设做好事者为</a:t>
            </a:r>
            <a:r>
              <a:rPr lang="en-US" altLang="zh-CN" sz="2000">
                <a:solidFill>
                  <a:srgbClr val="008000"/>
                </a:solidFill>
                <a:latin typeface="Lucida Console" panose="020B0609040504020204" pitchFamily="49" charset="0"/>
                <a:ea typeface="新宋体" panose="02010609030101010101" pitchFamily="49" charset="-122"/>
              </a:rPr>
              <a:t>D</a:t>
            </a:r>
            <a:endParaRPr lang="en-US" altLang="zh-CN" sz="2000">
              <a:latin typeface="Lucida Console" panose="020B0609040504020204" pitchFamily="49" charset="0"/>
              <a:ea typeface="新宋体" panose="02010609030101010101" pitchFamily="49" charset="-122"/>
            </a:endParaRPr>
          </a:p>
          <a:p>
            <a:pPr algn="l">
              <a:lnSpc>
                <a:spcPct val="150000"/>
              </a:lnSpc>
            </a:pP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sum =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'A’</a:t>
            </a:r>
            <a:r>
              <a:rPr lang="en-US" altLang="zh-CN" sz="2000">
                <a:latin typeface="Lucida Console" panose="020B0609040504020204" pitchFamily="49" charset="0"/>
                <a:ea typeface="新宋体" panose="02010609030101010101" pitchFamily="49" charset="-122"/>
              </a:rPr>
              <a:t>) + (</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'C'</a:t>
            </a:r>
            <a:r>
              <a:rPr lang="en-US" altLang="zh-CN" sz="2000">
                <a:latin typeface="Lucida Console" panose="020B0609040504020204" pitchFamily="49" charset="0"/>
                <a:ea typeface="新宋体" panose="02010609030101010101" pitchFamily="49" charset="-122"/>
              </a:rPr>
              <a:t>) +</a:t>
            </a: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      </a:t>
            </a:r>
            <a:r>
              <a:rPr lang="en-US" altLang="zh-CN" sz="2000">
                <a:latin typeface="Lucida Console" panose="020B0609040504020204" pitchFamily="49" charset="0"/>
                <a:ea typeface="新宋体" panose="02010609030101010101" pitchFamily="49" charset="-122"/>
              </a:rPr>
              <a:t>(</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a:t>
            </a:r>
            <a:r>
              <a:rPr lang="en-US" altLang="zh-CN" sz="2000">
                <a:solidFill>
                  <a:srgbClr val="0000FF"/>
                </a:solidFill>
                <a:latin typeface="Lucida Console" panose="020B0609040504020204" pitchFamily="49" charset="0"/>
                <a:ea typeface="新宋体" panose="02010609030101010101" pitchFamily="49" charset="-122"/>
              </a:rPr>
              <a:t> </a:t>
            </a:r>
            <a:r>
              <a:rPr lang="en-US" altLang="zh-CN" sz="2000">
                <a:latin typeface="Lucida Console" panose="020B0609040504020204" pitchFamily="49" charset="0"/>
                <a:ea typeface="新宋体" panose="02010609030101010101" pitchFamily="49" charset="-122"/>
              </a:rPr>
              <a:t>(</a:t>
            </a:r>
            <a:r>
              <a:rPr lang="en-US" altLang="zh-CN" sz="2000" err="1">
                <a:latin typeface="Lucida Console" panose="020B0609040504020204" pitchFamily="49" charset="0"/>
                <a:ea typeface="新宋体" panose="02010609030101010101" pitchFamily="49" charset="-122"/>
              </a:rPr>
              <a:t>thisman</a:t>
            </a:r>
            <a:r>
              <a:rPr lang="en-US" altLang="zh-CN" sz="2000">
                <a:latin typeface="Lucida Console" panose="020B0609040504020204" pitchFamily="49" charset="0"/>
                <a:ea typeface="新宋体" panose="02010609030101010101" pitchFamily="49" charset="-122"/>
              </a:rPr>
              <a:t> != </a:t>
            </a:r>
            <a:r>
              <a:rPr lang="en-US" altLang="zh-CN" sz="2000">
                <a:solidFill>
                  <a:srgbClr val="A31515"/>
                </a:solidFill>
                <a:latin typeface="Lucida Console" panose="020B0609040504020204" pitchFamily="49" charset="0"/>
                <a:ea typeface="新宋体" panose="02010609030101010101" pitchFamily="49" charset="-122"/>
              </a:rPr>
              <a:t>'D'</a:t>
            </a:r>
            <a:r>
              <a:rPr lang="en-US" altLang="zh-CN" sz="2000">
                <a:latin typeface="Lucida Console" panose="020B0609040504020204" pitchFamily="49" charset="0"/>
                <a:ea typeface="新宋体" panose="02010609030101010101" pitchFamily="49" charset="-122"/>
              </a:rPr>
              <a:t>);  </a:t>
            </a:r>
            <a:endParaRPr lang="zh-CN" altLang="en-US" sz="2000">
              <a:latin typeface="Lucida Console" panose="020B0609040504020204" pitchFamily="49" charset="0"/>
              <a:ea typeface="新宋体" panose="02010609030101010101" pitchFamily="49" charset="-122"/>
            </a:endParaRPr>
          </a:p>
          <a:p>
            <a:pPr algn="l">
              <a:lnSpc>
                <a:spcPct val="150000"/>
              </a:lnSpc>
            </a:pPr>
            <a:endParaRPr lang="zh-CN" altLang="en-US" sz="2000">
              <a:latin typeface="Lucida Console" panose="020B0609040504020204" pitchFamily="49" charset="0"/>
              <a:ea typeface="新宋体" panose="02010609030101010101" pitchFamily="49" charset="-122"/>
            </a:endParaRP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if</a:t>
            </a:r>
            <a:r>
              <a:rPr lang="en-US" altLang="zh-CN" sz="2000">
                <a:latin typeface="Lucida Console" panose="020B0609040504020204" pitchFamily="49" charset="0"/>
                <a:ea typeface="新宋体" panose="02010609030101010101" pitchFamily="49" charset="-122"/>
              </a:rPr>
              <a:t> (sum == 3)</a:t>
            </a: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a:t>
            </a:r>
            <a:r>
              <a:rPr lang="en-US" altLang="zh-CN" sz="2000">
                <a:solidFill>
                  <a:srgbClr val="008080"/>
                </a:solidFill>
                <a:latin typeface="Lucida Console" panose="020B0609040504020204" pitchFamily="49" charset="0"/>
                <a:ea typeface="新宋体" panose="02010609030101010101" pitchFamily="49" charset="-122"/>
              </a:rPr>
              <a:t>&lt;&lt;</a:t>
            </a:r>
            <a:r>
              <a:rPr lang="en-US" altLang="zh-CN" sz="2000">
                <a:latin typeface="Lucida Console" panose="020B0609040504020204" pitchFamily="49" charset="0"/>
                <a:ea typeface="新宋体" panose="02010609030101010101" pitchFamily="49" charset="-122"/>
              </a:rPr>
              <a:t> </a:t>
            </a:r>
            <a:r>
              <a:rPr lang="en-US" altLang="zh-CN" sz="2000">
                <a:solidFill>
                  <a:srgbClr val="A31515"/>
                </a:solidFill>
                <a:latin typeface="Lucida Console" panose="020B0609040504020204" pitchFamily="49" charset="0"/>
                <a:ea typeface="新宋体" panose="02010609030101010101" pitchFamily="49" charset="-122"/>
              </a:rPr>
              <a:t>"this man is D\n"</a:t>
            </a:r>
            <a:r>
              <a:rPr lang="en-US" altLang="zh-CN" sz="2000">
                <a:latin typeface="Lucida Console" panose="020B0609040504020204" pitchFamily="49" charset="0"/>
                <a:ea typeface="新宋体" panose="02010609030101010101" pitchFamily="49" charset="-122"/>
              </a:rPr>
              <a:t>; </a:t>
            </a:r>
          </a:p>
          <a:p>
            <a:pPr algn="l">
              <a:lnSpc>
                <a:spcPct val="150000"/>
              </a:lnSpc>
            </a:pPr>
            <a:r>
              <a:rPr lang="en-US" altLang="zh-CN" sz="2000">
                <a:solidFill>
                  <a:srgbClr val="0000FF"/>
                </a:solidFill>
                <a:latin typeface="Lucida Console" panose="020B0609040504020204" pitchFamily="49" charset="0"/>
                <a:ea typeface="新宋体" panose="02010609030101010101" pitchFamily="49" charset="-122"/>
              </a:rPr>
              <a:t>else</a:t>
            </a:r>
            <a:endParaRPr lang="en-US" altLang="zh-CN" sz="2000">
              <a:latin typeface="Lucida Console" panose="020B0609040504020204" pitchFamily="49" charset="0"/>
              <a:ea typeface="新宋体" panose="02010609030101010101" pitchFamily="49" charset="-122"/>
            </a:endParaRPr>
          </a:p>
          <a:p>
            <a:pPr algn="l">
              <a:lnSpc>
                <a:spcPct val="150000"/>
              </a:lnSpc>
            </a:pPr>
            <a:r>
              <a:rPr lang="en-US" altLang="zh-CN" sz="2000">
                <a:latin typeface="Lucida Console" panose="020B0609040504020204" pitchFamily="49" charset="0"/>
                <a:ea typeface="新宋体" panose="02010609030101010101" pitchFamily="49" charset="-122"/>
              </a:rPr>
              <a:t>    </a:t>
            </a:r>
            <a:r>
              <a:rPr lang="en-US" altLang="zh-CN" sz="2000" err="1">
                <a:latin typeface="Lucida Console" panose="020B0609040504020204" pitchFamily="49" charset="0"/>
                <a:ea typeface="新宋体" panose="02010609030101010101" pitchFamily="49" charset="-122"/>
              </a:rPr>
              <a:t>cout</a:t>
            </a:r>
            <a:r>
              <a:rPr lang="en-US" altLang="zh-CN" sz="2000">
                <a:latin typeface="Lucida Console" panose="020B0609040504020204" pitchFamily="49" charset="0"/>
                <a:ea typeface="新宋体" panose="02010609030101010101" pitchFamily="49" charset="-122"/>
              </a:rPr>
              <a:t> &lt;&lt; </a:t>
            </a:r>
            <a:r>
              <a:rPr lang="en-US" altLang="zh-CN" sz="2000">
                <a:solidFill>
                  <a:srgbClr val="A31515"/>
                </a:solidFill>
                <a:latin typeface="Lucida Console" panose="020B0609040504020204" pitchFamily="49" charset="0"/>
                <a:ea typeface="新宋体" panose="02010609030101010101" pitchFamily="49" charset="-122"/>
              </a:rPr>
              <a:t>"this man is NOT D\n"</a:t>
            </a:r>
            <a:r>
              <a:rPr lang="zh-CN" altLang="en-US" sz="2000">
                <a:latin typeface="Lucida Console" panose="020B0609040504020204" pitchFamily="49" charset="0"/>
                <a:ea typeface="新宋体" panose="02010609030101010101" pitchFamily="49" charset="-122"/>
              </a:rPr>
              <a:t>；</a:t>
            </a:r>
            <a:endParaRPr lang="zh-CN" altLang="en-US" sz="2000">
              <a:latin typeface="Lucida Console" panose="020B0609040504020204" pitchFamily="49" charset="0"/>
            </a:endParaRPr>
          </a:p>
        </p:txBody>
      </p:sp>
      <p:sp>
        <p:nvSpPr>
          <p:cNvPr id="4" name="文本框 3">
            <a:extLst>
              <a:ext uri="{FF2B5EF4-FFF2-40B4-BE49-F238E27FC236}">
                <a16:creationId xmlns:a16="http://schemas.microsoft.com/office/drawing/2014/main" id="{7D37D39D-37AA-492D-9895-ED454DFD8320}"/>
              </a:ext>
            </a:extLst>
          </p:cNvPr>
          <p:cNvSpPr txBox="1"/>
          <p:nvPr/>
        </p:nvSpPr>
        <p:spPr>
          <a:xfrm>
            <a:off x="3945612" y="8927551"/>
            <a:ext cx="511358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基于“</a:t>
            </a:r>
            <a:r>
              <a:rPr kumimoji="0" lang="en-US" altLang="zh-CN" sz="24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C-V</a:t>
            </a:r>
            <a:r>
              <a:rPr kumimoji="0" lang="zh-CN" altLang="en-US" sz="24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大法”对</a:t>
            </a:r>
            <a:r>
              <a:rPr kumimoji="0" lang="en-US" altLang="zh-CN" sz="24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4</a:t>
            </a:r>
            <a:r>
              <a:rPr kumimoji="0" lang="zh-CN" altLang="en-US" sz="24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种可能性进行枚举</a:t>
            </a:r>
            <a:endParaRPr kumimoji="0" lang="en-US" altLang="zh-CN" sz="24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380246529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30</a:t>
            </a:fld>
            <a:endParaRPr/>
          </a:p>
        </p:txBody>
      </p:sp>
      <p:sp>
        <p:nvSpPr>
          <p:cNvPr id="134" name="#include &lt;iostream&gt;…"/>
          <p:cNvSpPr txBox="1"/>
          <p:nvPr/>
        </p:nvSpPr>
        <p:spPr>
          <a:xfrm>
            <a:off x="2317439" y="516632"/>
            <a:ext cx="8207375" cy="87203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defTabSz="439419">
              <a:tabLst>
                <a:tab pos="431800" algn="l"/>
              </a:tabLst>
              <a:defRPr sz="2000">
                <a:solidFill>
                  <a:srgbClr val="D12F1B"/>
                </a:solidFill>
                <a:latin typeface="Menlo"/>
                <a:ea typeface="Menlo"/>
                <a:cs typeface="Menlo"/>
                <a:sym typeface="Menlo"/>
              </a:defRPr>
            </a:pPr>
            <a:r>
              <a:rPr>
                <a:solidFill>
                  <a:srgbClr val="78492A"/>
                </a:solidFill>
                <a:latin typeface="Consolas" panose="020B0609020204030204" pitchFamily="49" charset="0"/>
              </a:rPr>
              <a:t>#include </a:t>
            </a:r>
            <a:r>
              <a:rPr>
                <a:latin typeface="Consolas" panose="020B0609020204030204" pitchFamily="49" charset="0"/>
              </a:rPr>
              <a:t>&lt;iostream&gt;</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2000">
                <a:solidFill>
                  <a:srgbClr val="BA2DA2"/>
                </a:solidFill>
                <a:latin typeface="Menlo"/>
                <a:ea typeface="Menlo"/>
                <a:cs typeface="Menlo"/>
                <a:sym typeface="Menlo"/>
              </a:defRPr>
            </a:pPr>
            <a:r>
              <a:rPr>
                <a:latin typeface="Consolas" panose="020B0609020204030204" pitchFamily="49" charset="0"/>
              </a:rPr>
              <a:t>using</a:t>
            </a:r>
            <a:r>
              <a:rPr>
                <a:solidFill>
                  <a:srgbClr val="000000"/>
                </a:solidFill>
                <a:latin typeface="Consolas" panose="020B0609020204030204" pitchFamily="49" charset="0"/>
              </a:rPr>
              <a:t> </a:t>
            </a:r>
            <a:r>
              <a:rPr>
                <a:latin typeface="Consolas" panose="020B0609020204030204" pitchFamily="49" charset="0"/>
              </a:rPr>
              <a:t>namespace</a:t>
            </a:r>
            <a:r>
              <a:rPr>
                <a:solidFill>
                  <a:srgbClr val="000000"/>
                </a:solidFill>
                <a:latin typeface="Consolas" panose="020B0609020204030204" pitchFamily="49" charset="0"/>
              </a:rPr>
              <a:t> </a:t>
            </a:r>
            <a:r>
              <a:rPr>
                <a:solidFill>
                  <a:srgbClr val="703DAA"/>
                </a:solidFill>
                <a:latin typeface="Consolas" panose="020B0609020204030204" pitchFamily="49" charset="0"/>
              </a:rPr>
              <a:t>std</a:t>
            </a:r>
            <a:r>
              <a:rPr>
                <a:solidFill>
                  <a:srgbClr val="000000"/>
                </a:solidFill>
                <a:latin typeface="Consolas" panose="020B0609020204030204" pitchFamily="49" charset="0"/>
              </a:rPr>
              <a:t> ;</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solidFill>
                  <a:srgbClr val="BA2DA2"/>
                </a:solidFill>
                <a:latin typeface="Consolas" panose="020B0609020204030204" pitchFamily="49" charset="0"/>
              </a:rPr>
              <a:t>int</a:t>
            </a:r>
            <a:r>
              <a:rPr>
                <a:latin typeface="Consolas" panose="020B0609020204030204" pitchFamily="49" charset="0"/>
              </a:rPr>
              <a:t> main()</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char</a:t>
            </a:r>
            <a:r>
              <a:rPr>
                <a:latin typeface="Consolas" panose="020B0609020204030204" pitchFamily="49" charset="0"/>
              </a:rPr>
              <a:t> </a:t>
            </a:r>
            <a:r>
              <a:rPr err="1">
                <a:latin typeface="Consolas" panose="020B0609020204030204" pitchFamily="49" charset="0"/>
              </a:rPr>
              <a:t>thisman</a:t>
            </a:r>
            <a:r>
              <a:rPr lang="en-US">
                <a:latin typeface="Consolas" panose="020B0609020204030204" pitchFamily="49" charset="0"/>
              </a:rPr>
              <a:t> </a:t>
            </a:r>
            <a:r>
              <a:rPr lang="en-US">
                <a:highlight>
                  <a:srgbClr val="FFFF00"/>
                </a:highlight>
                <a:latin typeface="Consolas" panose="020B0609020204030204" pitchFamily="49" charset="0"/>
              </a:rPr>
              <a:t>= 'A' - 1</a:t>
            </a:r>
            <a:r>
              <a:rPr>
                <a:highlight>
                  <a:srgbClr val="FFFF00"/>
                </a:highlight>
                <a:latin typeface="Consolas" panose="020B0609020204030204" pitchFamily="49" charset="0"/>
              </a:rPr>
              <a:t>;</a:t>
            </a:r>
            <a:r>
              <a:rPr lang="en-US">
                <a:highlight>
                  <a:srgbClr val="FFFF00"/>
                </a:highlight>
                <a:latin typeface="Consolas" panose="020B0609020204030204" pitchFamily="49" charset="0"/>
              </a:rPr>
              <a:t> </a:t>
            </a:r>
            <a:endParaRPr>
              <a:highlight>
                <a:srgbClr val="FFFF00"/>
              </a:highlight>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int</a:t>
            </a:r>
            <a:r>
              <a:rPr>
                <a:latin typeface="Consolas" panose="020B0609020204030204" pitchFamily="49" charset="0"/>
              </a:rPr>
              <a:t> sum;</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solidFill>
                  <a:srgbClr val="008400"/>
                </a:solidFill>
                <a:latin typeface="Menlo"/>
                <a:ea typeface="Menlo"/>
                <a:cs typeface="Menlo"/>
                <a:sym typeface="Menlo"/>
              </a:defRPr>
            </a:pPr>
            <a:r>
              <a:rPr>
                <a:solidFill>
                  <a:srgbClr val="000000"/>
                </a:solidFill>
                <a:latin typeface="Consolas" panose="020B0609020204030204" pitchFamily="49" charset="0"/>
              </a:rPr>
              <a:t>    </a:t>
            </a:r>
            <a:r>
              <a:rPr>
                <a:latin typeface="Consolas" panose="020B0609020204030204" pitchFamily="49" charset="0"/>
              </a:rPr>
              <a:t>/// A</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err="1">
                <a:latin typeface="Consolas" panose="020B0609020204030204" pitchFamily="49" charset="0"/>
              </a:rPr>
              <a:t>thisman</a:t>
            </a:r>
            <a:r>
              <a:rPr lang="en-US">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sum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'A'</a:t>
            </a:r>
            <a:r>
              <a:rPr>
                <a:latin typeface="Consolas" panose="020B0609020204030204" pitchFamily="49" charset="0"/>
              </a:rPr>
              <a:t> )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'C'</a:t>
            </a: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'D'</a:t>
            </a:r>
            <a:r>
              <a:rPr>
                <a:latin typeface="Consolas" panose="020B0609020204030204" pitchFamily="49" charset="0"/>
              </a:rPr>
              <a:t> )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'D'</a:t>
            </a: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if</a:t>
            </a:r>
            <a:r>
              <a:rPr>
                <a:latin typeface="Consolas" panose="020B0609020204030204" pitchFamily="49" charset="0"/>
              </a:rPr>
              <a:t> (sum == </a:t>
            </a:r>
            <a:r>
              <a:rPr>
                <a:solidFill>
                  <a:srgbClr val="272AD8"/>
                </a:solidFill>
                <a:latin typeface="Consolas" panose="020B0609020204030204" pitchFamily="49" charset="0"/>
              </a:rPr>
              <a:t>3</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solidFill>
                  <a:srgbClr val="008400"/>
                </a:solidFill>
                <a:latin typeface="Menlo"/>
                <a:ea typeface="Menlo"/>
                <a:cs typeface="Menlo"/>
                <a:sym typeface="Menlo"/>
              </a:defRPr>
            </a:pPr>
            <a:r>
              <a:rPr>
                <a:solidFill>
                  <a:srgbClr val="000000"/>
                </a:solidFill>
                <a:latin typeface="Consolas" panose="020B0609020204030204" pitchFamily="49" charset="0"/>
              </a:rPr>
              <a:t>    {   </a:t>
            </a:r>
            <a:r>
              <a:rPr>
                <a:latin typeface="Consolas" panose="020B0609020204030204" pitchFamily="49" charset="0"/>
              </a:rPr>
              <a:t>// 如果3句话为真，则输出当前可能性所假定的人为做好事者</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做好事者为</a:t>
            </a:r>
            <a:r>
              <a:rPr>
                <a:solidFill>
                  <a:srgbClr val="D12F1B"/>
                </a:solidFill>
                <a:latin typeface="Consolas" panose="020B0609020204030204" pitchFamily="49" charset="0"/>
              </a:rPr>
              <a:t>"</a:t>
            </a:r>
            <a:r>
              <a:rPr>
                <a:latin typeface="Consolas" panose="020B0609020204030204" pitchFamily="49" charset="0"/>
              </a:rPr>
              <a:t> &lt;&lt; </a:t>
            </a:r>
            <a:r>
              <a:rPr err="1">
                <a:latin typeface="Consolas" panose="020B0609020204030204" pitchFamily="49" charset="0"/>
              </a:rPr>
              <a:t>thisman</a:t>
            </a:r>
            <a:r>
              <a:rPr>
                <a:latin typeface="Consolas" panose="020B0609020204030204" pitchFamily="49" charset="0"/>
              </a:rPr>
              <a:t> &lt;&lt; </a:t>
            </a:r>
            <a:r>
              <a:rPr err="1">
                <a:latin typeface="Consolas" panose="020B0609020204030204" pitchFamily="49" charset="0"/>
              </a:rPr>
              <a:t>endl</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return</a:t>
            </a:r>
            <a:r>
              <a:rPr>
                <a:latin typeface="Consolas" panose="020B0609020204030204" pitchFamily="49" charset="0"/>
              </a:rPr>
              <a:t> </a:t>
            </a:r>
            <a:r>
              <a:rPr>
                <a:solidFill>
                  <a:srgbClr val="272AD8"/>
                </a:solidFill>
                <a:latin typeface="Consolas" panose="020B0609020204030204" pitchFamily="49" charset="0"/>
              </a:rPr>
              <a:t>0</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solidFill>
                  <a:srgbClr val="008400"/>
                </a:solidFill>
                <a:latin typeface="Menlo"/>
                <a:ea typeface="Menlo"/>
                <a:cs typeface="Menlo"/>
                <a:sym typeface="Menlo"/>
              </a:defRPr>
            </a:pPr>
            <a:r>
              <a:rPr>
                <a:solidFill>
                  <a:srgbClr val="000000"/>
                </a:solidFill>
                <a:latin typeface="Consolas" panose="020B0609020204030204" pitchFamily="49" charset="0"/>
              </a:rPr>
              <a:t>    </a:t>
            </a:r>
            <a:r>
              <a:rPr>
                <a:latin typeface="Consolas" panose="020B0609020204030204" pitchFamily="49" charset="0"/>
              </a:rPr>
              <a:t>/// B</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err="1">
                <a:latin typeface="Consolas" panose="020B0609020204030204" pitchFamily="49" charset="0"/>
              </a:rPr>
              <a:t>thisman</a:t>
            </a:r>
            <a:r>
              <a:rPr lang="en-US">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sum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'A'</a:t>
            </a:r>
            <a:r>
              <a:rPr>
                <a:latin typeface="Consolas" panose="020B0609020204030204" pitchFamily="49" charset="0"/>
              </a:rPr>
              <a:t> )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'C'</a:t>
            </a: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'D'</a:t>
            </a:r>
            <a:r>
              <a:rPr>
                <a:latin typeface="Consolas" panose="020B0609020204030204" pitchFamily="49" charset="0"/>
              </a:rPr>
              <a:t> )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'D'</a:t>
            </a: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if</a:t>
            </a:r>
            <a:r>
              <a:rPr>
                <a:latin typeface="Consolas" panose="020B0609020204030204" pitchFamily="49" charset="0"/>
              </a:rPr>
              <a:t> (sum == </a:t>
            </a:r>
            <a:r>
              <a:rPr>
                <a:solidFill>
                  <a:srgbClr val="272AD8"/>
                </a:solidFill>
                <a:latin typeface="Consolas" panose="020B0609020204030204" pitchFamily="49" charset="0"/>
              </a:rPr>
              <a:t>3</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solidFill>
                  <a:srgbClr val="008400"/>
                </a:solidFill>
                <a:latin typeface="Menlo"/>
                <a:ea typeface="Menlo"/>
                <a:cs typeface="Menlo"/>
                <a:sym typeface="Menlo"/>
              </a:defRPr>
            </a:pPr>
            <a:r>
              <a:rPr>
                <a:solidFill>
                  <a:srgbClr val="000000"/>
                </a:solidFill>
                <a:latin typeface="Consolas" panose="020B0609020204030204" pitchFamily="49" charset="0"/>
              </a:rPr>
              <a:t>    {   </a:t>
            </a:r>
            <a:r>
              <a:rPr>
                <a:latin typeface="Consolas" panose="020B0609020204030204" pitchFamily="49" charset="0"/>
              </a:rPr>
              <a:t>// 如果3句话为真，则输出当前可能性所假定的人为做好事者</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做好事者为</a:t>
            </a:r>
            <a:r>
              <a:rPr>
                <a:solidFill>
                  <a:srgbClr val="D12F1B"/>
                </a:solidFill>
                <a:latin typeface="Consolas" panose="020B0609020204030204" pitchFamily="49" charset="0"/>
              </a:rPr>
              <a:t>"</a:t>
            </a:r>
            <a:r>
              <a:rPr>
                <a:latin typeface="Consolas" panose="020B0609020204030204" pitchFamily="49" charset="0"/>
              </a:rPr>
              <a:t> &lt;&lt; </a:t>
            </a:r>
            <a:r>
              <a:rPr err="1">
                <a:latin typeface="Consolas" panose="020B0609020204030204" pitchFamily="49" charset="0"/>
              </a:rPr>
              <a:t>thisman</a:t>
            </a:r>
            <a:r>
              <a:rPr>
                <a:latin typeface="Consolas" panose="020B0609020204030204" pitchFamily="49" charset="0"/>
              </a:rPr>
              <a:t> &lt;&lt; </a:t>
            </a:r>
            <a:r>
              <a:rPr err="1">
                <a:latin typeface="Consolas" panose="020B0609020204030204" pitchFamily="49" charset="0"/>
              </a:rPr>
              <a:t>endl</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return</a:t>
            </a:r>
            <a:r>
              <a:rPr>
                <a:latin typeface="Consolas" panose="020B0609020204030204" pitchFamily="49" charset="0"/>
              </a:rPr>
              <a:t> </a:t>
            </a:r>
            <a:r>
              <a:rPr>
                <a:solidFill>
                  <a:srgbClr val="272AD8"/>
                </a:solidFill>
                <a:latin typeface="Consolas" panose="020B0609020204030204" pitchFamily="49" charset="0"/>
              </a:rPr>
              <a:t>0</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p:txBody>
      </p:sp>
      <p:sp>
        <p:nvSpPr>
          <p:cNvPr id="135" name="第1页，共2页"/>
          <p:cNvSpPr txBox="1"/>
          <p:nvPr/>
        </p:nvSpPr>
        <p:spPr>
          <a:xfrm>
            <a:off x="48043" y="60374"/>
            <a:ext cx="1977239" cy="520701"/>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第1页，共2页</a:t>
            </a:r>
          </a:p>
        </p:txBody>
      </p:sp>
      <p:pic>
        <p:nvPicPr>
          <p:cNvPr id="136" name="圆角矩形" descr="圆角矩形"/>
          <p:cNvPicPr>
            <a:picLocks/>
          </p:cNvPicPr>
          <p:nvPr/>
        </p:nvPicPr>
        <p:blipFill>
          <a:blip r:embed="rId4"/>
          <a:stretch>
            <a:fillRect/>
          </a:stretch>
        </p:blipFill>
        <p:spPr>
          <a:xfrm>
            <a:off x="2650417" y="3064933"/>
            <a:ext cx="8925008" cy="2794442"/>
          </a:xfrm>
          <a:prstGeom prst="rect">
            <a:avLst/>
          </a:prstGeom>
          <a:noFill/>
        </p:spPr>
      </p:pic>
      <p:pic>
        <p:nvPicPr>
          <p:cNvPr id="138" name="圆角矩形" descr="圆角矩形"/>
          <p:cNvPicPr>
            <a:picLocks/>
          </p:cNvPicPr>
          <p:nvPr/>
        </p:nvPicPr>
        <p:blipFill>
          <a:blip r:embed="rId4"/>
          <a:stretch>
            <a:fillRect/>
          </a:stretch>
        </p:blipFill>
        <p:spPr>
          <a:xfrm>
            <a:off x="2650417" y="6408514"/>
            <a:ext cx="8925008" cy="2854685"/>
          </a:xfrm>
          <a:prstGeom prst="rect">
            <a:avLst/>
          </a:prstGeom>
        </p:spPr>
      </p:pic>
      <p:sp>
        <p:nvSpPr>
          <p:cNvPr id="140" name="椭圆形"/>
          <p:cNvSpPr/>
          <p:nvPr/>
        </p:nvSpPr>
        <p:spPr>
          <a:xfrm>
            <a:off x="3149380" y="2515794"/>
            <a:ext cx="717847" cy="649346"/>
          </a:xfrm>
          <a:prstGeom prst="ellipse">
            <a:avLst/>
          </a:prstGeom>
          <a:solidFill>
            <a:schemeClr val="accent4">
              <a:hueOff val="-1081314"/>
              <a:satOff val="4338"/>
              <a:lumOff val="-8931"/>
              <a:alpha val="23658"/>
            </a:schemeClr>
          </a:solidFill>
          <a:ln w="12700">
            <a:miter lim="400000"/>
          </a:ln>
        </p:spPr>
        <p:txBody>
          <a:bodyPr lIns="50800" tIns="50800" rIns="50800" bIns="50800" anchor="ctr"/>
          <a:lstStyle/>
          <a:p>
            <a:pPr>
              <a:defRPr sz="3600" b="0">
                <a:solidFill>
                  <a:srgbClr val="FFFFFF"/>
                </a:solidFill>
                <a:latin typeface="+mn-lt"/>
                <a:ea typeface="+mn-ea"/>
                <a:cs typeface="+mn-cs"/>
                <a:sym typeface="Helvetica Neue Medium"/>
              </a:defRPr>
            </a:pPr>
            <a:endParaRPr/>
          </a:p>
        </p:txBody>
      </p:sp>
      <p:sp>
        <p:nvSpPr>
          <p:cNvPr id="141" name="椭圆形"/>
          <p:cNvSpPr/>
          <p:nvPr/>
        </p:nvSpPr>
        <p:spPr>
          <a:xfrm>
            <a:off x="3225579" y="5885606"/>
            <a:ext cx="717847" cy="649346"/>
          </a:xfrm>
          <a:prstGeom prst="ellipse">
            <a:avLst/>
          </a:prstGeom>
          <a:solidFill>
            <a:schemeClr val="accent4">
              <a:hueOff val="-1081314"/>
              <a:satOff val="4338"/>
              <a:lumOff val="-8931"/>
              <a:alpha val="23658"/>
            </a:schemeClr>
          </a:solidFill>
          <a:ln w="12700">
            <a:miter lim="400000"/>
          </a:ln>
        </p:spPr>
        <p:txBody>
          <a:bodyPr lIns="50800" tIns="50800" rIns="50800" bIns="50800" anchor="ctr"/>
          <a:lstStyle/>
          <a:p>
            <a:pPr>
              <a:defRPr sz="3600" b="0">
                <a:solidFill>
                  <a:srgbClr val="FFFFFF"/>
                </a:solidFill>
                <a:latin typeface="+mn-lt"/>
                <a:ea typeface="+mn-ea"/>
                <a:cs typeface="+mn-cs"/>
                <a:sym typeface="Helvetica Neue Medium"/>
              </a:defRPr>
            </a:pPr>
            <a:endParaRPr/>
          </a:p>
        </p:txBody>
      </p:sp>
      <p:sp>
        <p:nvSpPr>
          <p:cNvPr id="9" name="文本框 8">
            <a:extLst>
              <a:ext uri="{FF2B5EF4-FFF2-40B4-BE49-F238E27FC236}">
                <a16:creationId xmlns:a16="http://schemas.microsoft.com/office/drawing/2014/main" id="{C424270B-91C3-4C1C-8469-60337C5444C0}"/>
              </a:ext>
            </a:extLst>
          </p:cNvPr>
          <p:cNvSpPr txBox="1"/>
          <p:nvPr>
            <p:custDataLst>
              <p:tags r:id="rId1"/>
            </p:custDataLst>
          </p:nvPr>
        </p:nvSpPr>
        <p:spPr>
          <a:xfrm>
            <a:off x="7112922" y="1423052"/>
            <a:ext cx="4243834" cy="1092742"/>
          </a:xfrm>
          <a:prstGeom prst="rect">
            <a:avLst/>
          </a:prstGeom>
          <a:noFill/>
          <a:ln w="12700" cap="flat">
            <a:solidFill>
              <a:schemeClr val="tx1">
                <a:lumMod val="75000"/>
                <a:lumOff val="25000"/>
              </a:schemeClr>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lnSpc>
                <a:spcPct val="150000"/>
              </a:lnSpc>
            </a:pPr>
            <a:r>
              <a:rPr lang="zh-CN" altLang="en-US" sz="20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为何这样写？有什么特别的考虑吗？</a:t>
            </a:r>
            <a:r>
              <a:rPr lang="en-US" altLang="zh-CN" sz="20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0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或：有什么好处呢？）</a:t>
            </a:r>
            <a:endParaRPr kumimoji="0" lang="zh-CN" altLang="en-US" sz="2000" b="1" i="0" u="none" strike="noStrike" cap="none" spc="0" normalizeH="0" baseline="0" dirty="0">
              <a:ln>
                <a:noFill/>
              </a:ln>
              <a:solidFill>
                <a:srgbClr val="FF0000"/>
              </a:solidFill>
              <a:effectLst/>
              <a:uFillTx/>
              <a:latin typeface="Microsoft Yahei" panose="020B0503020204020204" pitchFamily="34" charset="-122"/>
              <a:ea typeface="Microsoft Yahei" panose="020B0503020204020204" pitchFamily="34" charset="-122"/>
              <a:sym typeface="Microsoft Yahei" panose="020B0503020204020204" pitchFamily="34" charset="-122"/>
            </a:endParaRPr>
          </a:p>
        </p:txBody>
      </p:sp>
      <p:cxnSp>
        <p:nvCxnSpPr>
          <p:cNvPr id="3" name="直接箭头连接符 2">
            <a:extLst>
              <a:ext uri="{FF2B5EF4-FFF2-40B4-BE49-F238E27FC236}">
                <a16:creationId xmlns:a16="http://schemas.microsoft.com/office/drawing/2014/main" id="{CCBCE0E7-7A63-4EF1-A852-4F238123672D}"/>
              </a:ext>
            </a:extLst>
          </p:cNvPr>
          <p:cNvCxnSpPr/>
          <p:nvPr/>
        </p:nvCxnSpPr>
        <p:spPr>
          <a:xfrm flipH="1">
            <a:off x="6284794" y="1969423"/>
            <a:ext cx="828127" cy="0"/>
          </a:xfrm>
          <a:prstGeom prst="straightConnector1">
            <a:avLst/>
          </a:prstGeom>
          <a:noFill/>
          <a:ln w="25400" cap="flat">
            <a:solidFill>
              <a:srgbClr val="FF0000"/>
            </a:solidFill>
            <a:prstDash val="solid"/>
            <a:miter lim="400000"/>
            <a:headEnd type="none" w="med" len="med"/>
            <a:tailEnd type="arrow" w="med" len="med"/>
          </a:ln>
          <a:effectLst/>
          <a:sp3d/>
        </p:spPr>
        <p:style>
          <a:lnRef idx="0">
            <a:scrgbClr r="0" g="0" b="0"/>
          </a:lnRef>
          <a:fillRef idx="0">
            <a:scrgbClr r="0" g="0" b="0"/>
          </a:fillRef>
          <a:effectRef idx="0">
            <a:scrgbClr r="0" g="0" b="0"/>
          </a:effectRef>
          <a:fontRef idx="none"/>
        </p:style>
      </p:cxnSp>
      <p:sp>
        <p:nvSpPr>
          <p:cNvPr id="2" name="文本框 1">
            <a:extLst>
              <a:ext uri="{FF2B5EF4-FFF2-40B4-BE49-F238E27FC236}">
                <a16:creationId xmlns:a16="http://schemas.microsoft.com/office/drawing/2014/main" id="{67D6D3F0-ABA0-4AC8-9898-1C0FC5232971}"/>
              </a:ext>
            </a:extLst>
          </p:cNvPr>
          <p:cNvSpPr txBox="1"/>
          <p:nvPr/>
        </p:nvSpPr>
        <p:spPr>
          <a:xfrm>
            <a:off x="800700" y="4007043"/>
            <a:ext cx="471924" cy="1876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eaVert" wrap="square" lIns="50800" tIns="50800" rIns="50800" bIns="50800" numCol="1" spcCol="38100" rtlCol="0" anchor="ctr">
            <a:spAutoFit/>
          </a:bodyPr>
          <a:lstStyle/>
          <a:p>
            <a:pPr marL="0" marR="0" indent="0" algn="dist"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改进版本</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这个办法…">
            <a:extLst>
              <a:ext uri="{FF2B5EF4-FFF2-40B4-BE49-F238E27FC236}">
                <a16:creationId xmlns:a16="http://schemas.microsoft.com/office/drawing/2014/main" id="{D3614B55-ED54-48B4-B16C-F021E763B1C8}"/>
              </a:ext>
            </a:extLst>
          </p:cNvPr>
          <p:cNvSpPr txBox="1"/>
          <p:nvPr/>
        </p:nvSpPr>
        <p:spPr>
          <a:xfrm>
            <a:off x="2317439" y="1193799"/>
            <a:ext cx="9324227" cy="7858562"/>
          </a:xfrm>
          <a:prstGeom prst="rect">
            <a:avLst/>
          </a:prstGeom>
          <a:solidFill>
            <a:schemeClr val="tx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defRPr sz="16800">
                <a:solidFill>
                  <a:srgbClr val="FFFFFF"/>
                </a:solidFill>
              </a:defRPr>
            </a:pPr>
            <a:r>
              <a:t>这个办法</a:t>
            </a:r>
          </a:p>
          <a:p>
            <a:pPr>
              <a:defRPr sz="16800">
                <a:solidFill>
                  <a:srgbClr val="FFFFFF"/>
                </a:solidFill>
              </a:defRPr>
            </a:pPr>
            <a:r>
              <a:t>好象有点</a:t>
            </a:r>
          </a:p>
          <a:p>
            <a:pPr>
              <a:defRPr sz="16800">
                <a:solidFill>
                  <a:srgbClr val="FFFFFF"/>
                </a:solidFill>
              </a:defRPr>
            </a:pPr>
            <a:r>
              <a:t>太</a:t>
            </a:r>
            <a:r>
              <a:rPr lang="zh-CN" altLang="en-US">
                <a:solidFill>
                  <a:srgbClr val="FF0000"/>
                </a:solidFill>
              </a:rPr>
              <a:t>蛮</a:t>
            </a:r>
            <a:r>
              <a:rPr>
                <a:solidFill>
                  <a:srgbClr val="FF0000"/>
                </a:solidFill>
              </a:rPr>
              <a:t>力</a:t>
            </a:r>
            <a:r>
              <a:t>了</a:t>
            </a:r>
          </a:p>
        </p:txBody>
      </p:sp>
      <p:sp>
        <p:nvSpPr>
          <p:cNvPr id="143"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31</a:t>
            </a:fld>
            <a:endParaRPr/>
          </a:p>
        </p:txBody>
      </p:sp>
      <p:sp>
        <p:nvSpPr>
          <p:cNvPr id="149" name="第2页，共2页"/>
          <p:cNvSpPr txBox="1"/>
          <p:nvPr/>
        </p:nvSpPr>
        <p:spPr>
          <a:xfrm>
            <a:off x="48043" y="60374"/>
            <a:ext cx="1977239" cy="520701"/>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第2页，共2页</a:t>
            </a:r>
          </a:p>
        </p:txBody>
      </p:sp>
      <p:grpSp>
        <p:nvGrpSpPr>
          <p:cNvPr id="2" name="组合 1">
            <a:extLst>
              <a:ext uri="{FF2B5EF4-FFF2-40B4-BE49-F238E27FC236}">
                <a16:creationId xmlns:a16="http://schemas.microsoft.com/office/drawing/2014/main" id="{C85CF4AC-729C-43B0-B1BC-A95D541FF139}"/>
              </a:ext>
            </a:extLst>
          </p:cNvPr>
          <p:cNvGrpSpPr/>
          <p:nvPr/>
        </p:nvGrpSpPr>
        <p:grpSpPr>
          <a:xfrm>
            <a:off x="2317439" y="1105032"/>
            <a:ext cx="9391961" cy="8064368"/>
            <a:chOff x="2317439" y="1105032"/>
            <a:chExt cx="9391961" cy="8064368"/>
          </a:xfrm>
        </p:grpSpPr>
        <p:sp>
          <p:nvSpPr>
            <p:cNvPr id="144" name="/// C…"/>
            <p:cNvSpPr txBox="1"/>
            <p:nvPr/>
          </p:nvSpPr>
          <p:spPr>
            <a:xfrm>
              <a:off x="2317439" y="1193799"/>
              <a:ext cx="9391961" cy="7975601"/>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l" defTabSz="439419">
                <a:tabLst>
                  <a:tab pos="431800" algn="l"/>
                </a:tabLst>
                <a:defRPr sz="2000">
                  <a:solidFill>
                    <a:srgbClr val="008400"/>
                  </a:solidFill>
                  <a:latin typeface="Menlo"/>
                  <a:ea typeface="Menlo"/>
                  <a:cs typeface="Menlo"/>
                  <a:sym typeface="Menlo"/>
                </a:defRPr>
              </a:pPr>
              <a:r>
                <a:rPr>
                  <a:solidFill>
                    <a:srgbClr val="000000"/>
                  </a:solidFill>
                  <a:latin typeface="Consolas" panose="020B0609020204030204" pitchFamily="49" charset="0"/>
                </a:rPr>
                <a:t>    </a:t>
              </a:r>
              <a:r>
                <a:rPr>
                  <a:latin typeface="Consolas" panose="020B0609020204030204" pitchFamily="49" charset="0"/>
                </a:rPr>
                <a:t>/// C</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err="1">
                  <a:latin typeface="Consolas" panose="020B0609020204030204" pitchFamily="49" charset="0"/>
                </a:rPr>
                <a:t>thisman</a:t>
              </a:r>
              <a:r>
                <a:rPr lang="en-US">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sum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'A'</a:t>
              </a:r>
              <a:r>
                <a:rPr>
                  <a:latin typeface="Consolas" panose="020B0609020204030204" pitchFamily="49" charset="0"/>
                </a:rPr>
                <a:t> )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'C'</a:t>
              </a: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'D'</a:t>
              </a:r>
              <a:r>
                <a:rPr>
                  <a:latin typeface="Consolas" panose="020B0609020204030204" pitchFamily="49" charset="0"/>
                </a:rPr>
                <a:t> )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'D'</a:t>
              </a: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if</a:t>
              </a:r>
              <a:r>
                <a:rPr>
                  <a:latin typeface="Consolas" panose="020B0609020204030204" pitchFamily="49" charset="0"/>
                </a:rPr>
                <a:t> (sum == </a:t>
              </a:r>
              <a:r>
                <a:rPr>
                  <a:solidFill>
                    <a:srgbClr val="272AD8"/>
                  </a:solidFill>
                  <a:latin typeface="Consolas" panose="020B0609020204030204" pitchFamily="49" charset="0"/>
                </a:rPr>
                <a:t>3</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solidFill>
                    <a:srgbClr val="008400"/>
                  </a:solidFill>
                  <a:latin typeface="Menlo"/>
                  <a:ea typeface="Menlo"/>
                  <a:cs typeface="Menlo"/>
                  <a:sym typeface="Menlo"/>
                </a:defRPr>
              </a:pPr>
              <a:r>
                <a:rPr>
                  <a:solidFill>
                    <a:srgbClr val="000000"/>
                  </a:solidFill>
                  <a:latin typeface="Consolas" panose="020B0609020204030204" pitchFamily="49" charset="0"/>
                </a:rPr>
                <a:t>    {   </a:t>
              </a:r>
              <a:r>
                <a:rPr>
                  <a:latin typeface="Consolas" panose="020B0609020204030204" pitchFamily="49" charset="0"/>
                </a:rPr>
                <a:t>// 如果3句话为真，则输出当前可能性所假定的人为做好事者</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做好事者为</a:t>
              </a:r>
              <a:r>
                <a:rPr>
                  <a:solidFill>
                    <a:srgbClr val="D12F1B"/>
                  </a:solidFill>
                  <a:latin typeface="Consolas" panose="020B0609020204030204" pitchFamily="49" charset="0"/>
                </a:rPr>
                <a:t>"</a:t>
              </a:r>
              <a:r>
                <a:rPr>
                  <a:latin typeface="Consolas" panose="020B0609020204030204" pitchFamily="49" charset="0"/>
                </a:rPr>
                <a:t> &lt;&lt; </a:t>
              </a:r>
              <a:r>
                <a:rPr err="1">
                  <a:latin typeface="Consolas" panose="020B0609020204030204" pitchFamily="49" charset="0"/>
                </a:rPr>
                <a:t>thisman</a:t>
              </a:r>
              <a:r>
                <a:rPr>
                  <a:latin typeface="Consolas" panose="020B0609020204030204" pitchFamily="49" charset="0"/>
                </a:rPr>
                <a:t> &lt;&lt; </a:t>
              </a:r>
              <a:r>
                <a:rPr err="1">
                  <a:latin typeface="Consolas" panose="020B0609020204030204" pitchFamily="49" charset="0"/>
                </a:rPr>
                <a:t>endl</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return</a:t>
              </a:r>
              <a:r>
                <a:rPr>
                  <a:latin typeface="Consolas" panose="020B0609020204030204" pitchFamily="49" charset="0"/>
                </a:rPr>
                <a:t> </a:t>
              </a:r>
              <a:r>
                <a:rPr>
                  <a:solidFill>
                    <a:srgbClr val="272AD8"/>
                  </a:solidFill>
                  <a:latin typeface="Consolas" panose="020B0609020204030204" pitchFamily="49" charset="0"/>
                </a:rPr>
                <a:t>0</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solidFill>
                    <a:srgbClr val="CC0000"/>
                  </a:solidFill>
                  <a:latin typeface="Helvetica"/>
                  <a:ea typeface="Helvetica"/>
                  <a:cs typeface="Helvetica"/>
                  <a:sym typeface="Helvetica"/>
                </a:defRPr>
              </a:pPr>
              <a:endParaRPr>
                <a:solidFill>
                  <a:srgbClr val="000000"/>
                </a:solidFill>
                <a:latin typeface="Consolas" panose="020B0609020204030204" pitchFamily="49" charset="0"/>
              </a:endParaRPr>
            </a:p>
            <a:p>
              <a:pPr algn="l" defTabSz="439419">
                <a:tabLst>
                  <a:tab pos="431800" algn="l"/>
                </a:tabLst>
                <a:defRPr sz="2000">
                  <a:solidFill>
                    <a:srgbClr val="008400"/>
                  </a:solidFill>
                  <a:latin typeface="Menlo"/>
                  <a:ea typeface="Menlo"/>
                  <a:cs typeface="Menlo"/>
                  <a:sym typeface="Menlo"/>
                </a:defRPr>
              </a:pPr>
              <a:r>
                <a:rPr>
                  <a:solidFill>
                    <a:srgbClr val="000000"/>
                  </a:solidFill>
                  <a:latin typeface="Consolas" panose="020B0609020204030204" pitchFamily="49" charset="0"/>
                </a:rPr>
                <a:t>    </a:t>
              </a:r>
              <a:r>
                <a:rPr>
                  <a:latin typeface="Consolas" panose="020B0609020204030204" pitchFamily="49" charset="0"/>
                </a:rPr>
                <a:t>/// D</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err="1">
                  <a:latin typeface="Consolas" panose="020B0609020204030204" pitchFamily="49" charset="0"/>
                </a:rPr>
                <a:t>thisman</a:t>
              </a:r>
              <a:r>
                <a:rPr lang="en-US">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sum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'A'</a:t>
              </a:r>
              <a:r>
                <a:rPr>
                  <a:latin typeface="Consolas" panose="020B0609020204030204" pitchFamily="49" charset="0"/>
                </a:rPr>
                <a:t> )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'C'</a:t>
              </a: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'D'</a:t>
              </a:r>
              <a:r>
                <a:rPr>
                  <a:latin typeface="Consolas" panose="020B0609020204030204" pitchFamily="49" charset="0"/>
                </a:rPr>
                <a:t> ) + (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'D'</a:t>
              </a: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solidFill>
                    <a:srgbClr val="CC0000"/>
                  </a:solidFill>
                  <a:latin typeface="Helvetica"/>
                  <a:ea typeface="Helvetica"/>
                  <a:cs typeface="Helvetica"/>
                  <a:sym typeface="Helvetica"/>
                </a:defRPr>
              </a:pPr>
              <a:endParaRPr>
                <a:solidFill>
                  <a:srgbClr val="000000"/>
                </a:solidFill>
                <a:latin typeface="Consolas" panose="020B0609020204030204" pitchFamily="49" charset="0"/>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if</a:t>
              </a:r>
              <a:r>
                <a:rPr>
                  <a:latin typeface="Consolas" panose="020B0609020204030204" pitchFamily="49" charset="0"/>
                </a:rPr>
                <a:t> (sum == </a:t>
              </a:r>
              <a:r>
                <a:rPr>
                  <a:solidFill>
                    <a:srgbClr val="272AD8"/>
                  </a:solidFill>
                  <a:latin typeface="Consolas" panose="020B0609020204030204" pitchFamily="49" charset="0"/>
                </a:rPr>
                <a:t>3</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solidFill>
                    <a:srgbClr val="008400"/>
                  </a:solidFill>
                  <a:latin typeface="Menlo"/>
                  <a:ea typeface="Menlo"/>
                  <a:cs typeface="Menlo"/>
                  <a:sym typeface="Menlo"/>
                </a:defRPr>
              </a:pPr>
              <a:r>
                <a:rPr>
                  <a:solidFill>
                    <a:srgbClr val="000000"/>
                  </a:solidFill>
                  <a:latin typeface="Consolas" panose="020B0609020204030204" pitchFamily="49" charset="0"/>
                </a:rPr>
                <a:t>    {   </a:t>
              </a:r>
              <a:r>
                <a:rPr>
                  <a:latin typeface="Consolas" panose="020B0609020204030204" pitchFamily="49" charset="0"/>
                </a:rPr>
                <a:t>// 如果3句话为真，则输出当前可能性所假定的人为做好事者</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做好事者为</a:t>
              </a:r>
              <a:r>
                <a:rPr>
                  <a:solidFill>
                    <a:srgbClr val="D12F1B"/>
                  </a:solidFill>
                  <a:latin typeface="Consolas" panose="020B0609020204030204" pitchFamily="49" charset="0"/>
                </a:rPr>
                <a:t>"</a:t>
              </a:r>
              <a:r>
                <a:rPr>
                  <a:latin typeface="Consolas" panose="020B0609020204030204" pitchFamily="49" charset="0"/>
                </a:rPr>
                <a:t> &lt;&lt; </a:t>
              </a:r>
              <a:r>
                <a:rPr err="1">
                  <a:latin typeface="Consolas" panose="020B0609020204030204" pitchFamily="49" charset="0"/>
                </a:rPr>
                <a:t>thisman</a:t>
              </a:r>
              <a:r>
                <a:rPr>
                  <a:latin typeface="Consolas" panose="020B0609020204030204" pitchFamily="49" charset="0"/>
                </a:rPr>
                <a:t> &lt;&lt; </a:t>
              </a:r>
              <a:r>
                <a:rPr err="1">
                  <a:latin typeface="Consolas" panose="020B0609020204030204" pitchFamily="49" charset="0"/>
                </a:rPr>
                <a:t>endl</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return</a:t>
              </a:r>
              <a:r>
                <a:rPr>
                  <a:latin typeface="Consolas" panose="020B0609020204030204" pitchFamily="49" charset="0"/>
                </a:rPr>
                <a:t> </a:t>
              </a:r>
              <a:r>
                <a:rPr>
                  <a:solidFill>
                    <a:srgbClr val="272AD8"/>
                  </a:solidFill>
                  <a:latin typeface="Consolas" panose="020B0609020204030204" pitchFamily="49" charset="0"/>
                </a:rPr>
                <a:t>0</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2000">
                  <a:solidFill>
                    <a:srgbClr val="CC0000"/>
                  </a:solidFill>
                  <a:latin typeface="Helvetica"/>
                  <a:ea typeface="Helvetica"/>
                  <a:cs typeface="Helvetica"/>
                  <a:sym typeface="Helvetica"/>
                </a:defRPr>
              </a:pPr>
              <a:endParaRPr>
                <a:solidFill>
                  <a:srgbClr val="000000"/>
                </a:solidFill>
                <a:latin typeface="Consolas" panose="020B0609020204030204" pitchFamily="49" charset="0"/>
              </a:endParaRPr>
            </a:p>
            <a:p>
              <a:pPr algn="l" defTabSz="439419">
                <a:tabLst>
                  <a:tab pos="431800" algn="l"/>
                </a:tabLst>
                <a:defRPr sz="20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找不出做好事者</a:t>
              </a:r>
              <a:r>
                <a:rPr>
                  <a:solidFill>
                    <a:srgbClr val="D12F1B"/>
                  </a:solidFill>
                  <a:latin typeface="Consolas" panose="020B0609020204030204" pitchFamily="49" charset="0"/>
                </a:rPr>
                <a:t>"</a:t>
              </a:r>
              <a:r>
                <a:rPr>
                  <a:latin typeface="Consolas" panose="020B0609020204030204" pitchFamily="49" charset="0"/>
                </a:rPr>
                <a:t> &lt;&lt; </a:t>
              </a:r>
              <a:r>
                <a:rPr err="1">
                  <a:latin typeface="Consolas" panose="020B0609020204030204" pitchFamily="49" charset="0"/>
                </a:rPr>
                <a:t>endl</a:t>
              </a:r>
              <a:r>
                <a:rPr>
                  <a:latin typeface="Consolas" panose="020B0609020204030204" pitchFamily="49" charset="0"/>
                </a:rPr>
                <a:t>; </a:t>
              </a:r>
              <a:r>
                <a:rPr>
                  <a:solidFill>
                    <a:srgbClr val="008400"/>
                  </a:solidFill>
                  <a:latin typeface="Consolas" panose="020B0609020204030204" pitchFamily="49" charset="0"/>
                </a:rPr>
                <a:t>// </a:t>
              </a:r>
              <a:r>
                <a:rPr err="1">
                  <a:solidFill>
                    <a:srgbClr val="008400"/>
                  </a:solidFill>
                  <a:latin typeface="Consolas" panose="020B0609020204030204" pitchFamily="49" charset="0"/>
                </a:rPr>
                <a:t>输出无解信息</a:t>
              </a:r>
              <a:endParaRPr>
                <a:latin typeface="Consolas" panose="020B0609020204030204" pitchFamily="49" charset="0"/>
                <a:ea typeface="Helvetica"/>
                <a:cs typeface="Helvetica"/>
                <a:sym typeface="Helvetica"/>
              </a:endParaRPr>
            </a:p>
            <a:p>
              <a:pPr algn="l" defTabSz="439419">
                <a:tabLst>
                  <a:tab pos="431800" algn="l"/>
                </a:tabLst>
                <a:defRPr sz="2000">
                  <a:solidFill>
                    <a:srgbClr val="BA2DA2"/>
                  </a:solidFill>
                  <a:latin typeface="Menlo"/>
                  <a:ea typeface="Menlo"/>
                  <a:cs typeface="Menlo"/>
                  <a:sym typeface="Menlo"/>
                </a:defRPr>
              </a:pPr>
              <a:r>
                <a:rPr>
                  <a:solidFill>
                    <a:srgbClr val="000000"/>
                  </a:solidFill>
                  <a:latin typeface="Consolas" panose="020B0609020204030204" pitchFamily="49" charset="0"/>
                </a:rPr>
                <a:t>    </a:t>
              </a:r>
              <a:r>
                <a:rPr>
                  <a:latin typeface="Consolas" panose="020B0609020204030204" pitchFamily="49" charset="0"/>
                </a:rPr>
                <a:t>return</a:t>
              </a:r>
              <a:r>
                <a:rPr>
                  <a:solidFill>
                    <a:srgbClr val="000000"/>
                  </a:solidFill>
                  <a:latin typeface="Consolas" panose="020B0609020204030204" pitchFamily="49" charset="0"/>
                </a:rPr>
                <a:t> </a:t>
              </a:r>
              <a:r>
                <a:rPr>
                  <a:solidFill>
                    <a:srgbClr val="272AD8"/>
                  </a:solidFill>
                  <a:latin typeface="Consolas" panose="020B0609020204030204" pitchFamily="49" charset="0"/>
                </a:rPr>
                <a:t>0</a:t>
              </a:r>
              <a:r>
                <a:rPr>
                  <a:solidFill>
                    <a:srgbClr val="000000"/>
                  </a:solidFill>
                  <a:latin typeface="Consolas" panose="020B0609020204030204" pitchFamily="49" charset="0"/>
                </a:rPr>
                <a:t> ;</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2000">
                  <a:latin typeface="Menlo"/>
                  <a:ea typeface="Menlo"/>
                  <a:cs typeface="Menlo"/>
                  <a:sym typeface="Menlo"/>
                </a:defRPr>
              </a:pPr>
              <a:r>
                <a:rPr>
                  <a:latin typeface="Consolas" panose="020B0609020204030204" pitchFamily="49" charset="0"/>
                </a:rPr>
                <a:t>}</a:t>
              </a:r>
              <a:r>
                <a:rPr lang="en-US" altLang="zh-CN">
                  <a:latin typeface="Consolas" panose="020B0609020204030204" pitchFamily="49" charset="0"/>
                </a:rPr>
                <a:t> </a:t>
              </a:r>
              <a:r>
                <a:rPr lang="en-US" altLang="zh-CN">
                  <a:solidFill>
                    <a:srgbClr val="00B050"/>
                  </a:solidFill>
                  <a:latin typeface="Consolas" panose="020B0609020204030204" pitchFamily="49" charset="0"/>
                </a:rPr>
                <a:t>// L03-01.cpp</a:t>
              </a:r>
              <a:endParaRPr>
                <a:solidFill>
                  <a:srgbClr val="00B050"/>
                </a:solidFill>
                <a:latin typeface="Consolas" panose="020B0609020204030204" pitchFamily="49" charset="0"/>
              </a:endParaRPr>
            </a:p>
          </p:txBody>
        </p:sp>
        <p:pic>
          <p:nvPicPr>
            <p:cNvPr id="145" name="圆角矩形" descr="圆角矩形"/>
            <p:cNvPicPr>
              <a:picLocks/>
            </p:cNvPicPr>
            <p:nvPr/>
          </p:nvPicPr>
          <p:blipFill>
            <a:blip r:embed="rId3"/>
            <a:stretch>
              <a:fillRect/>
            </a:stretch>
          </p:blipFill>
          <p:spPr>
            <a:xfrm>
              <a:off x="2633572" y="1712042"/>
              <a:ext cx="8925008" cy="2772153"/>
            </a:xfrm>
            <a:prstGeom prst="rect">
              <a:avLst/>
            </a:prstGeom>
          </p:spPr>
        </p:pic>
        <p:pic>
          <p:nvPicPr>
            <p:cNvPr id="147" name="圆角矩形" descr="圆角矩形"/>
            <p:cNvPicPr>
              <a:picLocks/>
            </p:cNvPicPr>
            <p:nvPr/>
          </p:nvPicPr>
          <p:blipFill>
            <a:blip r:embed="rId3"/>
            <a:stretch>
              <a:fillRect/>
            </a:stretch>
          </p:blipFill>
          <p:spPr>
            <a:xfrm>
              <a:off x="2633572" y="5019372"/>
              <a:ext cx="8925008" cy="2871562"/>
            </a:xfrm>
            <a:prstGeom prst="rect">
              <a:avLst/>
            </a:prstGeom>
          </p:spPr>
        </p:pic>
        <p:sp>
          <p:nvSpPr>
            <p:cNvPr id="150" name="椭圆形"/>
            <p:cNvSpPr/>
            <p:nvPr/>
          </p:nvSpPr>
          <p:spPr>
            <a:xfrm>
              <a:off x="3183153" y="1105032"/>
              <a:ext cx="717847" cy="649346"/>
            </a:xfrm>
            <a:prstGeom prst="ellipse">
              <a:avLst/>
            </a:prstGeom>
            <a:solidFill>
              <a:schemeClr val="accent4">
                <a:hueOff val="-1081314"/>
                <a:satOff val="4338"/>
                <a:lumOff val="-8931"/>
                <a:alpha val="23658"/>
              </a:schemeClr>
            </a:solidFill>
            <a:ln w="12700">
              <a:miter lim="400000"/>
            </a:ln>
          </p:spPr>
          <p:txBody>
            <a:bodyPr lIns="50800" tIns="50800" rIns="50800" bIns="50800" anchor="ctr"/>
            <a:lstStyle/>
            <a:p>
              <a:pPr>
                <a:defRPr sz="3600" b="0">
                  <a:solidFill>
                    <a:srgbClr val="FFFFFF"/>
                  </a:solidFill>
                  <a:latin typeface="+mn-lt"/>
                  <a:ea typeface="+mn-ea"/>
                  <a:cs typeface="+mn-cs"/>
                  <a:sym typeface="Helvetica Neue Medium"/>
                </a:defRPr>
              </a:pPr>
              <a:endParaRPr/>
            </a:p>
          </p:txBody>
        </p:sp>
        <p:sp>
          <p:nvSpPr>
            <p:cNvPr id="151" name="椭圆形"/>
            <p:cNvSpPr/>
            <p:nvPr/>
          </p:nvSpPr>
          <p:spPr>
            <a:xfrm>
              <a:off x="3183153" y="4526531"/>
              <a:ext cx="717847" cy="649346"/>
            </a:xfrm>
            <a:prstGeom prst="ellipse">
              <a:avLst/>
            </a:prstGeom>
            <a:solidFill>
              <a:schemeClr val="accent4">
                <a:hueOff val="-1081314"/>
                <a:satOff val="4338"/>
                <a:lumOff val="-8931"/>
                <a:alpha val="23658"/>
              </a:schemeClr>
            </a:solidFill>
            <a:ln w="12700">
              <a:miter lim="400000"/>
            </a:ln>
          </p:spPr>
          <p:txBody>
            <a:bodyPr lIns="50800" tIns="50800" rIns="50800" bIns="50800" anchor="ctr"/>
            <a:lstStyle/>
            <a:p>
              <a:pPr>
                <a:defRPr sz="3600" b="0">
                  <a:solidFill>
                    <a:srgbClr val="FFFFFF"/>
                  </a:solidFill>
                  <a:latin typeface="+mn-lt"/>
                  <a:ea typeface="+mn-ea"/>
                  <a:cs typeface="+mn-cs"/>
                  <a:sym typeface="Helvetica Neue Medium"/>
                </a:defRPr>
              </a:pPr>
              <a:endParaRPr/>
            </a:p>
          </p:txBody>
        </p:sp>
      </p:grpSp>
      <p:sp>
        <p:nvSpPr>
          <p:cNvPr id="12" name="文本框 11">
            <a:extLst>
              <a:ext uri="{FF2B5EF4-FFF2-40B4-BE49-F238E27FC236}">
                <a16:creationId xmlns:a16="http://schemas.microsoft.com/office/drawing/2014/main" id="{892A4549-72EC-42D5-958E-844B37317675}"/>
              </a:ext>
            </a:extLst>
          </p:cNvPr>
          <p:cNvSpPr txBox="1"/>
          <p:nvPr/>
        </p:nvSpPr>
        <p:spPr>
          <a:xfrm>
            <a:off x="800700" y="4007043"/>
            <a:ext cx="471924" cy="1876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eaVert" wrap="square" lIns="50800" tIns="50800" rIns="50800" bIns="50800" numCol="1" spcCol="38100" rtlCol="0" anchor="ctr">
            <a:spAutoFit/>
          </a:bodyPr>
          <a:lstStyle/>
          <a:p>
            <a:pPr marL="0" marR="0" indent="0" algn="dist"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0000"/>
                </a:solidFill>
                <a:effectLst/>
                <a:uFillTx/>
                <a:latin typeface="Helvetica Neue"/>
                <a:ea typeface="Helvetica Neue"/>
                <a:cs typeface="Helvetica Neue"/>
                <a:sym typeface="Helvetica Neue"/>
              </a:rPr>
              <a:t>改进版本</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nodeType="clickEffect">
                                  <p:stCondLst>
                                    <p:cond delay="0"/>
                                  </p:stCondLst>
                                  <p:childTnLst>
                                    <p:anim calcmode="lin" valueType="num">
                                      <p:cBhvr>
                                        <p:cTn id="6" dur="500"/>
                                        <p:tgtEl>
                                          <p:spTgt spid="2"/>
                                        </p:tgtEl>
                                        <p:attrNameLst>
                                          <p:attrName>ppt_w</p:attrName>
                                        </p:attrNameLst>
                                      </p:cBhvr>
                                      <p:tavLst>
                                        <p:tav tm="0">
                                          <p:val>
                                            <p:strVal val="ppt_w"/>
                                          </p:val>
                                        </p:tav>
                                        <p:tav tm="100000">
                                          <p:val>
                                            <p:fltVal val="0"/>
                                          </p:val>
                                        </p:tav>
                                      </p:tavLst>
                                    </p:anim>
                                    <p:anim calcmode="lin" valueType="num">
                                      <p:cBhvr>
                                        <p:cTn id="7" dur="500"/>
                                        <p:tgtEl>
                                          <p:spTgt spid="2"/>
                                        </p:tgtEl>
                                        <p:attrNameLst>
                                          <p:attrName>ppt_h</p:attrName>
                                        </p:attrNameLst>
                                      </p:cBhvr>
                                      <p:tavLst>
                                        <p:tav tm="0">
                                          <p:val>
                                            <p:strVal val="ppt_h"/>
                                          </p:val>
                                        </p:tav>
                                        <p:tav tm="100000">
                                          <p:val>
                                            <p:fltVal val="0"/>
                                          </p:val>
                                        </p:tav>
                                      </p:tavLst>
                                    </p:anim>
                                    <p:animEffect transition="out" filter="fade">
                                      <p:cBhvr>
                                        <p:cTn id="8" dur="500"/>
                                        <p:tgtEl>
                                          <p:spTgt spid="2"/>
                                        </p:tgtEl>
                                      </p:cBhvr>
                                    </p:animEffect>
                                    <p:set>
                                      <p:cBhvr>
                                        <p:cTn id="9"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32</a:t>
            </a:fld>
            <a:endParaRPr/>
          </a:p>
        </p:txBody>
      </p:sp>
      <p:sp>
        <p:nvSpPr>
          <p:cNvPr id="160" name="循环语句的语法格式"/>
          <p:cNvSpPr>
            <a:spLocks noGrp="1"/>
          </p:cNvSpPr>
          <p:nvPr>
            <p:ph type="title"/>
          </p:nvPr>
        </p:nvSpPr>
        <p:spPr>
          <a:xfrm>
            <a:off x="547201" y="354125"/>
            <a:ext cx="8871119" cy="1152045"/>
          </a:xfrm>
          <a:prstGeom prst="rect">
            <a:avLst/>
          </a:prstGeom>
          <a:solidFill>
            <a:srgbClr val="7030A0"/>
          </a:solidFill>
        </p:spPr>
        <p:txBody>
          <a:bodyPr/>
          <a:lstStyle/>
          <a:p>
            <a:r>
              <a:rPr lang="zh-CN" altLang="en-US" b="1" dirty="0">
                <a:solidFill>
                  <a:srgbClr val="FFFF00"/>
                </a:solidFill>
              </a:rPr>
              <a:t>应尽量避免</a:t>
            </a:r>
            <a:r>
              <a:rPr lang="zh-CN" altLang="en-US" dirty="0">
                <a:solidFill>
                  <a:schemeClr val="bg1"/>
                </a:solidFill>
              </a:rPr>
              <a:t>程序中出现重复代码</a:t>
            </a:r>
            <a:endParaRPr dirty="0">
              <a:solidFill>
                <a:schemeClr val="bg1"/>
              </a:solidFill>
            </a:endParaRPr>
          </a:p>
        </p:txBody>
      </p:sp>
      <p:pic>
        <p:nvPicPr>
          <p:cNvPr id="2" name="图片 1">
            <a:extLst>
              <a:ext uri="{FF2B5EF4-FFF2-40B4-BE49-F238E27FC236}">
                <a16:creationId xmlns:a16="http://schemas.microsoft.com/office/drawing/2014/main" id="{545AF33C-94A4-459D-9890-A403DAF5BCDA}"/>
              </a:ext>
            </a:extLst>
          </p:cNvPr>
          <p:cNvPicPr>
            <a:picLocks noChangeAspect="1"/>
          </p:cNvPicPr>
          <p:nvPr/>
        </p:nvPicPr>
        <p:blipFill>
          <a:blip r:embed="rId2"/>
          <a:stretch>
            <a:fillRect/>
          </a:stretch>
        </p:blipFill>
        <p:spPr>
          <a:xfrm>
            <a:off x="547201" y="2461504"/>
            <a:ext cx="4542867" cy="3255792"/>
          </a:xfrm>
          <a:prstGeom prst="rect">
            <a:avLst/>
          </a:prstGeom>
        </p:spPr>
      </p:pic>
      <p:pic>
        <p:nvPicPr>
          <p:cNvPr id="3" name="图片 2">
            <a:extLst>
              <a:ext uri="{FF2B5EF4-FFF2-40B4-BE49-F238E27FC236}">
                <a16:creationId xmlns:a16="http://schemas.microsoft.com/office/drawing/2014/main" id="{25435732-BFC1-4C53-A788-DCFB07B7BD40}"/>
              </a:ext>
            </a:extLst>
          </p:cNvPr>
          <p:cNvPicPr>
            <a:picLocks noChangeAspect="1"/>
          </p:cNvPicPr>
          <p:nvPr/>
        </p:nvPicPr>
        <p:blipFill>
          <a:blip r:embed="rId3"/>
          <a:stretch>
            <a:fillRect/>
          </a:stretch>
        </p:blipFill>
        <p:spPr>
          <a:xfrm>
            <a:off x="547201" y="5858756"/>
            <a:ext cx="4542867" cy="3217688"/>
          </a:xfrm>
          <a:prstGeom prst="rect">
            <a:avLst/>
          </a:prstGeom>
        </p:spPr>
      </p:pic>
      <p:pic>
        <p:nvPicPr>
          <p:cNvPr id="8" name="圆角矩形" descr="圆角矩形">
            <a:extLst>
              <a:ext uri="{FF2B5EF4-FFF2-40B4-BE49-F238E27FC236}">
                <a16:creationId xmlns:a16="http://schemas.microsoft.com/office/drawing/2014/main" id="{347ACE2F-9F0D-471B-B62F-A8F392995392}"/>
              </a:ext>
            </a:extLst>
          </p:cNvPr>
          <p:cNvPicPr>
            <a:picLocks/>
          </p:cNvPicPr>
          <p:nvPr/>
        </p:nvPicPr>
        <p:blipFill>
          <a:blip r:embed="rId4"/>
          <a:stretch>
            <a:fillRect/>
          </a:stretch>
        </p:blipFill>
        <p:spPr>
          <a:xfrm>
            <a:off x="5483265" y="2565400"/>
            <a:ext cx="4542867" cy="1405467"/>
          </a:xfrm>
          <a:prstGeom prst="rect">
            <a:avLst/>
          </a:prstGeom>
          <a:solidFill>
            <a:schemeClr val="bg2"/>
          </a:solidFill>
        </p:spPr>
      </p:pic>
      <p:pic>
        <p:nvPicPr>
          <p:cNvPr id="9" name="圆角矩形" descr="圆角矩形">
            <a:extLst>
              <a:ext uri="{FF2B5EF4-FFF2-40B4-BE49-F238E27FC236}">
                <a16:creationId xmlns:a16="http://schemas.microsoft.com/office/drawing/2014/main" id="{6B3C51AB-34B3-460B-84F3-CFD11E9FA15A}"/>
              </a:ext>
            </a:extLst>
          </p:cNvPr>
          <p:cNvPicPr>
            <a:picLocks/>
          </p:cNvPicPr>
          <p:nvPr/>
        </p:nvPicPr>
        <p:blipFill>
          <a:blip r:embed="rId4"/>
          <a:stretch>
            <a:fillRect/>
          </a:stretch>
        </p:blipFill>
        <p:spPr>
          <a:xfrm>
            <a:off x="5483266" y="4285029"/>
            <a:ext cx="4542867" cy="1405467"/>
          </a:xfrm>
          <a:prstGeom prst="rect">
            <a:avLst/>
          </a:prstGeom>
          <a:solidFill>
            <a:schemeClr val="bg2"/>
          </a:solidFill>
        </p:spPr>
      </p:pic>
      <p:pic>
        <p:nvPicPr>
          <p:cNvPr id="10" name="圆角矩形" descr="圆角矩形">
            <a:extLst>
              <a:ext uri="{FF2B5EF4-FFF2-40B4-BE49-F238E27FC236}">
                <a16:creationId xmlns:a16="http://schemas.microsoft.com/office/drawing/2014/main" id="{0F70C6F9-DDD9-45FD-A899-689377AD6AAE}"/>
              </a:ext>
            </a:extLst>
          </p:cNvPr>
          <p:cNvPicPr>
            <a:picLocks/>
          </p:cNvPicPr>
          <p:nvPr/>
        </p:nvPicPr>
        <p:blipFill>
          <a:blip r:embed="rId4"/>
          <a:stretch>
            <a:fillRect/>
          </a:stretch>
        </p:blipFill>
        <p:spPr>
          <a:xfrm>
            <a:off x="5483266" y="6004658"/>
            <a:ext cx="4542867" cy="1405467"/>
          </a:xfrm>
          <a:prstGeom prst="rect">
            <a:avLst/>
          </a:prstGeom>
          <a:solidFill>
            <a:schemeClr val="bg2"/>
          </a:solidFill>
        </p:spPr>
      </p:pic>
      <p:pic>
        <p:nvPicPr>
          <p:cNvPr id="11" name="圆角矩形" descr="圆角矩形">
            <a:extLst>
              <a:ext uri="{FF2B5EF4-FFF2-40B4-BE49-F238E27FC236}">
                <a16:creationId xmlns:a16="http://schemas.microsoft.com/office/drawing/2014/main" id="{2BCB1DFF-9C0E-4328-9B67-254407065B3D}"/>
              </a:ext>
            </a:extLst>
          </p:cNvPr>
          <p:cNvPicPr>
            <a:picLocks/>
          </p:cNvPicPr>
          <p:nvPr/>
        </p:nvPicPr>
        <p:blipFill>
          <a:blip r:embed="rId4"/>
          <a:stretch>
            <a:fillRect/>
          </a:stretch>
        </p:blipFill>
        <p:spPr>
          <a:xfrm>
            <a:off x="5483266" y="7670977"/>
            <a:ext cx="4542867" cy="1405467"/>
          </a:xfrm>
          <a:prstGeom prst="rect">
            <a:avLst/>
          </a:prstGeom>
          <a:solidFill>
            <a:schemeClr val="bg2"/>
          </a:solidFill>
        </p:spPr>
      </p:pic>
      <p:sp>
        <p:nvSpPr>
          <p:cNvPr id="4" name="文本框 3">
            <a:extLst>
              <a:ext uri="{FF2B5EF4-FFF2-40B4-BE49-F238E27FC236}">
                <a16:creationId xmlns:a16="http://schemas.microsoft.com/office/drawing/2014/main" id="{8C45C86D-445E-4C2C-BE81-F17CC1EF5E57}"/>
              </a:ext>
            </a:extLst>
          </p:cNvPr>
          <p:cNvSpPr txBox="1"/>
          <p:nvPr/>
        </p:nvSpPr>
        <p:spPr>
          <a:xfrm>
            <a:off x="10193399" y="4900536"/>
            <a:ext cx="2672627"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50000"/>
              </a:lnSpc>
              <a:spcBef>
                <a:spcPts val="0"/>
              </a:spcBef>
              <a:spcAft>
                <a:spcPts val="0"/>
              </a:spcAft>
              <a:buClrTx/>
              <a:buSzTx/>
              <a:buFontTx/>
              <a:buNone/>
              <a:tabLst/>
            </a:pPr>
            <a:r>
              <a:rPr lang="zh-CN" altLang="en-US" sz="3200" dirty="0">
                <a:solidFill>
                  <a:schemeClr val="tx1"/>
                </a:solidFill>
              </a:rPr>
              <a:t>同一代码段</a:t>
            </a:r>
            <a:r>
              <a:rPr kumimoji="0" lang="zh-CN" altLang="en-US" sz="3200" b="1" i="0" u="none" strike="noStrike" cap="none" spc="0" normalizeH="0" baseline="0" dirty="0">
                <a:ln>
                  <a:noFill/>
                </a:ln>
                <a:solidFill>
                  <a:schemeClr val="tx1"/>
                </a:solidFill>
                <a:effectLst/>
                <a:uFillTx/>
                <a:latin typeface="Helvetica Neue"/>
                <a:ea typeface="Helvetica Neue"/>
                <a:cs typeface="Helvetica Neue"/>
                <a:sym typeface="Helvetica Neue"/>
              </a:rPr>
              <a:t>重复出现了</a:t>
            </a:r>
            <a:r>
              <a:rPr kumimoji="0" lang="en-US" altLang="zh-CN" sz="3200" b="1" i="0" u="none" strike="noStrike" cap="none" spc="0" normalizeH="0" baseline="0" dirty="0">
                <a:ln>
                  <a:noFill/>
                </a:ln>
                <a:solidFill>
                  <a:schemeClr val="tx1"/>
                </a:solidFill>
                <a:effectLst/>
                <a:uFillTx/>
                <a:latin typeface="Helvetica Neue"/>
                <a:ea typeface="Helvetica Neue"/>
                <a:cs typeface="Helvetica Neue"/>
                <a:sym typeface="Helvetica Neue"/>
              </a:rPr>
              <a:t>4</a:t>
            </a:r>
            <a:r>
              <a:rPr kumimoji="0" lang="zh-CN" altLang="en-US" sz="3200" b="1" i="0" u="none" strike="noStrike" cap="none" spc="0" normalizeH="0" baseline="0" dirty="0">
                <a:ln>
                  <a:noFill/>
                </a:ln>
                <a:solidFill>
                  <a:schemeClr val="tx1"/>
                </a:solidFill>
                <a:effectLst/>
                <a:uFillTx/>
                <a:latin typeface="Helvetica Neue"/>
                <a:ea typeface="Helvetica Neue"/>
                <a:cs typeface="Helvetica Neue"/>
                <a:sym typeface="Helvetica Neue"/>
              </a:rPr>
              <a:t>次</a:t>
            </a:r>
            <a:r>
              <a:rPr kumimoji="0" lang="en-US" altLang="zh-CN" sz="3200" b="1" i="0" u="none" strike="noStrike" cap="none" spc="0" normalizeH="0" baseline="0" dirty="0">
                <a:ln>
                  <a:noFill/>
                </a:ln>
                <a:solidFill>
                  <a:schemeClr val="tx1"/>
                </a:solidFill>
                <a:effectLst/>
                <a:uFillTx/>
                <a:latin typeface="Helvetica Neue"/>
                <a:ea typeface="Helvetica Neue"/>
                <a:cs typeface="Helvetica Neue"/>
                <a:sym typeface="Helvetica Neue"/>
              </a:rPr>
              <a:t>!</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33</a:t>
            </a:fld>
            <a:endParaRPr/>
          </a:p>
        </p:txBody>
      </p:sp>
      <p:sp>
        <p:nvSpPr>
          <p:cNvPr id="160" name="循环语句的语法格式"/>
          <p:cNvSpPr>
            <a:spLocks noGrp="1"/>
          </p:cNvSpPr>
          <p:nvPr>
            <p:ph type="title"/>
          </p:nvPr>
        </p:nvSpPr>
        <p:spPr>
          <a:xfrm>
            <a:off x="547201" y="346527"/>
            <a:ext cx="8924459" cy="1152045"/>
          </a:xfrm>
          <a:prstGeom prst="rect">
            <a:avLst/>
          </a:prstGeom>
          <a:solidFill>
            <a:srgbClr val="7030A0"/>
          </a:solidFill>
        </p:spPr>
        <p:txBody>
          <a:bodyPr/>
          <a:lstStyle/>
          <a:p>
            <a:r>
              <a:rPr lang="zh-CN" altLang="en-US" b="1" dirty="0">
                <a:solidFill>
                  <a:srgbClr val="FFFF00"/>
                </a:solidFill>
              </a:rPr>
              <a:t>出现“重复代码”时的风险和隐患</a:t>
            </a:r>
            <a:endParaRPr b="1" dirty="0">
              <a:solidFill>
                <a:srgbClr val="FFFF00"/>
              </a:solidFill>
            </a:endParaRPr>
          </a:p>
        </p:txBody>
      </p:sp>
      <p:sp>
        <p:nvSpPr>
          <p:cNvPr id="4" name="文本框 3">
            <a:extLst>
              <a:ext uri="{FF2B5EF4-FFF2-40B4-BE49-F238E27FC236}">
                <a16:creationId xmlns:a16="http://schemas.microsoft.com/office/drawing/2014/main" id="{8C45C86D-445E-4C2C-BE81-F17CC1EF5E57}"/>
              </a:ext>
            </a:extLst>
          </p:cNvPr>
          <p:cNvSpPr txBox="1"/>
          <p:nvPr/>
        </p:nvSpPr>
        <p:spPr>
          <a:xfrm>
            <a:off x="547200" y="2286278"/>
            <a:ext cx="12152800" cy="67505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28650" marR="0" indent="-628650" algn="just" defTabSz="584200" rtl="0" fontAlgn="auto" latinLnBrk="0" hangingPunct="0">
              <a:lnSpc>
                <a:spcPct val="150000"/>
              </a:lnSpc>
              <a:spcBef>
                <a:spcPts val="0"/>
              </a:spcBef>
              <a:spcAft>
                <a:spcPts val="0"/>
              </a:spcAft>
              <a:buClrTx/>
              <a:buSzTx/>
              <a:buFontTx/>
              <a:buNone/>
              <a:tabLst/>
            </a:pPr>
            <a:r>
              <a:rPr lang="en-US" altLang="zh-CN" sz="3200" dirty="0">
                <a:solidFill>
                  <a:schemeClr val="tx1"/>
                </a:solidFill>
              </a:rPr>
              <a:t>1</a:t>
            </a:r>
            <a:r>
              <a:rPr lang="zh-CN" altLang="en-US" sz="3200" dirty="0">
                <a:solidFill>
                  <a:schemeClr val="tx1"/>
                </a:solidFill>
              </a:rPr>
              <a:t>、字面上的重复，并</a:t>
            </a:r>
            <a:r>
              <a:rPr lang="zh-CN" altLang="en-US" sz="3200" dirty="0">
                <a:solidFill>
                  <a:srgbClr val="FF0000"/>
                </a:solidFill>
              </a:rPr>
              <a:t>不能精确表达</a:t>
            </a:r>
            <a:r>
              <a:rPr lang="zh-CN" altLang="en-US" sz="3200" dirty="0">
                <a:solidFill>
                  <a:schemeClr val="tx1"/>
                </a:solidFill>
              </a:rPr>
              <a:t>“实质性重复”的含义。</a:t>
            </a:r>
            <a:endParaRPr lang="en-US" altLang="zh-CN" sz="3200" dirty="0">
              <a:solidFill>
                <a:schemeClr val="tx1"/>
              </a:solidFill>
            </a:endParaRPr>
          </a:p>
          <a:p>
            <a:pPr marL="628650" marR="0" indent="-628650" algn="just" defTabSz="584200" rtl="0" fontAlgn="auto" latinLnBrk="0" hangingPunct="0">
              <a:lnSpc>
                <a:spcPct val="150000"/>
              </a:lnSpc>
              <a:spcBef>
                <a:spcPts val="0"/>
              </a:spcBef>
              <a:spcAft>
                <a:spcPts val="0"/>
              </a:spcAft>
              <a:buClrTx/>
              <a:buSzTx/>
              <a:buFontTx/>
              <a:buNone/>
              <a:tabLst/>
            </a:pPr>
            <a:r>
              <a:rPr kumimoji="0" lang="en-US" altLang="zh-CN" sz="3200" i="0" u="none" strike="noStrike" cap="none" spc="0" normalizeH="0" baseline="0" dirty="0">
                <a:ln>
                  <a:noFill/>
                </a:ln>
                <a:solidFill>
                  <a:schemeClr val="tx1"/>
                </a:solidFill>
                <a:effectLst/>
                <a:uFillTx/>
                <a:latin typeface="Helvetica Neue"/>
                <a:ea typeface="Helvetica Neue"/>
                <a:cs typeface="Helvetica Neue"/>
                <a:sym typeface="Helvetica Neue"/>
              </a:rPr>
              <a:t>2</a:t>
            </a:r>
            <a:r>
              <a:rPr kumimoji="0" lang="zh-CN" altLang="en-US" sz="3200" i="0" u="none" strike="noStrike" cap="none" spc="0" normalizeH="0" baseline="0" dirty="0">
                <a:ln>
                  <a:noFill/>
                </a:ln>
                <a:solidFill>
                  <a:schemeClr val="tx1"/>
                </a:solidFill>
                <a:effectLst/>
                <a:uFillTx/>
                <a:latin typeface="Helvetica Neue"/>
                <a:ea typeface="Helvetica Neue"/>
                <a:cs typeface="Helvetica Neue"/>
                <a:sym typeface="Helvetica Neue"/>
              </a:rPr>
              <a:t>、如果使用的算法确实是一样的，那么，当情况发生变化而要修改时，就需要在多个地方进行修改，而这些地方有可能并不集中，这样就</a:t>
            </a:r>
            <a:r>
              <a:rPr kumimoji="0" lang="zh-CN" altLang="en-US" sz="3200" i="0" u="none" strike="noStrike" cap="none" spc="0" normalizeH="0" baseline="0" dirty="0">
                <a:ln>
                  <a:noFill/>
                </a:ln>
                <a:solidFill>
                  <a:srgbClr val="FF0000"/>
                </a:solidFill>
                <a:effectLst/>
                <a:uFillTx/>
                <a:latin typeface="Helvetica Neue"/>
                <a:ea typeface="Helvetica Neue"/>
                <a:cs typeface="Helvetica Neue"/>
                <a:sym typeface="Helvetica Neue"/>
              </a:rPr>
              <a:t>容易遗漏。</a:t>
            </a:r>
            <a:endParaRPr kumimoji="0" lang="en-US" altLang="zh-CN" sz="3200" i="0" u="none" strike="noStrike" cap="none" spc="0" normalizeH="0" baseline="0" dirty="0">
              <a:ln>
                <a:noFill/>
              </a:ln>
              <a:solidFill>
                <a:srgbClr val="FF0000"/>
              </a:solidFill>
              <a:effectLst/>
              <a:uFillTx/>
              <a:latin typeface="Helvetica Neue"/>
              <a:ea typeface="Helvetica Neue"/>
              <a:cs typeface="Helvetica Neue"/>
              <a:sym typeface="Helvetica Neue"/>
            </a:endParaRPr>
          </a:p>
          <a:p>
            <a:pPr marL="628650" marR="0" indent="-628650" algn="just" defTabSz="584200" rtl="0" fontAlgn="auto" latinLnBrk="0" hangingPunct="0">
              <a:lnSpc>
                <a:spcPct val="150000"/>
              </a:lnSpc>
              <a:spcBef>
                <a:spcPts val="0"/>
              </a:spcBef>
              <a:spcAft>
                <a:spcPts val="0"/>
              </a:spcAft>
              <a:buClrTx/>
              <a:buSzTx/>
              <a:buFontTx/>
              <a:buNone/>
              <a:tabLst/>
            </a:pPr>
            <a:r>
              <a:rPr lang="en-US" altLang="zh-CN" sz="3200" dirty="0">
                <a:solidFill>
                  <a:schemeClr val="tx1"/>
                </a:solidFill>
              </a:rPr>
              <a:t>3</a:t>
            </a:r>
            <a:r>
              <a:rPr lang="zh-CN" altLang="en-US" sz="3200" dirty="0">
                <a:solidFill>
                  <a:schemeClr val="tx1"/>
                </a:solidFill>
              </a:rPr>
              <a:t>、代码长了，增加阅读负担，对代码逻辑的</a:t>
            </a:r>
            <a:r>
              <a:rPr lang="zh-CN" altLang="en-US" sz="3200" dirty="0">
                <a:solidFill>
                  <a:srgbClr val="FF0000"/>
                </a:solidFill>
              </a:rPr>
              <a:t>理解更困难。</a:t>
            </a:r>
            <a:endParaRPr lang="en-US" altLang="zh-CN" sz="3200" dirty="0">
              <a:solidFill>
                <a:srgbClr val="FF0000"/>
              </a:solidFill>
            </a:endParaRPr>
          </a:p>
          <a:p>
            <a:pPr marL="628650" marR="0" indent="-628650" algn="just" defTabSz="584200" rtl="0" fontAlgn="auto" latinLnBrk="0" hangingPunct="0">
              <a:lnSpc>
                <a:spcPct val="150000"/>
              </a:lnSpc>
              <a:spcBef>
                <a:spcPts val="0"/>
              </a:spcBef>
              <a:spcAft>
                <a:spcPts val="0"/>
              </a:spcAft>
              <a:buClrTx/>
              <a:buSzTx/>
              <a:buFontTx/>
              <a:buNone/>
              <a:tabLst/>
            </a:pPr>
            <a:r>
              <a:rPr lang="en-US" altLang="zh-CN" sz="3200" dirty="0">
                <a:solidFill>
                  <a:schemeClr val="tx1"/>
                </a:solidFill>
              </a:rPr>
              <a:t>4</a:t>
            </a:r>
            <a:r>
              <a:rPr lang="zh-CN" altLang="en-US" sz="3200" dirty="0">
                <a:solidFill>
                  <a:schemeClr val="tx1"/>
                </a:solidFill>
              </a:rPr>
              <a:t>、维护代码的人，在进行优化时仍需仔细对比，并不会因为看起来似乎一样，就会认为是一样，这就导致</a:t>
            </a:r>
            <a:r>
              <a:rPr lang="zh-CN" altLang="en-US" sz="3200" dirty="0">
                <a:solidFill>
                  <a:srgbClr val="FF0000"/>
                </a:solidFill>
              </a:rPr>
              <a:t>维护工作量</a:t>
            </a:r>
            <a:r>
              <a:rPr lang="zh-CN" altLang="en-US" sz="3200" dirty="0">
                <a:solidFill>
                  <a:schemeClr val="tx1"/>
                </a:solidFill>
              </a:rPr>
              <a:t>也加大了。</a:t>
            </a:r>
            <a:endParaRPr lang="en-US" altLang="zh-CN" sz="3200" dirty="0">
              <a:solidFill>
                <a:schemeClr val="tx1"/>
              </a:solidFill>
            </a:endParaRPr>
          </a:p>
          <a:p>
            <a:pPr marL="628650" marR="0" indent="-628650" algn="just" defTabSz="584200" rtl="0" fontAlgn="auto" latinLnBrk="0" hangingPunct="0">
              <a:lnSpc>
                <a:spcPct val="150000"/>
              </a:lnSpc>
              <a:spcBef>
                <a:spcPts val="0"/>
              </a:spcBef>
              <a:spcAft>
                <a:spcPts val="0"/>
              </a:spcAft>
              <a:buClrTx/>
              <a:buSzTx/>
              <a:buFontTx/>
              <a:buNone/>
              <a:tabLst/>
            </a:pPr>
            <a:r>
              <a:rPr lang="en-US" altLang="zh-CN" sz="3200" dirty="0">
                <a:solidFill>
                  <a:schemeClr val="tx1"/>
                </a:solidFill>
              </a:rPr>
              <a:t>5</a:t>
            </a:r>
            <a:r>
              <a:rPr lang="zh-CN" altLang="en-US" sz="3200" dirty="0">
                <a:solidFill>
                  <a:schemeClr val="tx1"/>
                </a:solidFill>
              </a:rPr>
              <a:t>、如果不小心修改了某一处重复的代码，但没有发觉，以为还是跟以前一样是重复的，那就会导致</a:t>
            </a:r>
            <a:r>
              <a:rPr lang="en-US" altLang="zh-CN" sz="3200" dirty="0">
                <a:solidFill>
                  <a:schemeClr val="tx1"/>
                </a:solidFill>
              </a:rPr>
              <a:t>BUG</a:t>
            </a:r>
            <a:r>
              <a:rPr lang="zh-CN" altLang="en-US" sz="3200" dirty="0">
                <a:solidFill>
                  <a:schemeClr val="tx1"/>
                </a:solidFill>
              </a:rPr>
              <a:t>，产生了</a:t>
            </a:r>
            <a:r>
              <a:rPr lang="zh-CN" altLang="en-US" sz="3200" dirty="0">
                <a:solidFill>
                  <a:srgbClr val="FF0000"/>
                </a:solidFill>
              </a:rPr>
              <a:t>调试工作量。</a:t>
            </a:r>
            <a:endParaRPr lang="en-US" altLang="zh-CN" sz="3200" dirty="0">
              <a:solidFill>
                <a:srgbClr val="FF0000"/>
              </a:solidFill>
            </a:endParaRPr>
          </a:p>
        </p:txBody>
      </p:sp>
    </p:spTree>
    <p:extLst>
      <p:ext uri="{BB962C8B-B14F-4D97-AF65-F5344CB8AC3E}">
        <p14:creationId xmlns:p14="http://schemas.microsoft.com/office/powerpoint/2010/main" val="185240052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34</a:t>
            </a:fld>
            <a:endParaRPr/>
          </a:p>
        </p:txBody>
      </p:sp>
      <p:sp>
        <p:nvSpPr>
          <p:cNvPr id="160" name="循环语句的语法格式"/>
          <p:cNvSpPr>
            <a:spLocks noGrp="1"/>
          </p:cNvSpPr>
          <p:nvPr>
            <p:ph type="title"/>
          </p:nvPr>
        </p:nvSpPr>
        <p:spPr>
          <a:xfrm>
            <a:off x="547201" y="354125"/>
            <a:ext cx="7520770" cy="1152045"/>
          </a:xfrm>
          <a:prstGeom prst="rect">
            <a:avLst/>
          </a:prstGeom>
        </p:spPr>
        <p:txBody>
          <a:bodyPr/>
          <a:lstStyle/>
          <a:p>
            <a:r>
              <a:rPr lang="zh-CN" altLang="en-US" dirty="0">
                <a:solidFill>
                  <a:schemeClr val="bg1"/>
                </a:solidFill>
              </a:rPr>
              <a:t>需要用</a:t>
            </a:r>
            <a:r>
              <a:rPr lang="zh-CN" altLang="en-US" b="1" dirty="0">
                <a:solidFill>
                  <a:schemeClr val="accent4">
                    <a:lumMod val="60000"/>
                    <a:lumOff val="40000"/>
                  </a:schemeClr>
                </a:solidFill>
              </a:rPr>
              <a:t>专门的语句</a:t>
            </a:r>
            <a:r>
              <a:rPr lang="zh-CN" altLang="en-US" dirty="0">
                <a:solidFill>
                  <a:schemeClr val="bg1"/>
                </a:solidFill>
              </a:rPr>
              <a:t>表达重复</a:t>
            </a:r>
            <a:endParaRPr dirty="0">
              <a:solidFill>
                <a:schemeClr val="bg1"/>
              </a:solidFill>
            </a:endParaRPr>
          </a:p>
        </p:txBody>
      </p:sp>
      <p:pic>
        <p:nvPicPr>
          <p:cNvPr id="2" name="图片 1">
            <a:extLst>
              <a:ext uri="{FF2B5EF4-FFF2-40B4-BE49-F238E27FC236}">
                <a16:creationId xmlns:a16="http://schemas.microsoft.com/office/drawing/2014/main" id="{545AF33C-94A4-459D-9890-A403DAF5BCDA}"/>
              </a:ext>
            </a:extLst>
          </p:cNvPr>
          <p:cNvPicPr>
            <a:picLocks noChangeAspect="1"/>
          </p:cNvPicPr>
          <p:nvPr/>
        </p:nvPicPr>
        <p:blipFill>
          <a:blip r:embed="rId2"/>
          <a:stretch>
            <a:fillRect/>
          </a:stretch>
        </p:blipFill>
        <p:spPr>
          <a:xfrm>
            <a:off x="547201" y="2461504"/>
            <a:ext cx="4542867" cy="3255792"/>
          </a:xfrm>
          <a:prstGeom prst="rect">
            <a:avLst/>
          </a:prstGeom>
        </p:spPr>
      </p:pic>
      <p:pic>
        <p:nvPicPr>
          <p:cNvPr id="3" name="图片 2">
            <a:extLst>
              <a:ext uri="{FF2B5EF4-FFF2-40B4-BE49-F238E27FC236}">
                <a16:creationId xmlns:a16="http://schemas.microsoft.com/office/drawing/2014/main" id="{25435732-BFC1-4C53-A788-DCFB07B7BD40}"/>
              </a:ext>
            </a:extLst>
          </p:cNvPr>
          <p:cNvPicPr>
            <a:picLocks noChangeAspect="1"/>
          </p:cNvPicPr>
          <p:nvPr/>
        </p:nvPicPr>
        <p:blipFill>
          <a:blip r:embed="rId3"/>
          <a:stretch>
            <a:fillRect/>
          </a:stretch>
        </p:blipFill>
        <p:spPr>
          <a:xfrm>
            <a:off x="547201" y="5858756"/>
            <a:ext cx="4542867" cy="3217688"/>
          </a:xfrm>
          <a:prstGeom prst="rect">
            <a:avLst/>
          </a:prstGeom>
        </p:spPr>
      </p:pic>
      <p:sp>
        <p:nvSpPr>
          <p:cNvPr id="4" name="文本框 3">
            <a:extLst>
              <a:ext uri="{FF2B5EF4-FFF2-40B4-BE49-F238E27FC236}">
                <a16:creationId xmlns:a16="http://schemas.microsoft.com/office/drawing/2014/main" id="{8C45C86D-445E-4C2C-BE81-F17CC1EF5E57}"/>
              </a:ext>
            </a:extLst>
          </p:cNvPr>
          <p:cNvSpPr txBox="1"/>
          <p:nvPr/>
        </p:nvSpPr>
        <p:spPr>
          <a:xfrm>
            <a:off x="6852668" y="3942451"/>
            <a:ext cx="5677997" cy="3549690"/>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zh-CN" altLang="en-US" sz="3200" b="1" i="0" u="none" strike="noStrike" cap="none" spc="0" normalizeH="0" baseline="0">
                <a:ln>
                  <a:noFill/>
                </a:ln>
                <a:solidFill>
                  <a:schemeClr val="tx1"/>
                </a:solidFill>
                <a:effectLst/>
                <a:uFillTx/>
                <a:latin typeface="Helvetica Neue"/>
                <a:ea typeface="Helvetica Neue"/>
                <a:cs typeface="Helvetica Neue"/>
                <a:sym typeface="Helvetica Neue"/>
              </a:rPr>
              <a:t>请</a:t>
            </a:r>
            <a:r>
              <a:rPr kumimoji="0" lang="zh-CN" altLang="en-US" sz="3200" b="1" i="0" u="none" strike="noStrike" cap="none" spc="0" normalizeH="0" baseline="0">
                <a:ln>
                  <a:noFill/>
                </a:ln>
                <a:solidFill>
                  <a:srgbClr val="FF0000"/>
                </a:solidFill>
                <a:effectLst/>
                <a:uFillTx/>
                <a:latin typeface="Helvetica Neue"/>
                <a:ea typeface="Helvetica Neue"/>
                <a:cs typeface="Helvetica Neue"/>
                <a:sym typeface="Helvetica Neue"/>
              </a:rPr>
              <a:t>重复执行</a:t>
            </a:r>
            <a:r>
              <a:rPr kumimoji="0" lang="zh-CN" altLang="en-US" sz="3200" b="1" i="0" u="none" strike="noStrike" cap="none" spc="0" normalizeH="0" baseline="0">
                <a:ln>
                  <a:noFill/>
                </a:ln>
                <a:solidFill>
                  <a:schemeClr val="tx1"/>
                </a:solidFill>
                <a:effectLst/>
                <a:uFillTx/>
                <a:latin typeface="Helvetica Neue"/>
                <a:ea typeface="Helvetica Neue"/>
                <a:cs typeface="Helvetica Neue"/>
                <a:sym typeface="Helvetica Neue"/>
              </a:rPr>
              <a:t>以下操作</a:t>
            </a:r>
            <a:r>
              <a:rPr kumimoji="0" lang="en-US" altLang="zh-CN" sz="3200" b="1" i="0" u="none" strike="noStrike" cap="none" spc="0" normalizeH="0" baseline="0">
                <a:ln>
                  <a:noFill/>
                </a:ln>
                <a:solidFill>
                  <a:srgbClr val="FF0000"/>
                </a:solidFill>
                <a:effectLst/>
                <a:uFillTx/>
                <a:latin typeface="Helvetica Neue"/>
                <a:ea typeface="Helvetica Neue"/>
                <a:cs typeface="Helvetica Neue"/>
                <a:sym typeface="Helvetica Neue"/>
              </a:rPr>
              <a:t>4</a:t>
            </a:r>
            <a:r>
              <a:rPr kumimoji="0" lang="zh-CN" altLang="en-US" sz="3200" b="1" i="0" u="none" strike="noStrike" cap="none" spc="0" normalizeH="0" baseline="0">
                <a:ln>
                  <a:noFill/>
                </a:ln>
                <a:solidFill>
                  <a:srgbClr val="FF0000"/>
                </a:solidFill>
                <a:effectLst/>
                <a:uFillTx/>
                <a:latin typeface="Helvetica Neue"/>
                <a:ea typeface="Helvetica Neue"/>
                <a:cs typeface="Helvetica Neue"/>
                <a:sym typeface="Helvetica Neue"/>
              </a:rPr>
              <a:t>次</a:t>
            </a:r>
            <a:endParaRPr kumimoji="0" lang="en-US" altLang="zh-CN" sz="3200" b="1" i="0" u="none" strike="noStrike" cap="none" spc="0" normalizeH="0" baseline="0">
              <a:ln>
                <a:noFill/>
              </a:ln>
              <a:solidFill>
                <a:srgbClr val="FF0000"/>
              </a:solidFill>
              <a:effectLst/>
              <a:uFillTx/>
              <a:latin typeface="Helvetica Neue"/>
              <a:ea typeface="Helvetica Neue"/>
              <a:cs typeface="Helvetica Neue"/>
              <a:sym typeface="Helvetica Neue"/>
            </a:endParaRPr>
          </a:p>
          <a:p>
            <a:pPr marL="0" marR="0" indent="0" algn="l" defTabSz="584200" rtl="0" fontAlgn="auto" latinLnBrk="0" hangingPunct="0">
              <a:lnSpc>
                <a:spcPct val="100000"/>
              </a:lnSpc>
              <a:spcBef>
                <a:spcPts val="0"/>
              </a:spcBef>
              <a:spcAft>
                <a:spcPts val="0"/>
              </a:spcAft>
              <a:buClrTx/>
              <a:buSzTx/>
              <a:buFontTx/>
              <a:buNone/>
              <a:tabLst/>
            </a:pPr>
            <a:r>
              <a:rPr lang="en-US" altLang="zh-CN" sz="3200">
                <a:solidFill>
                  <a:schemeClr val="tx1"/>
                </a:solidFill>
              </a:rPr>
              <a:t>{</a:t>
            </a:r>
          </a:p>
          <a:p>
            <a:pPr marL="0" marR="0" indent="0" algn="l" defTabSz="584200" rtl="0" fontAlgn="auto" latinLnBrk="0" hangingPunct="0">
              <a:lnSpc>
                <a:spcPct val="100000"/>
              </a:lnSpc>
              <a:spcBef>
                <a:spcPts val="0"/>
              </a:spcBef>
              <a:spcAft>
                <a:spcPts val="0"/>
              </a:spcAft>
              <a:buClrTx/>
              <a:buSzTx/>
              <a:buFontTx/>
              <a:buNone/>
              <a:tabLst/>
            </a:pPr>
            <a:endParaRPr lang="en-US" altLang="zh-CN" sz="3200">
              <a:solidFill>
                <a:schemeClr val="tx1"/>
              </a:solidFill>
            </a:endParaRPr>
          </a:p>
          <a:p>
            <a:pPr marL="0" marR="0" indent="0" algn="l" defTabSz="584200" rtl="0" fontAlgn="auto" latinLnBrk="0" hangingPunct="0">
              <a:lnSpc>
                <a:spcPct val="100000"/>
              </a:lnSpc>
              <a:spcBef>
                <a:spcPts val="0"/>
              </a:spcBef>
              <a:spcAft>
                <a:spcPts val="0"/>
              </a:spcAft>
              <a:buClrTx/>
              <a:buSzTx/>
              <a:buFontTx/>
              <a:buNone/>
              <a:tabLst/>
            </a:pPr>
            <a:endParaRPr kumimoji="0" lang="en-US" altLang="zh-CN" sz="3200" b="1" i="0" u="none" strike="noStrike" cap="none" spc="0" normalizeH="0" baseline="0">
              <a:ln>
                <a:noFill/>
              </a:ln>
              <a:solidFill>
                <a:schemeClr val="tx1"/>
              </a:solidFill>
              <a:effectLst/>
              <a:uFillTx/>
              <a:latin typeface="Helvetica Neue"/>
              <a:ea typeface="Helvetica Neue"/>
              <a:cs typeface="Helvetica Neue"/>
              <a:sym typeface="Helvetica Neue"/>
            </a:endParaRPr>
          </a:p>
          <a:p>
            <a:pPr marL="0" marR="0" indent="0" algn="l" defTabSz="584200" rtl="0" fontAlgn="auto" latinLnBrk="0" hangingPunct="0">
              <a:lnSpc>
                <a:spcPct val="100000"/>
              </a:lnSpc>
              <a:spcBef>
                <a:spcPts val="0"/>
              </a:spcBef>
              <a:spcAft>
                <a:spcPts val="0"/>
              </a:spcAft>
              <a:buClrTx/>
              <a:buSzTx/>
              <a:buFontTx/>
              <a:buNone/>
              <a:tabLst/>
            </a:pPr>
            <a:endParaRPr lang="en-US" altLang="zh-CN" sz="3200">
              <a:solidFill>
                <a:schemeClr val="tx1"/>
              </a:solidFill>
            </a:endParaRPr>
          </a:p>
          <a:p>
            <a:pPr marL="0" marR="0" indent="0" algn="l" defTabSz="584200" rtl="0" fontAlgn="auto" latinLnBrk="0" hangingPunct="0">
              <a:lnSpc>
                <a:spcPct val="100000"/>
              </a:lnSpc>
              <a:spcBef>
                <a:spcPts val="0"/>
              </a:spcBef>
              <a:spcAft>
                <a:spcPts val="0"/>
              </a:spcAft>
              <a:buClrTx/>
              <a:buSzTx/>
              <a:buFontTx/>
              <a:buNone/>
              <a:tabLst/>
            </a:pPr>
            <a:endParaRPr lang="en-US" altLang="zh-CN" sz="3200">
              <a:solidFill>
                <a:schemeClr val="tx1"/>
              </a:solidFill>
            </a:endParaRPr>
          </a:p>
          <a:p>
            <a:pPr marL="0" marR="0" indent="0" algn="l" defTabSz="584200" rtl="0" fontAlgn="auto" latinLnBrk="0" hangingPunct="0">
              <a:lnSpc>
                <a:spcPct val="100000"/>
              </a:lnSpc>
              <a:spcBef>
                <a:spcPts val="0"/>
              </a:spcBef>
              <a:spcAft>
                <a:spcPts val="0"/>
              </a:spcAft>
              <a:buClrTx/>
              <a:buSzTx/>
              <a:buFontTx/>
              <a:buNone/>
              <a:tabLst/>
            </a:pPr>
            <a:r>
              <a:rPr kumimoji="0" lang="en-US" altLang="zh-CN" sz="3200" b="1" i="0" u="none" strike="noStrike" cap="none" spc="0" normalizeH="0" baseline="0">
                <a:ln>
                  <a:noFill/>
                </a:ln>
                <a:solidFill>
                  <a:schemeClr val="tx1"/>
                </a:solidFill>
                <a:effectLst/>
                <a:uFillTx/>
                <a:latin typeface="Helvetica Neue"/>
                <a:ea typeface="Helvetica Neue"/>
                <a:cs typeface="Helvetica Neue"/>
                <a:sym typeface="Helvetica Neue"/>
              </a:rPr>
              <a:t>}</a:t>
            </a:r>
            <a:endParaRPr kumimoji="0" lang="zh-CN" altLang="en-US" sz="3200" b="1" i="0" u="none" strike="noStrike" cap="none" spc="0" normalizeH="0" baseline="0">
              <a:ln>
                <a:noFill/>
              </a:ln>
              <a:solidFill>
                <a:schemeClr val="tx1"/>
              </a:solidFill>
              <a:effectLst/>
              <a:uFillTx/>
              <a:latin typeface="Helvetica Neue"/>
              <a:ea typeface="Helvetica Neue"/>
              <a:cs typeface="Helvetica Neue"/>
              <a:sym typeface="Helvetica Neue"/>
            </a:endParaRPr>
          </a:p>
        </p:txBody>
      </p:sp>
      <p:sp>
        <p:nvSpPr>
          <p:cNvPr id="6" name="箭头: 右 5">
            <a:extLst>
              <a:ext uri="{FF2B5EF4-FFF2-40B4-BE49-F238E27FC236}">
                <a16:creationId xmlns:a16="http://schemas.microsoft.com/office/drawing/2014/main" id="{EB4A8499-809C-4BFD-9660-F1E4021E1C3A}"/>
              </a:ext>
            </a:extLst>
          </p:cNvPr>
          <p:cNvSpPr/>
          <p:nvPr/>
        </p:nvSpPr>
        <p:spPr>
          <a:xfrm>
            <a:off x="5539568" y="5553956"/>
            <a:ext cx="863600" cy="609600"/>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36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5" name="图片 4">
            <a:extLst>
              <a:ext uri="{FF2B5EF4-FFF2-40B4-BE49-F238E27FC236}">
                <a16:creationId xmlns:a16="http://schemas.microsoft.com/office/drawing/2014/main" id="{B5360BB4-C87E-73B1-E340-8226779CBA55}"/>
              </a:ext>
            </a:extLst>
          </p:cNvPr>
          <p:cNvPicPr>
            <a:picLocks noChangeAspect="1"/>
          </p:cNvPicPr>
          <p:nvPr/>
        </p:nvPicPr>
        <p:blipFill rotWithShape="1">
          <a:blip r:embed="rId2"/>
          <a:srcRect t="1691" b="54037"/>
          <a:stretch/>
        </p:blipFill>
        <p:spPr>
          <a:xfrm>
            <a:off x="7431808" y="5138059"/>
            <a:ext cx="4542867" cy="1441394"/>
          </a:xfrm>
          <a:prstGeom prst="rect">
            <a:avLst/>
          </a:prstGeom>
        </p:spPr>
      </p:pic>
      <p:pic>
        <p:nvPicPr>
          <p:cNvPr id="7" name="图片 6">
            <a:extLst>
              <a:ext uri="{FF2B5EF4-FFF2-40B4-BE49-F238E27FC236}">
                <a16:creationId xmlns:a16="http://schemas.microsoft.com/office/drawing/2014/main" id="{4FCB0426-6316-D850-831D-5FE3E887A065}"/>
              </a:ext>
            </a:extLst>
          </p:cNvPr>
          <p:cNvPicPr>
            <a:picLocks noChangeAspect="1"/>
          </p:cNvPicPr>
          <p:nvPr/>
        </p:nvPicPr>
        <p:blipFill>
          <a:blip r:embed="rId4"/>
          <a:stretch>
            <a:fillRect/>
          </a:stretch>
        </p:blipFill>
        <p:spPr>
          <a:xfrm>
            <a:off x="11769043" y="2258539"/>
            <a:ext cx="857942" cy="1190920"/>
          </a:xfrm>
          <a:prstGeom prst="rect">
            <a:avLst/>
          </a:prstGeom>
        </p:spPr>
      </p:pic>
    </p:spTree>
    <p:extLst>
      <p:ext uri="{BB962C8B-B14F-4D97-AF65-F5344CB8AC3E}">
        <p14:creationId xmlns:p14="http://schemas.microsoft.com/office/powerpoint/2010/main" val="45848173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35</a:t>
            </a:fld>
            <a:endParaRPr/>
          </a:p>
        </p:txBody>
      </p:sp>
      <p:sp>
        <p:nvSpPr>
          <p:cNvPr id="160" name="循环语句的语法格式"/>
          <p:cNvSpPr>
            <a:spLocks noGrp="1"/>
          </p:cNvSpPr>
          <p:nvPr>
            <p:ph type="title"/>
          </p:nvPr>
        </p:nvSpPr>
        <p:spPr>
          <a:xfrm>
            <a:off x="547201" y="354125"/>
            <a:ext cx="6774349" cy="1152045"/>
          </a:xfrm>
          <a:prstGeom prst="rect">
            <a:avLst/>
          </a:prstGeom>
        </p:spPr>
        <p:txBody>
          <a:bodyPr/>
          <a:lstStyle/>
          <a:p>
            <a:r>
              <a:rPr lang="zh-CN" altLang="en-US" dirty="0">
                <a:solidFill>
                  <a:schemeClr val="bg1"/>
                </a:solidFill>
              </a:rPr>
              <a:t>使用“</a:t>
            </a:r>
            <a:r>
              <a:rPr lang="zh-CN" altLang="en-US" b="1" dirty="0">
                <a:solidFill>
                  <a:srgbClr val="FFFF00"/>
                </a:solidFill>
              </a:rPr>
              <a:t>循环语句</a:t>
            </a:r>
            <a:r>
              <a:rPr lang="zh-CN" altLang="en-US" dirty="0">
                <a:solidFill>
                  <a:schemeClr val="bg1"/>
                </a:solidFill>
              </a:rPr>
              <a:t>”表达重复</a:t>
            </a:r>
            <a:endParaRPr dirty="0">
              <a:solidFill>
                <a:schemeClr val="bg1"/>
              </a:solidFill>
            </a:endParaRPr>
          </a:p>
        </p:txBody>
      </p:sp>
      <p:pic>
        <p:nvPicPr>
          <p:cNvPr id="2" name="图片 1">
            <a:extLst>
              <a:ext uri="{FF2B5EF4-FFF2-40B4-BE49-F238E27FC236}">
                <a16:creationId xmlns:a16="http://schemas.microsoft.com/office/drawing/2014/main" id="{545AF33C-94A4-459D-9890-A403DAF5BCDA}"/>
              </a:ext>
            </a:extLst>
          </p:cNvPr>
          <p:cNvPicPr>
            <a:picLocks noChangeAspect="1"/>
          </p:cNvPicPr>
          <p:nvPr/>
        </p:nvPicPr>
        <p:blipFill>
          <a:blip r:embed="rId2"/>
          <a:stretch>
            <a:fillRect/>
          </a:stretch>
        </p:blipFill>
        <p:spPr>
          <a:xfrm>
            <a:off x="547201" y="2461504"/>
            <a:ext cx="4542867" cy="3255792"/>
          </a:xfrm>
          <a:prstGeom prst="rect">
            <a:avLst/>
          </a:prstGeom>
        </p:spPr>
      </p:pic>
      <p:pic>
        <p:nvPicPr>
          <p:cNvPr id="3" name="图片 2">
            <a:extLst>
              <a:ext uri="{FF2B5EF4-FFF2-40B4-BE49-F238E27FC236}">
                <a16:creationId xmlns:a16="http://schemas.microsoft.com/office/drawing/2014/main" id="{25435732-BFC1-4C53-A788-DCFB07B7BD40}"/>
              </a:ext>
            </a:extLst>
          </p:cNvPr>
          <p:cNvPicPr>
            <a:picLocks noChangeAspect="1"/>
          </p:cNvPicPr>
          <p:nvPr/>
        </p:nvPicPr>
        <p:blipFill>
          <a:blip r:embed="rId3"/>
          <a:stretch>
            <a:fillRect/>
          </a:stretch>
        </p:blipFill>
        <p:spPr>
          <a:xfrm>
            <a:off x="547201" y="5858756"/>
            <a:ext cx="4542867" cy="3217688"/>
          </a:xfrm>
          <a:prstGeom prst="rect">
            <a:avLst/>
          </a:prstGeom>
        </p:spPr>
      </p:pic>
      <p:sp>
        <p:nvSpPr>
          <p:cNvPr id="4" name="文本框 3">
            <a:extLst>
              <a:ext uri="{FF2B5EF4-FFF2-40B4-BE49-F238E27FC236}">
                <a16:creationId xmlns:a16="http://schemas.microsoft.com/office/drawing/2014/main" id="{8C45C86D-445E-4C2C-BE81-F17CC1EF5E57}"/>
              </a:ext>
            </a:extLst>
          </p:cNvPr>
          <p:cNvSpPr txBox="1"/>
          <p:nvPr/>
        </p:nvSpPr>
        <p:spPr>
          <a:xfrm>
            <a:off x="6852668" y="3942451"/>
            <a:ext cx="5253473" cy="3549690"/>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altLang="zh-CN" sz="3200" b="1" i="0" u="none" strike="noStrike" cap="none" spc="0" normalizeH="0" baseline="0" dirty="0">
                <a:ln>
                  <a:noFill/>
                </a:ln>
                <a:solidFill>
                  <a:schemeClr val="tx1"/>
                </a:solidFill>
                <a:effectLst/>
                <a:highlight>
                  <a:srgbClr val="00FF00"/>
                </a:highlight>
                <a:uFillTx/>
                <a:latin typeface="Consolas" panose="020B0609020204030204" pitchFamily="49" charset="0"/>
                <a:sym typeface="Helvetica Neue"/>
              </a:rPr>
              <a:t>for </a:t>
            </a:r>
            <a:r>
              <a:rPr lang="en-US" altLang="zh-CN" sz="3200" dirty="0">
                <a:solidFill>
                  <a:schemeClr val="tx1"/>
                </a:solidFill>
                <a:highlight>
                  <a:srgbClr val="00FF00"/>
                </a:highlight>
                <a:latin typeface="Consolas" panose="020B0609020204030204" pitchFamily="49" charset="0"/>
              </a:rPr>
              <a:t>(int </a:t>
            </a:r>
            <a:r>
              <a:rPr lang="en-US" altLang="zh-CN" sz="3200" dirty="0" err="1">
                <a:solidFill>
                  <a:schemeClr val="tx1"/>
                </a:solidFill>
                <a:highlight>
                  <a:srgbClr val="00FF00"/>
                </a:highlight>
                <a:latin typeface="Consolas" panose="020B0609020204030204" pitchFamily="49" charset="0"/>
              </a:rPr>
              <a:t>i</a:t>
            </a:r>
            <a:r>
              <a:rPr lang="en-US" altLang="zh-CN" sz="3200" dirty="0">
                <a:solidFill>
                  <a:schemeClr val="tx1"/>
                </a:solidFill>
                <a:highlight>
                  <a:srgbClr val="00FF00"/>
                </a:highlight>
                <a:latin typeface="Consolas" panose="020B0609020204030204" pitchFamily="49" charset="0"/>
              </a:rPr>
              <a:t>=0; </a:t>
            </a:r>
            <a:r>
              <a:rPr lang="en-US" altLang="zh-CN" sz="3200" dirty="0" err="1">
                <a:solidFill>
                  <a:schemeClr val="tx1"/>
                </a:solidFill>
                <a:highlight>
                  <a:srgbClr val="00FF00"/>
                </a:highlight>
                <a:latin typeface="Consolas" panose="020B0609020204030204" pitchFamily="49" charset="0"/>
              </a:rPr>
              <a:t>i</a:t>
            </a:r>
            <a:r>
              <a:rPr lang="en-US" altLang="zh-CN" sz="3200" dirty="0">
                <a:solidFill>
                  <a:schemeClr val="tx1"/>
                </a:solidFill>
                <a:highlight>
                  <a:srgbClr val="00FF00"/>
                </a:highlight>
                <a:latin typeface="Consolas" panose="020B0609020204030204" pitchFamily="49" charset="0"/>
              </a:rPr>
              <a:t>&lt;</a:t>
            </a:r>
            <a:r>
              <a:rPr lang="en-US" altLang="zh-CN" sz="3200" dirty="0">
                <a:solidFill>
                  <a:srgbClr val="FF0000"/>
                </a:solidFill>
                <a:highlight>
                  <a:srgbClr val="00FF00"/>
                </a:highlight>
                <a:latin typeface="Consolas" panose="020B0609020204030204" pitchFamily="49" charset="0"/>
              </a:rPr>
              <a:t>4</a:t>
            </a:r>
            <a:r>
              <a:rPr lang="en-US" altLang="zh-CN" sz="3200">
                <a:solidFill>
                  <a:schemeClr val="tx1"/>
                </a:solidFill>
                <a:highlight>
                  <a:srgbClr val="00FF00"/>
                </a:highlight>
                <a:latin typeface="Consolas" panose="020B0609020204030204" pitchFamily="49" charset="0"/>
              </a:rPr>
              <a:t>; i++) </a:t>
            </a:r>
            <a:r>
              <a:rPr lang="en-US" altLang="zh-CN" sz="3200">
                <a:solidFill>
                  <a:schemeClr val="tx1"/>
                </a:solidFill>
                <a:latin typeface="Consolas" panose="020B0609020204030204" pitchFamily="49" charset="0"/>
              </a:rPr>
              <a:t>  </a:t>
            </a:r>
            <a:r>
              <a:rPr lang="en-US" altLang="zh-CN" sz="3200">
                <a:solidFill>
                  <a:schemeClr val="tx1"/>
                </a:solidFill>
                <a:highlight>
                  <a:srgbClr val="00FF00"/>
                </a:highlight>
                <a:latin typeface="Consolas" panose="020B0609020204030204" pitchFamily="49" charset="0"/>
              </a:rPr>
              <a:t> </a:t>
            </a:r>
            <a:endParaRPr kumimoji="0" lang="en-US" altLang="zh-CN" sz="3200" b="1" i="0" u="none" strike="noStrike" cap="none" spc="0" normalizeH="0" baseline="0" dirty="0">
              <a:ln>
                <a:noFill/>
              </a:ln>
              <a:solidFill>
                <a:srgbClr val="FF0000"/>
              </a:solidFill>
              <a:effectLst/>
              <a:highlight>
                <a:srgbClr val="00FF00"/>
              </a:highlight>
              <a:uFillTx/>
              <a:latin typeface="Consolas" panose="020B0609020204030204" pitchFamily="49" charset="0"/>
              <a:sym typeface="Helvetica Neue"/>
            </a:endParaRPr>
          </a:p>
          <a:p>
            <a:pPr marL="0" marR="0" indent="0" algn="l" defTabSz="584200" rtl="0" fontAlgn="auto" latinLnBrk="0" hangingPunct="0">
              <a:lnSpc>
                <a:spcPct val="100000"/>
              </a:lnSpc>
              <a:spcBef>
                <a:spcPts val="0"/>
              </a:spcBef>
              <a:spcAft>
                <a:spcPts val="0"/>
              </a:spcAft>
              <a:buClrTx/>
              <a:buSzTx/>
              <a:buFontTx/>
              <a:buNone/>
              <a:tabLst/>
            </a:pPr>
            <a:r>
              <a:rPr lang="en-US" altLang="zh-CN" sz="3200" dirty="0">
                <a:solidFill>
                  <a:schemeClr val="tx1"/>
                </a:solidFill>
              </a:rPr>
              <a:t>{</a:t>
            </a:r>
          </a:p>
          <a:p>
            <a:pPr marL="0" marR="0" indent="0" algn="l" defTabSz="584200" rtl="0" fontAlgn="auto" latinLnBrk="0" hangingPunct="0">
              <a:lnSpc>
                <a:spcPct val="100000"/>
              </a:lnSpc>
              <a:spcBef>
                <a:spcPts val="0"/>
              </a:spcBef>
              <a:spcAft>
                <a:spcPts val="0"/>
              </a:spcAft>
              <a:buClrTx/>
              <a:buSzTx/>
              <a:buFontTx/>
              <a:buNone/>
              <a:tabLst/>
            </a:pPr>
            <a:endParaRPr lang="en-US" altLang="zh-CN" sz="3200" dirty="0">
              <a:solidFill>
                <a:schemeClr val="tx1"/>
              </a:solidFill>
            </a:endParaRPr>
          </a:p>
          <a:p>
            <a:pPr marL="0" marR="0" indent="0" algn="l" defTabSz="584200" rtl="0" fontAlgn="auto" latinLnBrk="0" hangingPunct="0">
              <a:lnSpc>
                <a:spcPct val="100000"/>
              </a:lnSpc>
              <a:spcBef>
                <a:spcPts val="0"/>
              </a:spcBef>
              <a:spcAft>
                <a:spcPts val="0"/>
              </a:spcAft>
              <a:buClrTx/>
              <a:buSzTx/>
              <a:buFontTx/>
              <a:buNone/>
              <a:tabLst/>
            </a:pPr>
            <a:endParaRPr kumimoji="0" lang="en-US" altLang="zh-CN" sz="3200" b="1" i="0" u="none" strike="noStrike" cap="none" spc="0" normalizeH="0" baseline="0" dirty="0">
              <a:ln>
                <a:noFill/>
              </a:ln>
              <a:solidFill>
                <a:schemeClr val="tx1"/>
              </a:solidFill>
              <a:effectLst/>
              <a:uFillTx/>
              <a:latin typeface="Helvetica Neue"/>
              <a:ea typeface="Helvetica Neue"/>
              <a:cs typeface="Helvetica Neue"/>
              <a:sym typeface="Helvetica Neue"/>
            </a:endParaRPr>
          </a:p>
          <a:p>
            <a:pPr marL="0" marR="0" indent="0" algn="l" defTabSz="584200" rtl="0" fontAlgn="auto" latinLnBrk="0" hangingPunct="0">
              <a:lnSpc>
                <a:spcPct val="100000"/>
              </a:lnSpc>
              <a:spcBef>
                <a:spcPts val="0"/>
              </a:spcBef>
              <a:spcAft>
                <a:spcPts val="0"/>
              </a:spcAft>
              <a:buClrTx/>
              <a:buSzTx/>
              <a:buFontTx/>
              <a:buNone/>
              <a:tabLst/>
            </a:pPr>
            <a:endParaRPr lang="en-US" altLang="zh-CN" sz="3200" dirty="0">
              <a:solidFill>
                <a:schemeClr val="tx1"/>
              </a:solidFill>
            </a:endParaRPr>
          </a:p>
          <a:p>
            <a:pPr marL="0" marR="0" indent="0" algn="l" defTabSz="584200" rtl="0" fontAlgn="auto" latinLnBrk="0" hangingPunct="0">
              <a:lnSpc>
                <a:spcPct val="100000"/>
              </a:lnSpc>
              <a:spcBef>
                <a:spcPts val="0"/>
              </a:spcBef>
              <a:spcAft>
                <a:spcPts val="0"/>
              </a:spcAft>
              <a:buClrTx/>
              <a:buSzTx/>
              <a:buFontTx/>
              <a:buNone/>
              <a:tabLst/>
            </a:pPr>
            <a:endParaRPr lang="en-US" altLang="zh-CN" sz="3200" dirty="0">
              <a:solidFill>
                <a:schemeClr val="tx1"/>
              </a:solidFill>
            </a:endParaRPr>
          </a:p>
          <a:p>
            <a:pPr marL="0" marR="0" indent="0" algn="l" defTabSz="584200" rtl="0" fontAlgn="auto" latinLnBrk="0" hangingPunct="0">
              <a:lnSpc>
                <a:spcPct val="100000"/>
              </a:lnSpc>
              <a:spcBef>
                <a:spcPts val="0"/>
              </a:spcBef>
              <a:spcAft>
                <a:spcPts val="0"/>
              </a:spcAft>
              <a:buClrTx/>
              <a:buSzTx/>
              <a:buFontTx/>
              <a:buNone/>
              <a:tabLst/>
            </a:pPr>
            <a:r>
              <a:rPr kumimoji="0" lang="en-US" altLang="zh-CN" sz="3200" b="1" i="0" u="none" strike="noStrike" cap="none" spc="0" normalizeH="0" baseline="0" dirty="0">
                <a:ln>
                  <a:noFill/>
                </a:ln>
                <a:solidFill>
                  <a:schemeClr val="tx1"/>
                </a:solidFill>
                <a:effectLst/>
                <a:uFillTx/>
                <a:latin typeface="Helvetica Neue"/>
                <a:ea typeface="Helvetica Neue"/>
                <a:cs typeface="Helvetica Neue"/>
                <a:sym typeface="Helvetica Neue"/>
              </a:rPr>
              <a:t>}</a:t>
            </a:r>
            <a:endParaRPr kumimoji="0" lang="zh-CN" altLang="en-US" sz="3200" b="1" i="0" u="none" strike="noStrike" cap="none" spc="0" normalizeH="0" baseline="0" dirty="0">
              <a:ln>
                <a:noFill/>
              </a:ln>
              <a:solidFill>
                <a:schemeClr val="tx1"/>
              </a:solidFill>
              <a:effectLst/>
              <a:uFillTx/>
              <a:latin typeface="Helvetica Neue"/>
              <a:ea typeface="Helvetica Neue"/>
              <a:cs typeface="Helvetica Neue"/>
              <a:sym typeface="Helvetica Neue"/>
            </a:endParaRPr>
          </a:p>
        </p:txBody>
      </p:sp>
      <p:sp>
        <p:nvSpPr>
          <p:cNvPr id="6" name="箭头: 右 5">
            <a:extLst>
              <a:ext uri="{FF2B5EF4-FFF2-40B4-BE49-F238E27FC236}">
                <a16:creationId xmlns:a16="http://schemas.microsoft.com/office/drawing/2014/main" id="{EB4A8499-809C-4BFD-9660-F1E4021E1C3A}"/>
              </a:ext>
            </a:extLst>
          </p:cNvPr>
          <p:cNvSpPr/>
          <p:nvPr/>
        </p:nvSpPr>
        <p:spPr>
          <a:xfrm>
            <a:off x="5539568" y="5553956"/>
            <a:ext cx="863600" cy="609600"/>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36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13" name="图片 12">
            <a:extLst>
              <a:ext uri="{FF2B5EF4-FFF2-40B4-BE49-F238E27FC236}">
                <a16:creationId xmlns:a16="http://schemas.microsoft.com/office/drawing/2014/main" id="{ABC203EA-0EB2-4D07-BDDC-24C428F0F861}"/>
              </a:ext>
            </a:extLst>
          </p:cNvPr>
          <p:cNvPicPr>
            <a:picLocks noChangeAspect="1"/>
          </p:cNvPicPr>
          <p:nvPr/>
        </p:nvPicPr>
        <p:blipFill rotWithShape="1">
          <a:blip r:embed="rId2"/>
          <a:srcRect t="1691" b="54037"/>
          <a:stretch/>
        </p:blipFill>
        <p:spPr>
          <a:xfrm>
            <a:off x="7431808" y="5138059"/>
            <a:ext cx="4542867" cy="1441394"/>
          </a:xfrm>
          <a:prstGeom prst="rect">
            <a:avLst/>
          </a:prstGeom>
        </p:spPr>
      </p:pic>
    </p:spTree>
    <p:extLst>
      <p:ext uri="{BB962C8B-B14F-4D97-AF65-F5344CB8AC3E}">
        <p14:creationId xmlns:p14="http://schemas.microsoft.com/office/powerpoint/2010/main" val="313645473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36</a:t>
            </a:fld>
            <a:endParaRPr/>
          </a:p>
        </p:txBody>
      </p:sp>
      <p:sp>
        <p:nvSpPr>
          <p:cNvPr id="160" name="循环语句的语法格式"/>
          <p:cNvSpPr>
            <a:spLocks noGrp="1"/>
          </p:cNvSpPr>
          <p:nvPr>
            <p:ph type="title"/>
          </p:nvPr>
        </p:nvSpPr>
        <p:spPr>
          <a:xfrm>
            <a:off x="547201" y="354125"/>
            <a:ext cx="3935899" cy="1152045"/>
          </a:xfrm>
          <a:prstGeom prst="rect">
            <a:avLst/>
          </a:prstGeom>
        </p:spPr>
        <p:txBody>
          <a:bodyPr/>
          <a:lstStyle/>
          <a:p>
            <a:r>
              <a:rPr lang="en-US" b="1">
                <a:solidFill>
                  <a:schemeClr val="bg1"/>
                </a:solidFill>
              </a:rPr>
              <a:t>for</a:t>
            </a:r>
            <a:r>
              <a:rPr lang="en-US">
                <a:solidFill>
                  <a:schemeClr val="bg1"/>
                </a:solidFill>
              </a:rPr>
              <a:t> </a:t>
            </a:r>
            <a:r>
              <a:rPr>
                <a:solidFill>
                  <a:schemeClr val="bg1"/>
                </a:solidFill>
              </a:rPr>
              <a:t>循环语句</a:t>
            </a:r>
          </a:p>
        </p:txBody>
      </p:sp>
      <p:sp>
        <p:nvSpPr>
          <p:cNvPr id="161" name="for是计数型循环的标识符，圆括号括起的是三个表达式。其下的大括号括起的部分是循环体。下图描述了 for 循环的结构。…"/>
          <p:cNvSpPr txBox="1"/>
          <p:nvPr/>
        </p:nvSpPr>
        <p:spPr>
          <a:xfrm>
            <a:off x="605888" y="2568371"/>
            <a:ext cx="7492561" cy="62766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l">
              <a:lnSpc>
                <a:spcPct val="150000"/>
              </a:lnSpc>
              <a:defRPr sz="3000"/>
            </a:pPr>
            <a:r>
              <a:rPr err="1"/>
              <a:t>for是计数型循环的标识符，语句格式为</a:t>
            </a:r>
            <a:r>
              <a:t>：</a:t>
            </a:r>
          </a:p>
          <a:p>
            <a:pPr algn="l">
              <a:lnSpc>
                <a:spcPct val="150000"/>
              </a:lnSpc>
              <a:defRPr sz="3000">
                <a:solidFill>
                  <a:schemeClr val="accent5">
                    <a:hueOff val="-82419"/>
                    <a:satOff val="-9513"/>
                    <a:lumOff val="-16343"/>
                  </a:schemeClr>
                </a:solidFill>
                <a:latin typeface="Courier"/>
                <a:ea typeface="Courier"/>
                <a:cs typeface="Courier"/>
                <a:sym typeface="Courier"/>
              </a:defRPr>
            </a:pPr>
            <a:r>
              <a:t>for ( 表达式1；表达式2；表达式3 )</a:t>
            </a:r>
          </a:p>
          <a:p>
            <a:pPr algn="l">
              <a:lnSpc>
                <a:spcPct val="150000"/>
              </a:lnSpc>
              <a:defRPr sz="3000">
                <a:solidFill>
                  <a:schemeClr val="accent5">
                    <a:hueOff val="-82419"/>
                    <a:satOff val="-9513"/>
                    <a:lumOff val="-16343"/>
                  </a:schemeClr>
                </a:solidFill>
                <a:latin typeface="Courier"/>
                <a:ea typeface="Courier"/>
                <a:cs typeface="Courier"/>
                <a:sym typeface="Courier"/>
              </a:defRPr>
            </a:pPr>
            <a:r>
              <a:t>{</a:t>
            </a:r>
          </a:p>
          <a:p>
            <a:pPr algn="l">
              <a:lnSpc>
                <a:spcPct val="150000"/>
              </a:lnSpc>
              <a:defRPr sz="3000">
                <a:solidFill>
                  <a:schemeClr val="accent5">
                    <a:hueOff val="-82419"/>
                    <a:satOff val="-9513"/>
                    <a:lumOff val="-16343"/>
                  </a:schemeClr>
                </a:solidFill>
                <a:latin typeface="Courier"/>
                <a:ea typeface="Courier"/>
                <a:cs typeface="Courier"/>
                <a:sym typeface="Courier"/>
              </a:defRPr>
            </a:pPr>
            <a:r>
              <a:t>	</a:t>
            </a:r>
            <a:r>
              <a:rPr err="1"/>
              <a:t>循环体（语句组</a:t>
            </a:r>
            <a:r>
              <a:t>）;</a:t>
            </a:r>
          </a:p>
          <a:p>
            <a:pPr algn="l">
              <a:lnSpc>
                <a:spcPct val="150000"/>
              </a:lnSpc>
              <a:defRPr sz="3000">
                <a:solidFill>
                  <a:schemeClr val="accent5">
                    <a:hueOff val="-82419"/>
                    <a:satOff val="-9513"/>
                    <a:lumOff val="-16343"/>
                  </a:schemeClr>
                </a:solidFill>
                <a:latin typeface="Courier"/>
                <a:ea typeface="Courier"/>
                <a:cs typeface="Courier"/>
                <a:sym typeface="Courier"/>
              </a:defRPr>
            </a:pPr>
            <a:r>
              <a:t>}</a:t>
            </a:r>
            <a:endParaRPr lang="en-US" altLang="zh-CN"/>
          </a:p>
          <a:p>
            <a:pPr algn="l">
              <a:lnSpc>
                <a:spcPct val="150000"/>
              </a:lnSpc>
              <a:defRPr sz="3000">
                <a:solidFill>
                  <a:schemeClr val="accent5">
                    <a:hueOff val="-82419"/>
                    <a:satOff val="-9513"/>
                    <a:lumOff val="-16343"/>
                  </a:schemeClr>
                </a:solidFill>
                <a:latin typeface="Courier"/>
                <a:ea typeface="Courier"/>
                <a:cs typeface="Courier"/>
                <a:sym typeface="Courier"/>
              </a:defRPr>
            </a:pPr>
            <a:r>
              <a:rPr lang="zh-CN" altLang="en-US">
                <a:solidFill>
                  <a:schemeClr val="tx1"/>
                </a:solidFill>
              </a:rPr>
              <a:t>圆括号括起的是三个表达式。其下的大括号括起的部分是循环体。</a:t>
            </a:r>
            <a:endParaRPr lang="en-US" altLang="zh-CN">
              <a:solidFill>
                <a:schemeClr val="tx1"/>
              </a:solidFill>
            </a:endParaRPr>
          </a:p>
          <a:p>
            <a:pPr algn="l">
              <a:lnSpc>
                <a:spcPct val="150000"/>
              </a:lnSpc>
              <a:defRPr sz="3000">
                <a:solidFill>
                  <a:schemeClr val="accent5">
                    <a:hueOff val="-82419"/>
                    <a:satOff val="-9513"/>
                    <a:lumOff val="-16343"/>
                  </a:schemeClr>
                </a:solidFill>
                <a:latin typeface="Courier"/>
                <a:ea typeface="Courier"/>
                <a:cs typeface="Courier"/>
                <a:sym typeface="Courier"/>
              </a:defRPr>
            </a:pPr>
            <a:endParaRPr lang="en-US" altLang="zh-CN">
              <a:solidFill>
                <a:schemeClr val="tx1"/>
              </a:solidFill>
            </a:endParaRPr>
          </a:p>
          <a:p>
            <a:pPr algn="l">
              <a:lnSpc>
                <a:spcPct val="150000"/>
              </a:lnSpc>
              <a:defRPr sz="3000">
                <a:solidFill>
                  <a:schemeClr val="accent5">
                    <a:hueOff val="-82419"/>
                    <a:satOff val="-9513"/>
                    <a:lumOff val="-16343"/>
                  </a:schemeClr>
                </a:solidFill>
                <a:latin typeface="Courier"/>
                <a:ea typeface="Courier"/>
                <a:cs typeface="Courier"/>
                <a:sym typeface="Courier"/>
              </a:defRPr>
            </a:pPr>
            <a:r>
              <a:rPr lang="zh-CN" altLang="en-US">
                <a:solidFill>
                  <a:schemeClr val="tx1"/>
                </a:solidFill>
              </a:rPr>
              <a:t>右图描述了 </a:t>
            </a:r>
            <a:r>
              <a:rPr lang="en-US" altLang="zh-CN">
                <a:solidFill>
                  <a:schemeClr val="tx1"/>
                </a:solidFill>
              </a:rPr>
              <a:t>for </a:t>
            </a:r>
            <a:r>
              <a:rPr lang="zh-CN" altLang="en-US">
                <a:solidFill>
                  <a:schemeClr val="tx1"/>
                </a:solidFill>
              </a:rPr>
              <a:t>循环的</a:t>
            </a:r>
            <a:r>
              <a:rPr lang="zh-CN" altLang="en-US">
                <a:solidFill>
                  <a:schemeClr val="tx1"/>
                </a:solidFill>
                <a:highlight>
                  <a:srgbClr val="FFFF00"/>
                </a:highlight>
              </a:rPr>
              <a:t>执行流程</a:t>
            </a:r>
            <a:r>
              <a:rPr lang="zh-CN" altLang="en-US">
                <a:solidFill>
                  <a:schemeClr val="tx1"/>
                </a:solidFill>
              </a:rPr>
              <a:t>图。</a:t>
            </a:r>
            <a:endParaRPr>
              <a:solidFill>
                <a:schemeClr val="tx1"/>
              </a:solidFill>
            </a:endParaRPr>
          </a:p>
        </p:txBody>
      </p:sp>
      <p:pic>
        <p:nvPicPr>
          <p:cNvPr id="3" name="图片 2">
            <a:extLst>
              <a:ext uri="{FF2B5EF4-FFF2-40B4-BE49-F238E27FC236}">
                <a16:creationId xmlns:a16="http://schemas.microsoft.com/office/drawing/2014/main" id="{22DD5E47-76BE-4770-B0E2-2856B6FDC367}"/>
              </a:ext>
            </a:extLst>
          </p:cNvPr>
          <p:cNvPicPr>
            <a:picLocks noChangeAspect="1"/>
          </p:cNvPicPr>
          <p:nvPr/>
        </p:nvPicPr>
        <p:blipFill>
          <a:blip r:embed="rId2"/>
          <a:stretch>
            <a:fillRect/>
          </a:stretch>
        </p:blipFill>
        <p:spPr>
          <a:xfrm>
            <a:off x="8355354" y="2005226"/>
            <a:ext cx="3775686" cy="7577116"/>
          </a:xfrm>
          <a:prstGeom prst="rect">
            <a:avLst/>
          </a:prstGeom>
        </p:spPr>
      </p:pic>
    </p:spTree>
    <p:extLst>
      <p:ext uri="{BB962C8B-B14F-4D97-AF65-F5344CB8AC3E}">
        <p14:creationId xmlns:p14="http://schemas.microsoft.com/office/powerpoint/2010/main" val="731857186"/>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37</a:t>
            </a:fld>
            <a:endParaRPr/>
          </a:p>
        </p:txBody>
      </p:sp>
      <p:sp>
        <p:nvSpPr>
          <p:cNvPr id="165" name="循环语句的执行过程"/>
          <p:cNvSpPr>
            <a:spLocks noGrp="1"/>
          </p:cNvSpPr>
          <p:nvPr>
            <p:ph type="title"/>
          </p:nvPr>
        </p:nvSpPr>
        <p:spPr>
          <a:xfrm>
            <a:off x="547201" y="354125"/>
            <a:ext cx="7415699" cy="1152045"/>
          </a:xfrm>
          <a:prstGeom prst="rect">
            <a:avLst/>
          </a:prstGeom>
        </p:spPr>
        <p:txBody>
          <a:bodyPr/>
          <a:lstStyle/>
          <a:p>
            <a:pPr algn="r"/>
            <a:r>
              <a:rPr lang="zh-CN" altLang="en-US" dirty="0">
                <a:solidFill>
                  <a:schemeClr val="bg1"/>
                </a:solidFill>
              </a:rPr>
              <a:t>如何理解循环语句的运行？</a:t>
            </a:r>
            <a:endParaRPr dirty="0"/>
          </a:p>
        </p:txBody>
      </p:sp>
      <p:sp>
        <p:nvSpPr>
          <p:cNvPr id="167" name="1. 求解表达式1，设置循环控制变量的初值…"/>
          <p:cNvSpPr txBox="1"/>
          <p:nvPr/>
        </p:nvSpPr>
        <p:spPr>
          <a:xfrm>
            <a:off x="547201" y="3881011"/>
            <a:ext cx="8824532" cy="45500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lnSpc>
                <a:spcPct val="150000"/>
              </a:lnSpc>
              <a:defRPr sz="2800"/>
            </a:pPr>
            <a:r>
              <a:rPr lang="en-US" altLang="zh-CN"/>
              <a:t>(</a:t>
            </a:r>
            <a:r>
              <a:t>1</a:t>
            </a:r>
            <a:r>
              <a:rPr lang="en-US" altLang="zh-CN"/>
              <a:t>)</a:t>
            </a:r>
            <a:r>
              <a:t> </a:t>
            </a:r>
            <a:r>
              <a:rPr lang="zh-CN" altLang="en-US"/>
              <a:t>执行</a:t>
            </a:r>
            <a:r>
              <a:t>表达式1，设置循环变量的初值</a:t>
            </a:r>
          </a:p>
          <a:p>
            <a:pPr algn="l">
              <a:lnSpc>
                <a:spcPct val="150000"/>
              </a:lnSpc>
              <a:defRPr sz="2800"/>
            </a:pPr>
            <a:r>
              <a:rPr lang="en-US" altLang="zh-CN"/>
              <a:t>(</a:t>
            </a:r>
            <a:r>
              <a:t>2</a:t>
            </a:r>
            <a:r>
              <a:rPr lang="en-US" altLang="zh-CN"/>
              <a:t>)</a:t>
            </a:r>
            <a:r>
              <a:t> 测试表达式2，测试是否未到循环变量的终值</a:t>
            </a:r>
          </a:p>
          <a:p>
            <a:pPr algn="l">
              <a:lnSpc>
                <a:spcPct val="150000"/>
              </a:lnSpc>
              <a:defRPr sz="2800">
                <a:solidFill>
                  <a:schemeClr val="accent1">
                    <a:lumOff val="-13575"/>
                  </a:schemeClr>
                </a:solidFill>
              </a:defRPr>
            </a:pPr>
            <a:r>
              <a:rPr lang="en-US" altLang="zh-CN"/>
              <a:t>     (</a:t>
            </a:r>
            <a:r>
              <a:t>2</a:t>
            </a:r>
            <a:r>
              <a:rPr lang="en-US" altLang="zh-CN"/>
              <a:t>.</a:t>
            </a:r>
            <a:r>
              <a:t>1</a:t>
            </a:r>
            <a:r>
              <a:rPr lang="en-US" altLang="zh-CN"/>
              <a:t>)</a:t>
            </a:r>
            <a:r>
              <a:t> 如表达式2的值为真，则</a:t>
            </a:r>
            <a:r>
              <a:rPr lang="zh-CN" altLang="en-US"/>
              <a:t>转到</a:t>
            </a:r>
            <a:r>
              <a:rPr lang="en-US" altLang="zh-CN"/>
              <a:t>【</a:t>
            </a:r>
            <a:r>
              <a:rPr lang="zh-CN" altLang="en-US"/>
              <a:t>步骤</a:t>
            </a:r>
            <a:r>
              <a:rPr lang="en-US" altLang="zh-CN"/>
              <a:t>(3)】</a:t>
            </a:r>
            <a:endParaRPr/>
          </a:p>
          <a:p>
            <a:pPr algn="l">
              <a:lnSpc>
                <a:spcPct val="150000"/>
              </a:lnSpc>
              <a:defRPr sz="2800">
                <a:solidFill>
                  <a:schemeClr val="accent1">
                    <a:lumOff val="-13575"/>
                  </a:schemeClr>
                </a:solidFill>
              </a:defRPr>
            </a:pPr>
            <a:r>
              <a:rPr lang="en-US" altLang="zh-CN"/>
              <a:t>     (</a:t>
            </a:r>
            <a:r>
              <a:t>2</a:t>
            </a:r>
            <a:r>
              <a:rPr lang="en-US" altLang="zh-CN"/>
              <a:t>.</a:t>
            </a:r>
            <a:r>
              <a:t>2</a:t>
            </a:r>
            <a:r>
              <a:rPr lang="en-US" altLang="zh-CN"/>
              <a:t>)</a:t>
            </a:r>
            <a:r>
              <a:t> 如表达式2的值为假，则转</a:t>
            </a:r>
            <a:r>
              <a:rPr lang="zh-CN" altLang="en-US"/>
              <a:t>到</a:t>
            </a:r>
            <a:r>
              <a:rPr lang="en-US" altLang="zh-CN"/>
              <a:t>【</a:t>
            </a:r>
            <a:r>
              <a:rPr lang="zh-CN" altLang="en-US"/>
              <a:t>步骤</a:t>
            </a:r>
            <a:r>
              <a:rPr lang="en-US" altLang="zh-CN"/>
              <a:t>(5)】</a:t>
            </a:r>
            <a:endParaRPr/>
          </a:p>
          <a:p>
            <a:pPr algn="l">
              <a:lnSpc>
                <a:spcPct val="150000"/>
              </a:lnSpc>
              <a:defRPr sz="2800"/>
            </a:pPr>
            <a:r>
              <a:rPr lang="en-US" altLang="zh-CN"/>
              <a:t>(</a:t>
            </a:r>
            <a:r>
              <a:t>3</a:t>
            </a:r>
            <a:r>
              <a:rPr lang="en-US" altLang="zh-CN"/>
              <a:t>)</a:t>
            </a:r>
            <a:r>
              <a:t> </a:t>
            </a:r>
            <a:r>
              <a:rPr err="1"/>
              <a:t>执行循环体语句组</a:t>
            </a:r>
            <a:endParaRPr/>
          </a:p>
          <a:p>
            <a:pPr algn="l">
              <a:lnSpc>
                <a:spcPct val="150000"/>
              </a:lnSpc>
              <a:defRPr sz="2800"/>
            </a:pPr>
            <a:r>
              <a:rPr lang="en-US" altLang="zh-CN"/>
              <a:t>(</a:t>
            </a:r>
            <a:r>
              <a:t>4</a:t>
            </a:r>
            <a:r>
              <a:rPr lang="en-US" altLang="zh-CN"/>
              <a:t>)</a:t>
            </a:r>
            <a:r>
              <a:t> </a:t>
            </a:r>
            <a:r>
              <a:rPr lang="zh-CN" altLang="en-US"/>
              <a:t>执行</a:t>
            </a:r>
            <a:r>
              <a:t>表达式3，</a:t>
            </a:r>
            <a:r>
              <a:rPr lang="zh-CN" altLang="en-US"/>
              <a:t>改变</a:t>
            </a:r>
            <a:r>
              <a:rPr err="1"/>
              <a:t>循环变量的值，转</a:t>
            </a:r>
            <a:r>
              <a:rPr lang="zh-CN" altLang="en-US"/>
              <a:t>到</a:t>
            </a:r>
            <a:r>
              <a:rPr lang="en-US" altLang="zh-CN"/>
              <a:t>【</a:t>
            </a:r>
            <a:r>
              <a:rPr lang="zh-CN" altLang="en-US"/>
              <a:t>步骤</a:t>
            </a:r>
            <a:r>
              <a:rPr lang="en-US" altLang="zh-CN"/>
              <a:t>(</a:t>
            </a:r>
            <a:r>
              <a:t>2</a:t>
            </a:r>
            <a:r>
              <a:rPr lang="en-US" altLang="zh-CN"/>
              <a:t>)】</a:t>
            </a:r>
            <a:endParaRPr/>
          </a:p>
          <a:p>
            <a:pPr algn="l">
              <a:lnSpc>
                <a:spcPct val="150000"/>
              </a:lnSpc>
              <a:defRPr sz="2800"/>
            </a:pPr>
            <a:r>
              <a:rPr lang="en-US" altLang="zh-CN"/>
              <a:t>(</a:t>
            </a:r>
            <a:r>
              <a:t>5</a:t>
            </a:r>
            <a:r>
              <a:rPr lang="en-US" altLang="zh-CN"/>
              <a:t>)</a:t>
            </a:r>
            <a:r>
              <a:t> </a:t>
            </a:r>
            <a:r>
              <a:rPr err="1"/>
              <a:t>执行for语句的下一条语句</a:t>
            </a:r>
            <a:endParaRPr/>
          </a:p>
        </p:txBody>
      </p:sp>
      <p:sp>
        <p:nvSpPr>
          <p:cNvPr id="2" name="矩形 1">
            <a:extLst>
              <a:ext uri="{FF2B5EF4-FFF2-40B4-BE49-F238E27FC236}">
                <a16:creationId xmlns:a16="http://schemas.microsoft.com/office/drawing/2014/main" id="{AC35D96C-4696-4951-9BA9-164D2A5D785C}"/>
              </a:ext>
            </a:extLst>
          </p:cNvPr>
          <p:cNvSpPr/>
          <p:nvPr/>
        </p:nvSpPr>
        <p:spPr>
          <a:xfrm>
            <a:off x="496668" y="2679104"/>
            <a:ext cx="7571303" cy="646331"/>
          </a:xfrm>
          <a:prstGeom prst="rect">
            <a:avLst/>
          </a:prstGeom>
        </p:spPr>
        <p:txBody>
          <a:bodyPr wrap="none">
            <a:spAutoFit/>
          </a:bodyPr>
          <a:lstStyle/>
          <a:p>
            <a:r>
              <a:rPr lang="zh-CN" altLang="en-US" sz="3600">
                <a:solidFill>
                  <a:schemeClr val="tx1"/>
                </a:solidFill>
                <a:highlight>
                  <a:srgbClr val="FFFF00"/>
                </a:highlight>
              </a:rPr>
              <a:t>让自己像计算机一样“思考”（执行）</a:t>
            </a:r>
          </a:p>
        </p:txBody>
      </p:sp>
      <p:pic>
        <p:nvPicPr>
          <p:cNvPr id="7" name="图片 6">
            <a:extLst>
              <a:ext uri="{FF2B5EF4-FFF2-40B4-BE49-F238E27FC236}">
                <a16:creationId xmlns:a16="http://schemas.microsoft.com/office/drawing/2014/main" id="{25F82087-0758-48C2-8AFE-48BCC4B6D10A}"/>
              </a:ext>
            </a:extLst>
          </p:cNvPr>
          <p:cNvPicPr>
            <a:picLocks noChangeAspect="1"/>
          </p:cNvPicPr>
          <p:nvPr/>
        </p:nvPicPr>
        <p:blipFill>
          <a:blip r:embed="rId2"/>
          <a:stretch>
            <a:fillRect/>
          </a:stretch>
        </p:blipFill>
        <p:spPr>
          <a:xfrm>
            <a:off x="9113164" y="1943432"/>
            <a:ext cx="3833365" cy="7692868"/>
          </a:xfrm>
          <a:prstGeom prst="rect">
            <a:avLst/>
          </a:prstGeom>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38</a:t>
            </a:fld>
            <a:endParaRPr/>
          </a:p>
        </p:txBody>
      </p:sp>
      <p:sp>
        <p:nvSpPr>
          <p:cNvPr id="160" name="循环语句的语法格式"/>
          <p:cNvSpPr>
            <a:spLocks noGrp="1"/>
          </p:cNvSpPr>
          <p:nvPr>
            <p:ph type="title"/>
          </p:nvPr>
        </p:nvSpPr>
        <p:spPr>
          <a:xfrm>
            <a:off x="547201" y="354125"/>
            <a:ext cx="6571149" cy="1152045"/>
          </a:xfrm>
          <a:prstGeom prst="rect">
            <a:avLst/>
          </a:prstGeom>
        </p:spPr>
        <p:txBody>
          <a:bodyPr/>
          <a:lstStyle/>
          <a:p>
            <a:pPr algn="l"/>
            <a:r>
              <a:rPr lang="en-US" altLang="zh-CN">
                <a:solidFill>
                  <a:srgbClr val="FFFF00"/>
                </a:solidFill>
              </a:rPr>
              <a:t>【</a:t>
            </a:r>
            <a:r>
              <a:rPr lang="zh-CN" altLang="en-US">
                <a:solidFill>
                  <a:srgbClr val="FFFF00"/>
                </a:solidFill>
              </a:rPr>
              <a:t>小练习</a:t>
            </a:r>
            <a:r>
              <a:rPr lang="en-US" altLang="zh-CN">
                <a:solidFill>
                  <a:srgbClr val="FFFF00"/>
                </a:solidFill>
              </a:rPr>
              <a:t>】</a:t>
            </a:r>
            <a:r>
              <a:rPr lang="en-US" b="1">
                <a:solidFill>
                  <a:schemeClr val="bg1"/>
                </a:solidFill>
              </a:rPr>
              <a:t>for</a:t>
            </a:r>
            <a:r>
              <a:rPr lang="en-US">
                <a:solidFill>
                  <a:schemeClr val="bg1"/>
                </a:solidFill>
              </a:rPr>
              <a:t> </a:t>
            </a:r>
            <a:r>
              <a:rPr>
                <a:solidFill>
                  <a:schemeClr val="bg1"/>
                </a:solidFill>
              </a:rPr>
              <a:t>循环语句</a:t>
            </a:r>
          </a:p>
        </p:txBody>
      </p:sp>
      <p:sp>
        <p:nvSpPr>
          <p:cNvPr id="161" name="for是计数型循环的标识符，圆括号括起的是三个表达式。其下的大括号括起的部分是循环体。下图描述了 for 循环的结构。…"/>
          <p:cNvSpPr txBox="1"/>
          <p:nvPr/>
        </p:nvSpPr>
        <p:spPr>
          <a:xfrm>
            <a:off x="547201" y="2320690"/>
            <a:ext cx="12219911" cy="5642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defRPr sz="3000">
                <a:solidFill>
                  <a:schemeClr val="accent5">
                    <a:hueOff val="-82419"/>
                    <a:satOff val="-9513"/>
                    <a:lumOff val="-16343"/>
                  </a:schemeClr>
                </a:solidFill>
                <a:latin typeface="Courier"/>
                <a:ea typeface="Courier"/>
                <a:cs typeface="Courier"/>
                <a:sym typeface="Courier"/>
              </a:defRPr>
            </a:pPr>
            <a:r>
              <a:rPr lang="zh-CN" altLang="en-US" dirty="0">
                <a:solidFill>
                  <a:schemeClr val="tx1"/>
                </a:solidFill>
              </a:rPr>
              <a:t>练习</a:t>
            </a:r>
            <a:r>
              <a:rPr lang="en-US" altLang="zh-CN" dirty="0">
                <a:solidFill>
                  <a:schemeClr val="tx1"/>
                </a:solidFill>
              </a:rPr>
              <a:t>1</a:t>
            </a:r>
            <a:r>
              <a:rPr lang="zh-CN" altLang="en-US" dirty="0">
                <a:solidFill>
                  <a:schemeClr val="tx1"/>
                </a:solidFill>
              </a:rPr>
              <a:t>、输出</a:t>
            </a:r>
            <a:r>
              <a:rPr lang="en-US" altLang="zh-CN" dirty="0">
                <a:solidFill>
                  <a:schemeClr val="tx1"/>
                </a:solidFill>
              </a:rPr>
              <a:t>ASCII</a:t>
            </a:r>
            <a:r>
              <a:rPr lang="zh-CN" altLang="en-US" dirty="0">
                <a:solidFill>
                  <a:schemeClr val="tx1"/>
                </a:solidFill>
              </a:rPr>
              <a:t>表中</a:t>
            </a:r>
            <a:r>
              <a:rPr lang="zh-CN" altLang="en-US" dirty="0">
                <a:solidFill>
                  <a:schemeClr val="accent6">
                    <a:lumMod val="75000"/>
                  </a:schemeClr>
                </a:solidFill>
              </a:rPr>
              <a:t>从</a:t>
            </a:r>
            <a:r>
              <a:rPr lang="en-US" altLang="zh-CN" dirty="0">
                <a:solidFill>
                  <a:schemeClr val="accent6">
                    <a:lumMod val="75000"/>
                  </a:schemeClr>
                </a:solidFill>
              </a:rPr>
              <a:t>'!'</a:t>
            </a:r>
            <a:r>
              <a:rPr lang="zh-CN" altLang="en-US" dirty="0">
                <a:solidFill>
                  <a:schemeClr val="accent6">
                    <a:lumMod val="75000"/>
                  </a:schemeClr>
                </a:solidFill>
              </a:rPr>
              <a:t>到</a:t>
            </a:r>
            <a:r>
              <a:rPr lang="en-US" altLang="zh-CN" dirty="0">
                <a:solidFill>
                  <a:schemeClr val="accent6">
                    <a:lumMod val="75000"/>
                  </a:schemeClr>
                </a:solidFill>
              </a:rPr>
              <a:t>'~'</a:t>
            </a:r>
            <a:r>
              <a:rPr lang="zh-CN" altLang="en-US" dirty="0">
                <a:solidFill>
                  <a:schemeClr val="tx1"/>
                </a:solidFill>
              </a:rPr>
              <a:t>的所有字符</a:t>
            </a:r>
            <a:endParaRPr dirty="0">
              <a:solidFill>
                <a:schemeClr val="tx1"/>
              </a:solidFill>
            </a:endParaRPr>
          </a:p>
        </p:txBody>
      </p:sp>
      <p:sp>
        <p:nvSpPr>
          <p:cNvPr id="2" name="矩形 1">
            <a:extLst>
              <a:ext uri="{FF2B5EF4-FFF2-40B4-BE49-F238E27FC236}">
                <a16:creationId xmlns:a16="http://schemas.microsoft.com/office/drawing/2014/main" id="{7B9511BC-1428-4071-8AA1-6C819EF8C3FB}"/>
              </a:ext>
            </a:extLst>
          </p:cNvPr>
          <p:cNvSpPr/>
          <p:nvPr/>
        </p:nvSpPr>
        <p:spPr>
          <a:xfrm>
            <a:off x="547201" y="3139576"/>
            <a:ext cx="5684337" cy="6126998"/>
          </a:xfrm>
          <a:prstGeom prst="rect">
            <a:avLst/>
          </a:prstGeom>
        </p:spPr>
        <p:txBody>
          <a:bodyPr wrap="square">
            <a:spAutoFit/>
          </a:bodyPr>
          <a:lstStyle/>
          <a:p>
            <a:pPr algn="l">
              <a:lnSpc>
                <a:spcPct val="150000"/>
              </a:lnSpc>
            </a:pPr>
            <a:r>
              <a:rPr lang="en-US" altLang="zh-CN" dirty="0">
                <a:solidFill>
                  <a:srgbClr val="0070C0"/>
                </a:solidFill>
                <a:latin typeface="Consolas" panose="020B0609020204030204" pitchFamily="49" charset="0"/>
              </a:rPr>
              <a:t>#include &lt;iostream&gt;</a:t>
            </a:r>
          </a:p>
          <a:p>
            <a:pPr algn="l">
              <a:lnSpc>
                <a:spcPct val="150000"/>
              </a:lnSpc>
            </a:pPr>
            <a:r>
              <a:rPr lang="en-US" altLang="zh-CN" dirty="0">
                <a:solidFill>
                  <a:srgbClr val="0070C0"/>
                </a:solidFill>
                <a:latin typeface="Consolas" panose="020B0609020204030204" pitchFamily="49" charset="0"/>
              </a:rPr>
              <a:t>using namespace std;</a:t>
            </a:r>
          </a:p>
          <a:p>
            <a:pPr algn="l">
              <a:lnSpc>
                <a:spcPct val="150000"/>
              </a:lnSpc>
            </a:pPr>
            <a:endParaRPr lang="en-US" altLang="zh-CN" dirty="0">
              <a:solidFill>
                <a:srgbClr val="0070C0"/>
              </a:solidFill>
              <a:latin typeface="Consolas" panose="020B0609020204030204" pitchFamily="49" charset="0"/>
            </a:endParaRPr>
          </a:p>
          <a:p>
            <a:pPr algn="l">
              <a:lnSpc>
                <a:spcPct val="150000"/>
              </a:lnSpc>
            </a:pPr>
            <a:r>
              <a:rPr lang="en-US" altLang="zh-CN" dirty="0">
                <a:solidFill>
                  <a:srgbClr val="0070C0"/>
                </a:solidFill>
                <a:latin typeface="Consolas" panose="020B0609020204030204" pitchFamily="49" charset="0"/>
              </a:rPr>
              <a:t>int main()</a:t>
            </a:r>
          </a:p>
          <a:p>
            <a:pPr algn="l">
              <a:lnSpc>
                <a:spcPct val="150000"/>
              </a:lnSpc>
            </a:pPr>
            <a:r>
              <a:rPr lang="en-US" altLang="zh-CN" dirty="0">
                <a:solidFill>
                  <a:srgbClr val="0070C0"/>
                </a:solidFill>
                <a:latin typeface="Consolas" panose="020B0609020204030204" pitchFamily="49" charset="0"/>
              </a:rPr>
              <a:t>{</a:t>
            </a:r>
          </a:p>
          <a:p>
            <a:pPr algn="l">
              <a:lnSpc>
                <a:spcPct val="150000"/>
              </a:lnSpc>
            </a:pPr>
            <a:r>
              <a:rPr lang="en-US" altLang="zh-CN" dirty="0">
                <a:solidFill>
                  <a:srgbClr val="0070C0"/>
                </a:solidFill>
                <a:latin typeface="Consolas" panose="020B0609020204030204" pitchFamily="49" charset="0"/>
              </a:rPr>
              <a:t>	</a:t>
            </a:r>
            <a:r>
              <a:rPr lang="en-US" altLang="zh-CN" dirty="0">
                <a:solidFill>
                  <a:schemeClr val="accent6">
                    <a:lumMod val="75000"/>
                  </a:schemeClr>
                </a:solidFill>
                <a:latin typeface="Consolas" panose="020B0609020204030204" pitchFamily="49" charset="0"/>
              </a:rPr>
              <a:t>for (char c='!'; </a:t>
            </a:r>
            <a:r>
              <a:rPr lang="en-US" altLang="zh-CN" dirty="0">
                <a:solidFill>
                  <a:schemeClr val="accent6">
                    <a:lumMod val="75000"/>
                  </a:schemeClr>
                </a:solidFill>
                <a:highlight>
                  <a:srgbClr val="FFFF00"/>
                </a:highlight>
                <a:latin typeface="Consolas" panose="020B0609020204030204" pitchFamily="49" charset="0"/>
              </a:rPr>
              <a:t>c&lt;='~'</a:t>
            </a:r>
            <a:r>
              <a:rPr lang="en-US" altLang="zh-CN" dirty="0">
                <a:solidFill>
                  <a:schemeClr val="accent6">
                    <a:lumMod val="75000"/>
                  </a:schemeClr>
                </a:solidFill>
                <a:latin typeface="Consolas" panose="020B0609020204030204" pitchFamily="49" charset="0"/>
              </a:rPr>
              <a:t>; </a:t>
            </a:r>
            <a:r>
              <a:rPr lang="en-US" altLang="zh-CN" dirty="0" err="1">
                <a:solidFill>
                  <a:schemeClr val="accent6">
                    <a:lumMod val="75000"/>
                  </a:schemeClr>
                </a:solidFill>
                <a:highlight>
                  <a:srgbClr val="FFFF00"/>
                </a:highlight>
                <a:latin typeface="Consolas" panose="020B0609020204030204" pitchFamily="49" charset="0"/>
              </a:rPr>
              <a:t>c++</a:t>
            </a:r>
            <a:r>
              <a:rPr lang="en-US" altLang="zh-CN" dirty="0">
                <a:solidFill>
                  <a:schemeClr val="accent6">
                    <a:lumMod val="75000"/>
                  </a:schemeClr>
                </a:solidFill>
                <a:latin typeface="Consolas" panose="020B0609020204030204" pitchFamily="49" charset="0"/>
              </a:rPr>
              <a:t>) </a:t>
            </a:r>
          </a:p>
          <a:p>
            <a:pPr algn="l">
              <a:lnSpc>
                <a:spcPct val="150000"/>
              </a:lnSpc>
            </a:pPr>
            <a:r>
              <a:rPr lang="en-US" altLang="zh-CN" dirty="0">
                <a:solidFill>
                  <a:schemeClr val="accent6">
                    <a:lumMod val="75000"/>
                  </a:schemeClr>
                </a:solidFill>
                <a:latin typeface="Consolas" panose="020B0609020204030204" pitchFamily="49" charset="0"/>
              </a:rPr>
              <a:t>		cout &lt;&lt; c &lt;&lt; ' ';</a:t>
            </a:r>
          </a:p>
          <a:p>
            <a:pPr algn="l">
              <a:lnSpc>
                <a:spcPct val="150000"/>
              </a:lnSpc>
            </a:pPr>
            <a:r>
              <a:rPr lang="en-US" altLang="zh-CN" dirty="0">
                <a:solidFill>
                  <a:srgbClr val="0070C0"/>
                </a:solidFill>
                <a:latin typeface="Consolas" panose="020B0609020204030204" pitchFamily="49" charset="0"/>
              </a:rPr>
              <a:t>	cout &lt;&lt; </a:t>
            </a:r>
            <a:r>
              <a:rPr lang="en-US" altLang="zh-CN" dirty="0" err="1">
                <a:solidFill>
                  <a:srgbClr val="0070C0"/>
                </a:solidFill>
                <a:latin typeface="Consolas" panose="020B0609020204030204" pitchFamily="49" charset="0"/>
              </a:rPr>
              <a:t>endl</a:t>
            </a:r>
            <a:r>
              <a:rPr lang="en-US" altLang="zh-CN" dirty="0">
                <a:solidFill>
                  <a:srgbClr val="0070C0"/>
                </a:solidFill>
                <a:latin typeface="Consolas" panose="020B0609020204030204" pitchFamily="49" charset="0"/>
              </a:rPr>
              <a:t>;</a:t>
            </a:r>
          </a:p>
          <a:p>
            <a:pPr algn="l">
              <a:lnSpc>
                <a:spcPct val="150000"/>
              </a:lnSpc>
            </a:pPr>
            <a:endParaRPr lang="en-US" altLang="zh-CN" dirty="0">
              <a:solidFill>
                <a:srgbClr val="0070C0"/>
              </a:solidFill>
              <a:latin typeface="Consolas" panose="020B0609020204030204" pitchFamily="49" charset="0"/>
            </a:endParaRPr>
          </a:p>
          <a:p>
            <a:pPr algn="l">
              <a:lnSpc>
                <a:spcPct val="150000"/>
              </a:lnSpc>
            </a:pPr>
            <a:r>
              <a:rPr lang="en-US" altLang="zh-CN" dirty="0">
                <a:solidFill>
                  <a:srgbClr val="0070C0"/>
                </a:solidFill>
                <a:latin typeface="Consolas" panose="020B0609020204030204" pitchFamily="49" charset="0"/>
              </a:rPr>
              <a:t>	return 0;</a:t>
            </a:r>
          </a:p>
          <a:p>
            <a:pPr algn="l">
              <a:lnSpc>
                <a:spcPct val="150000"/>
              </a:lnSpc>
            </a:pPr>
            <a:r>
              <a:rPr lang="en-US" altLang="zh-CN" dirty="0">
                <a:solidFill>
                  <a:srgbClr val="0070C0"/>
                </a:solidFill>
                <a:latin typeface="Consolas" panose="020B0609020204030204" pitchFamily="49" charset="0"/>
              </a:rPr>
              <a:t>} </a:t>
            </a:r>
            <a:r>
              <a:rPr lang="en-US" altLang="zh-CN" dirty="0">
                <a:solidFill>
                  <a:srgbClr val="00B050"/>
                </a:solidFill>
                <a:latin typeface="Consolas" panose="020B0609020204030204" pitchFamily="49" charset="0"/>
              </a:rPr>
              <a:t>// E03-03.cpp</a:t>
            </a:r>
          </a:p>
        </p:txBody>
      </p:sp>
      <p:sp>
        <p:nvSpPr>
          <p:cNvPr id="6" name="字符与整数相加，实际进行的操作是：将该字符的ASCII编码值（整数）与整数相加，结果仍为整数。…">
            <a:extLst>
              <a:ext uri="{FF2B5EF4-FFF2-40B4-BE49-F238E27FC236}">
                <a16:creationId xmlns:a16="http://schemas.microsoft.com/office/drawing/2014/main" id="{50422AA8-ABDD-4F9C-A3F3-C81B26BC4367}"/>
              </a:ext>
            </a:extLst>
          </p:cNvPr>
          <p:cNvSpPr txBox="1"/>
          <p:nvPr/>
        </p:nvSpPr>
        <p:spPr>
          <a:xfrm>
            <a:off x="6351283" y="3357472"/>
            <a:ext cx="5916917" cy="5818581"/>
          </a:xfrm>
          <a:prstGeom prst="rect">
            <a:avLst/>
          </a:prstGeom>
          <a:ln w="12700">
            <a:solidFill>
              <a:srgbClr val="0070C0"/>
            </a:solidFill>
            <a:prstDash val="sysDash"/>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just">
              <a:lnSpc>
                <a:spcPct val="150000"/>
              </a:lnSpc>
              <a:defRPr sz="3000"/>
            </a:pPr>
            <a:r>
              <a:rPr sz="2800">
                <a:latin typeface="楷体" panose="02010609060101010101" pitchFamily="49" charset="-122"/>
                <a:ea typeface="楷体" panose="02010609060101010101" pitchFamily="49" charset="-122"/>
              </a:rPr>
              <a:t>字符</a:t>
            </a:r>
            <a:r>
              <a:rPr lang="zh-CN" altLang="en-US" sz="2800">
                <a:latin typeface="楷体" panose="02010609060101010101" pitchFamily="49" charset="-122"/>
                <a:ea typeface="楷体" panose="02010609060101010101" pitchFamily="49" charset="-122"/>
              </a:rPr>
              <a:t>类型的变量（如左边源程序中的变量</a:t>
            </a:r>
            <a:r>
              <a:rPr lang="en-US" altLang="zh-CN" sz="2800">
                <a:latin typeface="楷体" panose="02010609060101010101" pitchFamily="49" charset="-122"/>
                <a:ea typeface="楷体" panose="02010609060101010101" pitchFamily="49" charset="-122"/>
              </a:rPr>
              <a:t>c</a:t>
            </a:r>
            <a:r>
              <a:rPr lang="zh-CN" altLang="en-US" sz="2800">
                <a:latin typeface="楷体" panose="02010609060101010101" pitchFamily="49" charset="-122"/>
                <a:ea typeface="楷体" panose="02010609060101010101" pitchFamily="49" charset="-122"/>
              </a:rPr>
              <a:t>）在进行关系运算、加减运算时，其执行过程</a:t>
            </a:r>
            <a:r>
              <a:rPr sz="2800">
                <a:latin typeface="楷体" panose="02010609060101010101" pitchFamily="49" charset="-122"/>
                <a:ea typeface="楷体" panose="02010609060101010101" pitchFamily="49" charset="-122"/>
              </a:rPr>
              <a:t>是：</a:t>
            </a:r>
            <a:r>
              <a:rPr lang="zh-CN" altLang="en-US" sz="2800">
                <a:latin typeface="楷体" panose="02010609060101010101" pitchFamily="49" charset="-122"/>
                <a:ea typeface="楷体" panose="02010609060101010101" pitchFamily="49" charset="-122"/>
              </a:rPr>
              <a:t>使用</a:t>
            </a:r>
            <a:r>
              <a:rPr sz="2800">
                <a:latin typeface="楷体" panose="02010609060101010101" pitchFamily="49" charset="-122"/>
                <a:ea typeface="楷体" panose="02010609060101010101" pitchFamily="49" charset="-122"/>
              </a:rPr>
              <a:t>该字符</a:t>
            </a:r>
            <a:r>
              <a:rPr lang="zh-CN" altLang="en-US" sz="2800">
                <a:latin typeface="楷体" panose="02010609060101010101" pitchFamily="49" charset="-122"/>
                <a:ea typeface="楷体" panose="02010609060101010101" pitchFamily="49" charset="-122"/>
              </a:rPr>
              <a:t>的</a:t>
            </a:r>
            <a:r>
              <a:rPr sz="2800">
                <a:latin typeface="楷体" panose="02010609060101010101" pitchFamily="49" charset="-122"/>
                <a:ea typeface="楷体" panose="02010609060101010101" pitchFamily="49" charset="-122"/>
              </a:rPr>
              <a:t>ASCII编码值（整数）</a:t>
            </a:r>
            <a:r>
              <a:rPr lang="zh-CN" altLang="en-US" sz="2800">
                <a:latin typeface="楷体" panose="02010609060101010101" pitchFamily="49" charset="-122"/>
                <a:ea typeface="楷体" panose="02010609060101010101" pitchFamily="49" charset="-122"/>
              </a:rPr>
              <a:t>进行运算。</a:t>
            </a:r>
            <a:endParaRPr sz="2800">
              <a:latin typeface="楷体" panose="02010609060101010101" pitchFamily="49" charset="-122"/>
              <a:ea typeface="楷体" panose="02010609060101010101" pitchFamily="49" charset="-122"/>
            </a:endParaRPr>
          </a:p>
          <a:p>
            <a:pPr algn="just">
              <a:lnSpc>
                <a:spcPct val="150000"/>
              </a:lnSpc>
              <a:defRPr sz="3000"/>
            </a:pPr>
            <a:endParaRPr sz="2800">
              <a:latin typeface="楷体" panose="02010609060101010101" pitchFamily="49" charset="-122"/>
              <a:ea typeface="楷体" panose="02010609060101010101" pitchFamily="49" charset="-122"/>
            </a:endParaRPr>
          </a:p>
          <a:p>
            <a:pPr algn="just">
              <a:lnSpc>
                <a:spcPct val="150000"/>
              </a:lnSpc>
              <a:defRPr sz="3000"/>
            </a:pPr>
            <a:r>
              <a:rPr lang="zh-CN" altLang="en-US" sz="2800">
                <a:latin typeface="楷体" panose="02010609060101010101" pitchFamily="49" charset="-122"/>
                <a:ea typeface="楷体" panose="02010609060101010101" pitchFamily="49" charset="-122"/>
              </a:rPr>
              <a:t>因此，左边源程序中的 </a:t>
            </a:r>
            <a:r>
              <a:rPr lang="en-US" altLang="zh-CN" sz="2800">
                <a:solidFill>
                  <a:schemeClr val="accent6">
                    <a:lumMod val="75000"/>
                  </a:schemeClr>
                </a:solidFill>
                <a:latin typeface="Consolas" panose="020B0609020204030204" pitchFamily="49" charset="0"/>
                <a:ea typeface="楷体" panose="02010609060101010101" pitchFamily="49" charset="-122"/>
              </a:rPr>
              <a:t>c&lt;='~'</a:t>
            </a:r>
            <a:r>
              <a:rPr lang="zh-CN" altLang="en-US" sz="2800">
                <a:latin typeface="楷体" panose="02010609060101010101" pitchFamily="49" charset="-122"/>
                <a:ea typeface="楷体" panose="02010609060101010101" pitchFamily="49" charset="-122"/>
              </a:rPr>
              <a:t>，是将字符</a:t>
            </a:r>
            <a:r>
              <a:rPr lang="en-US" altLang="zh-CN" sz="2800">
                <a:latin typeface="楷体" panose="02010609060101010101" pitchFamily="49" charset="-122"/>
                <a:ea typeface="楷体" panose="02010609060101010101" pitchFamily="49" charset="-122"/>
              </a:rPr>
              <a:t>c</a:t>
            </a:r>
            <a:r>
              <a:rPr lang="zh-CN" altLang="en-US" sz="2800">
                <a:latin typeface="楷体" panose="02010609060101010101" pitchFamily="49" charset="-122"/>
                <a:ea typeface="楷体" panose="02010609060101010101" pitchFamily="49" charset="-122"/>
              </a:rPr>
              <a:t>的</a:t>
            </a:r>
            <a:r>
              <a:rPr lang="en-US" altLang="zh-CN" sz="2800">
                <a:latin typeface="楷体" panose="02010609060101010101" pitchFamily="49" charset="-122"/>
                <a:ea typeface="楷体" panose="02010609060101010101" pitchFamily="49" charset="-122"/>
              </a:rPr>
              <a:t>ASCII</a:t>
            </a:r>
            <a:r>
              <a:rPr lang="zh-CN" altLang="en-US" sz="2800">
                <a:latin typeface="楷体" panose="02010609060101010101" pitchFamily="49" charset="-122"/>
                <a:ea typeface="楷体" panose="02010609060101010101" pitchFamily="49" charset="-122"/>
              </a:rPr>
              <a:t>值与</a:t>
            </a:r>
            <a:r>
              <a:rPr lang="en-US" altLang="zh-CN" sz="2800">
                <a:latin typeface="楷体" panose="02010609060101010101" pitchFamily="49" charset="-122"/>
                <a:ea typeface="楷体" panose="02010609060101010101" pitchFamily="49" charset="-122"/>
              </a:rPr>
              <a:t>'~'</a:t>
            </a:r>
            <a:r>
              <a:rPr lang="zh-CN" altLang="en-US" sz="2800">
                <a:latin typeface="楷体" panose="02010609060101010101" pitchFamily="49" charset="-122"/>
                <a:ea typeface="楷体" panose="02010609060101010101" pitchFamily="49" charset="-122"/>
              </a:rPr>
              <a:t>的</a:t>
            </a:r>
            <a:r>
              <a:rPr lang="en-US" altLang="zh-CN" sz="2800">
                <a:latin typeface="楷体" panose="02010609060101010101" pitchFamily="49" charset="-122"/>
                <a:ea typeface="楷体" panose="02010609060101010101" pitchFamily="49" charset="-122"/>
              </a:rPr>
              <a:t>ASCII</a:t>
            </a:r>
            <a:r>
              <a:rPr lang="zh-CN" altLang="en-US" sz="2800">
                <a:latin typeface="楷体" panose="02010609060101010101" pitchFamily="49" charset="-122"/>
                <a:ea typeface="楷体" panose="02010609060101010101" pitchFamily="49" charset="-122"/>
              </a:rPr>
              <a:t>值进行比较；</a:t>
            </a:r>
            <a:r>
              <a:rPr lang="en-US" altLang="zh-CN" sz="2800">
                <a:solidFill>
                  <a:schemeClr val="accent6">
                    <a:lumMod val="75000"/>
                  </a:schemeClr>
                </a:solidFill>
                <a:latin typeface="Consolas" panose="020B0609020204030204" pitchFamily="49" charset="0"/>
                <a:ea typeface="楷体" panose="02010609060101010101" pitchFamily="49" charset="-122"/>
              </a:rPr>
              <a:t> c++;</a:t>
            </a:r>
            <a:r>
              <a:rPr lang="zh-CN" altLang="en-US" sz="2800">
                <a:latin typeface="楷体" panose="02010609060101010101" pitchFamily="49" charset="-122"/>
                <a:ea typeface="楷体" panose="02010609060101010101" pitchFamily="49" charset="-122"/>
              </a:rPr>
              <a:t>是将字符</a:t>
            </a:r>
            <a:r>
              <a:rPr lang="en-US" altLang="zh-CN" sz="2800">
                <a:latin typeface="楷体" panose="02010609060101010101" pitchFamily="49" charset="-122"/>
                <a:ea typeface="楷体" panose="02010609060101010101" pitchFamily="49" charset="-122"/>
              </a:rPr>
              <a:t>c</a:t>
            </a:r>
            <a:r>
              <a:rPr lang="zh-CN" altLang="en-US" sz="2800">
                <a:latin typeface="楷体" panose="02010609060101010101" pitchFamily="49" charset="-122"/>
                <a:ea typeface="楷体" panose="02010609060101010101" pitchFamily="49" charset="-122"/>
              </a:rPr>
              <a:t>的</a:t>
            </a:r>
            <a:r>
              <a:rPr lang="en-US" altLang="zh-CN" sz="2800">
                <a:latin typeface="楷体" panose="02010609060101010101" pitchFamily="49" charset="-122"/>
                <a:ea typeface="楷体" panose="02010609060101010101" pitchFamily="49" charset="-122"/>
              </a:rPr>
              <a:t>ASCII</a:t>
            </a:r>
            <a:r>
              <a:rPr lang="zh-CN" altLang="en-US" sz="2800">
                <a:latin typeface="楷体" panose="02010609060101010101" pitchFamily="49" charset="-122"/>
                <a:ea typeface="楷体" panose="02010609060101010101" pitchFamily="49" charset="-122"/>
              </a:rPr>
              <a:t>值加</a:t>
            </a:r>
            <a:r>
              <a:rPr lang="en-US" altLang="zh-CN" sz="2800">
                <a:latin typeface="楷体" panose="02010609060101010101" pitchFamily="49" charset="-122"/>
                <a:ea typeface="楷体" panose="02010609060101010101" pitchFamily="49" charset="-122"/>
              </a:rPr>
              <a:t>1</a:t>
            </a:r>
            <a:r>
              <a:rPr lang="zh-CN" altLang="en-US" sz="2800">
                <a:latin typeface="楷体" panose="02010609060101010101" pitchFamily="49" charset="-122"/>
                <a:ea typeface="楷体" panose="02010609060101010101" pitchFamily="49" charset="-122"/>
              </a:rPr>
              <a:t>对应的字符保存到变量</a:t>
            </a:r>
            <a:r>
              <a:rPr lang="en-US" altLang="zh-CN" sz="2800">
                <a:latin typeface="楷体" panose="02010609060101010101" pitchFamily="49" charset="-122"/>
                <a:ea typeface="楷体" panose="02010609060101010101" pitchFamily="49" charset="-122"/>
              </a:rPr>
              <a:t>c</a:t>
            </a:r>
            <a:r>
              <a:rPr lang="zh-CN" altLang="en-US" sz="2800">
                <a:latin typeface="楷体" panose="02010609060101010101" pitchFamily="49" charset="-122"/>
                <a:ea typeface="楷体" panose="02010609060101010101" pitchFamily="49" charset="-122"/>
              </a:rPr>
              <a:t>中。</a:t>
            </a:r>
            <a:endParaRPr sz="280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31800360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39</a:t>
            </a:fld>
            <a:endParaRPr/>
          </a:p>
        </p:txBody>
      </p:sp>
      <p:sp>
        <p:nvSpPr>
          <p:cNvPr id="160" name="循环语句的语法格式"/>
          <p:cNvSpPr>
            <a:spLocks noGrp="1"/>
          </p:cNvSpPr>
          <p:nvPr>
            <p:ph type="title"/>
          </p:nvPr>
        </p:nvSpPr>
        <p:spPr>
          <a:xfrm>
            <a:off x="547201" y="354125"/>
            <a:ext cx="6672749" cy="1152045"/>
          </a:xfrm>
          <a:prstGeom prst="rect">
            <a:avLst/>
          </a:prstGeom>
        </p:spPr>
        <p:txBody>
          <a:bodyPr/>
          <a:lstStyle/>
          <a:p>
            <a:pPr algn="l"/>
            <a:r>
              <a:rPr lang="en-US" altLang="zh-CN">
                <a:solidFill>
                  <a:srgbClr val="FFFF00"/>
                </a:solidFill>
              </a:rPr>
              <a:t>【</a:t>
            </a:r>
            <a:r>
              <a:rPr lang="zh-CN" altLang="en-US">
                <a:solidFill>
                  <a:srgbClr val="FFFF00"/>
                </a:solidFill>
              </a:rPr>
              <a:t>小练习</a:t>
            </a:r>
            <a:r>
              <a:rPr lang="en-US" altLang="zh-CN">
                <a:solidFill>
                  <a:srgbClr val="FFFF00"/>
                </a:solidFill>
              </a:rPr>
              <a:t>】</a:t>
            </a:r>
            <a:r>
              <a:rPr lang="en-US" b="1">
                <a:solidFill>
                  <a:schemeClr val="bg1"/>
                </a:solidFill>
              </a:rPr>
              <a:t>for</a:t>
            </a:r>
            <a:r>
              <a:rPr lang="en-US">
                <a:solidFill>
                  <a:schemeClr val="bg1"/>
                </a:solidFill>
              </a:rPr>
              <a:t> </a:t>
            </a:r>
            <a:r>
              <a:rPr>
                <a:solidFill>
                  <a:schemeClr val="bg1"/>
                </a:solidFill>
              </a:rPr>
              <a:t>循环语句</a:t>
            </a:r>
          </a:p>
        </p:txBody>
      </p:sp>
      <p:sp>
        <p:nvSpPr>
          <p:cNvPr id="161" name="for是计数型循环的标识符，圆括号括起的是三个表达式。其下的大括号括起的部分是循环体。下图描述了 for 循环的结构。…"/>
          <p:cNvSpPr txBox="1"/>
          <p:nvPr/>
        </p:nvSpPr>
        <p:spPr>
          <a:xfrm>
            <a:off x="547201" y="2320690"/>
            <a:ext cx="12219911" cy="5642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defRPr sz="3000">
                <a:solidFill>
                  <a:schemeClr val="accent5">
                    <a:hueOff val="-82419"/>
                    <a:satOff val="-9513"/>
                    <a:lumOff val="-16343"/>
                  </a:schemeClr>
                </a:solidFill>
                <a:latin typeface="Courier"/>
                <a:ea typeface="Courier"/>
                <a:cs typeface="Courier"/>
                <a:sym typeface="Courier"/>
              </a:defRPr>
            </a:pPr>
            <a:r>
              <a:rPr lang="zh-CN" altLang="en-US" dirty="0">
                <a:solidFill>
                  <a:schemeClr val="tx1"/>
                </a:solidFill>
              </a:rPr>
              <a:t>练习</a:t>
            </a:r>
            <a:r>
              <a:rPr lang="en-US" altLang="zh-CN" dirty="0">
                <a:solidFill>
                  <a:schemeClr val="tx1"/>
                </a:solidFill>
              </a:rPr>
              <a:t>2</a:t>
            </a:r>
            <a:r>
              <a:rPr lang="zh-CN" altLang="en-US" dirty="0">
                <a:solidFill>
                  <a:schemeClr val="tx1"/>
                </a:solidFill>
              </a:rPr>
              <a:t>、计算并输出</a:t>
            </a:r>
            <a:r>
              <a:rPr lang="en-US" altLang="zh-CN" dirty="0">
                <a:solidFill>
                  <a:schemeClr val="accent6">
                    <a:lumMod val="75000"/>
                  </a:schemeClr>
                </a:solidFill>
              </a:rPr>
              <a:t>1+2+...100</a:t>
            </a:r>
            <a:r>
              <a:rPr lang="zh-CN" altLang="en-US" dirty="0">
                <a:solidFill>
                  <a:schemeClr val="tx1"/>
                </a:solidFill>
              </a:rPr>
              <a:t>的和</a:t>
            </a:r>
            <a:endParaRPr dirty="0">
              <a:solidFill>
                <a:schemeClr val="tx1"/>
              </a:solidFill>
            </a:endParaRPr>
          </a:p>
        </p:txBody>
      </p:sp>
      <p:sp>
        <p:nvSpPr>
          <p:cNvPr id="2" name="矩形 1">
            <a:extLst>
              <a:ext uri="{FF2B5EF4-FFF2-40B4-BE49-F238E27FC236}">
                <a16:creationId xmlns:a16="http://schemas.microsoft.com/office/drawing/2014/main" id="{7B9511BC-1428-4071-8AA1-6C819EF8C3FB}"/>
              </a:ext>
            </a:extLst>
          </p:cNvPr>
          <p:cNvSpPr/>
          <p:nvPr/>
        </p:nvSpPr>
        <p:spPr>
          <a:xfrm>
            <a:off x="547201" y="3139576"/>
            <a:ext cx="10120799" cy="6126998"/>
          </a:xfrm>
          <a:prstGeom prst="rect">
            <a:avLst/>
          </a:prstGeom>
        </p:spPr>
        <p:txBody>
          <a:bodyPr wrap="square">
            <a:spAutoFit/>
          </a:bodyPr>
          <a:lstStyle/>
          <a:p>
            <a:pPr algn="l">
              <a:lnSpc>
                <a:spcPct val="150000"/>
              </a:lnSpc>
            </a:pPr>
            <a:r>
              <a:rPr lang="zh-CN" altLang="en-US" dirty="0">
                <a:solidFill>
                  <a:srgbClr val="0070C0"/>
                </a:solidFill>
                <a:latin typeface="Consolas" panose="020B0609020204030204" pitchFamily="49" charset="0"/>
              </a:rPr>
              <a:t>#include &lt;iostream&gt;</a:t>
            </a:r>
          </a:p>
          <a:p>
            <a:pPr algn="l">
              <a:lnSpc>
                <a:spcPct val="150000"/>
              </a:lnSpc>
            </a:pPr>
            <a:r>
              <a:rPr lang="zh-CN" altLang="en-US" dirty="0">
                <a:solidFill>
                  <a:srgbClr val="0070C0"/>
                </a:solidFill>
                <a:latin typeface="Consolas" panose="020B0609020204030204" pitchFamily="49" charset="0"/>
              </a:rPr>
              <a:t>using namespace std;</a:t>
            </a:r>
          </a:p>
          <a:p>
            <a:pPr algn="l">
              <a:lnSpc>
                <a:spcPct val="150000"/>
              </a:lnSpc>
            </a:pPr>
            <a:endParaRPr lang="zh-CN" altLang="en-US" dirty="0">
              <a:solidFill>
                <a:srgbClr val="0070C0"/>
              </a:solidFill>
              <a:latin typeface="Consolas" panose="020B0609020204030204" pitchFamily="49" charset="0"/>
            </a:endParaRPr>
          </a:p>
          <a:p>
            <a:pPr algn="l">
              <a:lnSpc>
                <a:spcPct val="150000"/>
              </a:lnSpc>
            </a:pPr>
            <a:r>
              <a:rPr lang="zh-CN" altLang="en-US" dirty="0">
                <a:solidFill>
                  <a:srgbClr val="0070C0"/>
                </a:solidFill>
                <a:latin typeface="Consolas" panose="020B0609020204030204" pitchFamily="49" charset="0"/>
              </a:rPr>
              <a:t>int main()</a:t>
            </a:r>
          </a:p>
          <a:p>
            <a:pPr algn="l">
              <a:lnSpc>
                <a:spcPct val="150000"/>
              </a:lnSpc>
            </a:pPr>
            <a:r>
              <a:rPr lang="zh-CN" altLang="en-US" dirty="0">
                <a:solidFill>
                  <a:srgbClr val="0070C0"/>
                </a:solidFill>
                <a:latin typeface="Consolas" panose="020B0609020204030204" pitchFamily="49" charset="0"/>
              </a:rPr>
              <a:t>{</a:t>
            </a:r>
          </a:p>
          <a:p>
            <a:pPr algn="l">
              <a:lnSpc>
                <a:spcPct val="150000"/>
              </a:lnSpc>
            </a:pPr>
            <a:r>
              <a:rPr lang="zh-CN" altLang="en-US" dirty="0">
                <a:solidFill>
                  <a:srgbClr val="0070C0"/>
                </a:solidFill>
                <a:latin typeface="Consolas" panose="020B0609020204030204" pitchFamily="49" charset="0"/>
              </a:rPr>
              <a:t>	</a:t>
            </a:r>
            <a:r>
              <a:rPr lang="zh-CN" altLang="en-US" dirty="0">
                <a:solidFill>
                  <a:schemeClr val="accent6">
                    <a:lumMod val="75000"/>
                  </a:schemeClr>
                </a:solidFill>
                <a:highlight>
                  <a:srgbClr val="FFFF00"/>
                </a:highlight>
                <a:latin typeface="Consolas" panose="020B0609020204030204" pitchFamily="49" charset="0"/>
              </a:rPr>
              <a:t>int sum = 0;</a:t>
            </a:r>
            <a:r>
              <a:rPr lang="zh-CN" altLang="en-US" dirty="0">
                <a:solidFill>
                  <a:schemeClr val="accent6">
                    <a:lumMod val="75000"/>
                  </a:schemeClr>
                </a:solidFill>
                <a:latin typeface="Consolas" panose="020B0609020204030204" pitchFamily="49" charset="0"/>
              </a:rPr>
              <a:t>  </a:t>
            </a:r>
            <a:r>
              <a:rPr lang="en-US" altLang="zh-CN" b="0" dirty="0">
                <a:solidFill>
                  <a:srgbClr val="00B050"/>
                </a:solidFill>
                <a:latin typeface="Consolas" panose="020B0609020204030204" pitchFamily="49" charset="0"/>
              </a:rPr>
              <a:t>/// </a:t>
            </a:r>
            <a:r>
              <a:rPr lang="zh-CN" altLang="en-US" b="0" dirty="0">
                <a:solidFill>
                  <a:srgbClr val="00B050"/>
                </a:solidFill>
                <a:latin typeface="Consolas" panose="020B0609020204030204" pitchFamily="49" charset="0"/>
              </a:rPr>
              <a:t>注意：需要设置正确的初始值</a:t>
            </a:r>
          </a:p>
          <a:p>
            <a:pPr algn="l">
              <a:lnSpc>
                <a:spcPct val="150000"/>
              </a:lnSpc>
            </a:pPr>
            <a:r>
              <a:rPr lang="zh-CN" altLang="en-US" dirty="0">
                <a:solidFill>
                  <a:schemeClr val="accent6">
                    <a:lumMod val="75000"/>
                  </a:schemeClr>
                </a:solidFill>
                <a:latin typeface="Consolas" panose="020B0609020204030204" pitchFamily="49" charset="0"/>
              </a:rPr>
              <a:t>	for (int n=1; n&lt;=100; n++)</a:t>
            </a:r>
          </a:p>
          <a:p>
            <a:pPr algn="l">
              <a:lnSpc>
                <a:spcPct val="150000"/>
              </a:lnSpc>
            </a:pPr>
            <a:r>
              <a:rPr lang="zh-CN" altLang="en-US" dirty="0">
                <a:solidFill>
                  <a:schemeClr val="accent6">
                    <a:lumMod val="75000"/>
                  </a:schemeClr>
                </a:solidFill>
                <a:latin typeface="Consolas" panose="020B0609020204030204" pitchFamily="49" charset="0"/>
              </a:rPr>
              <a:t>		sum += n; </a:t>
            </a:r>
            <a:r>
              <a:rPr lang="en-US" altLang="zh-CN" b="0" dirty="0">
                <a:solidFill>
                  <a:srgbClr val="00B050"/>
                </a:solidFill>
                <a:latin typeface="Consolas" panose="020B0609020204030204" pitchFamily="49" charset="0"/>
              </a:rPr>
              <a:t>/// </a:t>
            </a:r>
            <a:r>
              <a:rPr lang="zh-CN" altLang="en-US" b="0" dirty="0">
                <a:solidFill>
                  <a:srgbClr val="00B050"/>
                </a:solidFill>
                <a:latin typeface="Consolas" panose="020B0609020204030204" pitchFamily="49" charset="0"/>
              </a:rPr>
              <a:t>记得这个缩写形式的运算符是什么含义吗？</a:t>
            </a:r>
          </a:p>
          <a:p>
            <a:pPr algn="l">
              <a:lnSpc>
                <a:spcPct val="150000"/>
              </a:lnSpc>
            </a:pPr>
            <a:r>
              <a:rPr lang="zh-CN" altLang="en-US" dirty="0">
                <a:solidFill>
                  <a:srgbClr val="0070C0"/>
                </a:solidFill>
                <a:latin typeface="Consolas" panose="020B0609020204030204" pitchFamily="49" charset="0"/>
              </a:rPr>
              <a:t>	cout &lt;&lt; "1+2+...+100 = " &lt;&lt; sum &lt;&lt; endl;</a:t>
            </a:r>
          </a:p>
          <a:p>
            <a:pPr algn="l">
              <a:lnSpc>
                <a:spcPct val="150000"/>
              </a:lnSpc>
            </a:pPr>
            <a:r>
              <a:rPr lang="zh-CN" altLang="en-US" dirty="0">
                <a:solidFill>
                  <a:srgbClr val="0070C0"/>
                </a:solidFill>
                <a:latin typeface="Consolas" panose="020B0609020204030204" pitchFamily="49" charset="0"/>
              </a:rPr>
              <a:t>	return 0;</a:t>
            </a:r>
          </a:p>
          <a:p>
            <a:pPr algn="l">
              <a:lnSpc>
                <a:spcPct val="150000"/>
              </a:lnSpc>
            </a:pPr>
            <a:r>
              <a:rPr lang="zh-CN" altLang="en-US" dirty="0">
                <a:solidFill>
                  <a:srgbClr val="0070C0"/>
                </a:solidFill>
                <a:latin typeface="Consolas" panose="020B0609020204030204" pitchFamily="49" charset="0"/>
              </a:rPr>
              <a:t>} </a:t>
            </a:r>
            <a:r>
              <a:rPr lang="zh-CN" altLang="en-US" dirty="0">
                <a:solidFill>
                  <a:srgbClr val="00B050"/>
                </a:solidFill>
                <a:latin typeface="Consolas" panose="020B0609020204030204" pitchFamily="49" charset="0"/>
              </a:rPr>
              <a:t>// </a:t>
            </a:r>
            <a:r>
              <a:rPr lang="en-US" altLang="zh-CN" dirty="0">
                <a:solidFill>
                  <a:srgbClr val="00B050"/>
                </a:solidFill>
                <a:latin typeface="Consolas" panose="020B0609020204030204" pitchFamily="49" charset="0"/>
              </a:rPr>
              <a:t>E</a:t>
            </a:r>
            <a:r>
              <a:rPr lang="zh-CN" altLang="en-US" dirty="0">
                <a:solidFill>
                  <a:srgbClr val="00B050"/>
                </a:solidFill>
                <a:latin typeface="Consolas" panose="020B0609020204030204" pitchFamily="49" charset="0"/>
              </a:rPr>
              <a:t>03-</a:t>
            </a:r>
            <a:r>
              <a:rPr lang="en-US" altLang="zh-CN" dirty="0">
                <a:solidFill>
                  <a:srgbClr val="00B050"/>
                </a:solidFill>
                <a:latin typeface="Consolas" panose="020B0609020204030204" pitchFamily="49" charset="0"/>
              </a:rPr>
              <a:t>0</a:t>
            </a:r>
            <a:r>
              <a:rPr lang="zh-CN" altLang="en-US" dirty="0">
                <a:solidFill>
                  <a:srgbClr val="00B050"/>
                </a:solidFill>
                <a:latin typeface="Consolas" panose="020B0609020204030204" pitchFamily="49" charset="0"/>
              </a:rPr>
              <a:t>1.cpp</a:t>
            </a:r>
          </a:p>
        </p:txBody>
      </p:sp>
    </p:spTree>
    <p:extLst>
      <p:ext uri="{BB962C8B-B14F-4D97-AF65-F5344CB8AC3E}">
        <p14:creationId xmlns:p14="http://schemas.microsoft.com/office/powerpoint/2010/main" val="207909454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40</a:t>
            </a:fld>
            <a:endParaRPr/>
          </a:p>
        </p:txBody>
      </p:sp>
      <p:sp>
        <p:nvSpPr>
          <p:cNvPr id="160" name="循环语句的语法格式"/>
          <p:cNvSpPr>
            <a:spLocks noGrp="1"/>
          </p:cNvSpPr>
          <p:nvPr>
            <p:ph type="title"/>
          </p:nvPr>
        </p:nvSpPr>
        <p:spPr>
          <a:xfrm>
            <a:off x="547201" y="354125"/>
            <a:ext cx="6628299" cy="1152045"/>
          </a:xfrm>
          <a:prstGeom prst="rect">
            <a:avLst/>
          </a:prstGeom>
        </p:spPr>
        <p:txBody>
          <a:bodyPr/>
          <a:lstStyle/>
          <a:p>
            <a:pPr algn="l"/>
            <a:r>
              <a:rPr lang="en-US" altLang="zh-CN" dirty="0">
                <a:solidFill>
                  <a:srgbClr val="FFFF00"/>
                </a:solidFill>
              </a:rPr>
              <a:t>【</a:t>
            </a:r>
            <a:r>
              <a:rPr lang="zh-CN" altLang="en-US" dirty="0">
                <a:solidFill>
                  <a:srgbClr val="FFFF00"/>
                </a:solidFill>
              </a:rPr>
              <a:t>小练习</a:t>
            </a:r>
            <a:r>
              <a:rPr lang="en-US" altLang="zh-CN" dirty="0">
                <a:solidFill>
                  <a:srgbClr val="FFFF00"/>
                </a:solidFill>
              </a:rPr>
              <a:t>】</a:t>
            </a:r>
            <a:r>
              <a:rPr lang="en-US" b="1" dirty="0">
                <a:solidFill>
                  <a:schemeClr val="bg1"/>
                </a:solidFill>
              </a:rPr>
              <a:t>for</a:t>
            </a:r>
            <a:r>
              <a:rPr lang="en-US" dirty="0">
                <a:solidFill>
                  <a:schemeClr val="bg1"/>
                </a:solidFill>
              </a:rPr>
              <a:t> </a:t>
            </a:r>
            <a:r>
              <a:rPr dirty="0" err="1">
                <a:solidFill>
                  <a:schemeClr val="bg1"/>
                </a:solidFill>
              </a:rPr>
              <a:t>循环语句</a:t>
            </a:r>
            <a:endParaRPr dirty="0">
              <a:solidFill>
                <a:schemeClr val="bg1"/>
              </a:solidFill>
            </a:endParaRPr>
          </a:p>
        </p:txBody>
      </p:sp>
      <p:sp>
        <p:nvSpPr>
          <p:cNvPr id="161" name="for是计数型循环的标识符，圆括号括起的是三个表达式。其下的大括号括起的部分是循环体。下图描述了 for 循环的结构。…"/>
          <p:cNvSpPr txBox="1"/>
          <p:nvPr/>
        </p:nvSpPr>
        <p:spPr>
          <a:xfrm>
            <a:off x="547201" y="2320690"/>
            <a:ext cx="12219911" cy="5642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defRPr sz="3000">
                <a:solidFill>
                  <a:schemeClr val="accent5">
                    <a:hueOff val="-82419"/>
                    <a:satOff val="-9513"/>
                    <a:lumOff val="-16343"/>
                  </a:schemeClr>
                </a:solidFill>
                <a:latin typeface="Courier"/>
                <a:ea typeface="Courier"/>
                <a:cs typeface="Courier"/>
                <a:sym typeface="Courier"/>
              </a:defRPr>
            </a:pPr>
            <a:r>
              <a:rPr lang="zh-CN" altLang="en-US" dirty="0">
                <a:solidFill>
                  <a:schemeClr val="tx1"/>
                </a:solidFill>
              </a:rPr>
              <a:t>练习</a:t>
            </a:r>
            <a:r>
              <a:rPr lang="en-US" altLang="zh-CN" dirty="0">
                <a:solidFill>
                  <a:schemeClr val="tx1"/>
                </a:solidFill>
              </a:rPr>
              <a:t>3</a:t>
            </a:r>
            <a:r>
              <a:rPr lang="zh-CN" altLang="en-US" dirty="0">
                <a:solidFill>
                  <a:schemeClr val="tx1"/>
                </a:solidFill>
              </a:rPr>
              <a:t>、计算并输出</a:t>
            </a:r>
            <a:r>
              <a:rPr lang="en-US" altLang="zh-CN" dirty="0">
                <a:solidFill>
                  <a:schemeClr val="accent6">
                    <a:lumMod val="75000"/>
                  </a:schemeClr>
                </a:solidFill>
              </a:rPr>
              <a:t>1*2*...*10</a:t>
            </a:r>
            <a:r>
              <a:rPr lang="zh-CN" altLang="en-US" dirty="0">
                <a:solidFill>
                  <a:schemeClr val="tx1"/>
                </a:solidFill>
              </a:rPr>
              <a:t>的积</a:t>
            </a:r>
            <a:endParaRPr dirty="0">
              <a:solidFill>
                <a:schemeClr val="tx1"/>
              </a:solidFill>
            </a:endParaRPr>
          </a:p>
        </p:txBody>
      </p:sp>
      <p:sp>
        <p:nvSpPr>
          <p:cNvPr id="2" name="矩形 1">
            <a:extLst>
              <a:ext uri="{FF2B5EF4-FFF2-40B4-BE49-F238E27FC236}">
                <a16:creationId xmlns:a16="http://schemas.microsoft.com/office/drawing/2014/main" id="{7B9511BC-1428-4071-8AA1-6C819EF8C3FB}"/>
              </a:ext>
            </a:extLst>
          </p:cNvPr>
          <p:cNvSpPr/>
          <p:nvPr/>
        </p:nvSpPr>
        <p:spPr>
          <a:xfrm>
            <a:off x="547201" y="3139576"/>
            <a:ext cx="8060267" cy="6126998"/>
          </a:xfrm>
          <a:prstGeom prst="rect">
            <a:avLst/>
          </a:prstGeom>
        </p:spPr>
        <p:txBody>
          <a:bodyPr wrap="square">
            <a:spAutoFit/>
          </a:bodyPr>
          <a:lstStyle/>
          <a:p>
            <a:pPr algn="l">
              <a:lnSpc>
                <a:spcPct val="150000"/>
              </a:lnSpc>
            </a:pPr>
            <a:r>
              <a:rPr lang="zh-CN" altLang="en-US" dirty="0">
                <a:solidFill>
                  <a:srgbClr val="0070C0"/>
                </a:solidFill>
                <a:latin typeface="Consolas" panose="020B0609020204030204" pitchFamily="49" charset="0"/>
              </a:rPr>
              <a:t>#include &lt;iostream&gt;</a:t>
            </a:r>
          </a:p>
          <a:p>
            <a:pPr algn="l">
              <a:lnSpc>
                <a:spcPct val="150000"/>
              </a:lnSpc>
            </a:pPr>
            <a:r>
              <a:rPr lang="zh-CN" altLang="en-US" dirty="0">
                <a:solidFill>
                  <a:srgbClr val="0070C0"/>
                </a:solidFill>
                <a:latin typeface="Consolas" panose="020B0609020204030204" pitchFamily="49" charset="0"/>
              </a:rPr>
              <a:t>using namespace std;</a:t>
            </a:r>
          </a:p>
          <a:p>
            <a:pPr algn="l">
              <a:lnSpc>
                <a:spcPct val="150000"/>
              </a:lnSpc>
            </a:pPr>
            <a:endParaRPr lang="zh-CN" altLang="en-US" dirty="0">
              <a:solidFill>
                <a:srgbClr val="0070C0"/>
              </a:solidFill>
              <a:latin typeface="Consolas" panose="020B0609020204030204" pitchFamily="49" charset="0"/>
            </a:endParaRPr>
          </a:p>
          <a:p>
            <a:pPr algn="l">
              <a:lnSpc>
                <a:spcPct val="150000"/>
              </a:lnSpc>
            </a:pPr>
            <a:r>
              <a:rPr lang="zh-CN" altLang="en-US" dirty="0">
                <a:solidFill>
                  <a:srgbClr val="0070C0"/>
                </a:solidFill>
                <a:latin typeface="Consolas" panose="020B0609020204030204" pitchFamily="49" charset="0"/>
              </a:rPr>
              <a:t>int main()</a:t>
            </a:r>
          </a:p>
          <a:p>
            <a:pPr algn="l">
              <a:lnSpc>
                <a:spcPct val="150000"/>
              </a:lnSpc>
            </a:pPr>
            <a:r>
              <a:rPr lang="zh-CN" altLang="en-US" dirty="0">
                <a:solidFill>
                  <a:srgbClr val="0070C0"/>
                </a:solidFill>
                <a:latin typeface="Consolas" panose="020B0609020204030204" pitchFamily="49" charset="0"/>
              </a:rPr>
              <a:t>{</a:t>
            </a:r>
          </a:p>
          <a:p>
            <a:pPr algn="l">
              <a:lnSpc>
                <a:spcPct val="150000"/>
              </a:lnSpc>
            </a:pPr>
            <a:r>
              <a:rPr lang="zh-CN" altLang="en-US" dirty="0">
                <a:solidFill>
                  <a:srgbClr val="0070C0"/>
                </a:solidFill>
                <a:latin typeface="Consolas" panose="020B0609020204030204" pitchFamily="49" charset="0"/>
              </a:rPr>
              <a:t>	</a:t>
            </a:r>
            <a:r>
              <a:rPr lang="zh-CN" altLang="en-US" dirty="0">
                <a:solidFill>
                  <a:schemeClr val="accent6">
                    <a:lumMod val="75000"/>
                  </a:schemeClr>
                </a:solidFill>
                <a:highlight>
                  <a:srgbClr val="FFFF00"/>
                </a:highlight>
                <a:latin typeface="Consolas" panose="020B0609020204030204" pitchFamily="49" charset="0"/>
              </a:rPr>
              <a:t>int </a:t>
            </a:r>
            <a:r>
              <a:rPr lang="en-US" altLang="zh-CN" dirty="0" err="1">
                <a:solidFill>
                  <a:schemeClr val="accent6">
                    <a:lumMod val="75000"/>
                  </a:schemeClr>
                </a:solidFill>
                <a:highlight>
                  <a:srgbClr val="FFFF00"/>
                </a:highlight>
                <a:latin typeface="Consolas" panose="020B0609020204030204" pitchFamily="49" charset="0"/>
              </a:rPr>
              <a:t>mul</a:t>
            </a:r>
            <a:r>
              <a:rPr lang="zh-CN" altLang="en-US" dirty="0">
                <a:solidFill>
                  <a:schemeClr val="accent6">
                    <a:lumMod val="75000"/>
                  </a:schemeClr>
                </a:solidFill>
                <a:highlight>
                  <a:srgbClr val="FFFF00"/>
                </a:highlight>
                <a:latin typeface="Consolas" panose="020B0609020204030204" pitchFamily="49" charset="0"/>
              </a:rPr>
              <a:t> = </a:t>
            </a:r>
            <a:r>
              <a:rPr lang="en-US" altLang="zh-CN" dirty="0">
                <a:solidFill>
                  <a:schemeClr val="accent6">
                    <a:lumMod val="75000"/>
                  </a:schemeClr>
                </a:solidFill>
                <a:highlight>
                  <a:srgbClr val="FFFF00"/>
                </a:highlight>
                <a:latin typeface="Consolas" panose="020B0609020204030204" pitchFamily="49" charset="0"/>
              </a:rPr>
              <a:t>1</a:t>
            </a:r>
            <a:r>
              <a:rPr lang="zh-CN" altLang="en-US" dirty="0">
                <a:solidFill>
                  <a:schemeClr val="accent6">
                    <a:lumMod val="75000"/>
                  </a:schemeClr>
                </a:solidFill>
                <a:highlight>
                  <a:srgbClr val="FFFF00"/>
                </a:highlight>
                <a:latin typeface="Consolas" panose="020B0609020204030204" pitchFamily="49" charset="0"/>
              </a:rPr>
              <a:t>;</a:t>
            </a:r>
          </a:p>
          <a:p>
            <a:pPr algn="l">
              <a:lnSpc>
                <a:spcPct val="150000"/>
              </a:lnSpc>
            </a:pPr>
            <a:r>
              <a:rPr lang="zh-CN" altLang="en-US" dirty="0">
                <a:solidFill>
                  <a:schemeClr val="accent6">
                    <a:lumMod val="75000"/>
                  </a:schemeClr>
                </a:solidFill>
                <a:latin typeface="Consolas" panose="020B0609020204030204" pitchFamily="49" charset="0"/>
              </a:rPr>
              <a:t>	for (int n=1; n&lt;=10; n++) </a:t>
            </a:r>
            <a:r>
              <a:rPr lang="en-US" altLang="zh-CN" dirty="0">
                <a:solidFill>
                  <a:srgbClr val="00B050"/>
                </a:solidFill>
                <a:latin typeface="Consolas" panose="020B0609020204030204" pitchFamily="49" charset="0"/>
              </a:rPr>
              <a:t>// or n=2 .. 10</a:t>
            </a:r>
            <a:endParaRPr lang="zh-CN" altLang="en-US" dirty="0">
              <a:solidFill>
                <a:srgbClr val="00B050"/>
              </a:solidFill>
              <a:latin typeface="Consolas" panose="020B0609020204030204" pitchFamily="49" charset="0"/>
            </a:endParaRPr>
          </a:p>
          <a:p>
            <a:pPr algn="l">
              <a:lnSpc>
                <a:spcPct val="150000"/>
              </a:lnSpc>
            </a:pPr>
            <a:r>
              <a:rPr lang="zh-CN" altLang="en-US" dirty="0">
                <a:solidFill>
                  <a:schemeClr val="accent6">
                    <a:lumMod val="75000"/>
                  </a:schemeClr>
                </a:solidFill>
                <a:latin typeface="Consolas" panose="020B0609020204030204" pitchFamily="49" charset="0"/>
              </a:rPr>
              <a:t>		</a:t>
            </a:r>
            <a:r>
              <a:rPr lang="en-US" altLang="zh-CN" dirty="0" err="1">
                <a:solidFill>
                  <a:schemeClr val="accent6">
                    <a:lumMod val="75000"/>
                  </a:schemeClr>
                </a:solidFill>
                <a:latin typeface="Consolas" panose="020B0609020204030204" pitchFamily="49" charset="0"/>
              </a:rPr>
              <a:t>mul</a:t>
            </a:r>
            <a:r>
              <a:rPr lang="zh-CN" altLang="en-US" dirty="0">
                <a:solidFill>
                  <a:schemeClr val="accent6">
                    <a:lumMod val="75000"/>
                  </a:schemeClr>
                </a:solidFill>
                <a:latin typeface="Consolas" panose="020B0609020204030204" pitchFamily="49" charset="0"/>
              </a:rPr>
              <a:t> </a:t>
            </a:r>
            <a:r>
              <a:rPr lang="en-US" altLang="zh-CN" dirty="0">
                <a:solidFill>
                  <a:schemeClr val="accent6">
                    <a:lumMod val="75000"/>
                  </a:schemeClr>
                </a:solidFill>
                <a:latin typeface="Consolas" panose="020B0609020204030204" pitchFamily="49" charset="0"/>
              </a:rPr>
              <a:t>*</a:t>
            </a:r>
            <a:r>
              <a:rPr lang="zh-CN" altLang="en-US" dirty="0">
                <a:solidFill>
                  <a:schemeClr val="accent6">
                    <a:lumMod val="75000"/>
                  </a:schemeClr>
                </a:solidFill>
                <a:latin typeface="Consolas" panose="020B0609020204030204" pitchFamily="49" charset="0"/>
              </a:rPr>
              <a:t>= n;</a:t>
            </a:r>
          </a:p>
          <a:p>
            <a:pPr algn="l">
              <a:lnSpc>
                <a:spcPct val="150000"/>
              </a:lnSpc>
            </a:pPr>
            <a:r>
              <a:rPr lang="zh-CN" altLang="en-US" dirty="0">
                <a:solidFill>
                  <a:srgbClr val="0070C0"/>
                </a:solidFill>
                <a:latin typeface="Consolas" panose="020B0609020204030204" pitchFamily="49" charset="0"/>
              </a:rPr>
              <a:t>	cout &lt;&lt; "1</a:t>
            </a:r>
            <a:r>
              <a:rPr lang="en-US" altLang="zh-CN" dirty="0">
                <a:solidFill>
                  <a:srgbClr val="0070C0"/>
                </a:solidFill>
                <a:latin typeface="Consolas" panose="020B0609020204030204" pitchFamily="49" charset="0"/>
              </a:rPr>
              <a:t>*</a:t>
            </a:r>
            <a:r>
              <a:rPr lang="zh-CN" altLang="en-US" dirty="0">
                <a:solidFill>
                  <a:srgbClr val="0070C0"/>
                </a:solidFill>
                <a:latin typeface="Consolas" panose="020B0609020204030204" pitchFamily="49" charset="0"/>
              </a:rPr>
              <a:t>2</a:t>
            </a:r>
            <a:r>
              <a:rPr lang="en-US" altLang="zh-CN" dirty="0">
                <a:solidFill>
                  <a:srgbClr val="0070C0"/>
                </a:solidFill>
                <a:latin typeface="Consolas" panose="020B0609020204030204" pitchFamily="49" charset="0"/>
              </a:rPr>
              <a:t>*</a:t>
            </a:r>
            <a:r>
              <a:rPr lang="zh-CN" altLang="en-US" dirty="0">
                <a:solidFill>
                  <a:srgbClr val="0070C0"/>
                </a:solidFill>
                <a:latin typeface="Consolas" panose="020B0609020204030204" pitchFamily="49" charset="0"/>
              </a:rPr>
              <a:t>...</a:t>
            </a:r>
            <a:r>
              <a:rPr lang="en-US" altLang="zh-CN" dirty="0">
                <a:solidFill>
                  <a:srgbClr val="0070C0"/>
                </a:solidFill>
                <a:latin typeface="Consolas" panose="020B0609020204030204" pitchFamily="49" charset="0"/>
              </a:rPr>
              <a:t>*</a:t>
            </a:r>
            <a:r>
              <a:rPr lang="zh-CN" altLang="en-US" dirty="0">
                <a:solidFill>
                  <a:srgbClr val="0070C0"/>
                </a:solidFill>
                <a:latin typeface="Consolas" panose="020B0609020204030204" pitchFamily="49" charset="0"/>
              </a:rPr>
              <a:t>10 = " &lt;&lt; </a:t>
            </a:r>
            <a:r>
              <a:rPr lang="en-US" altLang="zh-CN" dirty="0" err="1">
                <a:solidFill>
                  <a:srgbClr val="0070C0"/>
                </a:solidFill>
                <a:latin typeface="Consolas" panose="020B0609020204030204" pitchFamily="49" charset="0"/>
              </a:rPr>
              <a:t>mul</a:t>
            </a:r>
            <a:r>
              <a:rPr lang="zh-CN" altLang="en-US" dirty="0">
                <a:solidFill>
                  <a:srgbClr val="0070C0"/>
                </a:solidFill>
                <a:latin typeface="Consolas" panose="020B0609020204030204" pitchFamily="49" charset="0"/>
              </a:rPr>
              <a:t> &lt;&lt; endl;</a:t>
            </a:r>
          </a:p>
          <a:p>
            <a:pPr algn="l">
              <a:lnSpc>
                <a:spcPct val="150000"/>
              </a:lnSpc>
            </a:pPr>
            <a:r>
              <a:rPr lang="zh-CN" altLang="en-US" dirty="0">
                <a:solidFill>
                  <a:srgbClr val="0070C0"/>
                </a:solidFill>
                <a:latin typeface="Consolas" panose="020B0609020204030204" pitchFamily="49" charset="0"/>
              </a:rPr>
              <a:t>	return 0;</a:t>
            </a:r>
          </a:p>
          <a:p>
            <a:pPr algn="l">
              <a:lnSpc>
                <a:spcPct val="150000"/>
              </a:lnSpc>
            </a:pPr>
            <a:r>
              <a:rPr lang="zh-CN" altLang="en-US" dirty="0">
                <a:solidFill>
                  <a:srgbClr val="0070C0"/>
                </a:solidFill>
                <a:latin typeface="Consolas" panose="020B0609020204030204" pitchFamily="49" charset="0"/>
              </a:rPr>
              <a:t>} </a:t>
            </a:r>
            <a:r>
              <a:rPr lang="zh-CN" altLang="en-US" dirty="0">
                <a:solidFill>
                  <a:srgbClr val="00B050"/>
                </a:solidFill>
                <a:latin typeface="Consolas" panose="020B0609020204030204" pitchFamily="49" charset="0"/>
              </a:rPr>
              <a:t>// </a:t>
            </a:r>
            <a:r>
              <a:rPr lang="en-US" altLang="zh-CN" dirty="0">
                <a:solidFill>
                  <a:srgbClr val="00B050"/>
                </a:solidFill>
                <a:latin typeface="Consolas" panose="020B0609020204030204" pitchFamily="49" charset="0"/>
              </a:rPr>
              <a:t>E</a:t>
            </a:r>
            <a:r>
              <a:rPr lang="zh-CN" altLang="en-US" dirty="0">
                <a:solidFill>
                  <a:srgbClr val="00B050"/>
                </a:solidFill>
                <a:latin typeface="Consolas" panose="020B0609020204030204" pitchFamily="49" charset="0"/>
              </a:rPr>
              <a:t>03-</a:t>
            </a:r>
            <a:r>
              <a:rPr lang="en-US" altLang="zh-CN" dirty="0">
                <a:solidFill>
                  <a:srgbClr val="00B050"/>
                </a:solidFill>
                <a:latin typeface="Consolas" panose="020B0609020204030204" pitchFamily="49" charset="0"/>
              </a:rPr>
              <a:t>02</a:t>
            </a:r>
            <a:r>
              <a:rPr lang="zh-CN" altLang="en-US" dirty="0">
                <a:solidFill>
                  <a:srgbClr val="00B050"/>
                </a:solidFill>
                <a:latin typeface="Consolas" panose="020B0609020204030204" pitchFamily="49" charset="0"/>
              </a:rPr>
              <a:t>.cpp</a:t>
            </a:r>
          </a:p>
        </p:txBody>
      </p:sp>
    </p:spTree>
    <p:extLst>
      <p:ext uri="{BB962C8B-B14F-4D97-AF65-F5344CB8AC3E}">
        <p14:creationId xmlns:p14="http://schemas.microsoft.com/office/powerpoint/2010/main" val="263556856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5D712-22C2-4251-A6C0-AF6C549EAEDA}"/>
              </a:ext>
            </a:extLst>
          </p:cNvPr>
          <p:cNvSpPr>
            <a:spLocks noGrp="1"/>
          </p:cNvSpPr>
          <p:nvPr>
            <p:ph type="title"/>
          </p:nvPr>
        </p:nvSpPr>
        <p:spPr>
          <a:xfrm>
            <a:off x="547201" y="410841"/>
            <a:ext cx="10003568" cy="927598"/>
          </a:xfrm>
          <a:solidFill>
            <a:schemeClr val="accent1">
              <a:lumMod val="75000"/>
            </a:schemeClr>
          </a:solidFill>
        </p:spPr>
        <p:txBody>
          <a:bodyPr/>
          <a:lstStyle/>
          <a:p>
            <a:r>
              <a:rPr lang="zh-CN" altLang="en-US" dirty="0"/>
              <a:t>作业“回头再看” </a:t>
            </a:r>
            <a:r>
              <a:rPr lang="en-US" altLang="zh-CN" dirty="0"/>
              <a:t>—— </a:t>
            </a:r>
            <a:r>
              <a:rPr lang="zh-CN" altLang="en-US" dirty="0"/>
              <a:t>奇数且</a:t>
            </a:r>
            <a:r>
              <a:rPr lang="en-US" altLang="zh-CN" dirty="0"/>
              <a:t>3</a:t>
            </a:r>
            <a:r>
              <a:rPr lang="zh-CN" altLang="en-US" dirty="0"/>
              <a:t>倍数 </a:t>
            </a:r>
            <a:r>
              <a:rPr lang="en-US" altLang="zh-CN" b="1" dirty="0">
                <a:solidFill>
                  <a:srgbClr val="FFC000"/>
                </a:solidFill>
              </a:rPr>
              <a:t>V1</a:t>
            </a:r>
            <a:endParaRPr lang="zh-CN" altLang="en-US" b="1" dirty="0">
              <a:solidFill>
                <a:srgbClr val="FFC000"/>
              </a:solidFill>
            </a:endParaRPr>
          </a:p>
        </p:txBody>
      </p:sp>
      <p:sp>
        <p:nvSpPr>
          <p:cNvPr id="8" name="文本框 7">
            <a:extLst>
              <a:ext uri="{FF2B5EF4-FFF2-40B4-BE49-F238E27FC236}">
                <a16:creationId xmlns:a16="http://schemas.microsoft.com/office/drawing/2014/main" id="{0BF5D086-4246-4523-A930-3FFEED0451A0}"/>
              </a:ext>
            </a:extLst>
          </p:cNvPr>
          <p:cNvSpPr txBox="1"/>
          <p:nvPr/>
        </p:nvSpPr>
        <p:spPr>
          <a:xfrm>
            <a:off x="525463" y="1944763"/>
            <a:ext cx="10374084" cy="80945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2000" b="0" dirty="0">
                <a:solidFill>
                  <a:srgbClr val="0000FF"/>
                </a:solidFill>
                <a:effectLst/>
                <a:latin typeface="Consolas" panose="020B0609020204030204" pitchFamily="49" charset="0"/>
              </a:rPr>
              <a:t>int</a:t>
            </a:r>
            <a:r>
              <a:rPr lang="en-US" altLang="zh-CN" sz="2000" b="0" dirty="0">
                <a:solidFill>
                  <a:srgbClr val="000000"/>
                </a:solidFill>
                <a:effectLst/>
                <a:latin typeface="Consolas" panose="020B0609020204030204" pitchFamily="49" charset="0"/>
              </a:rPr>
              <a:t> main()</a:t>
            </a:r>
          </a:p>
          <a:p>
            <a:pPr algn="l"/>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int</a:t>
            </a:r>
            <a:r>
              <a:rPr lang="en-US" altLang="zh-CN" sz="2000" b="0" dirty="0">
                <a:solidFill>
                  <a:srgbClr val="000000"/>
                </a:solidFill>
                <a:effectLst/>
                <a:latin typeface="Consolas" panose="020B0609020204030204" pitchFamily="49" charset="0"/>
              </a:rPr>
              <a:t> sum = </a:t>
            </a:r>
            <a:r>
              <a:rPr lang="en-US" altLang="zh-CN" sz="2000" b="0" dirty="0">
                <a:solidFill>
                  <a:srgbClr val="098658"/>
                </a:solidFill>
                <a:effectLst/>
                <a:latin typeface="Consolas" panose="020B0609020204030204" pitchFamily="49" charset="0"/>
              </a:rPr>
              <a:t>0</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cnt</a:t>
            </a:r>
            <a:r>
              <a:rPr lang="en-US" altLang="zh-CN" sz="2000" b="0" dirty="0">
                <a:solidFill>
                  <a:srgbClr val="000000"/>
                </a:solidFill>
                <a:effectLst/>
                <a:latin typeface="Consolas" panose="020B0609020204030204" pitchFamily="49" charset="0"/>
              </a:rPr>
              <a:t> = </a:t>
            </a:r>
            <a:r>
              <a:rPr lang="en-US" altLang="zh-CN" sz="2000" b="0" dirty="0">
                <a:solidFill>
                  <a:srgbClr val="098658"/>
                </a:solidFill>
                <a:effectLst/>
                <a:latin typeface="Consolas" panose="020B0609020204030204" pitchFamily="49" charset="0"/>
              </a:rPr>
              <a:t>0</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int</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tmp</a:t>
            </a:r>
            <a:r>
              <a:rPr lang="en-US" altLang="zh-CN" sz="2000" b="0" dirty="0">
                <a:solidFill>
                  <a:srgbClr val="000000"/>
                </a:solidFill>
                <a:effectLst/>
                <a:latin typeface="Consolas" panose="020B0609020204030204" pitchFamily="49" charset="0"/>
              </a:rPr>
              <a:t>;</a:t>
            </a:r>
          </a:p>
          <a:p>
            <a:pPr algn="l"/>
            <a:br>
              <a:rPr lang="en-US" altLang="zh-CN" sz="2000" b="0" dirty="0">
                <a:solidFill>
                  <a:srgbClr val="000000"/>
                </a:solidFill>
                <a:effectLst/>
                <a:latin typeface="Consolas" panose="020B0609020204030204" pitchFamily="49" charset="0"/>
              </a:rPr>
            </a:br>
            <a:r>
              <a:rPr lang="en-US" altLang="zh-CN" sz="2000" b="0" dirty="0">
                <a:solidFill>
                  <a:srgbClr val="000000"/>
                </a:solidFill>
                <a:effectLst/>
                <a:latin typeface="Consolas" panose="020B0609020204030204" pitchFamily="49" charset="0"/>
              </a:rPr>
              <a:t>    </a:t>
            </a:r>
            <a:r>
              <a:rPr lang="en-US" altLang="zh-CN" sz="2000" dirty="0">
                <a:solidFill>
                  <a:srgbClr val="0000FF"/>
                </a:solidFill>
                <a:effectLst/>
                <a:highlight>
                  <a:srgbClr val="FFFF00"/>
                </a:highlight>
                <a:latin typeface="Consolas" panose="020B0609020204030204" pitchFamily="49" charset="0"/>
              </a:rPr>
              <a:t>for</a:t>
            </a:r>
            <a:r>
              <a:rPr lang="en-US" altLang="zh-CN" sz="2000" dirty="0">
                <a:solidFill>
                  <a:srgbClr val="000000"/>
                </a:solidFill>
                <a:effectLst/>
                <a:highlight>
                  <a:srgbClr val="FFFF00"/>
                </a:highlight>
                <a:latin typeface="Consolas" panose="020B0609020204030204" pitchFamily="49" charset="0"/>
              </a:rPr>
              <a:t> (</a:t>
            </a:r>
            <a:r>
              <a:rPr lang="en-US" altLang="zh-CN" sz="2000" dirty="0">
                <a:solidFill>
                  <a:srgbClr val="0000FF"/>
                </a:solidFill>
                <a:effectLst/>
                <a:highlight>
                  <a:srgbClr val="FFFF00"/>
                </a:highlight>
                <a:latin typeface="Consolas" panose="020B0609020204030204" pitchFamily="49" charset="0"/>
              </a:rPr>
              <a:t>int</a:t>
            </a:r>
            <a:r>
              <a:rPr lang="en-US" altLang="zh-CN" sz="2000" dirty="0">
                <a:solidFill>
                  <a:srgbClr val="000000"/>
                </a:solidFill>
                <a:effectLst/>
                <a:highlight>
                  <a:srgbClr val="FFFF00"/>
                </a:highlight>
                <a:latin typeface="Consolas" panose="020B0609020204030204" pitchFamily="49" charset="0"/>
              </a:rPr>
              <a:t> </a:t>
            </a:r>
            <a:r>
              <a:rPr lang="en-US" altLang="zh-CN" sz="2000" dirty="0" err="1">
                <a:solidFill>
                  <a:srgbClr val="000000"/>
                </a:solidFill>
                <a:effectLst/>
                <a:highlight>
                  <a:srgbClr val="FFFF00"/>
                </a:highlight>
                <a:latin typeface="Consolas" panose="020B0609020204030204" pitchFamily="49" charset="0"/>
              </a:rPr>
              <a:t>i</a:t>
            </a:r>
            <a:r>
              <a:rPr lang="en-US" altLang="zh-CN" sz="2000" dirty="0">
                <a:solidFill>
                  <a:srgbClr val="000000"/>
                </a:solidFill>
                <a:effectLst/>
                <a:highlight>
                  <a:srgbClr val="FFFF00"/>
                </a:highlight>
                <a:latin typeface="Consolas" panose="020B0609020204030204" pitchFamily="49" charset="0"/>
              </a:rPr>
              <a:t>=</a:t>
            </a:r>
            <a:r>
              <a:rPr lang="en-US" altLang="zh-CN" sz="2000" dirty="0">
                <a:solidFill>
                  <a:srgbClr val="098658"/>
                </a:solidFill>
                <a:effectLst/>
                <a:highlight>
                  <a:srgbClr val="FFFF00"/>
                </a:highlight>
                <a:latin typeface="Consolas" panose="020B0609020204030204" pitchFamily="49" charset="0"/>
              </a:rPr>
              <a:t>0</a:t>
            </a:r>
            <a:r>
              <a:rPr lang="en-US" altLang="zh-CN" sz="2000" dirty="0">
                <a:solidFill>
                  <a:srgbClr val="000000"/>
                </a:solidFill>
                <a:effectLst/>
                <a:highlight>
                  <a:srgbClr val="FFFF00"/>
                </a:highlight>
                <a:latin typeface="Consolas" panose="020B0609020204030204" pitchFamily="49" charset="0"/>
              </a:rPr>
              <a:t>; </a:t>
            </a:r>
            <a:r>
              <a:rPr lang="en-US" altLang="zh-CN" sz="2000" dirty="0" err="1">
                <a:solidFill>
                  <a:srgbClr val="000000"/>
                </a:solidFill>
                <a:effectLst/>
                <a:highlight>
                  <a:srgbClr val="FFFF00"/>
                </a:highlight>
                <a:latin typeface="Consolas" panose="020B0609020204030204" pitchFamily="49" charset="0"/>
              </a:rPr>
              <a:t>i</a:t>
            </a:r>
            <a:r>
              <a:rPr lang="en-US" altLang="zh-CN" sz="2000" dirty="0">
                <a:solidFill>
                  <a:srgbClr val="000000"/>
                </a:solidFill>
                <a:effectLst/>
                <a:highlight>
                  <a:srgbClr val="FFFF00"/>
                </a:highlight>
                <a:latin typeface="Consolas" panose="020B0609020204030204" pitchFamily="49" charset="0"/>
              </a:rPr>
              <a:t>&lt;</a:t>
            </a:r>
            <a:r>
              <a:rPr lang="en-US" altLang="zh-CN" sz="2000" dirty="0">
                <a:solidFill>
                  <a:srgbClr val="098658"/>
                </a:solidFill>
                <a:effectLst/>
                <a:highlight>
                  <a:srgbClr val="FFFF00"/>
                </a:highlight>
                <a:latin typeface="Consolas" panose="020B0609020204030204" pitchFamily="49" charset="0"/>
              </a:rPr>
              <a:t>6</a:t>
            </a:r>
            <a:r>
              <a:rPr lang="en-US" altLang="zh-CN" sz="2000" dirty="0">
                <a:solidFill>
                  <a:srgbClr val="000000"/>
                </a:solidFill>
                <a:effectLst/>
                <a:highlight>
                  <a:srgbClr val="FFFF00"/>
                </a:highlight>
                <a:latin typeface="Consolas" panose="020B0609020204030204" pitchFamily="49" charset="0"/>
              </a:rPr>
              <a:t>; </a:t>
            </a:r>
            <a:r>
              <a:rPr lang="en-US" altLang="zh-CN" sz="2000" dirty="0" err="1">
                <a:solidFill>
                  <a:srgbClr val="000000"/>
                </a:solidFill>
                <a:effectLst/>
                <a:highlight>
                  <a:srgbClr val="FFFF00"/>
                </a:highlight>
                <a:latin typeface="Consolas" panose="020B0609020204030204" pitchFamily="49" charset="0"/>
              </a:rPr>
              <a:t>i</a:t>
            </a:r>
            <a:r>
              <a:rPr lang="en-US" altLang="zh-CN" sz="2000" dirty="0">
                <a:solidFill>
                  <a:srgbClr val="000000"/>
                </a:solidFill>
                <a:effectLst/>
                <a:highlight>
                  <a:srgbClr val="FFFF00"/>
                </a:highligh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cin</a:t>
            </a:r>
            <a:r>
              <a:rPr lang="en-US" altLang="zh-CN" sz="2000" b="0" dirty="0">
                <a:solidFill>
                  <a:srgbClr val="000000"/>
                </a:solidFill>
                <a:effectLst/>
                <a:latin typeface="Consolas" panose="020B0609020204030204" pitchFamily="49" charset="0"/>
              </a:rPr>
              <a:t> &gt;&gt; </a:t>
            </a:r>
            <a:r>
              <a:rPr lang="en-US" altLang="zh-CN" sz="2000" b="0" dirty="0" err="1">
                <a:solidFill>
                  <a:srgbClr val="000000"/>
                </a:solidFill>
                <a:effectLst/>
                <a:latin typeface="Consolas" panose="020B0609020204030204" pitchFamily="49" charset="0"/>
              </a:rPr>
              <a:t>tmp</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if</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tmp</a:t>
            </a:r>
            <a:r>
              <a:rPr lang="en-US" altLang="zh-CN" sz="2000" b="0" dirty="0">
                <a:solidFill>
                  <a:srgbClr val="000000"/>
                </a:solidFill>
                <a:effectLst/>
                <a:latin typeface="Consolas" panose="020B0609020204030204" pitchFamily="49" charset="0"/>
              </a:rPr>
              <a:t> % </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 == </a:t>
            </a:r>
            <a:r>
              <a:rPr lang="en-US" altLang="zh-CN" sz="2000" b="0" dirty="0">
                <a:solidFill>
                  <a:srgbClr val="098658"/>
                </a:solidFill>
                <a:effectLst/>
                <a:latin typeface="Consolas" panose="020B0609020204030204" pitchFamily="49" charset="0"/>
              </a:rPr>
              <a:t>1</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if</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tmp</a:t>
            </a:r>
            <a:r>
              <a:rPr lang="en-US" altLang="zh-CN" sz="2000" b="0" dirty="0">
                <a:solidFill>
                  <a:srgbClr val="000000"/>
                </a:solidFill>
                <a:effectLst/>
                <a:latin typeface="Consolas" panose="020B0609020204030204" pitchFamily="49" charset="0"/>
              </a:rPr>
              <a:t> % </a:t>
            </a:r>
            <a:r>
              <a:rPr lang="en-US" altLang="zh-CN" sz="2000" b="0" dirty="0">
                <a:solidFill>
                  <a:srgbClr val="098658"/>
                </a:solidFill>
                <a:effectLst/>
                <a:latin typeface="Consolas" panose="020B0609020204030204" pitchFamily="49" charset="0"/>
              </a:rPr>
              <a:t>3</a:t>
            </a:r>
            <a:r>
              <a:rPr lang="en-US" altLang="zh-CN" sz="2000" b="0" dirty="0">
                <a:solidFill>
                  <a:srgbClr val="000000"/>
                </a:solidFill>
                <a:effectLst/>
                <a:latin typeface="Consolas" panose="020B0609020204030204" pitchFamily="49" charset="0"/>
              </a:rPr>
              <a:t> == </a:t>
            </a:r>
            <a:r>
              <a:rPr lang="en-US" altLang="zh-CN" sz="2000" b="0" dirty="0">
                <a:solidFill>
                  <a:srgbClr val="098658"/>
                </a:solidFill>
                <a:effectLst/>
                <a:latin typeface="Consolas" panose="020B0609020204030204" pitchFamily="49" charset="0"/>
              </a:rPr>
              <a:t>0</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sum += </a:t>
            </a:r>
            <a:r>
              <a:rPr lang="en-US" altLang="zh-CN" sz="2000" b="0" dirty="0" err="1">
                <a:solidFill>
                  <a:srgbClr val="000000"/>
                </a:solidFill>
                <a:effectLst/>
                <a:latin typeface="Consolas" panose="020B0609020204030204" pitchFamily="49" charset="0"/>
              </a:rPr>
              <a:t>tmp</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cnt</a:t>
            </a:r>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p>
          <a:p>
            <a:pPr algn="l"/>
            <a:br>
              <a:rPr lang="en-US" altLang="zh-CN" sz="2000" b="0" dirty="0">
                <a:solidFill>
                  <a:srgbClr val="000000"/>
                </a:solidFill>
                <a:effectLst/>
                <a:latin typeface="Consolas" panose="020B0609020204030204" pitchFamily="49" charset="0"/>
              </a:rPr>
            </a:br>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if</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cnt</a:t>
            </a:r>
            <a:r>
              <a:rPr lang="en-US" altLang="zh-CN" sz="2000" b="0" dirty="0">
                <a:solidFill>
                  <a:srgbClr val="000000"/>
                </a:solidFill>
                <a:effectLst/>
                <a:latin typeface="Consolas" panose="020B0609020204030204" pitchFamily="49" charset="0"/>
              </a:rPr>
              <a:t> == </a:t>
            </a:r>
            <a:r>
              <a:rPr lang="en-US" altLang="zh-CN" sz="2000" b="0" dirty="0">
                <a:solidFill>
                  <a:srgbClr val="098658"/>
                </a:solidFill>
                <a:effectLst/>
                <a:latin typeface="Consolas" panose="020B0609020204030204" pitchFamily="49" charset="0"/>
              </a:rPr>
              <a:t>0</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cout &lt;&lt; </a:t>
            </a:r>
            <a:r>
              <a:rPr lang="en-US" altLang="zh-CN" sz="2000" b="0" dirty="0">
                <a:solidFill>
                  <a:srgbClr val="A31515"/>
                </a:solidFill>
                <a:effectLst/>
                <a:latin typeface="Consolas" panose="020B0609020204030204" pitchFamily="49" charset="0"/>
              </a:rPr>
              <a:t>"0.0000"</a:t>
            </a:r>
            <a:r>
              <a:rPr lang="en-US" altLang="zh-CN" sz="2000" b="0" dirty="0">
                <a:solidFill>
                  <a:srgbClr val="000000"/>
                </a:solidFill>
                <a:effectLst/>
                <a:latin typeface="Consolas" panose="020B0609020204030204" pitchFamily="49" charset="0"/>
              </a:rPr>
              <a:t> &lt;&lt; </a:t>
            </a:r>
            <a:r>
              <a:rPr lang="en-US" altLang="zh-CN" sz="2000" b="0" dirty="0" err="1">
                <a:solidFill>
                  <a:srgbClr val="000000"/>
                </a:solidFill>
                <a:effectLst/>
                <a:latin typeface="Consolas" panose="020B0609020204030204" pitchFamily="49" charset="0"/>
              </a:rPr>
              <a:t>endl</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else</a:t>
            </a:r>
            <a:endParaRPr lang="en-US" altLang="zh-CN" sz="2000" b="0" dirty="0">
              <a:solidFill>
                <a:srgbClr val="000000"/>
              </a:solidFill>
              <a:effectLst/>
              <a:latin typeface="Consolas" panose="020B0609020204030204" pitchFamily="49" charset="0"/>
            </a:endParaRPr>
          </a:p>
          <a:p>
            <a:pPr algn="l"/>
            <a:r>
              <a:rPr lang="en-US" altLang="zh-CN" sz="2000" b="0" dirty="0">
                <a:solidFill>
                  <a:srgbClr val="000000"/>
                </a:solidFill>
                <a:effectLst/>
                <a:latin typeface="Consolas" panose="020B0609020204030204" pitchFamily="49" charset="0"/>
              </a:rPr>
              <a:t>        cout &lt;&lt; </a:t>
            </a:r>
            <a:r>
              <a:rPr lang="en-US" altLang="zh-CN" sz="2000" b="0" dirty="0">
                <a:solidFill>
                  <a:srgbClr val="000000"/>
                </a:solidFill>
                <a:effectLst/>
                <a:highlight>
                  <a:srgbClr val="FFFF00"/>
                </a:highlight>
                <a:latin typeface="Consolas" panose="020B0609020204030204" pitchFamily="49" charset="0"/>
              </a:rPr>
              <a:t>fixed &lt;&lt; </a:t>
            </a:r>
            <a:r>
              <a:rPr lang="en-US" altLang="zh-CN" sz="2000" b="0" dirty="0" err="1">
                <a:solidFill>
                  <a:srgbClr val="000000"/>
                </a:solidFill>
                <a:effectLst/>
                <a:highlight>
                  <a:srgbClr val="FFFF00"/>
                </a:highlight>
                <a:latin typeface="Consolas" panose="020B0609020204030204" pitchFamily="49" charset="0"/>
              </a:rPr>
              <a:t>setprecision</a:t>
            </a:r>
            <a:r>
              <a:rPr lang="en-US" altLang="zh-CN" sz="2000" b="0" dirty="0">
                <a:solidFill>
                  <a:srgbClr val="000000"/>
                </a:solidFill>
                <a:effectLst/>
                <a:highlight>
                  <a:srgbClr val="FFFF00"/>
                </a:highlight>
                <a:latin typeface="Consolas" panose="020B0609020204030204" pitchFamily="49" charset="0"/>
              </a:rPr>
              <a:t>(</a:t>
            </a:r>
            <a:r>
              <a:rPr lang="en-US" altLang="zh-CN" sz="2000" b="0" dirty="0">
                <a:solidFill>
                  <a:srgbClr val="098658"/>
                </a:solidFill>
                <a:effectLst/>
                <a:highlight>
                  <a:srgbClr val="FFFF00"/>
                </a:highlight>
                <a:latin typeface="Consolas" panose="020B0609020204030204" pitchFamily="49" charset="0"/>
              </a:rPr>
              <a:t>4</a:t>
            </a:r>
            <a:r>
              <a:rPr lang="en-US" altLang="zh-CN" sz="2000" b="0" dirty="0">
                <a:solidFill>
                  <a:srgbClr val="000000"/>
                </a:solidFill>
                <a:effectLst/>
                <a:highlight>
                  <a:srgbClr val="FFFF00"/>
                </a:highlight>
                <a:latin typeface="Consolas" panose="020B0609020204030204" pitchFamily="49" charset="0"/>
              </a:rPr>
              <a:t>) </a:t>
            </a:r>
            <a:r>
              <a:rPr lang="en-US" altLang="zh-CN" sz="2000" b="0" dirty="0">
                <a:solidFill>
                  <a:srgbClr val="000000"/>
                </a:solidFill>
                <a:effectLst/>
                <a:latin typeface="Consolas" panose="020B0609020204030204" pitchFamily="49" charset="0"/>
              </a:rPr>
              <a:t>&lt;&lt; </a:t>
            </a:r>
            <a:r>
              <a:rPr lang="en-US" altLang="zh-CN" sz="2000" b="0" dirty="0">
                <a:solidFill>
                  <a:srgbClr val="098658"/>
                </a:solidFill>
                <a:effectLst/>
                <a:latin typeface="Consolas" panose="020B0609020204030204" pitchFamily="49" charset="0"/>
              </a:rPr>
              <a:t>1.0</a:t>
            </a:r>
            <a:r>
              <a:rPr lang="en-US" altLang="zh-CN" sz="2000" b="0" dirty="0">
                <a:solidFill>
                  <a:srgbClr val="000000"/>
                </a:solidFill>
                <a:effectLst/>
                <a:latin typeface="Consolas" panose="020B0609020204030204" pitchFamily="49" charset="0"/>
              </a:rPr>
              <a:t> * sum / </a:t>
            </a:r>
            <a:r>
              <a:rPr lang="en-US" altLang="zh-CN" sz="2000" b="0" dirty="0" err="1">
                <a:solidFill>
                  <a:srgbClr val="000000"/>
                </a:solidFill>
                <a:effectLst/>
                <a:latin typeface="Consolas" panose="020B0609020204030204" pitchFamily="49" charset="0"/>
              </a:rPr>
              <a:t>cnt</a:t>
            </a:r>
            <a:r>
              <a:rPr lang="en-US" altLang="zh-CN" sz="2000" b="0" dirty="0">
                <a:solidFill>
                  <a:srgbClr val="000000"/>
                </a:solidFill>
                <a:effectLst/>
                <a:latin typeface="Consolas" panose="020B0609020204030204" pitchFamily="49" charset="0"/>
              </a:rPr>
              <a:t> &lt;&lt; </a:t>
            </a:r>
            <a:r>
              <a:rPr lang="en-US" altLang="zh-CN" sz="2000" b="0" dirty="0" err="1">
                <a:solidFill>
                  <a:srgbClr val="000000"/>
                </a:solidFill>
                <a:effectLst/>
                <a:latin typeface="Consolas" panose="020B0609020204030204" pitchFamily="49" charset="0"/>
              </a:rPr>
              <a:t>endl</a:t>
            </a:r>
            <a:r>
              <a:rPr lang="en-US" altLang="zh-CN" sz="2000" b="0" dirty="0">
                <a:solidFill>
                  <a:srgbClr val="000000"/>
                </a:solidFill>
                <a:effectLst/>
                <a:latin typeface="Consolas" panose="020B0609020204030204" pitchFamily="49" charset="0"/>
              </a:rPr>
              <a:t>;</a:t>
            </a:r>
          </a:p>
          <a:p>
            <a:pPr algn="l"/>
            <a:br>
              <a:rPr lang="en-US" altLang="zh-CN" sz="2000" b="0" dirty="0">
                <a:solidFill>
                  <a:srgbClr val="000000"/>
                </a:solidFill>
                <a:effectLst/>
                <a:latin typeface="Consolas" panose="020B0609020204030204" pitchFamily="49" charset="0"/>
              </a:rPr>
            </a:br>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return</a:t>
            </a:r>
            <a:r>
              <a:rPr lang="en-US" altLang="zh-CN" sz="2000" b="0" dirty="0">
                <a:solidFill>
                  <a:srgbClr val="000000"/>
                </a:solidFill>
                <a:effectLst/>
                <a:latin typeface="Consolas" panose="020B0609020204030204" pitchFamily="49" charset="0"/>
              </a:rPr>
              <a:t> </a:t>
            </a:r>
            <a:r>
              <a:rPr lang="en-US" altLang="zh-CN" sz="2000" b="0" dirty="0">
                <a:solidFill>
                  <a:srgbClr val="098658"/>
                </a:solidFill>
                <a:effectLst/>
                <a:latin typeface="Consolas" panose="020B0609020204030204" pitchFamily="49" charset="0"/>
              </a:rPr>
              <a:t>0</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a:t>
            </a:r>
            <a:r>
              <a:rPr lang="en-US" altLang="zh-CN" sz="2000" b="0" dirty="0">
                <a:solidFill>
                  <a:srgbClr val="008000"/>
                </a:solidFill>
                <a:effectLst/>
                <a:latin typeface="Consolas" panose="020B0609020204030204" pitchFamily="49" charset="0"/>
              </a:rPr>
              <a:t> // OJ02-02B.cpp</a:t>
            </a:r>
            <a:endParaRPr lang="en-US" altLang="zh-CN" sz="2000" b="0" dirty="0">
              <a:solidFill>
                <a:srgbClr val="000000"/>
              </a:solidFill>
              <a:effectLst/>
              <a:latin typeface="Consolas" panose="020B0609020204030204" pitchFamily="49" charset="0"/>
            </a:endParaRPr>
          </a:p>
        </p:txBody>
      </p:sp>
      <p:sp>
        <p:nvSpPr>
          <p:cNvPr id="9" name="灯片编号占位符 1">
            <a:extLst>
              <a:ext uri="{FF2B5EF4-FFF2-40B4-BE49-F238E27FC236}">
                <a16:creationId xmlns:a16="http://schemas.microsoft.com/office/drawing/2014/main" id="{84F1EB30-3078-469B-953A-64088F262CF0}"/>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41</a:t>
            </a:fld>
            <a:endParaRPr/>
          </a:p>
        </p:txBody>
      </p:sp>
      <p:sp>
        <p:nvSpPr>
          <p:cNvPr id="3" name="右大括号 2">
            <a:extLst>
              <a:ext uri="{FF2B5EF4-FFF2-40B4-BE49-F238E27FC236}">
                <a16:creationId xmlns:a16="http://schemas.microsoft.com/office/drawing/2014/main" id="{3E7CBCD5-CC70-FC4A-DEFF-FA01CA465F89}"/>
              </a:ext>
            </a:extLst>
          </p:cNvPr>
          <p:cNvSpPr/>
          <p:nvPr/>
        </p:nvSpPr>
        <p:spPr>
          <a:xfrm>
            <a:off x="5067300" y="4244340"/>
            <a:ext cx="381000" cy="2545080"/>
          </a:xfrm>
          <a:prstGeom prst="rightBrace">
            <a:avLst/>
          </a:prstGeom>
          <a:ln w="28575"/>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4" name="文本框 3">
            <a:extLst>
              <a:ext uri="{FF2B5EF4-FFF2-40B4-BE49-F238E27FC236}">
                <a16:creationId xmlns:a16="http://schemas.microsoft.com/office/drawing/2014/main" id="{7B520EE8-73B5-402A-81E9-55DF839B5B00}"/>
              </a:ext>
            </a:extLst>
          </p:cNvPr>
          <p:cNvSpPr txBox="1"/>
          <p:nvPr/>
        </p:nvSpPr>
        <p:spPr>
          <a:xfrm>
            <a:off x="5615940" y="5280918"/>
            <a:ext cx="702756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lang="zh-CN" altLang="en-US" sz="2000" dirty="0">
                <a:latin typeface="Consolas" panose="020B0609020204030204" pitchFamily="49" charset="0"/>
              </a:rPr>
              <a:t>“一边接受用户输入，一边完成检测判断，一边完成累加计数”</a:t>
            </a:r>
            <a:endParaRPr kumimoji="0" lang="zh-CN" altLang="en-US" sz="2000" u="none" strike="noStrike" cap="none" spc="0" normalizeH="0" baseline="0" dirty="0">
              <a:ln>
                <a:noFill/>
              </a:ln>
              <a:solidFill>
                <a:srgbClr val="000000"/>
              </a:solidFill>
              <a:effectLst/>
              <a:uFillTx/>
              <a:latin typeface="Consolas" panose="020B0609020204030204" pitchFamily="49" charset="0"/>
              <a:sym typeface="Helvetica Neue"/>
            </a:endParaRPr>
          </a:p>
        </p:txBody>
      </p:sp>
      <p:sp>
        <p:nvSpPr>
          <p:cNvPr id="5" name="矩形: 圆角 4">
            <a:extLst>
              <a:ext uri="{FF2B5EF4-FFF2-40B4-BE49-F238E27FC236}">
                <a16:creationId xmlns:a16="http://schemas.microsoft.com/office/drawing/2014/main" id="{96C6C955-A215-4016-8C17-62A2A2838A22}"/>
              </a:ext>
            </a:extLst>
          </p:cNvPr>
          <p:cNvSpPr/>
          <p:nvPr/>
        </p:nvSpPr>
        <p:spPr>
          <a:xfrm>
            <a:off x="2736850" y="8229600"/>
            <a:ext cx="3581400" cy="641350"/>
          </a:xfrm>
          <a:prstGeom prst="roundRect">
            <a:avLst/>
          </a:prstGeom>
          <a:ln w="19050">
            <a:solidFill>
              <a:schemeClr val="tx1">
                <a:lumMod val="75000"/>
                <a:lumOff val="25000"/>
              </a:schemeClr>
            </a:solidFill>
            <a:prstDash val="dash"/>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6" name="标注: 线形(带边框和强调线) 5">
            <a:extLst>
              <a:ext uri="{FF2B5EF4-FFF2-40B4-BE49-F238E27FC236}">
                <a16:creationId xmlns:a16="http://schemas.microsoft.com/office/drawing/2014/main" id="{DC9CBDEB-BFD3-4210-8D84-7FBE2E7064E5}"/>
              </a:ext>
            </a:extLst>
          </p:cNvPr>
          <p:cNvSpPr/>
          <p:nvPr/>
        </p:nvSpPr>
        <p:spPr>
          <a:xfrm>
            <a:off x="6691198" y="6637278"/>
            <a:ext cx="2965450" cy="707886"/>
          </a:xfrm>
          <a:prstGeom prst="accentBorderCallout1">
            <a:avLst>
              <a:gd name="adj1" fmla="val 53194"/>
              <a:gd name="adj2" fmla="val -6515"/>
              <a:gd name="adj3" fmla="val 220073"/>
              <a:gd name="adj4" fmla="val -43627"/>
            </a:avLst>
          </a:prstGeom>
          <a:ln w="19050">
            <a:solidFill>
              <a:srgbClr val="00B050"/>
            </a:solidFill>
            <a:prstDash val="dashDot"/>
            <a:headEnd type="none" w="med" len="med"/>
            <a:tailEnd type="arrow" w="med" len="med"/>
          </a:ln>
        </p:spPr>
        <p:txBody>
          <a:bodyPr wrap="square" rtlCol="0" anchor="ctr">
            <a:spAutoFit/>
          </a:bodyPr>
          <a:lstStyle/>
          <a:p>
            <a:r>
              <a:rPr lang="zh-CN" altLang="en-US" sz="2000" b="0" dirty="0">
                <a:solidFill>
                  <a:srgbClr val="0070C0"/>
                </a:solidFill>
                <a:latin typeface="Consolas" panose="020B0609020204030204" pitchFamily="49" charset="0"/>
              </a:rPr>
              <a:t>对输出格式进行控制：小数点后保留</a:t>
            </a:r>
            <a:r>
              <a:rPr lang="en-US" altLang="zh-CN" sz="2000" b="0" dirty="0">
                <a:solidFill>
                  <a:srgbClr val="0070C0"/>
                </a:solidFill>
                <a:latin typeface="Consolas" panose="020B0609020204030204" pitchFamily="49" charset="0"/>
              </a:rPr>
              <a:t>4</a:t>
            </a:r>
            <a:r>
              <a:rPr lang="zh-CN" altLang="en-US" sz="2000" b="0" dirty="0">
                <a:solidFill>
                  <a:srgbClr val="0070C0"/>
                </a:solidFill>
                <a:latin typeface="Consolas" panose="020B0609020204030204" pitchFamily="49" charset="0"/>
              </a:rPr>
              <a:t>位</a:t>
            </a:r>
          </a:p>
        </p:txBody>
      </p:sp>
    </p:spTree>
    <p:extLst>
      <p:ext uri="{BB962C8B-B14F-4D97-AF65-F5344CB8AC3E}">
        <p14:creationId xmlns:p14="http://schemas.microsoft.com/office/powerpoint/2010/main" val="2240472026"/>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F781874-FC0E-4FA8-B8EE-1AC9A6C3AC7D}"/>
              </a:ext>
            </a:extLst>
          </p:cNvPr>
          <p:cNvSpPr txBox="1"/>
          <p:nvPr/>
        </p:nvSpPr>
        <p:spPr>
          <a:xfrm>
            <a:off x="522892" y="1941229"/>
            <a:ext cx="9644185" cy="75405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2000" b="0" dirty="0">
                <a:solidFill>
                  <a:srgbClr val="0000FF"/>
                </a:solidFill>
                <a:effectLst/>
                <a:latin typeface="Consolas" panose="020B0609020204030204" pitchFamily="49" charset="0"/>
              </a:rPr>
              <a:t>int</a:t>
            </a:r>
            <a:r>
              <a:rPr lang="en-US" altLang="zh-CN" sz="2000" b="0" dirty="0">
                <a:solidFill>
                  <a:srgbClr val="000000"/>
                </a:solidFill>
                <a:effectLst/>
                <a:latin typeface="Consolas" panose="020B0609020204030204" pitchFamily="49" charset="0"/>
              </a:rPr>
              <a:t> main()</a:t>
            </a:r>
          </a:p>
          <a:p>
            <a:pPr algn="l"/>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r>
              <a:rPr lang="en-US" altLang="zh-CN" sz="2000" dirty="0">
                <a:solidFill>
                  <a:srgbClr val="0000FF"/>
                </a:solidFill>
                <a:effectLst/>
                <a:highlight>
                  <a:srgbClr val="FFFF00"/>
                </a:highlight>
                <a:latin typeface="Consolas" panose="020B0609020204030204" pitchFamily="49" charset="0"/>
              </a:rPr>
              <a:t>double</a:t>
            </a:r>
            <a:r>
              <a:rPr lang="en-US" altLang="zh-CN" sz="2000" dirty="0">
                <a:solidFill>
                  <a:srgbClr val="000000"/>
                </a:solidFill>
                <a:effectLst/>
                <a:highlight>
                  <a:srgbClr val="FFFF00"/>
                </a:highlight>
                <a:latin typeface="Consolas" panose="020B0609020204030204" pitchFamily="49" charset="0"/>
              </a:rPr>
              <a:t> sum = </a:t>
            </a:r>
            <a:r>
              <a:rPr lang="en-US" altLang="zh-CN" sz="2000" dirty="0">
                <a:solidFill>
                  <a:srgbClr val="098658"/>
                </a:solidFill>
                <a:effectLst/>
                <a:highlight>
                  <a:srgbClr val="FFFF00"/>
                </a:highlight>
                <a:latin typeface="Consolas" panose="020B0609020204030204" pitchFamily="49" charset="0"/>
              </a:rPr>
              <a:t>0</a:t>
            </a:r>
            <a:r>
              <a:rPr lang="en-US" altLang="zh-CN" sz="2000" dirty="0">
                <a:solidFill>
                  <a:srgbClr val="000000"/>
                </a:solidFill>
                <a:effectLst/>
                <a:highlight>
                  <a:srgbClr val="FFFF00"/>
                </a:highligh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int</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cnt</a:t>
            </a:r>
            <a:r>
              <a:rPr lang="en-US" altLang="zh-CN" sz="2000" b="0" dirty="0">
                <a:solidFill>
                  <a:srgbClr val="000000"/>
                </a:solidFill>
                <a:effectLst/>
                <a:latin typeface="Consolas" panose="020B0609020204030204" pitchFamily="49" charset="0"/>
              </a:rPr>
              <a:t> = </a:t>
            </a:r>
            <a:r>
              <a:rPr lang="en-US" altLang="zh-CN" sz="2000" b="0" dirty="0">
                <a:solidFill>
                  <a:srgbClr val="098658"/>
                </a:solidFill>
                <a:effectLst/>
                <a:latin typeface="Consolas" panose="020B0609020204030204" pitchFamily="49" charset="0"/>
              </a:rPr>
              <a:t>0</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tmp</a:t>
            </a:r>
            <a:r>
              <a:rPr lang="en-US" altLang="zh-CN" sz="2000" b="0" dirty="0">
                <a:solidFill>
                  <a:srgbClr val="000000"/>
                </a:solidFill>
                <a:effectLst/>
                <a:latin typeface="Consolas" panose="020B0609020204030204" pitchFamily="49" charset="0"/>
              </a:rPr>
              <a:t>;</a:t>
            </a:r>
          </a:p>
          <a:p>
            <a:pPr algn="l"/>
            <a:br>
              <a:rPr lang="en-US" altLang="zh-CN" sz="2000" b="0" dirty="0">
                <a:solidFill>
                  <a:srgbClr val="000000"/>
                </a:solidFill>
                <a:effectLst/>
                <a:latin typeface="Consolas" panose="020B0609020204030204" pitchFamily="49" charset="0"/>
              </a:rPr>
            </a:br>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for</a:t>
            </a:r>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int</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i</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0</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i</a:t>
            </a:r>
            <a:r>
              <a:rPr lang="en-US" altLang="zh-CN" sz="2000" b="0" dirty="0">
                <a:solidFill>
                  <a:srgbClr val="000000"/>
                </a:solidFill>
                <a:effectLst/>
                <a:latin typeface="Consolas" panose="020B0609020204030204" pitchFamily="49" charset="0"/>
              </a:rPr>
              <a:t>&lt;</a:t>
            </a:r>
            <a:r>
              <a:rPr lang="en-US" altLang="zh-CN" sz="2000" b="0" dirty="0">
                <a:solidFill>
                  <a:srgbClr val="098658"/>
                </a:solidFill>
                <a:effectLst/>
                <a:latin typeface="Consolas" panose="020B0609020204030204" pitchFamily="49" charset="0"/>
              </a:rPr>
              <a:t>6</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i</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cin</a:t>
            </a:r>
            <a:r>
              <a:rPr lang="en-US" altLang="zh-CN" sz="2000" b="0" dirty="0">
                <a:solidFill>
                  <a:srgbClr val="000000"/>
                </a:solidFill>
                <a:effectLst/>
                <a:latin typeface="Consolas" panose="020B0609020204030204" pitchFamily="49" charset="0"/>
              </a:rPr>
              <a:t> &gt;&gt; </a:t>
            </a:r>
            <a:r>
              <a:rPr lang="en-US" altLang="zh-CN" sz="2000" b="0" dirty="0" err="1">
                <a:solidFill>
                  <a:srgbClr val="000000"/>
                </a:solidFill>
                <a:effectLst/>
                <a:latin typeface="Consolas" panose="020B0609020204030204" pitchFamily="49" charset="0"/>
              </a:rPr>
              <a:t>tmp</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if</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tmp</a:t>
            </a:r>
            <a:r>
              <a:rPr lang="en-US" altLang="zh-CN" sz="2000" b="0" dirty="0">
                <a:solidFill>
                  <a:srgbClr val="000000"/>
                </a:solidFill>
                <a:effectLst/>
                <a:latin typeface="Consolas" panose="020B0609020204030204" pitchFamily="49" charset="0"/>
              </a:rPr>
              <a:t> % </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 == </a:t>
            </a:r>
            <a:r>
              <a:rPr lang="en-US" altLang="zh-CN" sz="2000" b="0" dirty="0">
                <a:solidFill>
                  <a:srgbClr val="098658"/>
                </a:solidFill>
                <a:effectLst/>
                <a:latin typeface="Consolas" panose="020B0609020204030204" pitchFamily="49" charset="0"/>
              </a:rPr>
              <a:t>1</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if</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tmp</a:t>
            </a:r>
            <a:r>
              <a:rPr lang="en-US" altLang="zh-CN" sz="2000" b="0" dirty="0">
                <a:solidFill>
                  <a:srgbClr val="000000"/>
                </a:solidFill>
                <a:effectLst/>
                <a:latin typeface="Consolas" panose="020B0609020204030204" pitchFamily="49" charset="0"/>
              </a:rPr>
              <a:t> % </a:t>
            </a:r>
            <a:r>
              <a:rPr lang="en-US" altLang="zh-CN" sz="2000" b="0" dirty="0">
                <a:solidFill>
                  <a:srgbClr val="098658"/>
                </a:solidFill>
                <a:effectLst/>
                <a:latin typeface="Consolas" panose="020B0609020204030204" pitchFamily="49" charset="0"/>
              </a:rPr>
              <a:t>3</a:t>
            </a:r>
            <a:r>
              <a:rPr lang="en-US" altLang="zh-CN" sz="2000" b="0" dirty="0">
                <a:solidFill>
                  <a:srgbClr val="000000"/>
                </a:solidFill>
                <a:effectLst/>
                <a:latin typeface="Consolas" panose="020B0609020204030204" pitchFamily="49" charset="0"/>
              </a:rPr>
              <a:t> == </a:t>
            </a:r>
            <a:r>
              <a:rPr lang="en-US" altLang="zh-CN" sz="2000" b="0" dirty="0">
                <a:solidFill>
                  <a:srgbClr val="098658"/>
                </a:solidFill>
                <a:effectLst/>
                <a:latin typeface="Consolas" panose="020B0609020204030204" pitchFamily="49" charset="0"/>
              </a:rPr>
              <a:t>0</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sum += </a:t>
            </a:r>
            <a:r>
              <a:rPr lang="en-US" altLang="zh-CN" sz="2000" b="0" dirty="0" err="1">
                <a:solidFill>
                  <a:srgbClr val="000000"/>
                </a:solidFill>
                <a:effectLst/>
                <a:latin typeface="Consolas" panose="020B0609020204030204" pitchFamily="49" charset="0"/>
              </a:rPr>
              <a:t>tmp</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cnt</a:t>
            </a:r>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p>
          <a:p>
            <a:pPr algn="l"/>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if</a:t>
            </a:r>
            <a:r>
              <a:rPr lang="en-US" altLang="zh-CN" sz="2000" b="0" dirty="0">
                <a:solidFill>
                  <a:srgbClr val="000000"/>
                </a:solidFill>
                <a:effectLst/>
                <a:latin typeface="Consolas" panose="020B0609020204030204" pitchFamily="49" charset="0"/>
              </a:rPr>
              <a:t> (sum &gt; </a:t>
            </a:r>
            <a:r>
              <a:rPr lang="en-US" altLang="zh-CN" sz="2000" b="0" dirty="0">
                <a:solidFill>
                  <a:srgbClr val="098658"/>
                </a:solidFill>
                <a:effectLst/>
                <a:latin typeface="Consolas" panose="020B0609020204030204" pitchFamily="49" charset="0"/>
              </a:rPr>
              <a:t>0.0</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sum /= </a:t>
            </a:r>
            <a:r>
              <a:rPr lang="en-US" altLang="zh-CN" sz="2000" b="0" dirty="0" err="1">
                <a:solidFill>
                  <a:srgbClr val="000000"/>
                </a:solidFill>
                <a:effectLst/>
                <a:latin typeface="Consolas" panose="020B0609020204030204" pitchFamily="49" charset="0"/>
              </a:rPr>
              <a:t>cnt</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    cout &lt;&lt; </a:t>
            </a:r>
            <a:r>
              <a:rPr lang="en-US" altLang="zh-CN" sz="2000" b="0" dirty="0">
                <a:solidFill>
                  <a:srgbClr val="000000"/>
                </a:solidFill>
                <a:effectLst/>
                <a:highlight>
                  <a:srgbClr val="FFFF00"/>
                </a:highlight>
                <a:latin typeface="Consolas" panose="020B0609020204030204" pitchFamily="49" charset="0"/>
              </a:rPr>
              <a:t>fixed &lt;&lt; </a:t>
            </a:r>
            <a:r>
              <a:rPr lang="en-US" altLang="zh-CN" sz="2000" b="0" dirty="0" err="1">
                <a:solidFill>
                  <a:srgbClr val="000000"/>
                </a:solidFill>
                <a:effectLst/>
                <a:highlight>
                  <a:srgbClr val="FFFF00"/>
                </a:highlight>
                <a:latin typeface="Consolas" panose="020B0609020204030204" pitchFamily="49" charset="0"/>
              </a:rPr>
              <a:t>setprecision</a:t>
            </a:r>
            <a:r>
              <a:rPr lang="en-US" altLang="zh-CN" sz="2000" b="0" dirty="0">
                <a:solidFill>
                  <a:srgbClr val="000000"/>
                </a:solidFill>
                <a:effectLst/>
                <a:highlight>
                  <a:srgbClr val="FFFF00"/>
                </a:highlight>
                <a:latin typeface="Consolas" panose="020B0609020204030204" pitchFamily="49" charset="0"/>
              </a:rPr>
              <a:t>(</a:t>
            </a:r>
            <a:r>
              <a:rPr lang="en-US" altLang="zh-CN" sz="2000" b="0" dirty="0">
                <a:solidFill>
                  <a:srgbClr val="098658"/>
                </a:solidFill>
                <a:effectLst/>
                <a:highlight>
                  <a:srgbClr val="FFFF00"/>
                </a:highlight>
                <a:latin typeface="Consolas" panose="020B0609020204030204" pitchFamily="49" charset="0"/>
              </a:rPr>
              <a:t>4</a:t>
            </a:r>
            <a:r>
              <a:rPr lang="en-US" altLang="zh-CN" sz="2000" b="0" dirty="0">
                <a:solidFill>
                  <a:srgbClr val="000000"/>
                </a:solidFill>
                <a:effectLst/>
                <a:highlight>
                  <a:srgbClr val="FFFF00"/>
                </a:highlight>
                <a:latin typeface="Consolas" panose="020B0609020204030204" pitchFamily="49" charset="0"/>
              </a:rPr>
              <a:t>)</a:t>
            </a:r>
            <a:r>
              <a:rPr lang="en-US" altLang="zh-CN" sz="2000" b="0" dirty="0">
                <a:solidFill>
                  <a:srgbClr val="000000"/>
                </a:solidFill>
                <a:effectLst/>
                <a:latin typeface="Consolas" panose="020B0609020204030204" pitchFamily="49" charset="0"/>
              </a:rPr>
              <a:t> &lt;&lt; sum &lt;&lt; </a:t>
            </a:r>
            <a:r>
              <a:rPr lang="en-US" altLang="zh-CN" sz="2000" b="0" dirty="0" err="1">
                <a:solidFill>
                  <a:srgbClr val="000000"/>
                </a:solidFill>
                <a:effectLst/>
                <a:latin typeface="Consolas" panose="020B0609020204030204" pitchFamily="49" charset="0"/>
              </a:rPr>
              <a:t>endl</a:t>
            </a:r>
            <a:r>
              <a:rPr lang="en-US" altLang="zh-CN" sz="2000" b="0" dirty="0">
                <a:solidFill>
                  <a:srgbClr val="000000"/>
                </a:solidFill>
                <a:effectLst/>
                <a:latin typeface="Consolas" panose="020B0609020204030204" pitchFamily="49" charset="0"/>
              </a:rPr>
              <a:t>;</a:t>
            </a:r>
          </a:p>
          <a:p>
            <a:pPr algn="l"/>
            <a:br>
              <a:rPr lang="en-US" altLang="zh-CN" sz="2000" b="0" dirty="0">
                <a:solidFill>
                  <a:srgbClr val="000000"/>
                </a:solidFill>
                <a:effectLst/>
                <a:latin typeface="Consolas" panose="020B0609020204030204" pitchFamily="49" charset="0"/>
              </a:rPr>
            </a:br>
            <a:r>
              <a:rPr lang="en-US" altLang="zh-CN" sz="2000" b="0" dirty="0">
                <a:solidFill>
                  <a:srgbClr val="000000"/>
                </a:solidFill>
                <a:effectLst/>
                <a:latin typeface="Consolas" panose="020B0609020204030204" pitchFamily="49" charset="0"/>
              </a:rPr>
              <a:t>    </a:t>
            </a:r>
            <a:r>
              <a:rPr lang="en-US" altLang="zh-CN" sz="2000" b="0" dirty="0">
                <a:solidFill>
                  <a:srgbClr val="0000FF"/>
                </a:solidFill>
                <a:effectLst/>
                <a:latin typeface="Consolas" panose="020B0609020204030204" pitchFamily="49" charset="0"/>
              </a:rPr>
              <a:t>return</a:t>
            </a:r>
            <a:r>
              <a:rPr lang="en-US" altLang="zh-CN" sz="2000" b="0" dirty="0">
                <a:solidFill>
                  <a:srgbClr val="000000"/>
                </a:solidFill>
                <a:effectLst/>
                <a:latin typeface="Consolas" panose="020B0609020204030204" pitchFamily="49" charset="0"/>
              </a:rPr>
              <a:t> </a:t>
            </a:r>
            <a:r>
              <a:rPr lang="en-US" altLang="zh-CN" sz="2000" b="0" dirty="0">
                <a:solidFill>
                  <a:srgbClr val="098658"/>
                </a:solidFill>
                <a:effectLst/>
                <a:latin typeface="Consolas" panose="020B0609020204030204" pitchFamily="49" charset="0"/>
              </a:rPr>
              <a:t>0</a:t>
            </a:r>
            <a:r>
              <a:rPr lang="en-US" altLang="zh-CN" sz="2000" b="0" dirty="0">
                <a:solidFill>
                  <a:srgbClr val="000000"/>
                </a:solidFill>
                <a:effectLst/>
                <a:latin typeface="Consolas" panose="020B0609020204030204" pitchFamily="49" charset="0"/>
              </a:rPr>
              <a:t>;</a:t>
            </a:r>
          </a:p>
          <a:p>
            <a:pPr algn="l"/>
            <a:r>
              <a:rPr lang="en-US" altLang="zh-CN" sz="2000" b="0" dirty="0">
                <a:solidFill>
                  <a:srgbClr val="000000"/>
                </a:solidFill>
                <a:effectLst/>
                <a:latin typeface="Consolas" panose="020B0609020204030204" pitchFamily="49" charset="0"/>
              </a:rPr>
              <a:t>}</a:t>
            </a:r>
            <a:r>
              <a:rPr lang="en-US" altLang="zh-CN" sz="2000" b="0" dirty="0">
                <a:solidFill>
                  <a:srgbClr val="008000"/>
                </a:solidFill>
                <a:effectLst/>
                <a:latin typeface="Consolas" panose="020B0609020204030204" pitchFamily="49" charset="0"/>
              </a:rPr>
              <a:t> // OJ02-02C.cpp</a:t>
            </a:r>
            <a:endParaRPr lang="en-US" altLang="zh-CN" sz="2000" b="0" dirty="0">
              <a:solidFill>
                <a:srgbClr val="000000"/>
              </a:solidFill>
              <a:effectLst/>
              <a:latin typeface="Consolas" panose="020B0609020204030204" pitchFamily="49" charset="0"/>
            </a:endParaRPr>
          </a:p>
        </p:txBody>
      </p:sp>
      <p:sp>
        <p:nvSpPr>
          <p:cNvPr id="9" name="标题 1">
            <a:extLst>
              <a:ext uri="{FF2B5EF4-FFF2-40B4-BE49-F238E27FC236}">
                <a16:creationId xmlns:a16="http://schemas.microsoft.com/office/drawing/2014/main" id="{0FB647EC-8D07-4B93-849C-DC8576C5D8DC}"/>
              </a:ext>
            </a:extLst>
          </p:cNvPr>
          <p:cNvSpPr txBox="1">
            <a:spLocks/>
          </p:cNvSpPr>
          <p:nvPr/>
        </p:nvSpPr>
        <p:spPr>
          <a:xfrm>
            <a:off x="547201" y="410841"/>
            <a:ext cx="10003568" cy="927598"/>
          </a:xfrm>
          <a:prstGeom prst="rect">
            <a:avLst/>
          </a:prstGeom>
          <a:solidFill>
            <a:schemeClr val="accent1">
              <a:lumMod val="75000"/>
            </a:schemeClr>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ctr">
            <a:noAutofit/>
          </a:bodyPr>
          <a:lstStyle>
            <a:lvl1pPr marL="0" marR="0" indent="0" algn="ctr" defTabSz="584200" rtl="0" latinLnBrk="0">
              <a:lnSpc>
                <a:spcPct val="100000"/>
              </a:lnSpc>
              <a:spcBef>
                <a:spcPts val="0"/>
              </a:spcBef>
              <a:spcAft>
                <a:spcPts val="0"/>
              </a:spcAft>
              <a:buClrTx/>
              <a:buSzTx/>
              <a:buFontTx/>
              <a:buNone/>
              <a:tabLst/>
              <a:defRPr sz="4600" b="0" i="0" u="none" strike="noStrike" cap="none" spc="0" baseline="0">
                <a:solidFill>
                  <a:srgbClr val="FFFFFF"/>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hangingPunct="1"/>
            <a:r>
              <a:rPr lang="zh-CN" altLang="en-US" dirty="0"/>
              <a:t>作业“回头再看” </a:t>
            </a:r>
            <a:r>
              <a:rPr lang="en-US" altLang="zh-CN" dirty="0"/>
              <a:t>—— </a:t>
            </a:r>
            <a:r>
              <a:rPr lang="zh-CN" altLang="en-US" dirty="0"/>
              <a:t>奇数且</a:t>
            </a:r>
            <a:r>
              <a:rPr lang="en-US" altLang="zh-CN" dirty="0"/>
              <a:t>3</a:t>
            </a:r>
            <a:r>
              <a:rPr lang="zh-CN" altLang="en-US" dirty="0"/>
              <a:t>倍数 </a:t>
            </a:r>
            <a:r>
              <a:rPr lang="en-US" altLang="zh-CN" b="1" dirty="0">
                <a:solidFill>
                  <a:srgbClr val="FFC000"/>
                </a:solidFill>
              </a:rPr>
              <a:t>V2</a:t>
            </a:r>
            <a:endParaRPr lang="zh-CN" altLang="en-US" b="1" dirty="0">
              <a:solidFill>
                <a:srgbClr val="FFC000"/>
              </a:solidFill>
            </a:endParaRPr>
          </a:p>
        </p:txBody>
      </p:sp>
      <p:sp>
        <p:nvSpPr>
          <p:cNvPr id="10" name="灯片编号占位符 1">
            <a:extLst>
              <a:ext uri="{FF2B5EF4-FFF2-40B4-BE49-F238E27FC236}">
                <a16:creationId xmlns:a16="http://schemas.microsoft.com/office/drawing/2014/main" id="{4C054989-E1F2-498C-8E05-06CBB139E888}"/>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42</a:t>
            </a:fld>
            <a:endParaRPr/>
          </a:p>
        </p:txBody>
      </p:sp>
    </p:spTree>
    <p:extLst>
      <p:ext uri="{BB962C8B-B14F-4D97-AF65-F5344CB8AC3E}">
        <p14:creationId xmlns:p14="http://schemas.microsoft.com/office/powerpoint/2010/main" val="2295984409"/>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43</a:t>
            </a:fld>
            <a:endParaRPr/>
          </a:p>
        </p:txBody>
      </p:sp>
      <p:sp>
        <p:nvSpPr>
          <p:cNvPr id="160" name="循环语句的语法格式"/>
          <p:cNvSpPr>
            <a:spLocks noGrp="1"/>
          </p:cNvSpPr>
          <p:nvPr>
            <p:ph type="title"/>
          </p:nvPr>
        </p:nvSpPr>
        <p:spPr>
          <a:xfrm>
            <a:off x="547201" y="354125"/>
            <a:ext cx="11011588" cy="1152045"/>
          </a:xfrm>
          <a:prstGeom prst="rect">
            <a:avLst/>
          </a:prstGeom>
        </p:spPr>
        <p:txBody>
          <a:bodyPr/>
          <a:lstStyle/>
          <a:p>
            <a:pPr algn="l"/>
            <a:r>
              <a:rPr lang="en-US" altLang="zh-CN" sz="4000" dirty="0">
                <a:solidFill>
                  <a:schemeClr val="bg1"/>
                </a:solidFill>
              </a:rPr>
              <a:t>【</a:t>
            </a:r>
            <a:r>
              <a:rPr lang="zh-CN" altLang="en-US" sz="4000" dirty="0">
                <a:solidFill>
                  <a:schemeClr val="bg1"/>
                </a:solidFill>
              </a:rPr>
              <a:t>任务</a:t>
            </a:r>
            <a:r>
              <a:rPr lang="en-US" altLang="zh-CN" sz="4000" dirty="0">
                <a:solidFill>
                  <a:schemeClr val="bg1"/>
                </a:solidFill>
              </a:rPr>
              <a:t>3.1】</a:t>
            </a:r>
            <a:r>
              <a:rPr lang="zh-CN" altLang="en-US" sz="4000" b="1" dirty="0">
                <a:solidFill>
                  <a:srgbClr val="FFFF00"/>
                </a:solidFill>
              </a:rPr>
              <a:t>方法</a:t>
            </a:r>
            <a:r>
              <a:rPr lang="en-US" altLang="zh-CN" sz="4000" b="1" dirty="0">
                <a:solidFill>
                  <a:srgbClr val="FFFF00"/>
                </a:solidFill>
              </a:rPr>
              <a:t>1</a:t>
            </a:r>
            <a:r>
              <a:rPr lang="zh-CN" altLang="en-US" sz="4000" b="1" dirty="0">
                <a:solidFill>
                  <a:srgbClr val="FFFF00"/>
                </a:solidFill>
              </a:rPr>
              <a:t>：</a:t>
            </a:r>
            <a:r>
              <a:rPr lang="zh-CN" altLang="en-US" sz="4000" dirty="0">
                <a:solidFill>
                  <a:schemeClr val="bg1"/>
                </a:solidFill>
              </a:rPr>
              <a:t>循环仅用来控制重复的次数</a:t>
            </a:r>
            <a:endParaRPr sz="4000" dirty="0">
              <a:solidFill>
                <a:schemeClr val="bg1"/>
              </a:solidFill>
            </a:endParaRPr>
          </a:p>
        </p:txBody>
      </p:sp>
      <p:sp>
        <p:nvSpPr>
          <p:cNvPr id="161" name="for是计数型循环的标识符，圆括号括起的是三个表达式。其下的大括号括起的部分是循环体。下图描述了 for 循环的结构。…"/>
          <p:cNvSpPr txBox="1"/>
          <p:nvPr/>
        </p:nvSpPr>
        <p:spPr>
          <a:xfrm>
            <a:off x="580737" y="2406949"/>
            <a:ext cx="12219911" cy="60488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lnSpc>
                <a:spcPct val="110000"/>
              </a:lnSpc>
              <a:defRPr sz="3000">
                <a:solidFill>
                  <a:schemeClr val="accent5">
                    <a:hueOff val="-82419"/>
                    <a:satOff val="-9513"/>
                    <a:lumOff val="-16343"/>
                  </a:schemeClr>
                </a:solidFill>
                <a:latin typeface="Courier"/>
                <a:ea typeface="Courier"/>
                <a:cs typeface="Courier"/>
                <a:sym typeface="Courier"/>
              </a:defRPr>
            </a:pPr>
            <a:r>
              <a:rPr lang="en-US" altLang="zh-CN" sz="3200">
                <a:solidFill>
                  <a:srgbClr val="00B050"/>
                </a:solidFill>
              </a:rPr>
              <a:t>/// </a:t>
            </a:r>
            <a:r>
              <a:rPr sz="3200">
                <a:solidFill>
                  <a:srgbClr val="00B050"/>
                </a:solidFill>
              </a:rPr>
              <a:t>for ( 表达式1；表达式2；表达式3 )</a:t>
            </a:r>
          </a:p>
          <a:p>
            <a:pPr algn="l">
              <a:lnSpc>
                <a:spcPct val="110000"/>
              </a:lnSpc>
              <a:defRPr sz="3000">
                <a:solidFill>
                  <a:schemeClr val="accent5">
                    <a:hueOff val="-82419"/>
                    <a:satOff val="-9513"/>
                    <a:lumOff val="-16343"/>
                  </a:schemeClr>
                </a:solidFill>
                <a:latin typeface="Courier"/>
                <a:ea typeface="Courier"/>
                <a:cs typeface="Courier"/>
                <a:sym typeface="Courier"/>
              </a:defRPr>
            </a:pPr>
            <a:r>
              <a:rPr lang="en-US" altLang="zh-CN" sz="3200"/>
              <a:t>for (</a:t>
            </a:r>
            <a:r>
              <a:rPr lang="en-US" altLang="zh-CN" sz="3200">
                <a:highlight>
                  <a:srgbClr val="FFFF00"/>
                </a:highlight>
              </a:rPr>
              <a:t>int i=0; i&lt;4; i++</a:t>
            </a:r>
            <a:r>
              <a:rPr lang="en-US" altLang="zh-CN" sz="3200"/>
              <a:t>) </a:t>
            </a:r>
            <a:r>
              <a:rPr lang="en-US" altLang="zh-CN" sz="3200">
                <a:solidFill>
                  <a:srgbClr val="00B050"/>
                </a:solidFill>
              </a:rPr>
              <a:t>/// </a:t>
            </a:r>
            <a:r>
              <a:rPr lang="zh-CN" altLang="en-US" sz="3200">
                <a:solidFill>
                  <a:srgbClr val="00B050"/>
                </a:solidFill>
              </a:rPr>
              <a:t>重复</a:t>
            </a:r>
            <a:r>
              <a:rPr lang="en-US" altLang="zh-CN" sz="3200">
                <a:solidFill>
                  <a:srgbClr val="00B050"/>
                </a:solidFill>
              </a:rPr>
              <a:t>4</a:t>
            </a:r>
            <a:r>
              <a:rPr lang="zh-CN" altLang="en-US" sz="3200">
                <a:solidFill>
                  <a:srgbClr val="00B050"/>
                </a:solidFill>
              </a:rPr>
              <a:t>次循环体中的语句！</a:t>
            </a:r>
            <a:endParaRPr lang="en-US" altLang="zh-CN" sz="3200">
              <a:solidFill>
                <a:srgbClr val="00B050"/>
              </a:solidFill>
            </a:endParaRPr>
          </a:p>
          <a:p>
            <a:pPr algn="l">
              <a:lnSpc>
                <a:spcPct val="110000"/>
              </a:lnSpc>
              <a:defRPr sz="3000">
                <a:solidFill>
                  <a:schemeClr val="accent5">
                    <a:hueOff val="-82419"/>
                    <a:satOff val="-9513"/>
                    <a:lumOff val="-16343"/>
                  </a:schemeClr>
                </a:solidFill>
                <a:latin typeface="Courier"/>
                <a:ea typeface="Courier"/>
                <a:cs typeface="Courier"/>
                <a:sym typeface="Courier"/>
              </a:defRPr>
            </a:pPr>
            <a:r>
              <a:rPr sz="3200"/>
              <a:t>{</a:t>
            </a:r>
          </a:p>
          <a:p>
            <a:pPr algn="l">
              <a:lnSpc>
                <a:spcPct val="110000"/>
              </a:lnSpc>
              <a:defRPr sz="3000">
                <a:solidFill>
                  <a:schemeClr val="accent5">
                    <a:hueOff val="-82419"/>
                    <a:satOff val="-9513"/>
                    <a:lumOff val="-16343"/>
                  </a:schemeClr>
                </a:solidFill>
                <a:latin typeface="Courier"/>
                <a:ea typeface="Courier"/>
                <a:cs typeface="Courier"/>
                <a:sym typeface="Courier"/>
              </a:defRPr>
            </a:pPr>
            <a:r>
              <a:rPr sz="3200"/>
              <a:t>	</a:t>
            </a:r>
            <a:endParaRPr lang="en-US" altLang="zh-CN" sz="3200"/>
          </a:p>
          <a:p>
            <a:pPr algn="l">
              <a:lnSpc>
                <a:spcPct val="110000"/>
              </a:lnSpc>
              <a:defRPr sz="3000">
                <a:solidFill>
                  <a:schemeClr val="accent5">
                    <a:hueOff val="-82419"/>
                    <a:satOff val="-9513"/>
                    <a:lumOff val="-16343"/>
                  </a:schemeClr>
                </a:solidFill>
                <a:latin typeface="Courier"/>
                <a:ea typeface="Courier"/>
                <a:cs typeface="Courier"/>
                <a:sym typeface="Courier"/>
              </a:defRPr>
            </a:pPr>
            <a:endParaRPr lang="en-US" altLang="zh-CN" sz="3200"/>
          </a:p>
          <a:p>
            <a:pPr algn="l">
              <a:lnSpc>
                <a:spcPct val="110000"/>
              </a:lnSpc>
              <a:defRPr sz="3000">
                <a:solidFill>
                  <a:schemeClr val="accent5">
                    <a:hueOff val="-82419"/>
                    <a:satOff val="-9513"/>
                    <a:lumOff val="-16343"/>
                  </a:schemeClr>
                </a:solidFill>
                <a:latin typeface="Courier"/>
                <a:ea typeface="Courier"/>
                <a:cs typeface="Courier"/>
                <a:sym typeface="Courier"/>
              </a:defRPr>
            </a:pPr>
            <a:endParaRPr lang="en-US" altLang="zh-CN" sz="3200"/>
          </a:p>
          <a:p>
            <a:pPr algn="l">
              <a:lnSpc>
                <a:spcPct val="110000"/>
              </a:lnSpc>
              <a:defRPr sz="3000">
                <a:solidFill>
                  <a:schemeClr val="accent5">
                    <a:hueOff val="-82419"/>
                    <a:satOff val="-9513"/>
                    <a:lumOff val="-16343"/>
                  </a:schemeClr>
                </a:solidFill>
                <a:latin typeface="Courier"/>
                <a:ea typeface="Courier"/>
                <a:cs typeface="Courier"/>
                <a:sym typeface="Courier"/>
              </a:defRPr>
            </a:pPr>
            <a:endParaRPr lang="en-US" altLang="zh-CN" sz="3200"/>
          </a:p>
          <a:p>
            <a:pPr algn="l">
              <a:lnSpc>
                <a:spcPct val="110000"/>
              </a:lnSpc>
              <a:defRPr sz="3000">
                <a:solidFill>
                  <a:schemeClr val="accent5">
                    <a:hueOff val="-82419"/>
                    <a:satOff val="-9513"/>
                    <a:lumOff val="-16343"/>
                  </a:schemeClr>
                </a:solidFill>
                <a:latin typeface="Courier"/>
                <a:ea typeface="Courier"/>
                <a:cs typeface="Courier"/>
                <a:sym typeface="Courier"/>
              </a:defRPr>
            </a:pPr>
            <a:endParaRPr lang="en-US" altLang="zh-CN" sz="3200"/>
          </a:p>
          <a:p>
            <a:pPr algn="l">
              <a:lnSpc>
                <a:spcPct val="110000"/>
              </a:lnSpc>
              <a:defRPr sz="3000">
                <a:solidFill>
                  <a:schemeClr val="accent5">
                    <a:hueOff val="-82419"/>
                    <a:satOff val="-9513"/>
                    <a:lumOff val="-16343"/>
                  </a:schemeClr>
                </a:solidFill>
                <a:latin typeface="Courier"/>
                <a:ea typeface="Courier"/>
                <a:cs typeface="Courier"/>
                <a:sym typeface="Courier"/>
              </a:defRPr>
            </a:pPr>
            <a:endParaRPr lang="en-US" altLang="zh-CN" sz="3200"/>
          </a:p>
          <a:p>
            <a:pPr algn="l">
              <a:lnSpc>
                <a:spcPct val="110000"/>
              </a:lnSpc>
              <a:defRPr sz="3000">
                <a:solidFill>
                  <a:schemeClr val="accent5">
                    <a:hueOff val="-82419"/>
                    <a:satOff val="-9513"/>
                    <a:lumOff val="-16343"/>
                  </a:schemeClr>
                </a:solidFill>
                <a:latin typeface="Courier"/>
                <a:ea typeface="Courier"/>
                <a:cs typeface="Courier"/>
                <a:sym typeface="Courier"/>
              </a:defRPr>
            </a:pPr>
            <a:endParaRPr lang="en-US" altLang="zh-CN" sz="3200"/>
          </a:p>
          <a:p>
            <a:pPr algn="l">
              <a:lnSpc>
                <a:spcPct val="110000"/>
              </a:lnSpc>
              <a:defRPr sz="3000">
                <a:solidFill>
                  <a:schemeClr val="accent5">
                    <a:hueOff val="-82419"/>
                    <a:satOff val="-9513"/>
                    <a:lumOff val="-16343"/>
                  </a:schemeClr>
                </a:solidFill>
                <a:latin typeface="Courier"/>
                <a:ea typeface="Courier"/>
                <a:cs typeface="Courier"/>
                <a:sym typeface="Courier"/>
              </a:defRPr>
            </a:pPr>
            <a:r>
              <a:rPr sz="3200"/>
              <a:t>}</a:t>
            </a:r>
          </a:p>
        </p:txBody>
      </p:sp>
      <p:pic>
        <p:nvPicPr>
          <p:cNvPr id="6" name="图片 5">
            <a:extLst>
              <a:ext uri="{FF2B5EF4-FFF2-40B4-BE49-F238E27FC236}">
                <a16:creationId xmlns:a16="http://schemas.microsoft.com/office/drawing/2014/main" id="{768105E5-927B-4653-A036-67BCAB3E6BA1}"/>
              </a:ext>
            </a:extLst>
          </p:cNvPr>
          <p:cNvPicPr>
            <a:picLocks noChangeAspect="1"/>
          </p:cNvPicPr>
          <p:nvPr/>
        </p:nvPicPr>
        <p:blipFill rotWithShape="1">
          <a:blip r:embed="rId2"/>
          <a:srcRect l="681" t="2480" r="1066" b="54038"/>
          <a:stretch/>
        </p:blipFill>
        <p:spPr>
          <a:xfrm>
            <a:off x="1447470" y="4411134"/>
            <a:ext cx="10651067" cy="3378200"/>
          </a:xfrm>
          <a:prstGeom prst="rect">
            <a:avLst/>
          </a:prstGeom>
        </p:spPr>
      </p:pic>
    </p:spTree>
    <p:extLst>
      <p:ext uri="{BB962C8B-B14F-4D97-AF65-F5344CB8AC3E}">
        <p14:creationId xmlns:p14="http://schemas.microsoft.com/office/powerpoint/2010/main" val="2183009653"/>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D7BE39D2-CFD0-41A2-A606-D6357DE7EBF9}"/>
              </a:ext>
            </a:extLst>
          </p:cNvPr>
          <p:cNvSpPr/>
          <p:nvPr/>
        </p:nvSpPr>
        <p:spPr>
          <a:xfrm>
            <a:off x="1553671" y="4876800"/>
            <a:ext cx="7970655" cy="2915830"/>
          </a:xfrm>
          <a:prstGeom prst="roundRect">
            <a:avLst>
              <a:gd name="adj" fmla="val 2236"/>
            </a:avLst>
          </a:prstGeom>
          <a:solidFill>
            <a:schemeClr val="accent5">
              <a:lumMod val="20000"/>
              <a:lumOff val="80000"/>
            </a:schemeClr>
          </a:solidFill>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159"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44</a:t>
            </a:fld>
            <a:endParaRPr/>
          </a:p>
        </p:txBody>
      </p:sp>
      <p:sp>
        <p:nvSpPr>
          <p:cNvPr id="7" name="矩形 6">
            <a:extLst>
              <a:ext uri="{FF2B5EF4-FFF2-40B4-BE49-F238E27FC236}">
                <a16:creationId xmlns:a16="http://schemas.microsoft.com/office/drawing/2014/main" id="{9A27FACF-6892-4D59-838A-100F4142052C}"/>
              </a:ext>
            </a:extLst>
          </p:cNvPr>
          <p:cNvSpPr/>
          <p:nvPr/>
        </p:nvSpPr>
        <p:spPr>
          <a:xfrm>
            <a:off x="547201" y="2173427"/>
            <a:ext cx="9167377" cy="7232749"/>
          </a:xfrm>
          <a:prstGeom prst="rect">
            <a:avLst/>
          </a:prstGeom>
        </p:spPr>
        <p:txBody>
          <a:bodyPr wrap="square">
            <a:spAutoFit/>
          </a:bodyPr>
          <a:lstStyle/>
          <a:p>
            <a:pPr algn="l"/>
            <a:r>
              <a:rPr lang="en-US" altLang="zh-CN" sz="2000" b="0" dirty="0">
                <a:solidFill>
                  <a:srgbClr val="0000FF"/>
                </a:solidFill>
                <a:latin typeface="Consolas" panose="020B0609020204030204" pitchFamily="49" charset="0"/>
              </a:rPr>
              <a:t>#include </a:t>
            </a:r>
            <a:r>
              <a:rPr lang="en-US" altLang="zh-CN" sz="2000" b="0" dirty="0">
                <a:solidFill>
                  <a:srgbClr val="A31515"/>
                </a:solidFill>
                <a:latin typeface="Consolas" panose="020B0609020204030204" pitchFamily="49" charset="0"/>
              </a:rPr>
              <a:t>&lt;iostream&gt;</a:t>
            </a:r>
            <a:endParaRPr lang="en-US" altLang="zh-CN" sz="2000" b="0" dirty="0">
              <a:latin typeface="Consolas" panose="020B0609020204030204" pitchFamily="49" charset="0"/>
            </a:endParaRPr>
          </a:p>
          <a:p>
            <a:pPr algn="l"/>
            <a:r>
              <a:rPr lang="en-US" altLang="zh-CN" sz="2000" b="0" dirty="0">
                <a:latin typeface="Consolas" panose="020B0609020204030204" pitchFamily="49" charset="0"/>
              </a:rPr>
              <a:t>using </a:t>
            </a:r>
            <a:r>
              <a:rPr lang="en-US" altLang="zh-CN" sz="2000" b="0" dirty="0">
                <a:solidFill>
                  <a:srgbClr val="0000FF"/>
                </a:solidFill>
                <a:latin typeface="Consolas" panose="020B0609020204030204" pitchFamily="49" charset="0"/>
              </a:rPr>
              <a:t>namespace</a:t>
            </a:r>
            <a:r>
              <a:rPr lang="en-US" altLang="zh-CN" sz="2000" b="0" dirty="0">
                <a:latin typeface="Consolas" panose="020B0609020204030204" pitchFamily="49" charset="0"/>
              </a:rPr>
              <a:t> std ;</a:t>
            </a:r>
          </a:p>
          <a:p>
            <a:pPr algn="l"/>
            <a:r>
              <a:rPr lang="en-US" altLang="zh-CN" sz="2000" b="0" dirty="0">
                <a:solidFill>
                  <a:srgbClr val="0000FF"/>
                </a:solidFill>
                <a:latin typeface="Consolas" panose="020B0609020204030204" pitchFamily="49" charset="0"/>
              </a:rPr>
              <a:t>int</a:t>
            </a:r>
            <a:r>
              <a:rPr lang="en-US" altLang="zh-CN" sz="2000" b="0" dirty="0">
                <a:latin typeface="Consolas" panose="020B0609020204030204" pitchFamily="49" charset="0"/>
              </a:rPr>
              <a:t> main()</a:t>
            </a:r>
          </a:p>
          <a:p>
            <a:pPr algn="l"/>
            <a:r>
              <a:rPr lang="en-US" altLang="zh-CN" sz="2000" b="0" dirty="0">
                <a:latin typeface="Consolas" panose="020B0609020204030204" pitchFamily="49" charset="0"/>
              </a:rPr>
              <a:t>{</a:t>
            </a:r>
          </a:p>
          <a:p>
            <a:pPr algn="l"/>
            <a:r>
              <a:rPr lang="en-US" altLang="zh-CN" sz="2000" b="0" dirty="0">
                <a:latin typeface="Consolas" panose="020B0609020204030204" pitchFamily="49" charset="0"/>
              </a:rPr>
              <a:t>    </a:t>
            </a:r>
            <a:r>
              <a:rPr lang="en-US" altLang="zh-CN" sz="2000" b="0" dirty="0">
                <a:solidFill>
                  <a:srgbClr val="0000FF"/>
                </a:solidFill>
                <a:highlight>
                  <a:srgbClr val="FFFF00"/>
                </a:highlight>
                <a:latin typeface="Consolas" panose="020B0609020204030204" pitchFamily="49" charset="0"/>
              </a:rPr>
              <a:t>char</a:t>
            </a:r>
            <a:r>
              <a:rPr lang="en-US" altLang="zh-CN" sz="2000" b="0" dirty="0">
                <a:highlight>
                  <a:srgbClr val="FFFF00"/>
                </a:highlight>
                <a:latin typeface="Consolas" panose="020B0609020204030204" pitchFamily="49" charset="0"/>
              </a:rPr>
              <a:t> </a:t>
            </a:r>
            <a:r>
              <a:rPr lang="en-US" altLang="zh-CN" sz="2000" b="0" dirty="0" err="1">
                <a:highlight>
                  <a:srgbClr val="FFFF00"/>
                </a:highlight>
                <a:latin typeface="Consolas" panose="020B0609020204030204" pitchFamily="49" charset="0"/>
              </a:rPr>
              <a:t>thisman</a:t>
            </a:r>
            <a:r>
              <a:rPr lang="en-US" altLang="zh-CN" sz="2000" b="0" dirty="0">
                <a:highlight>
                  <a:srgbClr val="FFFF00"/>
                </a:highlight>
                <a:latin typeface="Consolas" panose="020B0609020204030204" pitchFamily="49" charset="0"/>
              </a:rPr>
              <a:t> = </a:t>
            </a:r>
            <a:r>
              <a:rPr lang="en-US" altLang="zh-CN" sz="2000" b="0" dirty="0">
                <a:solidFill>
                  <a:srgbClr val="A31515"/>
                </a:solidFill>
                <a:highlight>
                  <a:srgbClr val="FFFF00"/>
                </a:highlight>
                <a:latin typeface="Consolas" panose="020B0609020204030204" pitchFamily="49" charset="0"/>
              </a:rPr>
              <a:t>'A'</a:t>
            </a:r>
            <a:r>
              <a:rPr lang="en-US" altLang="zh-CN" sz="2000" b="0" dirty="0">
                <a:highlight>
                  <a:srgbClr val="FFFF00"/>
                </a:highlight>
                <a:latin typeface="Consolas" panose="020B0609020204030204" pitchFamily="49" charset="0"/>
              </a:rPr>
              <a:t> - </a:t>
            </a:r>
            <a:r>
              <a:rPr lang="en-US" altLang="zh-CN" sz="2000" b="0" dirty="0">
                <a:solidFill>
                  <a:srgbClr val="098658"/>
                </a:solidFill>
                <a:highlight>
                  <a:srgbClr val="FFFF00"/>
                </a:highlight>
                <a:latin typeface="Consolas" panose="020B0609020204030204" pitchFamily="49" charset="0"/>
              </a:rPr>
              <a:t>1</a:t>
            </a:r>
            <a:r>
              <a:rPr lang="en-US" altLang="zh-CN" sz="2000" b="0" dirty="0">
                <a:highlight>
                  <a:srgbClr val="FFFF00"/>
                </a:highlight>
                <a:latin typeface="Consolas" panose="020B0609020204030204" pitchFamily="49" charset="0"/>
              </a:rPr>
              <a:t>; </a:t>
            </a:r>
          </a:p>
          <a:p>
            <a:pPr algn="l"/>
            <a:r>
              <a:rPr lang="en-US" altLang="zh-CN" sz="2000" b="0" dirty="0">
                <a:latin typeface="Consolas" panose="020B0609020204030204" pitchFamily="49" charset="0"/>
              </a:rPr>
              <a:t>    </a:t>
            </a:r>
            <a:r>
              <a:rPr lang="en-US" altLang="zh-CN" sz="2000" b="0" dirty="0">
                <a:solidFill>
                  <a:srgbClr val="0000FF"/>
                </a:solidFill>
                <a:latin typeface="Consolas" panose="020B0609020204030204" pitchFamily="49" charset="0"/>
              </a:rPr>
              <a:t>int</a:t>
            </a:r>
            <a:r>
              <a:rPr lang="en-US" altLang="zh-CN" sz="2000" b="0" dirty="0">
                <a:latin typeface="Consolas" panose="020B0609020204030204" pitchFamily="49" charset="0"/>
              </a:rPr>
              <a:t> sum;</a:t>
            </a:r>
          </a:p>
          <a:p>
            <a:pPr algn="l"/>
            <a:br>
              <a:rPr lang="en-US" altLang="zh-CN" sz="2000" b="0" dirty="0">
                <a:latin typeface="Consolas" panose="020B0609020204030204" pitchFamily="49" charset="0"/>
              </a:rPr>
            </a:br>
            <a:r>
              <a:rPr lang="en-US" altLang="zh-CN" sz="2000" b="0" dirty="0">
                <a:latin typeface="Consolas" panose="020B0609020204030204" pitchFamily="49" charset="0"/>
              </a:rPr>
              <a:t>    </a:t>
            </a:r>
            <a:r>
              <a:rPr lang="en-US" altLang="zh-CN" sz="2000" b="0" dirty="0">
                <a:solidFill>
                  <a:srgbClr val="0000FF"/>
                </a:solidFill>
                <a:latin typeface="Consolas" panose="020B0609020204030204" pitchFamily="49" charset="0"/>
              </a:rPr>
              <a:t>for</a:t>
            </a:r>
            <a:r>
              <a:rPr lang="en-US" altLang="zh-CN" sz="2000" b="0" dirty="0">
                <a:latin typeface="Consolas" panose="020B0609020204030204" pitchFamily="49" charset="0"/>
              </a:rPr>
              <a:t> (</a:t>
            </a:r>
            <a:r>
              <a:rPr lang="en-US" altLang="zh-CN" sz="2000" b="0" dirty="0">
                <a:solidFill>
                  <a:srgbClr val="0000FF"/>
                </a:solidFill>
                <a:latin typeface="Consolas" panose="020B0609020204030204" pitchFamily="49" charset="0"/>
              </a:rPr>
              <a:t>int</a:t>
            </a:r>
            <a:r>
              <a:rPr lang="en-US" altLang="zh-CN" sz="2000" b="0" dirty="0">
                <a:latin typeface="Consolas" panose="020B0609020204030204" pitchFamily="49" charset="0"/>
              </a:rPr>
              <a:t> </a:t>
            </a:r>
            <a:r>
              <a:rPr lang="en-US" altLang="zh-CN" sz="2000" b="0" dirty="0" err="1">
                <a:latin typeface="Consolas" panose="020B0609020204030204" pitchFamily="49" charset="0"/>
              </a:rPr>
              <a:t>i</a:t>
            </a:r>
            <a:r>
              <a:rPr lang="en-US" altLang="zh-CN" sz="2000" b="0" dirty="0">
                <a:latin typeface="Consolas" panose="020B0609020204030204" pitchFamily="49" charset="0"/>
              </a:rPr>
              <a:t>=</a:t>
            </a:r>
            <a:r>
              <a:rPr lang="en-US" altLang="zh-CN" sz="2000" b="0" dirty="0">
                <a:solidFill>
                  <a:srgbClr val="098658"/>
                </a:solidFill>
                <a:latin typeface="Consolas" panose="020B0609020204030204" pitchFamily="49" charset="0"/>
              </a:rPr>
              <a:t>0</a:t>
            </a:r>
            <a:r>
              <a:rPr lang="en-US" altLang="zh-CN" sz="2000" b="0" dirty="0">
                <a:latin typeface="Consolas" panose="020B0609020204030204" pitchFamily="49" charset="0"/>
              </a:rPr>
              <a:t>; </a:t>
            </a:r>
            <a:r>
              <a:rPr lang="en-US" altLang="zh-CN" sz="2000" b="0" dirty="0" err="1">
                <a:latin typeface="Consolas" panose="020B0609020204030204" pitchFamily="49" charset="0"/>
              </a:rPr>
              <a:t>i</a:t>
            </a:r>
            <a:r>
              <a:rPr lang="en-US" altLang="zh-CN" sz="2000" b="0" dirty="0">
                <a:latin typeface="Consolas" panose="020B0609020204030204" pitchFamily="49" charset="0"/>
              </a:rPr>
              <a:t>&lt;</a:t>
            </a:r>
            <a:r>
              <a:rPr lang="en-US" altLang="zh-CN" sz="2000" b="0" dirty="0">
                <a:solidFill>
                  <a:srgbClr val="098658"/>
                </a:solidFill>
                <a:latin typeface="Consolas" panose="020B0609020204030204" pitchFamily="49" charset="0"/>
              </a:rPr>
              <a:t>4</a:t>
            </a:r>
            <a:r>
              <a:rPr lang="en-US" altLang="zh-CN" sz="2000" b="0" dirty="0">
                <a:latin typeface="Consolas" panose="020B0609020204030204" pitchFamily="49" charset="0"/>
              </a:rPr>
              <a:t>; </a:t>
            </a:r>
            <a:r>
              <a:rPr lang="en-US" altLang="zh-CN" sz="2000" b="0" dirty="0" err="1">
                <a:latin typeface="Consolas" panose="020B0609020204030204" pitchFamily="49" charset="0"/>
              </a:rPr>
              <a:t>i</a:t>
            </a:r>
            <a:r>
              <a:rPr lang="en-US" altLang="zh-CN" sz="2000" b="0" dirty="0">
                <a:latin typeface="Consolas" panose="020B0609020204030204" pitchFamily="49" charset="0"/>
              </a:rPr>
              <a:t>++)</a:t>
            </a:r>
          </a:p>
          <a:p>
            <a:pPr algn="l"/>
            <a:r>
              <a:rPr lang="en-US" altLang="zh-CN" sz="2000" b="0" dirty="0">
                <a:latin typeface="Consolas" panose="020B0609020204030204" pitchFamily="49" charset="0"/>
              </a:rPr>
              <a:t>    {</a:t>
            </a:r>
          </a:p>
          <a:p>
            <a:pPr algn="l"/>
            <a:r>
              <a:rPr lang="en-US" altLang="zh-CN" sz="2000" b="0" dirty="0">
                <a:latin typeface="Consolas" panose="020B0609020204030204" pitchFamily="49" charset="0"/>
              </a:rPr>
              <a:t>        </a:t>
            </a:r>
            <a:r>
              <a:rPr lang="en-US" altLang="zh-CN" sz="2000" b="0" dirty="0" err="1">
                <a:latin typeface="Consolas" panose="020B0609020204030204" pitchFamily="49" charset="0"/>
              </a:rPr>
              <a:t>thisman</a:t>
            </a:r>
            <a:r>
              <a:rPr lang="en-US" altLang="zh-CN" sz="2000" b="0" dirty="0">
                <a:latin typeface="Consolas" panose="020B0609020204030204" pitchFamily="49" charset="0"/>
              </a:rPr>
              <a:t>++;</a:t>
            </a:r>
          </a:p>
          <a:p>
            <a:pPr algn="l"/>
            <a:r>
              <a:rPr lang="en-US" altLang="zh-CN" sz="2000" b="0" dirty="0">
                <a:latin typeface="Consolas" panose="020B0609020204030204" pitchFamily="49" charset="0"/>
              </a:rPr>
              <a:t>        sum = ( </a:t>
            </a:r>
            <a:r>
              <a:rPr lang="en-US" altLang="zh-CN" sz="2000" b="0" dirty="0" err="1">
                <a:latin typeface="Consolas" panose="020B0609020204030204" pitchFamily="49" charset="0"/>
              </a:rPr>
              <a:t>thisman</a:t>
            </a:r>
            <a:r>
              <a:rPr lang="en-US" altLang="zh-CN" sz="2000" b="0" dirty="0">
                <a:latin typeface="Consolas" panose="020B0609020204030204" pitchFamily="49" charset="0"/>
              </a:rPr>
              <a:t> != </a:t>
            </a:r>
            <a:r>
              <a:rPr lang="en-US" altLang="zh-CN" sz="2000" b="0" dirty="0">
                <a:solidFill>
                  <a:srgbClr val="A31515"/>
                </a:solidFill>
                <a:latin typeface="Consolas" panose="020B0609020204030204" pitchFamily="49" charset="0"/>
              </a:rPr>
              <a:t>'A'</a:t>
            </a:r>
            <a:r>
              <a:rPr lang="en-US" altLang="zh-CN" sz="2000" b="0" dirty="0">
                <a:latin typeface="Consolas" panose="020B0609020204030204" pitchFamily="49" charset="0"/>
              </a:rPr>
              <a:t> ) + ( </a:t>
            </a:r>
            <a:r>
              <a:rPr lang="en-US" altLang="zh-CN" sz="2000" b="0" dirty="0" err="1">
                <a:latin typeface="Consolas" panose="020B0609020204030204" pitchFamily="49" charset="0"/>
              </a:rPr>
              <a:t>thisman</a:t>
            </a:r>
            <a:r>
              <a:rPr lang="en-US" altLang="zh-CN" sz="2000" b="0" dirty="0">
                <a:latin typeface="Consolas" panose="020B0609020204030204" pitchFamily="49" charset="0"/>
              </a:rPr>
              <a:t> == </a:t>
            </a:r>
            <a:r>
              <a:rPr lang="en-US" altLang="zh-CN" sz="2000" b="0" dirty="0">
                <a:solidFill>
                  <a:srgbClr val="A31515"/>
                </a:solidFill>
                <a:latin typeface="Consolas" panose="020B0609020204030204" pitchFamily="49" charset="0"/>
              </a:rPr>
              <a:t>'C'</a:t>
            </a:r>
            <a:r>
              <a:rPr lang="en-US" altLang="zh-CN" sz="2000" b="0" dirty="0">
                <a:latin typeface="Consolas" panose="020B0609020204030204" pitchFamily="49" charset="0"/>
              </a:rPr>
              <a:t> )</a:t>
            </a:r>
          </a:p>
          <a:p>
            <a:pPr algn="l"/>
            <a:r>
              <a:rPr lang="en-US" altLang="zh-CN" sz="2000" b="0" dirty="0">
                <a:latin typeface="Consolas" panose="020B0609020204030204" pitchFamily="49" charset="0"/>
              </a:rPr>
              <a:t>            + ( </a:t>
            </a:r>
            <a:r>
              <a:rPr lang="en-US" altLang="zh-CN" sz="2000" b="0" dirty="0" err="1">
                <a:latin typeface="Consolas" panose="020B0609020204030204" pitchFamily="49" charset="0"/>
              </a:rPr>
              <a:t>thisman</a:t>
            </a:r>
            <a:r>
              <a:rPr lang="en-US" altLang="zh-CN" sz="2000" b="0" dirty="0">
                <a:latin typeface="Consolas" panose="020B0609020204030204" pitchFamily="49" charset="0"/>
              </a:rPr>
              <a:t> == </a:t>
            </a:r>
            <a:r>
              <a:rPr lang="en-US" altLang="zh-CN" sz="2000" b="0" dirty="0">
                <a:solidFill>
                  <a:srgbClr val="A31515"/>
                </a:solidFill>
                <a:latin typeface="Consolas" panose="020B0609020204030204" pitchFamily="49" charset="0"/>
              </a:rPr>
              <a:t>'D'</a:t>
            </a:r>
            <a:r>
              <a:rPr lang="en-US" altLang="zh-CN" sz="2000" b="0" dirty="0">
                <a:latin typeface="Consolas" panose="020B0609020204030204" pitchFamily="49" charset="0"/>
              </a:rPr>
              <a:t> ) + ( </a:t>
            </a:r>
            <a:r>
              <a:rPr lang="en-US" altLang="zh-CN" sz="2000" b="0" dirty="0" err="1">
                <a:latin typeface="Consolas" panose="020B0609020204030204" pitchFamily="49" charset="0"/>
              </a:rPr>
              <a:t>thisman</a:t>
            </a:r>
            <a:r>
              <a:rPr lang="en-US" altLang="zh-CN" sz="2000" b="0" dirty="0">
                <a:latin typeface="Consolas" panose="020B0609020204030204" pitchFamily="49" charset="0"/>
              </a:rPr>
              <a:t> != </a:t>
            </a:r>
            <a:r>
              <a:rPr lang="en-US" altLang="zh-CN" sz="2000" b="0" dirty="0">
                <a:solidFill>
                  <a:srgbClr val="A31515"/>
                </a:solidFill>
                <a:latin typeface="Consolas" panose="020B0609020204030204" pitchFamily="49" charset="0"/>
              </a:rPr>
              <a:t>'D'</a:t>
            </a:r>
            <a:r>
              <a:rPr lang="en-US" altLang="zh-CN" sz="2000" b="0" dirty="0">
                <a:latin typeface="Consolas" panose="020B0609020204030204" pitchFamily="49" charset="0"/>
              </a:rPr>
              <a:t> );</a:t>
            </a:r>
          </a:p>
          <a:p>
            <a:pPr algn="l"/>
            <a:r>
              <a:rPr lang="en-US" altLang="zh-CN" sz="2000" b="0" dirty="0">
                <a:latin typeface="Consolas" panose="020B0609020204030204" pitchFamily="49" charset="0"/>
              </a:rPr>
              <a:t>            </a:t>
            </a:r>
          </a:p>
          <a:p>
            <a:pPr algn="l"/>
            <a:r>
              <a:rPr lang="en-US" altLang="zh-CN" sz="2000" b="0" dirty="0">
                <a:latin typeface="Consolas" panose="020B0609020204030204" pitchFamily="49" charset="0"/>
              </a:rPr>
              <a:t>        </a:t>
            </a:r>
            <a:r>
              <a:rPr lang="en-US" altLang="zh-CN" sz="2000" b="0" dirty="0">
                <a:solidFill>
                  <a:srgbClr val="0000FF"/>
                </a:solidFill>
                <a:latin typeface="Consolas" panose="020B0609020204030204" pitchFamily="49" charset="0"/>
              </a:rPr>
              <a:t>if</a:t>
            </a:r>
            <a:r>
              <a:rPr lang="en-US" altLang="zh-CN" sz="2000" b="0" dirty="0">
                <a:latin typeface="Consolas" panose="020B0609020204030204" pitchFamily="49" charset="0"/>
              </a:rPr>
              <a:t> (sum == </a:t>
            </a:r>
            <a:r>
              <a:rPr lang="en-US" altLang="zh-CN" sz="2000" b="0" dirty="0">
                <a:solidFill>
                  <a:srgbClr val="098658"/>
                </a:solidFill>
                <a:latin typeface="Consolas" panose="020B0609020204030204" pitchFamily="49" charset="0"/>
              </a:rPr>
              <a:t>3</a:t>
            </a:r>
            <a:r>
              <a:rPr lang="en-US" altLang="zh-CN" sz="2000" b="0" dirty="0">
                <a:latin typeface="Consolas" panose="020B0609020204030204" pitchFamily="49" charset="0"/>
              </a:rPr>
              <a:t>)</a:t>
            </a:r>
          </a:p>
          <a:p>
            <a:pPr algn="l"/>
            <a:r>
              <a:rPr lang="en-US" altLang="zh-CN" sz="2000" b="0" dirty="0">
                <a:latin typeface="Consolas" panose="020B0609020204030204" pitchFamily="49" charset="0"/>
              </a:rPr>
              <a:t>        {</a:t>
            </a:r>
            <a:r>
              <a:rPr lang="en-US" altLang="zh-CN" sz="2000" b="0" dirty="0">
                <a:solidFill>
                  <a:srgbClr val="008000"/>
                </a:solidFill>
                <a:latin typeface="Consolas" panose="020B0609020204030204" pitchFamily="49" charset="0"/>
              </a:rPr>
              <a:t>   // </a:t>
            </a:r>
            <a:r>
              <a:rPr lang="zh-CN" altLang="en-US" sz="2000" b="0" dirty="0">
                <a:solidFill>
                  <a:srgbClr val="008000"/>
                </a:solidFill>
                <a:latin typeface="Consolas" panose="020B0609020204030204" pitchFamily="49" charset="0"/>
              </a:rPr>
              <a:t>如果</a:t>
            </a:r>
            <a:r>
              <a:rPr lang="en-US" altLang="zh-CN" sz="2000" b="0" dirty="0">
                <a:solidFill>
                  <a:srgbClr val="008000"/>
                </a:solidFill>
                <a:latin typeface="Consolas" panose="020B0609020204030204" pitchFamily="49" charset="0"/>
              </a:rPr>
              <a:t>3</a:t>
            </a:r>
            <a:r>
              <a:rPr lang="zh-CN" altLang="en-US" sz="2000" b="0" dirty="0">
                <a:solidFill>
                  <a:srgbClr val="008000"/>
                </a:solidFill>
                <a:latin typeface="Consolas" panose="020B0609020204030204" pitchFamily="49" charset="0"/>
              </a:rPr>
              <a:t>句话为真，则输出当前可能性所假定的人为做好事者</a:t>
            </a:r>
            <a:endParaRPr lang="zh-CN" altLang="en-US" sz="2000" b="0" dirty="0">
              <a:latin typeface="Consolas" panose="020B0609020204030204" pitchFamily="49" charset="0"/>
            </a:endParaRPr>
          </a:p>
          <a:p>
            <a:pPr algn="l"/>
            <a:r>
              <a:rPr lang="zh-CN" altLang="en-US" sz="2000" b="0" dirty="0">
                <a:latin typeface="Consolas" panose="020B0609020204030204" pitchFamily="49" charset="0"/>
              </a:rPr>
              <a:t>            </a:t>
            </a:r>
            <a:r>
              <a:rPr lang="en-US" altLang="zh-CN" sz="2000" b="0" dirty="0">
                <a:latin typeface="Consolas" panose="020B0609020204030204" pitchFamily="49" charset="0"/>
              </a:rPr>
              <a:t>cout &lt;&lt; </a:t>
            </a:r>
            <a:r>
              <a:rPr lang="en-US" altLang="zh-CN" sz="2000" b="0" dirty="0">
                <a:solidFill>
                  <a:srgbClr val="A31515"/>
                </a:solidFill>
                <a:latin typeface="Consolas" panose="020B0609020204030204" pitchFamily="49" charset="0"/>
              </a:rPr>
              <a:t>"</a:t>
            </a:r>
            <a:r>
              <a:rPr lang="zh-CN" altLang="en-US" sz="2000" b="0" dirty="0">
                <a:solidFill>
                  <a:srgbClr val="A31515"/>
                </a:solidFill>
                <a:latin typeface="Consolas" panose="020B0609020204030204" pitchFamily="49" charset="0"/>
              </a:rPr>
              <a:t>做好事者为</a:t>
            </a:r>
            <a:r>
              <a:rPr lang="en-US" altLang="zh-CN" sz="2000" b="0" dirty="0">
                <a:solidFill>
                  <a:srgbClr val="A31515"/>
                </a:solidFill>
                <a:latin typeface="Consolas" panose="020B0609020204030204" pitchFamily="49" charset="0"/>
              </a:rPr>
              <a:t>"</a:t>
            </a:r>
            <a:r>
              <a:rPr lang="zh-CN" altLang="en-US" sz="2000" b="0" dirty="0">
                <a:latin typeface="Consolas" panose="020B0609020204030204" pitchFamily="49" charset="0"/>
              </a:rPr>
              <a:t> </a:t>
            </a:r>
            <a:r>
              <a:rPr lang="en-US" altLang="zh-CN" sz="2000" b="0" dirty="0">
                <a:latin typeface="Consolas" panose="020B0609020204030204" pitchFamily="49" charset="0"/>
              </a:rPr>
              <a:t>&lt;&lt; </a:t>
            </a:r>
            <a:r>
              <a:rPr lang="en-US" altLang="zh-CN" sz="2000" b="0" dirty="0" err="1">
                <a:latin typeface="Consolas" panose="020B0609020204030204" pitchFamily="49" charset="0"/>
              </a:rPr>
              <a:t>thisman</a:t>
            </a:r>
            <a:r>
              <a:rPr lang="en-US" altLang="zh-CN" sz="2000" b="0" dirty="0">
                <a:latin typeface="Consolas" panose="020B0609020204030204" pitchFamily="49" charset="0"/>
              </a:rPr>
              <a:t> &lt;&lt; </a:t>
            </a:r>
            <a:r>
              <a:rPr lang="en-US" altLang="zh-CN" sz="2000" b="0" dirty="0" err="1">
                <a:latin typeface="Consolas" panose="020B0609020204030204" pitchFamily="49" charset="0"/>
              </a:rPr>
              <a:t>endl</a:t>
            </a:r>
            <a:r>
              <a:rPr lang="en-US" altLang="zh-CN" sz="2000" b="0" dirty="0">
                <a:latin typeface="Consolas" panose="020B0609020204030204" pitchFamily="49" charset="0"/>
              </a:rPr>
              <a:t>;</a:t>
            </a:r>
          </a:p>
          <a:p>
            <a:pPr algn="l"/>
            <a:r>
              <a:rPr lang="en-US" altLang="zh-CN" sz="2000" b="0" dirty="0">
                <a:latin typeface="Consolas" panose="020B0609020204030204" pitchFamily="49" charset="0"/>
              </a:rPr>
              <a:t>            </a:t>
            </a:r>
            <a:r>
              <a:rPr lang="en-US" altLang="zh-CN" sz="2000" b="0" dirty="0">
                <a:solidFill>
                  <a:srgbClr val="0000FF"/>
                </a:solidFill>
                <a:latin typeface="Consolas" panose="020B0609020204030204" pitchFamily="49" charset="0"/>
              </a:rPr>
              <a:t>return</a:t>
            </a:r>
            <a:r>
              <a:rPr lang="en-US" altLang="zh-CN" sz="2000" b="0" dirty="0">
                <a:latin typeface="Consolas" panose="020B0609020204030204" pitchFamily="49" charset="0"/>
              </a:rPr>
              <a:t> </a:t>
            </a:r>
            <a:r>
              <a:rPr lang="en-US" altLang="zh-CN" sz="2000" b="0" dirty="0">
                <a:solidFill>
                  <a:srgbClr val="098658"/>
                </a:solidFill>
                <a:latin typeface="Consolas" panose="020B0609020204030204" pitchFamily="49" charset="0"/>
              </a:rPr>
              <a:t>0</a:t>
            </a:r>
            <a:r>
              <a:rPr lang="en-US" altLang="zh-CN" sz="2000" b="0" dirty="0">
                <a:latin typeface="Consolas" panose="020B0609020204030204" pitchFamily="49" charset="0"/>
              </a:rPr>
              <a:t>;</a:t>
            </a:r>
          </a:p>
          <a:p>
            <a:pPr algn="l"/>
            <a:r>
              <a:rPr lang="en-US" altLang="zh-CN" sz="2000" b="0" dirty="0">
                <a:latin typeface="Consolas" panose="020B0609020204030204" pitchFamily="49" charset="0"/>
              </a:rPr>
              <a:t>        }</a:t>
            </a:r>
          </a:p>
          <a:p>
            <a:pPr algn="l"/>
            <a:r>
              <a:rPr lang="en-US" altLang="zh-CN" sz="2000" b="0" dirty="0">
                <a:latin typeface="Consolas" panose="020B0609020204030204" pitchFamily="49" charset="0"/>
              </a:rPr>
              <a:t>    }</a:t>
            </a:r>
          </a:p>
          <a:p>
            <a:pPr algn="l"/>
            <a:br>
              <a:rPr lang="en-US" altLang="zh-CN" sz="2000" b="0" dirty="0">
                <a:latin typeface="Consolas" panose="020B0609020204030204" pitchFamily="49" charset="0"/>
              </a:rPr>
            </a:br>
            <a:r>
              <a:rPr lang="en-US" altLang="zh-CN" sz="2000" b="0" dirty="0">
                <a:latin typeface="Consolas" panose="020B0609020204030204" pitchFamily="49" charset="0"/>
              </a:rPr>
              <a:t>    cout &lt;&lt; </a:t>
            </a:r>
            <a:r>
              <a:rPr lang="en-US" altLang="zh-CN" sz="2000" b="0" dirty="0">
                <a:solidFill>
                  <a:srgbClr val="A31515"/>
                </a:solidFill>
                <a:latin typeface="Consolas" panose="020B0609020204030204" pitchFamily="49" charset="0"/>
              </a:rPr>
              <a:t>"</a:t>
            </a:r>
            <a:r>
              <a:rPr lang="zh-CN" altLang="en-US" sz="2000" b="0" dirty="0">
                <a:solidFill>
                  <a:srgbClr val="A31515"/>
                </a:solidFill>
                <a:latin typeface="Consolas" panose="020B0609020204030204" pitchFamily="49" charset="0"/>
              </a:rPr>
              <a:t>找不出做好事者</a:t>
            </a:r>
            <a:r>
              <a:rPr lang="en-US" altLang="zh-CN" sz="2000" b="0" dirty="0">
                <a:solidFill>
                  <a:srgbClr val="A31515"/>
                </a:solidFill>
                <a:latin typeface="Consolas" panose="020B0609020204030204" pitchFamily="49" charset="0"/>
              </a:rPr>
              <a:t>"</a:t>
            </a:r>
            <a:r>
              <a:rPr lang="zh-CN" altLang="en-US" sz="2000" b="0" dirty="0">
                <a:latin typeface="Consolas" panose="020B0609020204030204" pitchFamily="49" charset="0"/>
              </a:rPr>
              <a:t> </a:t>
            </a:r>
            <a:r>
              <a:rPr lang="en-US" altLang="zh-CN" sz="2000" b="0" dirty="0">
                <a:latin typeface="Consolas" panose="020B0609020204030204" pitchFamily="49" charset="0"/>
              </a:rPr>
              <a:t>&lt;&lt; </a:t>
            </a:r>
            <a:r>
              <a:rPr lang="en-US" altLang="zh-CN" sz="2000" b="0" dirty="0" err="1">
                <a:latin typeface="Consolas" panose="020B0609020204030204" pitchFamily="49" charset="0"/>
              </a:rPr>
              <a:t>endl</a:t>
            </a:r>
            <a:r>
              <a:rPr lang="en-US" altLang="zh-CN" sz="2000" b="0" dirty="0">
                <a:latin typeface="Consolas" panose="020B0609020204030204" pitchFamily="49" charset="0"/>
              </a:rPr>
              <a:t>;</a:t>
            </a:r>
            <a:r>
              <a:rPr lang="en-US" altLang="zh-CN" sz="2000" b="0" dirty="0">
                <a:solidFill>
                  <a:srgbClr val="008000"/>
                </a:solidFill>
                <a:latin typeface="Consolas" panose="020B0609020204030204" pitchFamily="49" charset="0"/>
              </a:rPr>
              <a:t> // </a:t>
            </a:r>
            <a:r>
              <a:rPr lang="zh-CN" altLang="en-US" sz="2000" b="0" dirty="0">
                <a:solidFill>
                  <a:srgbClr val="008000"/>
                </a:solidFill>
                <a:latin typeface="Consolas" panose="020B0609020204030204" pitchFamily="49" charset="0"/>
              </a:rPr>
              <a:t>输出无解信息</a:t>
            </a:r>
            <a:endParaRPr lang="zh-CN" altLang="en-US" sz="2000" b="0" dirty="0">
              <a:latin typeface="Consolas" panose="020B0609020204030204" pitchFamily="49" charset="0"/>
            </a:endParaRPr>
          </a:p>
          <a:p>
            <a:pPr algn="l"/>
            <a:r>
              <a:rPr lang="zh-CN" altLang="en-US" sz="2000" b="0" dirty="0">
                <a:latin typeface="Consolas" panose="020B0609020204030204" pitchFamily="49" charset="0"/>
              </a:rPr>
              <a:t>    </a:t>
            </a:r>
            <a:r>
              <a:rPr lang="en-US" altLang="zh-CN" sz="2000" b="0" dirty="0">
                <a:solidFill>
                  <a:srgbClr val="0000FF"/>
                </a:solidFill>
                <a:latin typeface="Consolas" panose="020B0609020204030204" pitchFamily="49" charset="0"/>
              </a:rPr>
              <a:t>return</a:t>
            </a:r>
            <a:r>
              <a:rPr lang="en-US" altLang="zh-CN" sz="2000" b="0" dirty="0">
                <a:latin typeface="Consolas" panose="020B0609020204030204" pitchFamily="49" charset="0"/>
              </a:rPr>
              <a:t> </a:t>
            </a:r>
            <a:r>
              <a:rPr lang="en-US" altLang="zh-CN" sz="2000" b="0" dirty="0">
                <a:solidFill>
                  <a:srgbClr val="098658"/>
                </a:solidFill>
                <a:latin typeface="Consolas" panose="020B0609020204030204" pitchFamily="49" charset="0"/>
              </a:rPr>
              <a:t>1</a:t>
            </a:r>
            <a:r>
              <a:rPr lang="en-US" altLang="zh-CN" sz="2000" b="0" dirty="0">
                <a:latin typeface="Consolas" panose="020B0609020204030204" pitchFamily="49" charset="0"/>
              </a:rPr>
              <a:t>;</a:t>
            </a:r>
            <a:r>
              <a:rPr lang="en-US" altLang="zh-CN" sz="2000" b="0" dirty="0">
                <a:solidFill>
                  <a:srgbClr val="008000"/>
                </a:solidFill>
                <a:latin typeface="Consolas" panose="020B0609020204030204" pitchFamily="49" charset="0"/>
              </a:rPr>
              <a:t> // </a:t>
            </a:r>
            <a:r>
              <a:rPr lang="zh-CN" altLang="en-US" sz="2000" b="0" dirty="0">
                <a:solidFill>
                  <a:srgbClr val="008000"/>
                </a:solidFill>
                <a:latin typeface="Consolas" panose="020B0609020204030204" pitchFamily="49" charset="0"/>
              </a:rPr>
              <a:t>返回</a:t>
            </a:r>
            <a:r>
              <a:rPr lang="en-US" altLang="zh-CN" sz="2000" b="0" dirty="0">
                <a:solidFill>
                  <a:srgbClr val="008000"/>
                </a:solidFill>
                <a:latin typeface="Consolas" panose="020B0609020204030204" pitchFamily="49" charset="0"/>
              </a:rPr>
              <a:t>1</a:t>
            </a:r>
            <a:r>
              <a:rPr lang="zh-CN" altLang="en-US" sz="2000" b="0" dirty="0">
                <a:solidFill>
                  <a:srgbClr val="008000"/>
                </a:solidFill>
                <a:latin typeface="Consolas" panose="020B0609020204030204" pitchFamily="49" charset="0"/>
              </a:rPr>
              <a:t>表示题目无解</a:t>
            </a:r>
            <a:endParaRPr lang="zh-CN" altLang="en-US" sz="2000" b="0" dirty="0">
              <a:latin typeface="Consolas" panose="020B0609020204030204" pitchFamily="49" charset="0"/>
            </a:endParaRPr>
          </a:p>
          <a:p>
            <a:pPr algn="l"/>
            <a:r>
              <a:rPr lang="en-US" altLang="zh-CN" sz="2000" b="0" dirty="0">
                <a:latin typeface="Consolas" panose="020B0609020204030204" pitchFamily="49" charset="0"/>
              </a:rPr>
              <a:t>} </a:t>
            </a:r>
            <a:r>
              <a:rPr lang="en-US" altLang="zh-CN" sz="2000" b="0" dirty="0">
                <a:solidFill>
                  <a:srgbClr val="00B050"/>
                </a:solidFill>
                <a:latin typeface="Consolas" panose="020B0609020204030204" pitchFamily="49" charset="0"/>
              </a:rPr>
              <a:t>// L03-02.cpp</a:t>
            </a:r>
          </a:p>
        </p:txBody>
      </p:sp>
      <p:pic>
        <p:nvPicPr>
          <p:cNvPr id="15" name="图片 14">
            <a:extLst>
              <a:ext uri="{FF2B5EF4-FFF2-40B4-BE49-F238E27FC236}">
                <a16:creationId xmlns:a16="http://schemas.microsoft.com/office/drawing/2014/main" id="{3C6B1273-18B4-4B85-AF91-DA824441CC19}"/>
              </a:ext>
            </a:extLst>
          </p:cNvPr>
          <p:cNvPicPr>
            <a:picLocks noChangeAspect="1"/>
          </p:cNvPicPr>
          <p:nvPr/>
        </p:nvPicPr>
        <p:blipFill rotWithShape="1">
          <a:blip r:embed="rId2"/>
          <a:srcRect t="1691" b="54037"/>
          <a:stretch/>
        </p:blipFill>
        <p:spPr>
          <a:xfrm>
            <a:off x="8067971" y="2293679"/>
            <a:ext cx="4542867" cy="1441394"/>
          </a:xfrm>
          <a:prstGeom prst="rect">
            <a:avLst/>
          </a:prstGeom>
        </p:spPr>
      </p:pic>
      <p:sp>
        <p:nvSpPr>
          <p:cNvPr id="9" name="箭头: 下 8">
            <a:extLst>
              <a:ext uri="{FF2B5EF4-FFF2-40B4-BE49-F238E27FC236}">
                <a16:creationId xmlns:a16="http://schemas.microsoft.com/office/drawing/2014/main" id="{70FBBD5B-982D-4E73-BE29-ECA665DCB20D}"/>
              </a:ext>
            </a:extLst>
          </p:cNvPr>
          <p:cNvSpPr/>
          <p:nvPr/>
        </p:nvSpPr>
        <p:spPr>
          <a:xfrm rot="2483910">
            <a:off x="7398832" y="3693012"/>
            <a:ext cx="548586" cy="1225849"/>
          </a:xfrm>
          <a:prstGeom prst="downArrow">
            <a:avLst/>
          </a:prstGeom>
          <a:solidFill>
            <a:schemeClr val="accent5">
              <a:lumMod val="20000"/>
              <a:lumOff val="80000"/>
            </a:schemeClr>
          </a:solidFill>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11" name="循环语句的语法格式">
            <a:extLst>
              <a:ext uri="{FF2B5EF4-FFF2-40B4-BE49-F238E27FC236}">
                <a16:creationId xmlns:a16="http://schemas.microsoft.com/office/drawing/2014/main" id="{416C8150-B20B-4383-9DB4-CB372DE7CCBE}"/>
              </a:ext>
            </a:extLst>
          </p:cNvPr>
          <p:cNvSpPr>
            <a:spLocks noGrp="1"/>
          </p:cNvSpPr>
          <p:nvPr>
            <p:ph type="title"/>
          </p:nvPr>
        </p:nvSpPr>
        <p:spPr>
          <a:xfrm>
            <a:off x="547201" y="354125"/>
            <a:ext cx="4742349" cy="1152045"/>
          </a:xfrm>
          <a:prstGeom prst="rect">
            <a:avLst/>
          </a:prstGeom>
        </p:spPr>
        <p:txBody>
          <a:bodyPr/>
          <a:lstStyle/>
          <a:p>
            <a:r>
              <a:rPr lang="zh-CN" altLang="en-US">
                <a:solidFill>
                  <a:schemeClr val="bg1"/>
                </a:solidFill>
              </a:rPr>
              <a:t>完整的算法实现</a:t>
            </a:r>
            <a:endParaRPr>
              <a:solidFill>
                <a:schemeClr val="bg1"/>
              </a:solidFill>
            </a:endParaRPr>
          </a:p>
        </p:txBody>
      </p:sp>
    </p:spTree>
    <p:extLst>
      <p:ext uri="{BB962C8B-B14F-4D97-AF65-F5344CB8AC3E}">
        <p14:creationId xmlns:p14="http://schemas.microsoft.com/office/powerpoint/2010/main" val="2947916620"/>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45</a:t>
            </a:fld>
            <a:endParaRPr/>
          </a:p>
        </p:txBody>
      </p:sp>
      <p:sp>
        <p:nvSpPr>
          <p:cNvPr id="156" name="用循环语句来实现枚举法"/>
          <p:cNvSpPr>
            <a:spLocks noGrp="1"/>
          </p:cNvSpPr>
          <p:nvPr>
            <p:ph type="title"/>
          </p:nvPr>
        </p:nvSpPr>
        <p:spPr>
          <a:xfrm>
            <a:off x="547200" y="354125"/>
            <a:ext cx="10386963" cy="1152045"/>
          </a:xfrm>
          <a:prstGeom prst="rect">
            <a:avLst/>
          </a:prstGeom>
        </p:spPr>
        <p:txBody>
          <a:bodyPr/>
          <a:lstStyle/>
          <a:p>
            <a:pPr algn="l"/>
            <a:r>
              <a:rPr lang="en-US" altLang="zh-CN" sz="4000" dirty="0">
                <a:solidFill>
                  <a:schemeClr val="bg1"/>
                </a:solidFill>
              </a:rPr>
              <a:t>【</a:t>
            </a:r>
            <a:r>
              <a:rPr lang="zh-CN" altLang="en-US" sz="4000" dirty="0">
                <a:solidFill>
                  <a:schemeClr val="bg1"/>
                </a:solidFill>
              </a:rPr>
              <a:t>任务</a:t>
            </a:r>
            <a:r>
              <a:rPr lang="en-US" altLang="zh-CN" sz="4000" dirty="0">
                <a:solidFill>
                  <a:schemeClr val="bg1"/>
                </a:solidFill>
              </a:rPr>
              <a:t>3.1】</a:t>
            </a:r>
            <a:r>
              <a:rPr lang="zh-CN" altLang="en-US" sz="4000" b="1" dirty="0">
                <a:solidFill>
                  <a:schemeClr val="accent4">
                    <a:hueOff val="366961"/>
                    <a:satOff val="4172"/>
                    <a:lumOff val="11129"/>
                  </a:schemeClr>
                </a:solidFill>
              </a:rPr>
              <a:t>方法</a:t>
            </a:r>
            <a:r>
              <a:rPr lang="en-US" altLang="zh-CN" sz="4000" b="1" dirty="0">
                <a:solidFill>
                  <a:schemeClr val="accent4">
                    <a:hueOff val="366961"/>
                    <a:satOff val="4172"/>
                    <a:lumOff val="11129"/>
                  </a:schemeClr>
                </a:solidFill>
              </a:rPr>
              <a:t>2</a:t>
            </a:r>
            <a:r>
              <a:rPr lang="zh-CN" altLang="en-US" sz="4000" b="1" dirty="0">
                <a:solidFill>
                  <a:schemeClr val="accent4">
                    <a:hueOff val="366961"/>
                    <a:satOff val="4172"/>
                    <a:lumOff val="11129"/>
                  </a:schemeClr>
                </a:solidFill>
              </a:rPr>
              <a:t>：</a:t>
            </a:r>
            <a:r>
              <a:rPr lang="zh-CN" altLang="en-US" sz="4000" dirty="0"/>
              <a:t>循环体用到了“循环变量”</a:t>
            </a:r>
            <a:endParaRPr sz="4000" dirty="0"/>
          </a:p>
        </p:txBody>
      </p:sp>
      <p:sp>
        <p:nvSpPr>
          <p:cNvPr id="157" name="for (int k=0; k&lt;4; k++)      // 变量k称为循环变量…"/>
          <p:cNvSpPr txBox="1"/>
          <p:nvPr/>
        </p:nvSpPr>
        <p:spPr>
          <a:xfrm>
            <a:off x="547200" y="2575150"/>
            <a:ext cx="11841564" cy="63086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l" defTabSz="439419">
              <a:lnSpc>
                <a:spcPct val="120000"/>
              </a:lnSpc>
              <a:tabLst>
                <a:tab pos="431800" algn="l"/>
              </a:tabLst>
              <a:defRPr sz="2600">
                <a:latin typeface="Menlo"/>
                <a:ea typeface="Menlo"/>
                <a:cs typeface="Menlo"/>
                <a:sym typeface="Menlo"/>
              </a:defRPr>
            </a:pPr>
            <a:r>
              <a:rPr dirty="0">
                <a:solidFill>
                  <a:srgbClr val="BA2DA2"/>
                </a:solidFill>
                <a:latin typeface="Consolas" panose="020B0609020204030204" pitchFamily="49" charset="0"/>
              </a:rPr>
              <a:t>for</a:t>
            </a:r>
            <a:r>
              <a:rPr dirty="0">
                <a:latin typeface="Consolas" panose="020B0609020204030204" pitchFamily="49" charset="0"/>
              </a:rPr>
              <a:t> (</a:t>
            </a:r>
            <a:r>
              <a:rPr dirty="0">
                <a:solidFill>
                  <a:srgbClr val="BA2DA2"/>
                </a:solidFill>
                <a:latin typeface="Consolas" panose="020B0609020204030204" pitchFamily="49" charset="0"/>
              </a:rPr>
              <a:t>int</a:t>
            </a:r>
            <a:r>
              <a:rPr dirty="0">
                <a:latin typeface="Consolas" panose="020B0609020204030204" pitchFamily="49" charset="0"/>
              </a:rPr>
              <a:t> k=</a:t>
            </a:r>
            <a:r>
              <a:rPr dirty="0">
                <a:solidFill>
                  <a:srgbClr val="272AD8"/>
                </a:solidFill>
                <a:latin typeface="Consolas" panose="020B0609020204030204" pitchFamily="49" charset="0"/>
              </a:rPr>
              <a:t>0</a:t>
            </a:r>
            <a:r>
              <a:rPr dirty="0">
                <a:latin typeface="Consolas" panose="020B0609020204030204" pitchFamily="49" charset="0"/>
              </a:rPr>
              <a:t>; k&lt;</a:t>
            </a:r>
            <a:r>
              <a:rPr dirty="0">
                <a:solidFill>
                  <a:srgbClr val="272AD8"/>
                </a:solidFill>
                <a:latin typeface="Consolas" panose="020B0609020204030204" pitchFamily="49" charset="0"/>
              </a:rPr>
              <a:t>4</a:t>
            </a:r>
            <a:r>
              <a:rPr dirty="0">
                <a:latin typeface="Consolas" panose="020B0609020204030204" pitchFamily="49" charset="0"/>
              </a:rPr>
              <a:t>; k++)      </a:t>
            </a:r>
            <a:r>
              <a:rPr dirty="0">
                <a:solidFill>
                  <a:schemeClr val="accent3">
                    <a:hueOff val="914337"/>
                    <a:satOff val="31515"/>
                    <a:lumOff val="-30790"/>
                  </a:schemeClr>
                </a:solidFill>
                <a:latin typeface="Consolas" panose="020B0609020204030204" pitchFamily="49" charset="0"/>
              </a:rPr>
              <a:t>// </a:t>
            </a:r>
            <a:r>
              <a:rPr dirty="0" err="1">
                <a:solidFill>
                  <a:schemeClr val="accent3">
                    <a:hueOff val="914337"/>
                    <a:satOff val="31515"/>
                    <a:lumOff val="-30790"/>
                  </a:schemeClr>
                </a:solidFill>
                <a:latin typeface="Consolas" panose="020B0609020204030204" pitchFamily="49" charset="0"/>
              </a:rPr>
              <a:t>变量k称为循环变量</a:t>
            </a:r>
            <a:r>
              <a:rPr dirty="0">
                <a:solidFill>
                  <a:schemeClr val="accent3">
                    <a:hueOff val="914337"/>
                    <a:satOff val="31515"/>
                    <a:lumOff val="-30790"/>
                  </a:schemeClr>
                </a:solidFill>
                <a:latin typeface="Consolas" panose="020B0609020204030204" pitchFamily="49" charset="0"/>
              </a:rPr>
              <a:t> </a:t>
            </a:r>
            <a:endParaRPr dirty="0">
              <a:latin typeface="Consolas" panose="020B0609020204030204" pitchFamily="49" charset="0"/>
              <a:ea typeface="Helvetica"/>
              <a:cs typeface="Helvetica"/>
              <a:sym typeface="Helvetica"/>
            </a:endParaRPr>
          </a:p>
          <a:p>
            <a:pPr algn="l" defTabSz="439419">
              <a:lnSpc>
                <a:spcPct val="120000"/>
              </a:lnSpc>
              <a:tabLst>
                <a:tab pos="431800" algn="l"/>
              </a:tabLst>
              <a:defRPr sz="2600">
                <a:solidFill>
                  <a:srgbClr val="008400"/>
                </a:solidFill>
                <a:latin typeface="Menlo"/>
                <a:ea typeface="Menlo"/>
                <a:cs typeface="Menlo"/>
                <a:sym typeface="Menlo"/>
              </a:defRPr>
            </a:pPr>
            <a:r>
              <a:rPr dirty="0">
                <a:solidFill>
                  <a:srgbClr val="000000"/>
                </a:solidFill>
                <a:latin typeface="Consolas" panose="020B0609020204030204" pitchFamily="49" charset="0"/>
              </a:rPr>
              <a:t>{ </a:t>
            </a:r>
            <a:r>
              <a:rPr dirty="0">
                <a:latin typeface="Consolas" panose="020B0609020204030204" pitchFamily="49" charset="0"/>
              </a:rPr>
              <a:t>// </a:t>
            </a:r>
            <a:r>
              <a:rPr dirty="0" err="1">
                <a:latin typeface="Consolas" panose="020B0609020204030204" pitchFamily="49" charset="0"/>
              </a:rPr>
              <a:t>循环体开始</a:t>
            </a:r>
            <a:endParaRPr dirty="0">
              <a:solidFill>
                <a:srgbClr val="000000"/>
              </a:solidFill>
              <a:latin typeface="Consolas" panose="020B0609020204030204" pitchFamily="49" charset="0"/>
              <a:ea typeface="Helvetica"/>
              <a:cs typeface="Helvetica"/>
              <a:sym typeface="Helvetica"/>
            </a:endParaRPr>
          </a:p>
          <a:p>
            <a:pPr algn="l" defTabSz="439419">
              <a:lnSpc>
                <a:spcPct val="120000"/>
              </a:lnSpc>
              <a:tabLst>
                <a:tab pos="431800" algn="l"/>
              </a:tabLst>
              <a:defRPr sz="2600">
                <a:solidFill>
                  <a:srgbClr val="008400"/>
                </a:solidFill>
                <a:latin typeface="Menlo"/>
                <a:ea typeface="Menlo"/>
                <a:cs typeface="Menlo"/>
                <a:sym typeface="Menlo"/>
              </a:defRPr>
            </a:pPr>
            <a:r>
              <a:rPr dirty="0">
                <a:solidFill>
                  <a:srgbClr val="000000"/>
                </a:solidFill>
                <a:latin typeface="Consolas" panose="020B0609020204030204" pitchFamily="49" charset="0"/>
              </a:rPr>
              <a:t>    </a:t>
            </a:r>
            <a:r>
              <a:rPr dirty="0" err="1">
                <a:solidFill>
                  <a:srgbClr val="000000"/>
                </a:solidFill>
                <a:latin typeface="Consolas" panose="020B0609020204030204" pitchFamily="49" charset="0"/>
              </a:rPr>
              <a:t>thisman</a:t>
            </a:r>
            <a:r>
              <a:rPr dirty="0">
                <a:solidFill>
                  <a:srgbClr val="000000"/>
                </a:solidFill>
                <a:latin typeface="Consolas" panose="020B0609020204030204" pitchFamily="49" charset="0"/>
              </a:rPr>
              <a:t> = </a:t>
            </a:r>
            <a:r>
              <a:rPr dirty="0">
                <a:solidFill>
                  <a:srgbClr val="272AD8"/>
                </a:solidFill>
                <a:latin typeface="Consolas" panose="020B0609020204030204" pitchFamily="49" charset="0"/>
              </a:rPr>
              <a:t>'A'</a:t>
            </a:r>
            <a:r>
              <a:rPr dirty="0">
                <a:solidFill>
                  <a:srgbClr val="000000"/>
                </a:solidFill>
                <a:latin typeface="Consolas" panose="020B0609020204030204" pitchFamily="49" charset="0"/>
              </a:rPr>
              <a:t> + k;       </a:t>
            </a:r>
            <a:r>
              <a:rPr dirty="0">
                <a:latin typeface="Consolas" panose="020B0609020204030204" pitchFamily="49" charset="0"/>
              </a:rPr>
              <a:t>// </a:t>
            </a:r>
            <a:r>
              <a:rPr dirty="0" err="1">
                <a:highlight>
                  <a:srgbClr val="FFFF00"/>
                </a:highlight>
                <a:latin typeface="Consolas" panose="020B0609020204030204" pitchFamily="49" charset="0"/>
              </a:rPr>
              <a:t>产生被试者</a:t>
            </a:r>
            <a:r>
              <a:rPr dirty="0" err="1">
                <a:latin typeface="Consolas" panose="020B0609020204030204" pitchFamily="49" charset="0"/>
              </a:rPr>
              <a:t>，依次为</a:t>
            </a:r>
            <a:r>
              <a:rPr lang="en-US" altLang="zh-CN" dirty="0" err="1">
                <a:latin typeface="Consolas" panose="020B0609020204030204" pitchFamily="49" charset="0"/>
              </a:rPr>
              <a:t>'</a:t>
            </a:r>
            <a:r>
              <a:rPr dirty="0" err="1">
                <a:latin typeface="Consolas" panose="020B0609020204030204" pitchFamily="49" charset="0"/>
              </a:rPr>
              <a:t>A</a:t>
            </a:r>
            <a:r>
              <a:rPr lang="en-US" altLang="zh-CN" dirty="0" err="1">
                <a:latin typeface="Consolas" panose="020B0609020204030204" pitchFamily="49" charset="0"/>
              </a:rPr>
              <a:t>'</a:t>
            </a:r>
            <a:r>
              <a:rPr dirty="0" err="1">
                <a:latin typeface="Consolas" panose="020B0609020204030204" pitchFamily="49" charset="0"/>
              </a:rPr>
              <a:t>,</a:t>
            </a:r>
            <a:r>
              <a:rPr lang="en-US" altLang="zh-CN" dirty="0" err="1">
                <a:latin typeface="Consolas" panose="020B0609020204030204" pitchFamily="49" charset="0"/>
              </a:rPr>
              <a:t>'</a:t>
            </a:r>
            <a:r>
              <a:rPr dirty="0" err="1">
                <a:latin typeface="Consolas" panose="020B0609020204030204" pitchFamily="49" charset="0"/>
              </a:rPr>
              <a:t>B</a:t>
            </a:r>
            <a:r>
              <a:rPr lang="en-US" altLang="zh-CN" dirty="0" err="1">
                <a:latin typeface="Consolas" panose="020B0609020204030204" pitchFamily="49" charset="0"/>
              </a:rPr>
              <a:t>'</a:t>
            </a:r>
            <a:r>
              <a:rPr dirty="0" err="1">
                <a:latin typeface="Consolas" panose="020B0609020204030204" pitchFamily="49" charset="0"/>
              </a:rPr>
              <a:t>,</a:t>
            </a:r>
            <a:r>
              <a:rPr lang="en-US" altLang="zh-CN" dirty="0" err="1">
                <a:latin typeface="Consolas" panose="020B0609020204030204" pitchFamily="49" charset="0"/>
              </a:rPr>
              <a:t>'</a:t>
            </a:r>
            <a:r>
              <a:rPr dirty="0" err="1">
                <a:latin typeface="Consolas" panose="020B0609020204030204" pitchFamily="49" charset="0"/>
              </a:rPr>
              <a:t>C</a:t>
            </a:r>
            <a:r>
              <a:rPr lang="en-US" altLang="zh-CN" dirty="0" err="1">
                <a:latin typeface="Consolas" panose="020B0609020204030204" pitchFamily="49" charset="0"/>
              </a:rPr>
              <a:t>'</a:t>
            </a:r>
            <a:r>
              <a:rPr dirty="0" err="1">
                <a:latin typeface="Consolas" panose="020B0609020204030204" pitchFamily="49" charset="0"/>
              </a:rPr>
              <a:t>,</a:t>
            </a:r>
            <a:r>
              <a:rPr lang="en-US" altLang="zh-CN" dirty="0" err="1">
                <a:latin typeface="Consolas" panose="020B0609020204030204" pitchFamily="49" charset="0"/>
              </a:rPr>
              <a:t>'</a:t>
            </a:r>
            <a:r>
              <a:rPr dirty="0" err="1">
                <a:latin typeface="Consolas" panose="020B0609020204030204" pitchFamily="49" charset="0"/>
              </a:rPr>
              <a:t>D</a:t>
            </a:r>
            <a:r>
              <a:rPr lang="en-US" altLang="zh-CN" dirty="0">
                <a:latin typeface="Consolas" panose="020B0609020204030204" pitchFamily="49" charset="0"/>
              </a:rPr>
              <a:t>'</a:t>
            </a:r>
            <a:endParaRPr dirty="0">
              <a:latin typeface="Consolas" panose="020B0609020204030204" pitchFamily="49" charset="0"/>
            </a:endParaRPr>
          </a:p>
          <a:p>
            <a:pPr algn="l" defTabSz="439419">
              <a:lnSpc>
                <a:spcPct val="120000"/>
              </a:lnSpc>
              <a:tabLst>
                <a:tab pos="431800" algn="l"/>
              </a:tabLst>
              <a:defRPr sz="2600">
                <a:solidFill>
                  <a:srgbClr val="008400"/>
                </a:solidFill>
                <a:latin typeface="Menlo"/>
                <a:ea typeface="Menlo"/>
                <a:cs typeface="Menlo"/>
                <a:sym typeface="Menlo"/>
              </a:defRPr>
            </a:pPr>
            <a:r>
              <a:rPr dirty="0">
                <a:latin typeface="Consolas" panose="020B0609020204030204" pitchFamily="49" charset="0"/>
              </a:rPr>
              <a:t>                             // </a:t>
            </a:r>
            <a:r>
              <a:rPr dirty="0" err="1">
                <a:latin typeface="Consolas" panose="020B0609020204030204" pitchFamily="49" charset="0"/>
              </a:rPr>
              <a:t>赋值给thisman</a:t>
            </a:r>
            <a:endParaRPr dirty="0">
              <a:solidFill>
                <a:srgbClr val="000000"/>
              </a:solidFill>
              <a:latin typeface="Consolas" panose="020B0609020204030204" pitchFamily="49" charset="0"/>
              <a:ea typeface="Helvetica"/>
              <a:cs typeface="Helvetica"/>
              <a:sym typeface="Helvetica"/>
            </a:endParaRPr>
          </a:p>
          <a:p>
            <a:pPr algn="l" defTabSz="439419">
              <a:lnSpc>
                <a:spcPct val="120000"/>
              </a:lnSpc>
              <a:tabLst>
                <a:tab pos="431800" algn="l"/>
              </a:tabLst>
              <a:defRPr sz="2600">
                <a:latin typeface="Menlo"/>
                <a:ea typeface="Menlo"/>
                <a:cs typeface="Menlo"/>
                <a:sym typeface="Menlo"/>
              </a:defRPr>
            </a:pPr>
            <a:r>
              <a:rPr dirty="0">
                <a:latin typeface="Consolas" panose="020B0609020204030204" pitchFamily="49" charset="0"/>
              </a:rPr>
              <a:t>    </a:t>
            </a:r>
            <a:endParaRPr dirty="0">
              <a:latin typeface="Consolas" panose="020B0609020204030204" pitchFamily="49" charset="0"/>
              <a:ea typeface="Helvetica"/>
              <a:cs typeface="Helvetica"/>
              <a:sym typeface="Helvetica"/>
            </a:endParaRPr>
          </a:p>
          <a:p>
            <a:pPr algn="l" defTabSz="439419">
              <a:lnSpc>
                <a:spcPct val="120000"/>
              </a:lnSpc>
              <a:tabLst>
                <a:tab pos="431800" algn="l"/>
              </a:tabLst>
              <a:defRPr sz="2600">
                <a:latin typeface="Menlo"/>
                <a:ea typeface="Menlo"/>
                <a:cs typeface="Menlo"/>
                <a:sym typeface="Menlo"/>
              </a:defRPr>
            </a:pPr>
            <a:r>
              <a:rPr dirty="0">
                <a:latin typeface="Consolas" panose="020B0609020204030204" pitchFamily="49" charset="0"/>
              </a:rPr>
              <a:t>    sum = ( </a:t>
            </a:r>
            <a:r>
              <a:rPr dirty="0" err="1">
                <a:latin typeface="Consolas" panose="020B0609020204030204" pitchFamily="49" charset="0"/>
              </a:rPr>
              <a:t>thisman</a:t>
            </a:r>
            <a:r>
              <a:rPr dirty="0">
                <a:latin typeface="Consolas" panose="020B0609020204030204" pitchFamily="49" charset="0"/>
              </a:rPr>
              <a:t> != </a:t>
            </a:r>
            <a:r>
              <a:rPr dirty="0">
                <a:solidFill>
                  <a:srgbClr val="272AD8"/>
                </a:solidFill>
                <a:latin typeface="Consolas" panose="020B0609020204030204" pitchFamily="49" charset="0"/>
              </a:rPr>
              <a:t>'A'</a:t>
            </a:r>
            <a:r>
              <a:rPr dirty="0">
                <a:latin typeface="Consolas" panose="020B0609020204030204" pitchFamily="49" charset="0"/>
              </a:rPr>
              <a:t>)  </a:t>
            </a:r>
            <a:r>
              <a:rPr dirty="0">
                <a:solidFill>
                  <a:srgbClr val="008400"/>
                </a:solidFill>
                <a:latin typeface="Consolas" panose="020B0609020204030204" pitchFamily="49" charset="0"/>
              </a:rPr>
              <a:t>// </a:t>
            </a:r>
            <a:r>
              <a:rPr dirty="0" err="1">
                <a:solidFill>
                  <a:srgbClr val="008400"/>
                </a:solidFill>
                <a:latin typeface="Consolas" panose="020B0609020204030204" pitchFamily="49" charset="0"/>
              </a:rPr>
              <a:t>测试A的话是否为真</a:t>
            </a:r>
            <a:endParaRPr dirty="0">
              <a:latin typeface="Consolas" panose="020B0609020204030204" pitchFamily="49" charset="0"/>
              <a:ea typeface="Helvetica"/>
              <a:cs typeface="Helvetica"/>
              <a:sym typeface="Helvetica"/>
            </a:endParaRPr>
          </a:p>
          <a:p>
            <a:pPr algn="l" defTabSz="439419">
              <a:lnSpc>
                <a:spcPct val="120000"/>
              </a:lnSpc>
              <a:tabLst>
                <a:tab pos="431800" algn="l"/>
              </a:tabLst>
              <a:defRPr sz="2600">
                <a:latin typeface="Menlo"/>
                <a:ea typeface="Menlo"/>
                <a:cs typeface="Menlo"/>
                <a:sym typeface="Menlo"/>
              </a:defRPr>
            </a:pPr>
            <a:r>
              <a:rPr dirty="0">
                <a:latin typeface="Consolas" panose="020B0609020204030204" pitchFamily="49" charset="0"/>
              </a:rPr>
              <a:t>        + ( </a:t>
            </a:r>
            <a:r>
              <a:rPr dirty="0" err="1">
                <a:latin typeface="Consolas" panose="020B0609020204030204" pitchFamily="49" charset="0"/>
              </a:rPr>
              <a:t>thisman</a:t>
            </a:r>
            <a:r>
              <a:rPr dirty="0">
                <a:latin typeface="Consolas" panose="020B0609020204030204" pitchFamily="49" charset="0"/>
              </a:rPr>
              <a:t> == </a:t>
            </a:r>
            <a:r>
              <a:rPr dirty="0">
                <a:solidFill>
                  <a:srgbClr val="272AD8"/>
                </a:solidFill>
                <a:latin typeface="Consolas" panose="020B0609020204030204" pitchFamily="49" charset="0"/>
              </a:rPr>
              <a:t>'C'</a:t>
            </a:r>
            <a:r>
              <a:rPr dirty="0">
                <a:latin typeface="Consolas" panose="020B0609020204030204" pitchFamily="49" charset="0"/>
              </a:rPr>
              <a:t>)  </a:t>
            </a:r>
            <a:r>
              <a:rPr dirty="0">
                <a:solidFill>
                  <a:srgbClr val="008400"/>
                </a:solidFill>
                <a:latin typeface="Consolas" panose="020B0609020204030204" pitchFamily="49" charset="0"/>
              </a:rPr>
              <a:t>// </a:t>
            </a:r>
            <a:r>
              <a:rPr dirty="0" err="1">
                <a:solidFill>
                  <a:srgbClr val="008400"/>
                </a:solidFill>
                <a:latin typeface="Consolas" panose="020B0609020204030204" pitchFamily="49" charset="0"/>
              </a:rPr>
              <a:t>测试B的话是否为真</a:t>
            </a:r>
            <a:endParaRPr dirty="0">
              <a:latin typeface="Consolas" panose="020B0609020204030204" pitchFamily="49" charset="0"/>
              <a:ea typeface="Helvetica"/>
              <a:cs typeface="Helvetica"/>
              <a:sym typeface="Helvetica"/>
            </a:endParaRPr>
          </a:p>
          <a:p>
            <a:pPr algn="l" defTabSz="439419">
              <a:lnSpc>
                <a:spcPct val="120000"/>
              </a:lnSpc>
              <a:tabLst>
                <a:tab pos="431800" algn="l"/>
              </a:tabLst>
              <a:defRPr sz="2600">
                <a:latin typeface="Menlo"/>
                <a:ea typeface="Menlo"/>
                <a:cs typeface="Menlo"/>
                <a:sym typeface="Menlo"/>
              </a:defRPr>
            </a:pPr>
            <a:r>
              <a:rPr dirty="0">
                <a:latin typeface="Consolas" panose="020B0609020204030204" pitchFamily="49" charset="0"/>
              </a:rPr>
              <a:t>        + ( </a:t>
            </a:r>
            <a:r>
              <a:rPr dirty="0" err="1">
                <a:latin typeface="Consolas" panose="020B0609020204030204" pitchFamily="49" charset="0"/>
              </a:rPr>
              <a:t>thisman</a:t>
            </a:r>
            <a:r>
              <a:rPr dirty="0">
                <a:latin typeface="Consolas" panose="020B0609020204030204" pitchFamily="49" charset="0"/>
              </a:rPr>
              <a:t> == </a:t>
            </a:r>
            <a:r>
              <a:rPr dirty="0">
                <a:solidFill>
                  <a:srgbClr val="272AD8"/>
                </a:solidFill>
                <a:latin typeface="Consolas" panose="020B0609020204030204" pitchFamily="49" charset="0"/>
              </a:rPr>
              <a:t>'D'</a:t>
            </a:r>
            <a:r>
              <a:rPr dirty="0">
                <a:latin typeface="Consolas" panose="020B0609020204030204" pitchFamily="49" charset="0"/>
              </a:rPr>
              <a:t>)  </a:t>
            </a:r>
            <a:r>
              <a:rPr dirty="0">
                <a:solidFill>
                  <a:srgbClr val="008400"/>
                </a:solidFill>
                <a:latin typeface="Consolas" panose="020B0609020204030204" pitchFamily="49" charset="0"/>
              </a:rPr>
              <a:t>// </a:t>
            </a:r>
            <a:r>
              <a:rPr dirty="0" err="1">
                <a:solidFill>
                  <a:srgbClr val="008400"/>
                </a:solidFill>
                <a:latin typeface="Consolas" panose="020B0609020204030204" pitchFamily="49" charset="0"/>
              </a:rPr>
              <a:t>测试C的话是否为真</a:t>
            </a:r>
            <a:endParaRPr dirty="0">
              <a:latin typeface="Consolas" panose="020B0609020204030204" pitchFamily="49" charset="0"/>
              <a:ea typeface="Helvetica"/>
              <a:cs typeface="Helvetica"/>
              <a:sym typeface="Helvetica"/>
            </a:endParaRPr>
          </a:p>
          <a:p>
            <a:pPr algn="l" defTabSz="439419">
              <a:lnSpc>
                <a:spcPct val="120000"/>
              </a:lnSpc>
              <a:tabLst>
                <a:tab pos="431800" algn="l"/>
              </a:tabLst>
              <a:defRPr sz="2600">
                <a:latin typeface="Menlo"/>
                <a:ea typeface="Menlo"/>
                <a:cs typeface="Menlo"/>
                <a:sym typeface="Menlo"/>
              </a:defRPr>
            </a:pPr>
            <a:r>
              <a:rPr dirty="0">
                <a:latin typeface="Consolas" panose="020B0609020204030204" pitchFamily="49" charset="0"/>
              </a:rPr>
              <a:t>        + ( </a:t>
            </a:r>
            <a:r>
              <a:rPr dirty="0" err="1">
                <a:latin typeface="Consolas" panose="020B0609020204030204" pitchFamily="49" charset="0"/>
              </a:rPr>
              <a:t>thisman</a:t>
            </a:r>
            <a:r>
              <a:rPr dirty="0">
                <a:latin typeface="Consolas" panose="020B0609020204030204" pitchFamily="49" charset="0"/>
              </a:rPr>
              <a:t> != </a:t>
            </a:r>
            <a:r>
              <a:rPr dirty="0">
                <a:solidFill>
                  <a:srgbClr val="272AD8"/>
                </a:solidFill>
                <a:latin typeface="Consolas" panose="020B0609020204030204" pitchFamily="49" charset="0"/>
              </a:rPr>
              <a:t>'D'</a:t>
            </a:r>
            <a:r>
              <a:rPr dirty="0">
                <a:latin typeface="Consolas" panose="020B0609020204030204" pitchFamily="49" charset="0"/>
              </a:rPr>
              <a:t>); </a:t>
            </a:r>
            <a:r>
              <a:rPr dirty="0">
                <a:solidFill>
                  <a:srgbClr val="008400"/>
                </a:solidFill>
                <a:latin typeface="Consolas" panose="020B0609020204030204" pitchFamily="49" charset="0"/>
              </a:rPr>
              <a:t>// </a:t>
            </a:r>
            <a:r>
              <a:rPr dirty="0" err="1">
                <a:solidFill>
                  <a:srgbClr val="008400"/>
                </a:solidFill>
                <a:latin typeface="Consolas" panose="020B0609020204030204" pitchFamily="49" charset="0"/>
              </a:rPr>
              <a:t>测试D的话是否为真</a:t>
            </a:r>
            <a:endParaRPr dirty="0">
              <a:latin typeface="Consolas" panose="020B0609020204030204" pitchFamily="49" charset="0"/>
              <a:ea typeface="Helvetica"/>
              <a:cs typeface="Helvetica"/>
              <a:sym typeface="Helvetica"/>
            </a:endParaRPr>
          </a:p>
          <a:p>
            <a:pPr algn="l" defTabSz="439419">
              <a:lnSpc>
                <a:spcPct val="120000"/>
              </a:lnSpc>
              <a:tabLst>
                <a:tab pos="431800" algn="l"/>
              </a:tabLst>
              <a:defRPr sz="2600">
                <a:solidFill>
                  <a:srgbClr val="008400"/>
                </a:solidFill>
                <a:latin typeface="Menlo"/>
                <a:ea typeface="Menlo"/>
                <a:cs typeface="Menlo"/>
                <a:sym typeface="Menlo"/>
              </a:defRPr>
            </a:pPr>
            <a:r>
              <a:rPr dirty="0">
                <a:solidFill>
                  <a:srgbClr val="000000"/>
                </a:solidFill>
                <a:latin typeface="Consolas" panose="020B0609020204030204" pitchFamily="49" charset="0"/>
              </a:rPr>
              <a:t>    </a:t>
            </a:r>
          </a:p>
          <a:p>
            <a:pPr algn="l" defTabSz="439419">
              <a:lnSpc>
                <a:spcPct val="120000"/>
              </a:lnSpc>
              <a:tabLst>
                <a:tab pos="431800" algn="l"/>
              </a:tabLst>
              <a:defRPr sz="2600">
                <a:solidFill>
                  <a:srgbClr val="008400"/>
                </a:solidFill>
                <a:latin typeface="Menlo"/>
                <a:ea typeface="Menlo"/>
                <a:cs typeface="Menlo"/>
                <a:sym typeface="Menlo"/>
              </a:defRPr>
            </a:pPr>
            <a:r>
              <a:rPr dirty="0">
                <a:solidFill>
                  <a:srgbClr val="000000"/>
                </a:solidFill>
                <a:latin typeface="Consolas" panose="020B0609020204030204" pitchFamily="49" charset="0"/>
              </a:rPr>
              <a:t>    </a:t>
            </a:r>
            <a:r>
              <a:rPr dirty="0">
                <a:latin typeface="Consolas" panose="020B0609020204030204" pitchFamily="49" charset="0"/>
              </a:rPr>
              <a:t>// TO DO …</a:t>
            </a:r>
            <a:endParaRPr dirty="0">
              <a:solidFill>
                <a:srgbClr val="000000"/>
              </a:solidFill>
              <a:latin typeface="Consolas" panose="020B0609020204030204" pitchFamily="49" charset="0"/>
              <a:ea typeface="Helvetica"/>
              <a:cs typeface="Helvetica"/>
              <a:sym typeface="Helvetica"/>
            </a:endParaRPr>
          </a:p>
          <a:p>
            <a:pPr algn="l" defTabSz="439419">
              <a:lnSpc>
                <a:spcPct val="120000"/>
              </a:lnSpc>
              <a:tabLst>
                <a:tab pos="431800" algn="l"/>
              </a:tabLst>
              <a:defRPr sz="2600">
                <a:latin typeface="Menlo"/>
                <a:ea typeface="Menlo"/>
                <a:cs typeface="Menlo"/>
                <a:sym typeface="Menlo"/>
              </a:defRPr>
            </a:pPr>
            <a:r>
              <a:rPr dirty="0">
                <a:latin typeface="Consolas" panose="020B0609020204030204" pitchFamily="49" charset="0"/>
              </a:rPr>
              <a:t>    </a:t>
            </a:r>
            <a:endParaRPr dirty="0">
              <a:latin typeface="Consolas" panose="020B0609020204030204" pitchFamily="49" charset="0"/>
              <a:ea typeface="Helvetica"/>
              <a:cs typeface="Helvetica"/>
              <a:sym typeface="Helvetica"/>
            </a:endParaRPr>
          </a:p>
          <a:p>
            <a:pPr algn="l" defTabSz="439419">
              <a:lnSpc>
                <a:spcPct val="120000"/>
              </a:lnSpc>
              <a:tabLst>
                <a:tab pos="431800" algn="l"/>
              </a:tabLst>
              <a:defRPr sz="2600">
                <a:solidFill>
                  <a:srgbClr val="008400"/>
                </a:solidFill>
                <a:latin typeface="Menlo"/>
                <a:ea typeface="Menlo"/>
                <a:cs typeface="Menlo"/>
                <a:sym typeface="Menlo"/>
              </a:defRPr>
            </a:pPr>
            <a:r>
              <a:rPr dirty="0">
                <a:solidFill>
                  <a:srgbClr val="000000"/>
                </a:solidFill>
                <a:latin typeface="Consolas" panose="020B0609020204030204" pitchFamily="49" charset="0"/>
              </a:rPr>
              <a:t>} </a:t>
            </a:r>
            <a:r>
              <a:rPr dirty="0">
                <a:latin typeface="Consolas" panose="020B0609020204030204" pitchFamily="49" charset="0"/>
              </a:rPr>
              <a:t>// </a:t>
            </a:r>
            <a:r>
              <a:rPr dirty="0" err="1">
                <a:latin typeface="Consolas" panose="020B0609020204030204" pitchFamily="49" charset="0"/>
              </a:rPr>
              <a:t>循环体结束</a:t>
            </a:r>
            <a:endParaRPr dirty="0">
              <a:latin typeface="Consolas" panose="020B0609020204030204" pitchFamily="49" charset="0"/>
            </a:endParaRPr>
          </a:p>
        </p:txBody>
      </p:sp>
      <p:sp>
        <p:nvSpPr>
          <p:cNvPr id="2" name="文本框 1">
            <a:extLst>
              <a:ext uri="{FF2B5EF4-FFF2-40B4-BE49-F238E27FC236}">
                <a16:creationId xmlns:a16="http://schemas.microsoft.com/office/drawing/2014/main" id="{401D8A72-CBEB-C574-4D49-731078761253}"/>
              </a:ext>
            </a:extLst>
          </p:cNvPr>
          <p:cNvSpPr txBox="1"/>
          <p:nvPr/>
        </p:nvSpPr>
        <p:spPr>
          <a:xfrm>
            <a:off x="5487853" y="8042544"/>
            <a:ext cx="6457302" cy="841256"/>
          </a:xfrm>
          <a:prstGeom prst="rect">
            <a:avLst/>
          </a:prstGeom>
          <a:solidFill>
            <a:schemeClr val="accent4">
              <a:lumMod val="40000"/>
              <a:lumOff val="60000"/>
            </a:schemeClr>
          </a:solid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zh-CN" altLang="en-US" dirty="0"/>
              <a:t>“循环变量”是循环体（过程）的“变化因素”，是从循环体中归纳提炼出来的可变部分</a:t>
            </a:r>
            <a:endParaRPr kumimoji="0" lang="zh-CN" altLang="en-US" sz="24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or (int k=0; k&lt;4; k++)      // 变量k称为循环变量…">
            <a:extLst>
              <a:ext uri="{FF2B5EF4-FFF2-40B4-BE49-F238E27FC236}">
                <a16:creationId xmlns:a16="http://schemas.microsoft.com/office/drawing/2014/main" id="{197F2B17-55E5-413F-B387-8E77D848A6E7}"/>
              </a:ext>
            </a:extLst>
          </p:cNvPr>
          <p:cNvSpPr txBox="1"/>
          <p:nvPr/>
        </p:nvSpPr>
        <p:spPr>
          <a:xfrm>
            <a:off x="1352098" y="1887924"/>
            <a:ext cx="11073417" cy="55782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l" defTabSz="439419">
              <a:lnSpc>
                <a:spcPct val="150000"/>
              </a:lnSpc>
              <a:tabLst>
                <a:tab pos="431800" algn="l"/>
              </a:tabLst>
              <a:defRPr sz="2600">
                <a:latin typeface="Menlo"/>
                <a:ea typeface="Menlo"/>
                <a:cs typeface="Menlo"/>
                <a:sym typeface="Menlo"/>
              </a:defRPr>
            </a:pPr>
            <a:r>
              <a:rPr sz="3200">
                <a:solidFill>
                  <a:srgbClr val="BA2DA2"/>
                </a:solidFill>
                <a:latin typeface="Consolas" panose="020B0609020204030204" pitchFamily="49" charset="0"/>
              </a:rPr>
              <a:t>for</a:t>
            </a:r>
            <a:r>
              <a:rPr sz="3200">
                <a:latin typeface="Consolas" panose="020B0609020204030204" pitchFamily="49" charset="0"/>
              </a:rPr>
              <a:t> (</a:t>
            </a:r>
            <a:r>
              <a:rPr lang="en-US" sz="3200">
                <a:solidFill>
                  <a:srgbClr val="BA2DA2"/>
                </a:solidFill>
                <a:latin typeface="Consolas" panose="020B0609020204030204" pitchFamily="49" charset="0"/>
              </a:rPr>
              <a:t>char</a:t>
            </a:r>
            <a:r>
              <a:rPr sz="3200">
                <a:latin typeface="Consolas" panose="020B0609020204030204" pitchFamily="49" charset="0"/>
              </a:rPr>
              <a:t> </a:t>
            </a:r>
            <a:r>
              <a:rPr lang="en-US" sz="3200" err="1">
                <a:latin typeface="Consolas" panose="020B0609020204030204" pitchFamily="49" charset="0"/>
              </a:rPr>
              <a:t>thisman</a:t>
            </a:r>
            <a:r>
              <a:rPr sz="3200">
                <a:latin typeface="Consolas" panose="020B0609020204030204" pitchFamily="49" charset="0"/>
              </a:rPr>
              <a:t>=</a:t>
            </a:r>
            <a:r>
              <a:rPr lang="en-US" altLang="zh-CN" sz="3200">
                <a:solidFill>
                  <a:srgbClr val="272AD8"/>
                </a:solidFill>
                <a:latin typeface="Consolas" panose="020B0609020204030204" pitchFamily="49" charset="0"/>
              </a:rPr>
              <a:t>'A'</a:t>
            </a:r>
            <a:r>
              <a:rPr sz="3200">
                <a:latin typeface="Consolas" panose="020B0609020204030204" pitchFamily="49" charset="0"/>
              </a:rPr>
              <a:t>; </a:t>
            </a:r>
            <a:r>
              <a:rPr lang="en-US" sz="3200" err="1">
                <a:latin typeface="Consolas" panose="020B0609020204030204" pitchFamily="49" charset="0"/>
              </a:rPr>
              <a:t>thisman</a:t>
            </a:r>
            <a:r>
              <a:rPr sz="3200">
                <a:latin typeface="Consolas" panose="020B0609020204030204" pitchFamily="49" charset="0"/>
              </a:rPr>
              <a:t>&lt;</a:t>
            </a:r>
            <a:r>
              <a:rPr lang="en-US" altLang="zh-CN" sz="3200">
                <a:latin typeface="Consolas" panose="020B0609020204030204" pitchFamily="49" charset="0"/>
              </a:rPr>
              <a:t>=</a:t>
            </a:r>
            <a:r>
              <a:rPr lang="af-ZA" altLang="zh-CN" sz="3200">
                <a:solidFill>
                  <a:srgbClr val="272AD8"/>
                </a:solidFill>
                <a:latin typeface="Consolas" panose="020B0609020204030204" pitchFamily="49" charset="0"/>
              </a:rPr>
              <a:t>'D'</a:t>
            </a:r>
            <a:r>
              <a:rPr sz="3200">
                <a:latin typeface="Consolas" panose="020B0609020204030204" pitchFamily="49" charset="0"/>
              </a:rPr>
              <a:t>; </a:t>
            </a:r>
            <a:r>
              <a:rPr lang="en-US" sz="3200" err="1">
                <a:latin typeface="Consolas" panose="020B0609020204030204" pitchFamily="49" charset="0"/>
              </a:rPr>
              <a:t>thisman</a:t>
            </a:r>
            <a:r>
              <a:rPr sz="3200">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50000"/>
              </a:lnSpc>
              <a:tabLst>
                <a:tab pos="431800" algn="l"/>
              </a:tabLst>
              <a:defRPr sz="2600">
                <a:solidFill>
                  <a:srgbClr val="008400"/>
                </a:solidFill>
                <a:latin typeface="Menlo"/>
                <a:ea typeface="Menlo"/>
                <a:cs typeface="Menlo"/>
                <a:sym typeface="Menlo"/>
              </a:defRPr>
            </a:pPr>
            <a:r>
              <a:rPr b="0">
                <a:solidFill>
                  <a:srgbClr val="000000"/>
                </a:solidFill>
                <a:latin typeface="Consolas" panose="020B0609020204030204" pitchFamily="49" charset="0"/>
              </a:rPr>
              <a:t>{</a:t>
            </a:r>
            <a:r>
              <a:rPr lang="af-ZA" b="0">
                <a:latin typeface="Consolas" panose="020B0609020204030204" pitchFamily="49" charset="0"/>
              </a:rPr>
              <a:t>    </a:t>
            </a:r>
            <a:endParaRPr lang="af-ZA" b="0">
              <a:latin typeface="Consolas" panose="020B0609020204030204" pitchFamily="49" charset="0"/>
              <a:ea typeface="Helvetica"/>
              <a:cs typeface="Helvetica"/>
              <a:sym typeface="Helvetica"/>
            </a:endParaRPr>
          </a:p>
          <a:p>
            <a:pPr algn="l" defTabSz="439419">
              <a:lnSpc>
                <a:spcPct val="150000"/>
              </a:lnSpc>
              <a:tabLst>
                <a:tab pos="431800" algn="l"/>
              </a:tabLst>
              <a:defRPr sz="2600">
                <a:latin typeface="Menlo"/>
                <a:ea typeface="Menlo"/>
                <a:cs typeface="Menlo"/>
                <a:sym typeface="Menlo"/>
              </a:defRPr>
            </a:pPr>
            <a:r>
              <a:rPr lang="af-ZA" b="0">
                <a:latin typeface="Consolas" panose="020B0609020204030204" pitchFamily="49" charset="0"/>
              </a:rPr>
              <a:t>    sum = ( thisman != </a:t>
            </a:r>
            <a:r>
              <a:rPr lang="af-ZA" b="0">
                <a:solidFill>
                  <a:srgbClr val="272AD8"/>
                </a:solidFill>
                <a:latin typeface="Consolas" panose="020B0609020204030204" pitchFamily="49" charset="0"/>
              </a:rPr>
              <a:t>'A'</a:t>
            </a:r>
            <a:r>
              <a:rPr lang="af-ZA" b="0">
                <a:latin typeface="Consolas" panose="020B0609020204030204" pitchFamily="49" charset="0"/>
              </a:rPr>
              <a:t>) </a:t>
            </a:r>
          </a:p>
          <a:p>
            <a:pPr algn="l" defTabSz="439419">
              <a:lnSpc>
                <a:spcPct val="150000"/>
              </a:lnSpc>
              <a:tabLst>
                <a:tab pos="431800" algn="l"/>
              </a:tabLst>
              <a:defRPr sz="2600">
                <a:latin typeface="Menlo"/>
                <a:ea typeface="Menlo"/>
                <a:cs typeface="Menlo"/>
                <a:sym typeface="Menlo"/>
              </a:defRPr>
            </a:pPr>
            <a:r>
              <a:rPr lang="af-ZA" altLang="zh-CN" b="0">
                <a:latin typeface="Consolas" panose="020B0609020204030204" pitchFamily="49" charset="0"/>
              </a:rPr>
              <a:t>        </a:t>
            </a:r>
            <a:r>
              <a:rPr b="0">
                <a:latin typeface="Consolas" panose="020B0609020204030204" pitchFamily="49" charset="0"/>
              </a:rPr>
              <a:t>+ ( </a:t>
            </a:r>
            <a:r>
              <a:rPr b="0" err="1">
                <a:latin typeface="Consolas" panose="020B0609020204030204" pitchFamily="49" charset="0"/>
              </a:rPr>
              <a:t>thisman</a:t>
            </a:r>
            <a:r>
              <a:rPr b="0">
                <a:latin typeface="Consolas" panose="020B0609020204030204" pitchFamily="49" charset="0"/>
              </a:rPr>
              <a:t> == </a:t>
            </a:r>
            <a:r>
              <a:rPr b="0">
                <a:solidFill>
                  <a:srgbClr val="272AD8"/>
                </a:solidFill>
                <a:latin typeface="Consolas" panose="020B0609020204030204" pitchFamily="49" charset="0"/>
              </a:rPr>
              <a:t>'C'</a:t>
            </a:r>
            <a:r>
              <a:rPr b="0">
                <a:latin typeface="Consolas" panose="020B0609020204030204" pitchFamily="49" charset="0"/>
              </a:rPr>
              <a:t>)</a:t>
            </a:r>
            <a:endParaRPr b="0">
              <a:latin typeface="Consolas" panose="020B0609020204030204" pitchFamily="49" charset="0"/>
              <a:ea typeface="Helvetica"/>
              <a:cs typeface="Helvetica"/>
              <a:sym typeface="Helvetica"/>
            </a:endParaRPr>
          </a:p>
          <a:p>
            <a:pPr algn="l" defTabSz="439419">
              <a:lnSpc>
                <a:spcPct val="150000"/>
              </a:lnSpc>
              <a:tabLst>
                <a:tab pos="431800" algn="l"/>
              </a:tabLst>
              <a:defRPr sz="2600">
                <a:latin typeface="Menlo"/>
                <a:ea typeface="Menlo"/>
                <a:cs typeface="Menlo"/>
                <a:sym typeface="Menlo"/>
              </a:defRPr>
            </a:pPr>
            <a:r>
              <a:rPr b="0">
                <a:latin typeface="Consolas" panose="020B0609020204030204" pitchFamily="49" charset="0"/>
              </a:rPr>
              <a:t>        + ( </a:t>
            </a:r>
            <a:r>
              <a:rPr b="0" err="1">
                <a:latin typeface="Consolas" panose="020B0609020204030204" pitchFamily="49" charset="0"/>
              </a:rPr>
              <a:t>thisman</a:t>
            </a:r>
            <a:r>
              <a:rPr b="0">
                <a:latin typeface="Consolas" panose="020B0609020204030204" pitchFamily="49" charset="0"/>
              </a:rPr>
              <a:t> == </a:t>
            </a:r>
            <a:r>
              <a:rPr b="0">
                <a:solidFill>
                  <a:srgbClr val="272AD8"/>
                </a:solidFill>
                <a:latin typeface="Consolas" panose="020B0609020204030204" pitchFamily="49" charset="0"/>
              </a:rPr>
              <a:t>'D'</a:t>
            </a:r>
            <a:r>
              <a:rPr b="0">
                <a:latin typeface="Consolas" panose="020B0609020204030204" pitchFamily="49" charset="0"/>
              </a:rPr>
              <a:t>)</a:t>
            </a:r>
            <a:endParaRPr b="0">
              <a:latin typeface="Consolas" panose="020B0609020204030204" pitchFamily="49" charset="0"/>
              <a:ea typeface="Helvetica"/>
              <a:cs typeface="Helvetica"/>
              <a:sym typeface="Helvetica"/>
            </a:endParaRPr>
          </a:p>
          <a:p>
            <a:pPr algn="l" defTabSz="439419">
              <a:lnSpc>
                <a:spcPct val="150000"/>
              </a:lnSpc>
              <a:tabLst>
                <a:tab pos="431800" algn="l"/>
              </a:tabLst>
              <a:defRPr sz="2600">
                <a:latin typeface="Menlo"/>
                <a:ea typeface="Menlo"/>
                <a:cs typeface="Menlo"/>
                <a:sym typeface="Menlo"/>
              </a:defRPr>
            </a:pPr>
            <a:r>
              <a:rPr b="0">
                <a:latin typeface="Consolas" panose="020B0609020204030204" pitchFamily="49" charset="0"/>
              </a:rPr>
              <a:t>        + ( </a:t>
            </a:r>
            <a:r>
              <a:rPr b="0" err="1">
                <a:latin typeface="Consolas" panose="020B0609020204030204" pitchFamily="49" charset="0"/>
              </a:rPr>
              <a:t>thisman</a:t>
            </a:r>
            <a:r>
              <a:rPr b="0">
                <a:latin typeface="Consolas" panose="020B0609020204030204" pitchFamily="49" charset="0"/>
              </a:rPr>
              <a:t> != </a:t>
            </a:r>
            <a:r>
              <a:rPr b="0">
                <a:solidFill>
                  <a:srgbClr val="272AD8"/>
                </a:solidFill>
                <a:latin typeface="Consolas" panose="020B0609020204030204" pitchFamily="49" charset="0"/>
              </a:rPr>
              <a:t>'D'</a:t>
            </a:r>
            <a:r>
              <a:rPr b="0">
                <a:latin typeface="Consolas" panose="020B0609020204030204" pitchFamily="49" charset="0"/>
              </a:rPr>
              <a:t>);</a:t>
            </a:r>
            <a:endParaRPr b="0">
              <a:latin typeface="Consolas" panose="020B0609020204030204" pitchFamily="49" charset="0"/>
              <a:ea typeface="Helvetica"/>
              <a:cs typeface="Helvetica"/>
              <a:sym typeface="Helvetica"/>
            </a:endParaRPr>
          </a:p>
          <a:p>
            <a:pPr algn="l" defTabSz="439419">
              <a:lnSpc>
                <a:spcPct val="150000"/>
              </a:lnSpc>
              <a:tabLst>
                <a:tab pos="431800" algn="l"/>
              </a:tabLst>
              <a:defRPr sz="2600">
                <a:solidFill>
                  <a:srgbClr val="008400"/>
                </a:solidFill>
                <a:latin typeface="Menlo"/>
                <a:ea typeface="Menlo"/>
                <a:cs typeface="Menlo"/>
                <a:sym typeface="Menlo"/>
              </a:defRPr>
            </a:pPr>
            <a:r>
              <a:rPr b="0">
                <a:solidFill>
                  <a:srgbClr val="000000"/>
                </a:solidFill>
                <a:latin typeface="Consolas" panose="020B0609020204030204" pitchFamily="49" charset="0"/>
              </a:rPr>
              <a:t>    </a:t>
            </a:r>
          </a:p>
          <a:p>
            <a:pPr algn="l" defTabSz="439419">
              <a:lnSpc>
                <a:spcPct val="150000"/>
              </a:lnSpc>
              <a:tabLst>
                <a:tab pos="431800" algn="l"/>
              </a:tabLst>
              <a:defRPr sz="2600">
                <a:solidFill>
                  <a:srgbClr val="008400"/>
                </a:solidFill>
                <a:latin typeface="Menlo"/>
                <a:ea typeface="Menlo"/>
                <a:cs typeface="Menlo"/>
                <a:sym typeface="Menlo"/>
              </a:defRPr>
            </a:pPr>
            <a:r>
              <a:rPr b="0">
                <a:solidFill>
                  <a:srgbClr val="000000"/>
                </a:solidFill>
                <a:latin typeface="Consolas" panose="020B0609020204030204" pitchFamily="49" charset="0"/>
              </a:rPr>
              <a:t>    </a:t>
            </a:r>
            <a:r>
              <a:rPr b="0">
                <a:latin typeface="Consolas" panose="020B0609020204030204" pitchFamily="49" charset="0"/>
              </a:rPr>
              <a:t>// TO DO …   </a:t>
            </a:r>
            <a:endParaRPr b="0">
              <a:latin typeface="Consolas" panose="020B0609020204030204" pitchFamily="49" charset="0"/>
              <a:ea typeface="Helvetica"/>
              <a:cs typeface="Helvetica"/>
              <a:sym typeface="Helvetica"/>
            </a:endParaRPr>
          </a:p>
          <a:p>
            <a:pPr algn="l" defTabSz="439419">
              <a:lnSpc>
                <a:spcPct val="150000"/>
              </a:lnSpc>
              <a:tabLst>
                <a:tab pos="431800" algn="l"/>
              </a:tabLst>
              <a:defRPr sz="2600">
                <a:solidFill>
                  <a:srgbClr val="008400"/>
                </a:solidFill>
                <a:latin typeface="Menlo"/>
                <a:ea typeface="Menlo"/>
                <a:cs typeface="Menlo"/>
                <a:sym typeface="Menlo"/>
              </a:defRPr>
            </a:pPr>
            <a:r>
              <a:rPr b="0">
                <a:solidFill>
                  <a:srgbClr val="000000"/>
                </a:solidFill>
                <a:latin typeface="Consolas" panose="020B0609020204030204" pitchFamily="49" charset="0"/>
              </a:rPr>
              <a:t>}</a:t>
            </a:r>
            <a:endParaRPr b="0">
              <a:latin typeface="Consolas" panose="020B0609020204030204" pitchFamily="49" charset="0"/>
            </a:endParaRPr>
          </a:p>
        </p:txBody>
      </p:sp>
      <p:sp>
        <p:nvSpPr>
          <p:cNvPr id="5" name="文本框 4">
            <a:extLst>
              <a:ext uri="{FF2B5EF4-FFF2-40B4-BE49-F238E27FC236}">
                <a16:creationId xmlns:a16="http://schemas.microsoft.com/office/drawing/2014/main" id="{95355282-03E1-4F2F-AAF2-7D2B2C5A1822}"/>
              </a:ext>
            </a:extLst>
          </p:cNvPr>
          <p:cNvSpPr txBox="1"/>
          <p:nvPr>
            <p:custDataLst>
              <p:tags r:id="rId2"/>
            </p:custDataLst>
          </p:nvPr>
        </p:nvSpPr>
        <p:spPr>
          <a:xfrm>
            <a:off x="1352098" y="1109466"/>
            <a:ext cx="10403840" cy="635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前一页源程序片段中的循环语句，是否可以改写为如下形式？</a:t>
            </a:r>
          </a:p>
        </p:txBody>
      </p:sp>
      <p:sp>
        <p:nvSpPr>
          <p:cNvPr id="6" name="文本框 5">
            <a:extLst>
              <a:ext uri="{FF2B5EF4-FFF2-40B4-BE49-F238E27FC236}">
                <a16:creationId xmlns:a16="http://schemas.microsoft.com/office/drawing/2014/main" id="{F56A8C6F-95D5-466B-9BD8-63283C07110B}"/>
              </a:ext>
            </a:extLst>
          </p:cNvPr>
          <p:cNvSpPr txBox="1"/>
          <p:nvPr>
            <p:custDataLst>
              <p:tags r:id="rId3"/>
            </p:custDataLst>
          </p:nvPr>
        </p:nvSpPr>
        <p:spPr>
          <a:xfrm>
            <a:off x="2316480" y="7758782"/>
            <a:ext cx="1579154" cy="9144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可以</a:t>
            </a:r>
          </a:p>
        </p:txBody>
      </p:sp>
      <p:sp>
        <p:nvSpPr>
          <p:cNvPr id="7" name="文本框 6">
            <a:extLst>
              <a:ext uri="{FF2B5EF4-FFF2-40B4-BE49-F238E27FC236}">
                <a16:creationId xmlns:a16="http://schemas.microsoft.com/office/drawing/2014/main" id="{1FB8F906-9FB6-45AD-9AED-C68A6AA48CB7}"/>
              </a:ext>
            </a:extLst>
          </p:cNvPr>
          <p:cNvSpPr txBox="1"/>
          <p:nvPr>
            <p:custDataLst>
              <p:tags r:id="rId4"/>
            </p:custDataLst>
          </p:nvPr>
        </p:nvSpPr>
        <p:spPr>
          <a:xfrm>
            <a:off x="4699726" y="7758782"/>
            <a:ext cx="1579154" cy="9144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不可以</a:t>
            </a:r>
          </a:p>
        </p:txBody>
      </p:sp>
      <p:sp>
        <p:nvSpPr>
          <p:cNvPr id="8" name="文本框 7">
            <a:extLst>
              <a:ext uri="{FF2B5EF4-FFF2-40B4-BE49-F238E27FC236}">
                <a16:creationId xmlns:a16="http://schemas.microsoft.com/office/drawing/2014/main" id="{3F89A010-752E-4645-9B4C-2EF58202DDFC}"/>
              </a:ext>
            </a:extLst>
          </p:cNvPr>
          <p:cNvSpPr txBox="1"/>
          <p:nvPr>
            <p:custDataLst>
              <p:tags r:id="rId5"/>
            </p:custDataLst>
          </p:nvPr>
        </p:nvSpPr>
        <p:spPr>
          <a:xfrm>
            <a:off x="7294880" y="7758782"/>
            <a:ext cx="1579154" cy="9144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不知道</a:t>
            </a:r>
          </a:p>
        </p:txBody>
      </p:sp>
      <p:sp>
        <p:nvSpPr>
          <p:cNvPr id="10" name="椭圆 9">
            <a:extLst>
              <a:ext uri="{FF2B5EF4-FFF2-40B4-BE49-F238E27FC236}">
                <a16:creationId xmlns:a16="http://schemas.microsoft.com/office/drawing/2014/main" id="{CFBA1FC2-CA81-40F8-A256-29D2DEFC1906}"/>
              </a:ext>
            </a:extLst>
          </p:cNvPr>
          <p:cNvSpPr>
            <a:spLocks noChangeAspect="1"/>
          </p:cNvSpPr>
          <p:nvPr>
            <p:custDataLst>
              <p:tags r:id="rId6"/>
            </p:custDataLst>
          </p:nvPr>
        </p:nvSpPr>
        <p:spPr>
          <a:xfrm>
            <a:off x="1300480" y="7850222"/>
            <a:ext cx="731520" cy="731520"/>
          </a:xfrm>
          <a:prstGeom prst="ellipse">
            <a:avLst/>
          </a:prstGeom>
          <a:solidFill>
            <a:srgbClr val="00FF00"/>
          </a:solidFill>
          <a:ln w="25400" cmpd="sng">
            <a:solidFill>
              <a:srgbClr val="000000"/>
            </a:solidFill>
            <a:prstDash val="solid"/>
          </a:ln>
        </p:spPr>
        <p:txBody>
          <a:bodyPr vert="horz" wrap="square" rtlCol="0" anchor="ctr" anchorCtr="1">
            <a:noAutofit/>
          </a:bodyPr>
          <a:lstStyle/>
          <a:p>
            <a:pPr algn="l"/>
            <a:r>
              <a:rPr lang="af-ZA"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16C78608-915B-453B-A315-99651E904500}"/>
              </a:ext>
            </a:extLst>
          </p:cNvPr>
          <p:cNvSpPr>
            <a:spLocks noChangeAspect="1"/>
          </p:cNvSpPr>
          <p:nvPr>
            <p:custDataLst>
              <p:tags r:id="rId7"/>
            </p:custDataLst>
          </p:nvPr>
        </p:nvSpPr>
        <p:spPr>
          <a:xfrm>
            <a:off x="3683726" y="7850222"/>
            <a:ext cx="731520" cy="731520"/>
          </a:xfrm>
          <a:prstGeom prst="ellipse">
            <a:avLst/>
          </a:prstGeom>
          <a:solidFill>
            <a:srgbClr val="808080"/>
          </a:solidFill>
          <a:ln w="12700" cmpd="sng">
            <a:solidFill>
              <a:srgbClr val="000000"/>
            </a:solidFill>
            <a:prstDash val="solid"/>
          </a:ln>
        </p:spPr>
        <p:txBody>
          <a:bodyPr vert="horz" wrap="square" rtlCol="0" anchor="ctr" anchorCtr="1">
            <a:noAutofit/>
          </a:bodyPr>
          <a:lstStyle/>
          <a:p>
            <a:pPr algn="l"/>
            <a:r>
              <a:rPr lang="af-ZA"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CAB6EB4B-AC4E-4146-87AB-7F296FBAED21}"/>
              </a:ext>
            </a:extLst>
          </p:cNvPr>
          <p:cNvSpPr>
            <a:spLocks noChangeAspect="1"/>
          </p:cNvSpPr>
          <p:nvPr>
            <p:custDataLst>
              <p:tags r:id="rId8"/>
            </p:custDataLst>
          </p:nvPr>
        </p:nvSpPr>
        <p:spPr>
          <a:xfrm>
            <a:off x="6278880" y="7850222"/>
            <a:ext cx="731520" cy="731520"/>
          </a:xfrm>
          <a:prstGeom prst="ellipse">
            <a:avLst/>
          </a:prstGeom>
          <a:solidFill>
            <a:srgbClr val="808080"/>
          </a:solidFill>
          <a:ln w="12700" cmpd="sng">
            <a:solidFill>
              <a:srgbClr val="000000"/>
            </a:solidFill>
            <a:prstDash val="solid"/>
          </a:ln>
        </p:spPr>
        <p:txBody>
          <a:bodyPr vert="horz" wrap="square" rtlCol="0" anchor="ctr" anchorCtr="1">
            <a:noAutofit/>
          </a:bodyPr>
          <a:lstStyle/>
          <a:p>
            <a:pPr algn="l"/>
            <a:r>
              <a:rPr lang="af-ZA"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8AA83949-08E0-4975-B6E0-3F099B81B153}"/>
              </a:ext>
            </a:extLst>
          </p:cNvPr>
          <p:cNvSpPr/>
          <p:nvPr>
            <p:custDataLst>
              <p:tags r:id="rId9"/>
            </p:custDataLst>
          </p:nvPr>
        </p:nvSpPr>
        <p:spPr>
          <a:xfrm>
            <a:off x="8778240" y="8839200"/>
            <a:ext cx="2194560" cy="585216"/>
          </a:xfrm>
          <a:prstGeom prst="roundRect">
            <a:avLst/>
          </a:prstGeom>
          <a:solidFill>
            <a:srgbClr val="808080"/>
          </a:solidFill>
          <a:ln w="38100" cmpd="sng">
            <a:solidFill>
              <a:srgbClr val="000000"/>
            </a:solidFill>
            <a:prstDash val="solid"/>
          </a:ln>
        </p:spPr>
        <p:txBody>
          <a:bodyPr vert="horz" wrap="square" rtlCol="0" anchor="ctr" anchorCtr="1">
            <a:noAutofit/>
          </a:bodyPr>
          <a:lstStyle/>
          <a:p>
            <a:pPr algn="l"/>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3" name="组合 22">
            <a:extLst>
              <a:ext uri="{FF2B5EF4-FFF2-40B4-BE49-F238E27FC236}">
                <a16:creationId xmlns:a16="http://schemas.microsoft.com/office/drawing/2014/main" id="{73C5420A-D722-4C6A-A675-C6CA3AE0F31A}"/>
              </a:ext>
            </a:extLst>
          </p:cNvPr>
          <p:cNvGrpSpPr/>
          <p:nvPr>
            <p:custDataLst>
              <p:tags r:id="rId10"/>
            </p:custDataLst>
          </p:nvPr>
        </p:nvGrpSpPr>
        <p:grpSpPr>
          <a:xfrm>
            <a:off x="0" y="0"/>
            <a:ext cx="13004800" cy="635000"/>
            <a:chOff x="0" y="0"/>
            <a:chExt cx="13004800" cy="635000"/>
          </a:xfrm>
        </p:grpSpPr>
        <p:sp>
          <p:nvSpPr>
            <p:cNvPr id="15" name="TitleBackground">
              <a:extLst>
                <a:ext uri="{FF2B5EF4-FFF2-40B4-BE49-F238E27FC236}">
                  <a16:creationId xmlns:a16="http://schemas.microsoft.com/office/drawing/2014/main" id="{EDF96257-89A7-4137-8846-0E0CDDFEDFCF}"/>
                </a:ext>
              </a:extLst>
            </p:cNvPr>
            <p:cNvSpPr/>
            <p:nvPr>
              <p:custDataLst>
                <p:tags r:id="rId12"/>
              </p:custDataLst>
            </p:nvPr>
          </p:nvSpPr>
          <p:spPr>
            <a:xfrm>
              <a:off x="0" y="0"/>
              <a:ext cx="13004800" cy="635000"/>
            </a:xfrm>
            <a:prstGeom prst="rect">
              <a:avLst/>
            </a:prstGeom>
            <a:solidFill>
              <a:srgbClr val="F6F7F8"/>
            </a:solidFill>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16" name="ColorBlock">
              <a:extLst>
                <a:ext uri="{FF2B5EF4-FFF2-40B4-BE49-F238E27FC236}">
                  <a16:creationId xmlns:a16="http://schemas.microsoft.com/office/drawing/2014/main" id="{4B27A965-DE99-4E2A-9507-9DDA3313FF54}"/>
                </a:ext>
              </a:extLst>
            </p:cNvPr>
            <p:cNvSpPr/>
            <p:nvPr>
              <p:custDataLst>
                <p:tags r:id="rId13"/>
              </p:custDataLst>
            </p:nvPr>
          </p:nvSpPr>
          <p:spPr>
            <a:xfrm>
              <a:off x="0" y="0"/>
              <a:ext cx="190500" cy="635000"/>
            </a:xfrm>
            <a:prstGeom prst="rect">
              <a:avLst/>
            </a:prstGeom>
            <a:solidFill>
              <a:srgbClr val="639EF4"/>
            </a:solidFill>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17" name="TypeText">
              <a:extLst>
                <a:ext uri="{FF2B5EF4-FFF2-40B4-BE49-F238E27FC236}">
                  <a16:creationId xmlns:a16="http://schemas.microsoft.com/office/drawing/2014/main" id="{AF217246-DEC4-49B2-949F-81BEFCA8F173}"/>
                </a:ext>
              </a:extLst>
            </p:cNvPr>
            <p:cNvSpPr txBox="1"/>
            <p:nvPr>
              <p:custDataLst>
                <p:tags r:id="rId14"/>
              </p:custDataLst>
            </p:nvPr>
          </p:nvSpPr>
          <p:spPr>
            <a:xfrm>
              <a:off x="254000" y="0"/>
              <a:ext cx="1905000" cy="635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单选题</a:t>
              </a:r>
            </a:p>
          </p:txBody>
        </p:sp>
        <p:sp>
          <p:nvSpPr>
            <p:cNvPr id="22" name="TipText">
              <a:extLst>
                <a:ext uri="{FF2B5EF4-FFF2-40B4-BE49-F238E27FC236}">
                  <a16:creationId xmlns:a16="http://schemas.microsoft.com/office/drawing/2014/main" id="{B0F041A3-7D1A-4A2F-BFA5-AA0A92BB1914}"/>
                </a:ext>
              </a:extLst>
            </p:cNvPr>
            <p:cNvSpPr txBox="1"/>
            <p:nvPr>
              <p:custDataLst>
                <p:tags r:id="rId15"/>
              </p:custDataLst>
            </p:nvPr>
          </p:nvSpPr>
          <p:spPr>
            <a:xfrm>
              <a:off x="1444625" y="109220"/>
              <a:ext cx="2286000" cy="508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a:r>
                <a:rPr kumimoji="0" lang="en-US" altLang="zh-CN" sz="2000" b="1"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1</a:t>
              </a:r>
              <a:r>
                <a:rPr kumimoji="0" lang="zh-CN" altLang="en-US" sz="2000" b="1"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分</a:t>
              </a:r>
            </a:p>
          </p:txBody>
        </p:sp>
      </p:grpSp>
      <p:pic>
        <p:nvPicPr>
          <p:cNvPr id="4" name="图片 3">
            <a:extLst>
              <a:ext uri="{FF2B5EF4-FFF2-40B4-BE49-F238E27FC236}">
                <a16:creationId xmlns:a16="http://schemas.microsoft.com/office/drawing/2014/main" id="{042F76FB-29AC-4E4D-8179-BC9ABBE3B6E9}"/>
              </a:ext>
            </a:extLst>
          </p:cNvPr>
          <p:cNvPicPr>
            <a:picLocks/>
          </p:cNvPicPr>
          <p:nvPr>
            <p:custDataLst>
              <p:tags r:id="rId11"/>
            </p:custDataLst>
          </p:nvPr>
        </p:nvPicPr>
        <p:blipFill>
          <a:blip r:embed="rId17">
            <a:extLst>
              <a:ext uri="{28A0092B-C50C-407E-A947-70E740481C1C}">
                <a14:useLocalDpi xmlns:a14="http://schemas.microsoft.com/office/drawing/2010/main" val="0"/>
              </a:ext>
            </a:extLst>
          </a:blip>
          <a:stretch>
            <a:fillRect/>
          </a:stretch>
        </p:blipFill>
        <p:spPr>
          <a:xfrm>
            <a:off x="11455400" y="63500"/>
            <a:ext cx="1422400" cy="508000"/>
          </a:xfrm>
          <a:prstGeom prst="rect">
            <a:avLst/>
          </a:prstGeom>
        </p:spPr>
      </p:pic>
    </p:spTree>
    <p:custDataLst>
      <p:tags r:id="rId1"/>
    </p:custDataLst>
    <p:extLst>
      <p:ext uri="{BB962C8B-B14F-4D97-AF65-F5344CB8AC3E}">
        <p14:creationId xmlns:p14="http://schemas.microsoft.com/office/powerpoint/2010/main" val="128111042"/>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47</a:t>
            </a:fld>
            <a:endParaRPr/>
          </a:p>
        </p:txBody>
      </p:sp>
      <p:sp>
        <p:nvSpPr>
          <p:cNvPr id="178" name="任务3.1的参考源代码"/>
          <p:cNvSpPr>
            <a:spLocks noGrp="1"/>
          </p:cNvSpPr>
          <p:nvPr>
            <p:ph type="title"/>
          </p:nvPr>
        </p:nvSpPr>
        <p:spPr>
          <a:xfrm>
            <a:off x="7847653" y="2197672"/>
            <a:ext cx="4850708" cy="774127"/>
          </a:xfrm>
          <a:prstGeom prst="rect">
            <a:avLst/>
          </a:prstGeom>
          <a:solidFill>
            <a:schemeClr val="accent1"/>
          </a:solidFill>
        </p:spPr>
        <p:txBody>
          <a:bodyPr/>
          <a:lstStyle/>
          <a:p>
            <a:r>
              <a:rPr lang="zh-CN" altLang="en-US" sz="3200">
                <a:solidFill>
                  <a:schemeClr val="bg1"/>
                </a:solidFill>
              </a:rPr>
              <a:t>用</a:t>
            </a:r>
            <a:r>
              <a:rPr lang="zh-CN" altLang="en-US" sz="3200" b="1">
                <a:solidFill>
                  <a:srgbClr val="FFFF00"/>
                </a:solidFill>
              </a:rPr>
              <a:t>标志变量</a:t>
            </a:r>
            <a:r>
              <a:rPr lang="zh-CN" altLang="en-US" sz="3200"/>
              <a:t>记录是否有解</a:t>
            </a:r>
            <a:endParaRPr sz="3200"/>
          </a:p>
        </p:txBody>
      </p:sp>
      <p:sp>
        <p:nvSpPr>
          <p:cNvPr id="179" name="#include &lt;iostream&gt;…"/>
          <p:cNvSpPr txBox="1"/>
          <p:nvPr/>
        </p:nvSpPr>
        <p:spPr>
          <a:xfrm>
            <a:off x="565698" y="2041543"/>
            <a:ext cx="8538240" cy="7493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defTabSz="439419">
              <a:tabLst>
                <a:tab pos="431800" algn="l"/>
              </a:tabLst>
              <a:defRPr sz="1900">
                <a:solidFill>
                  <a:srgbClr val="D12F1B"/>
                </a:solidFill>
                <a:latin typeface="Menlo"/>
                <a:ea typeface="Menlo"/>
                <a:cs typeface="Menlo"/>
                <a:sym typeface="Menlo"/>
              </a:defRPr>
            </a:pPr>
            <a:r>
              <a:rPr>
                <a:solidFill>
                  <a:srgbClr val="78492A"/>
                </a:solidFill>
                <a:latin typeface="Consolas" panose="020B0609020204030204" pitchFamily="49" charset="0"/>
              </a:rPr>
              <a:t>#include </a:t>
            </a:r>
            <a:r>
              <a:rPr>
                <a:latin typeface="Consolas" panose="020B0609020204030204" pitchFamily="49" charset="0"/>
              </a:rPr>
              <a:t>&lt;iostream&gt;</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1900">
                <a:solidFill>
                  <a:srgbClr val="BA2DA2"/>
                </a:solidFill>
                <a:latin typeface="Menlo"/>
                <a:ea typeface="Menlo"/>
                <a:cs typeface="Menlo"/>
                <a:sym typeface="Menlo"/>
              </a:defRPr>
            </a:pPr>
            <a:r>
              <a:rPr>
                <a:latin typeface="Consolas" panose="020B0609020204030204" pitchFamily="49" charset="0"/>
              </a:rPr>
              <a:t>using</a:t>
            </a:r>
            <a:r>
              <a:rPr>
                <a:solidFill>
                  <a:srgbClr val="000000"/>
                </a:solidFill>
                <a:latin typeface="Consolas" panose="020B0609020204030204" pitchFamily="49" charset="0"/>
              </a:rPr>
              <a:t> </a:t>
            </a:r>
            <a:r>
              <a:rPr>
                <a:latin typeface="Consolas" panose="020B0609020204030204" pitchFamily="49" charset="0"/>
              </a:rPr>
              <a:t>namespace</a:t>
            </a:r>
            <a:r>
              <a:rPr>
                <a:solidFill>
                  <a:srgbClr val="000000"/>
                </a:solidFill>
                <a:latin typeface="Consolas" panose="020B0609020204030204" pitchFamily="49" charset="0"/>
              </a:rPr>
              <a:t> </a:t>
            </a:r>
            <a:r>
              <a:rPr>
                <a:solidFill>
                  <a:srgbClr val="703DAA"/>
                </a:solidFill>
                <a:latin typeface="Consolas" panose="020B0609020204030204" pitchFamily="49" charset="0"/>
              </a:rPr>
              <a:t>std</a:t>
            </a:r>
            <a:r>
              <a:rPr>
                <a:solidFill>
                  <a:srgbClr val="000000"/>
                </a:solidFill>
                <a:latin typeface="Consolas" panose="020B0609020204030204" pitchFamily="49" charset="0"/>
              </a:rPr>
              <a:t> </a:t>
            </a:r>
            <a:r>
              <a:rPr lang="en-US" altLang="zh-CN">
                <a:solidFill>
                  <a:srgbClr val="000000"/>
                </a:solidFill>
                <a:latin typeface="Consolas" panose="020B0609020204030204" pitchFamily="49" charset="0"/>
              </a:rPr>
              <a:t>;</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solidFill>
                  <a:srgbClr val="BA2DA2"/>
                </a:solidFill>
                <a:latin typeface="Consolas" panose="020B0609020204030204" pitchFamily="49" charset="0"/>
              </a:rPr>
              <a:t>int</a:t>
            </a:r>
            <a:r>
              <a:rPr>
                <a:latin typeface="Consolas" panose="020B0609020204030204" pitchFamily="49" charset="0"/>
              </a:rPr>
              <a:t> main()</a:t>
            </a:r>
            <a:endParaRPr>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1900">
                <a:solidFill>
                  <a:srgbClr val="008400"/>
                </a:solidFill>
                <a:latin typeface="Menlo"/>
                <a:ea typeface="Menlo"/>
                <a:cs typeface="Menlo"/>
                <a:sym typeface="Menlo"/>
              </a:defRPr>
            </a:pPr>
            <a:r>
              <a:rPr>
                <a:solidFill>
                  <a:srgbClr val="000000"/>
                </a:solidFill>
                <a:latin typeface="Consolas" panose="020B0609020204030204" pitchFamily="49" charset="0"/>
              </a:rPr>
              <a:t>    </a:t>
            </a:r>
            <a:r>
              <a:rPr>
                <a:solidFill>
                  <a:srgbClr val="BA2DA2"/>
                </a:solidFill>
                <a:latin typeface="Consolas" panose="020B0609020204030204" pitchFamily="49" charset="0"/>
              </a:rPr>
              <a:t>int</a:t>
            </a:r>
            <a:r>
              <a:rPr>
                <a:solidFill>
                  <a:srgbClr val="000000"/>
                </a:solidFill>
                <a:latin typeface="Consolas" panose="020B0609020204030204" pitchFamily="49" charset="0"/>
              </a:rPr>
              <a:t> g = </a:t>
            </a:r>
            <a:r>
              <a:rPr>
                <a:solidFill>
                  <a:srgbClr val="272AD8"/>
                </a:solidFill>
                <a:latin typeface="Consolas" panose="020B0609020204030204" pitchFamily="49" charset="0"/>
              </a:rPr>
              <a:t>0</a:t>
            </a:r>
            <a:r>
              <a:rPr>
                <a:solidFill>
                  <a:srgbClr val="000000"/>
                </a:solidFill>
                <a:latin typeface="Consolas" panose="020B0609020204030204" pitchFamily="49" charset="0"/>
              </a:rPr>
              <a:t> ;     </a:t>
            </a:r>
            <a:r>
              <a:rPr>
                <a:latin typeface="Consolas" panose="020B0609020204030204" pitchFamily="49" charset="0"/>
              </a:rPr>
              <a:t>// 初始化为0，表示“无解”</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1900">
                <a:solidFill>
                  <a:srgbClr val="008400"/>
                </a:solidFill>
                <a:latin typeface="Menlo"/>
                <a:ea typeface="Menlo"/>
                <a:cs typeface="Menlo"/>
                <a:sym typeface="Menlo"/>
              </a:defRPr>
            </a:pPr>
            <a:r>
              <a:rPr>
                <a:solidFill>
                  <a:srgbClr val="000000"/>
                </a:solidFill>
                <a:latin typeface="Consolas" panose="020B0609020204030204" pitchFamily="49" charset="0"/>
              </a:rPr>
              <a:t>    </a:t>
            </a:r>
            <a:r>
              <a:rPr>
                <a:solidFill>
                  <a:srgbClr val="BA2DA2"/>
                </a:solidFill>
                <a:latin typeface="Consolas" panose="020B0609020204030204" pitchFamily="49" charset="0"/>
              </a:rPr>
              <a:t>for</a:t>
            </a:r>
            <a:r>
              <a:rPr>
                <a:solidFill>
                  <a:srgbClr val="000000"/>
                </a:solidFill>
                <a:latin typeface="Consolas" panose="020B0609020204030204" pitchFamily="49" charset="0"/>
              </a:rPr>
              <a:t> (</a:t>
            </a:r>
            <a:r>
              <a:rPr>
                <a:solidFill>
                  <a:srgbClr val="BA2DA2"/>
                </a:solidFill>
                <a:latin typeface="Consolas" panose="020B0609020204030204" pitchFamily="49" charset="0"/>
              </a:rPr>
              <a:t>int</a:t>
            </a:r>
            <a:r>
              <a:rPr>
                <a:solidFill>
                  <a:srgbClr val="000000"/>
                </a:solidFill>
                <a:latin typeface="Consolas" panose="020B0609020204030204" pitchFamily="49" charset="0"/>
              </a:rPr>
              <a:t> k=</a:t>
            </a:r>
            <a:r>
              <a:rPr>
                <a:solidFill>
                  <a:srgbClr val="272AD8"/>
                </a:solidFill>
                <a:latin typeface="Consolas" panose="020B0609020204030204" pitchFamily="49" charset="0"/>
              </a:rPr>
              <a:t>0</a:t>
            </a:r>
            <a:r>
              <a:rPr>
                <a:solidFill>
                  <a:srgbClr val="000000"/>
                </a:solidFill>
                <a:latin typeface="Consolas" panose="020B0609020204030204" pitchFamily="49" charset="0"/>
              </a:rPr>
              <a:t>; k&lt;</a:t>
            </a:r>
            <a:r>
              <a:rPr>
                <a:solidFill>
                  <a:srgbClr val="272AD8"/>
                </a:solidFill>
                <a:latin typeface="Consolas" panose="020B0609020204030204" pitchFamily="49" charset="0"/>
              </a:rPr>
              <a:t>4</a:t>
            </a:r>
            <a:r>
              <a:rPr>
                <a:solidFill>
                  <a:srgbClr val="000000"/>
                </a:solidFill>
                <a:latin typeface="Consolas" panose="020B0609020204030204" pitchFamily="49" charset="0"/>
              </a:rPr>
              <a:t>; k++) </a:t>
            </a:r>
            <a:r>
              <a:rPr>
                <a:latin typeface="Consolas" panose="020B0609020204030204" pitchFamily="49" charset="0"/>
              </a:rPr>
              <a:t>// </a:t>
            </a:r>
            <a:r>
              <a:rPr err="1">
                <a:latin typeface="Consolas" panose="020B0609020204030204" pitchFamily="49" charset="0"/>
              </a:rPr>
              <a:t>k是循环控制变量</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1900">
                <a:solidFill>
                  <a:srgbClr val="008400"/>
                </a:solidFill>
                <a:latin typeface="Menlo"/>
                <a:ea typeface="Menlo"/>
                <a:cs typeface="Menlo"/>
                <a:sym typeface="Menlo"/>
              </a:defRPr>
            </a:pPr>
            <a:r>
              <a:rPr>
                <a:solidFill>
                  <a:srgbClr val="000000"/>
                </a:solidFill>
                <a:latin typeface="Consolas" panose="020B0609020204030204" pitchFamily="49" charset="0"/>
              </a:rPr>
              <a:t>    { </a:t>
            </a:r>
            <a:r>
              <a:rPr>
                <a:latin typeface="Consolas" panose="020B0609020204030204" pitchFamily="49" charset="0"/>
              </a:rPr>
              <a:t>// for </a:t>
            </a:r>
            <a:r>
              <a:rPr err="1">
                <a:latin typeface="Consolas" panose="020B0609020204030204" pitchFamily="49" charset="0"/>
              </a:rPr>
              <a:t>循环体开始</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char</a:t>
            </a:r>
            <a:r>
              <a:rPr>
                <a:latin typeface="Consolas" panose="020B0609020204030204" pitchFamily="49" charset="0"/>
              </a:rPr>
              <a:t> </a:t>
            </a:r>
            <a:r>
              <a:rPr err="1">
                <a:latin typeface="Consolas" panose="020B0609020204030204" pitchFamily="49" charset="0"/>
              </a:rPr>
              <a:t>thisman</a:t>
            </a:r>
            <a:r>
              <a:rPr>
                <a:latin typeface="Consolas" panose="020B0609020204030204" pitchFamily="49" charset="0"/>
              </a:rPr>
              <a:t> = </a:t>
            </a:r>
            <a:r>
              <a:rPr>
                <a:solidFill>
                  <a:srgbClr val="272AD8"/>
                </a:solidFill>
                <a:latin typeface="Consolas" panose="020B0609020204030204" pitchFamily="49" charset="0"/>
              </a:rPr>
              <a:t>'A'</a:t>
            </a:r>
            <a:r>
              <a:rPr>
                <a:latin typeface="Consolas" panose="020B0609020204030204" pitchFamily="49" charset="0"/>
              </a:rPr>
              <a:t> + k;</a:t>
            </a:r>
            <a:endParaRPr>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int</a:t>
            </a:r>
            <a:r>
              <a:rPr>
                <a:latin typeface="Consolas" panose="020B0609020204030204" pitchFamily="49" charset="0"/>
              </a:rPr>
              <a:t> sum = ( </a:t>
            </a:r>
            <a:r>
              <a:rPr err="1">
                <a:latin typeface="Consolas" panose="020B0609020204030204" pitchFamily="49" charset="0"/>
              </a:rPr>
              <a:t>thisman</a:t>
            </a:r>
            <a:r>
              <a:rPr>
                <a:latin typeface="Consolas" panose="020B0609020204030204" pitchFamily="49" charset="0"/>
              </a:rPr>
              <a:t>!=</a:t>
            </a:r>
            <a:r>
              <a:rPr>
                <a:solidFill>
                  <a:srgbClr val="272AD8"/>
                </a:solidFill>
                <a:latin typeface="Consolas" panose="020B0609020204030204" pitchFamily="49" charset="0"/>
              </a:rPr>
              <a:t>'A'</a:t>
            </a:r>
            <a:r>
              <a:rPr>
                <a:latin typeface="Consolas" panose="020B0609020204030204" pitchFamily="49" charset="0"/>
              </a:rPr>
              <a:t> ) + ( </a:t>
            </a:r>
            <a:r>
              <a:rPr err="1">
                <a:latin typeface="Consolas" panose="020B0609020204030204" pitchFamily="49" charset="0"/>
              </a:rPr>
              <a:t>thisman</a:t>
            </a:r>
            <a:r>
              <a:rPr>
                <a:latin typeface="Consolas" panose="020B0609020204030204" pitchFamily="49" charset="0"/>
              </a:rPr>
              <a:t>==</a:t>
            </a:r>
            <a:r>
              <a:rPr>
                <a:solidFill>
                  <a:srgbClr val="272AD8"/>
                </a:solidFill>
                <a:latin typeface="Consolas" panose="020B0609020204030204" pitchFamily="49" charset="0"/>
              </a:rPr>
              <a:t>'C'</a:t>
            </a: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 ( </a:t>
            </a:r>
            <a:r>
              <a:rPr err="1">
                <a:latin typeface="Consolas" panose="020B0609020204030204" pitchFamily="49" charset="0"/>
              </a:rPr>
              <a:t>thisman</a:t>
            </a:r>
            <a:r>
              <a:rPr>
                <a:latin typeface="Consolas" panose="020B0609020204030204" pitchFamily="49" charset="0"/>
              </a:rPr>
              <a:t>==</a:t>
            </a:r>
            <a:r>
              <a:rPr>
                <a:solidFill>
                  <a:srgbClr val="272AD8"/>
                </a:solidFill>
                <a:latin typeface="Consolas" panose="020B0609020204030204" pitchFamily="49" charset="0"/>
              </a:rPr>
              <a:t>'D'</a:t>
            </a:r>
            <a:r>
              <a:rPr>
                <a:latin typeface="Consolas" panose="020B0609020204030204" pitchFamily="49" charset="0"/>
              </a:rPr>
              <a:t> ) + ( </a:t>
            </a:r>
            <a:r>
              <a:rPr err="1">
                <a:latin typeface="Consolas" panose="020B0609020204030204" pitchFamily="49" charset="0"/>
              </a:rPr>
              <a:t>thisman</a:t>
            </a:r>
            <a:r>
              <a:rPr>
                <a:latin typeface="Consolas" panose="020B0609020204030204" pitchFamily="49" charset="0"/>
              </a:rPr>
              <a:t>!=</a:t>
            </a:r>
            <a:r>
              <a:rPr>
                <a:solidFill>
                  <a:srgbClr val="272AD8"/>
                </a:solidFill>
                <a:latin typeface="Consolas" panose="020B0609020204030204" pitchFamily="49" charset="0"/>
              </a:rPr>
              <a:t>'D'</a:t>
            </a: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if</a:t>
            </a:r>
            <a:r>
              <a:rPr>
                <a:latin typeface="Consolas" panose="020B0609020204030204" pitchFamily="49" charset="0"/>
              </a:rPr>
              <a:t> (sum == </a:t>
            </a:r>
            <a:r>
              <a:rPr>
                <a:solidFill>
                  <a:srgbClr val="272AD8"/>
                </a:solidFill>
                <a:latin typeface="Consolas" panose="020B0609020204030204" pitchFamily="49" charset="0"/>
              </a:rPr>
              <a:t>3</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1900">
                <a:solidFill>
                  <a:srgbClr val="008400"/>
                </a:solidFill>
                <a:latin typeface="Menlo"/>
                <a:ea typeface="Menlo"/>
                <a:cs typeface="Menlo"/>
                <a:sym typeface="Menlo"/>
              </a:defRPr>
            </a:pPr>
            <a:r>
              <a:rPr>
                <a:solidFill>
                  <a:srgbClr val="000000"/>
                </a:solidFill>
                <a:latin typeface="Consolas" panose="020B0609020204030204" pitchFamily="49" charset="0"/>
              </a:rPr>
              <a:t>        {   </a:t>
            </a:r>
            <a:r>
              <a:rPr>
                <a:latin typeface="Consolas" panose="020B0609020204030204" pitchFamily="49" charset="0"/>
              </a:rPr>
              <a:t>// 如果3句话为真，则输出当前可能性所假定的人为做好事者</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做好事者为</a:t>
            </a:r>
            <a:r>
              <a:rPr>
                <a:solidFill>
                  <a:srgbClr val="D12F1B"/>
                </a:solidFill>
                <a:latin typeface="Consolas" panose="020B0609020204030204" pitchFamily="49" charset="0"/>
              </a:rPr>
              <a:t>"</a:t>
            </a:r>
            <a:r>
              <a:rPr>
                <a:latin typeface="Consolas" panose="020B0609020204030204" pitchFamily="49" charset="0"/>
              </a:rPr>
              <a:t> &lt;&lt; </a:t>
            </a:r>
            <a:r>
              <a:rPr err="1">
                <a:solidFill>
                  <a:srgbClr val="BA2DA2"/>
                </a:solidFill>
                <a:latin typeface="Consolas" panose="020B0609020204030204" pitchFamily="49" charset="0"/>
              </a:rPr>
              <a:t>thisman</a:t>
            </a:r>
            <a:r>
              <a:rPr>
                <a:latin typeface="Consolas" panose="020B0609020204030204" pitchFamily="49" charset="0"/>
              </a:rPr>
              <a:t> &lt;&lt; </a:t>
            </a:r>
            <a:r>
              <a:rPr err="1">
                <a:latin typeface="Consolas" panose="020B0609020204030204" pitchFamily="49" charset="0"/>
              </a:rPr>
              <a:t>endl</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1900">
                <a:solidFill>
                  <a:srgbClr val="008400"/>
                </a:solidFill>
                <a:latin typeface="Menlo"/>
                <a:ea typeface="Menlo"/>
                <a:cs typeface="Menlo"/>
                <a:sym typeface="Menlo"/>
              </a:defRPr>
            </a:pPr>
            <a:r>
              <a:rPr>
                <a:solidFill>
                  <a:srgbClr val="000000"/>
                </a:solidFill>
                <a:latin typeface="Consolas" panose="020B0609020204030204" pitchFamily="49" charset="0"/>
              </a:rPr>
              <a:t>            g = </a:t>
            </a:r>
            <a:r>
              <a:rPr>
                <a:solidFill>
                  <a:srgbClr val="272AD8"/>
                </a:solidFill>
                <a:latin typeface="Consolas" panose="020B0609020204030204" pitchFamily="49" charset="0"/>
              </a:rPr>
              <a:t>1</a:t>
            </a:r>
            <a:r>
              <a:rPr>
                <a:solidFill>
                  <a:srgbClr val="000000"/>
                </a:solidFill>
                <a:latin typeface="Consolas" panose="020B0609020204030204" pitchFamily="49" charset="0"/>
              </a:rPr>
              <a:t>; </a:t>
            </a:r>
            <a:r>
              <a:rPr>
                <a:latin typeface="Consolas" panose="020B0609020204030204" pitchFamily="49" charset="0"/>
              </a:rPr>
              <a:t>// 有解标志置1，表示找到解了</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1900">
                <a:solidFill>
                  <a:srgbClr val="008400"/>
                </a:solidFill>
                <a:latin typeface="Menlo"/>
                <a:ea typeface="Menlo"/>
                <a:cs typeface="Menlo"/>
                <a:sym typeface="Menlo"/>
              </a:defRPr>
            </a:pPr>
            <a:r>
              <a:rPr>
                <a:solidFill>
                  <a:srgbClr val="000000"/>
                </a:solidFill>
                <a:latin typeface="Consolas" panose="020B0609020204030204" pitchFamily="49" charset="0"/>
              </a:rPr>
              <a:t>    } </a:t>
            </a:r>
            <a:r>
              <a:rPr>
                <a:latin typeface="Consolas" panose="020B0609020204030204" pitchFamily="49" charset="0"/>
              </a:rPr>
              <a:t>// for </a:t>
            </a:r>
            <a:r>
              <a:rPr err="1">
                <a:latin typeface="Consolas" panose="020B0609020204030204" pitchFamily="49" charset="0"/>
              </a:rPr>
              <a:t>循环体结束</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if</a:t>
            </a:r>
            <a:r>
              <a:rPr>
                <a:latin typeface="Consolas" panose="020B0609020204030204" pitchFamily="49" charset="0"/>
              </a:rPr>
              <a:t> (g != </a:t>
            </a:r>
            <a:r>
              <a:rPr>
                <a:solidFill>
                  <a:srgbClr val="272AD8"/>
                </a:solidFill>
                <a:latin typeface="Consolas" panose="020B0609020204030204" pitchFamily="49" charset="0"/>
              </a:rPr>
              <a:t>1</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找不出做好事者</a:t>
            </a:r>
            <a:r>
              <a:rPr>
                <a:solidFill>
                  <a:srgbClr val="D12F1B"/>
                </a:solidFill>
                <a:latin typeface="Consolas" panose="020B0609020204030204" pitchFamily="49" charset="0"/>
              </a:rPr>
              <a:t>"</a:t>
            </a:r>
            <a:r>
              <a:rPr>
                <a:latin typeface="Consolas" panose="020B0609020204030204" pitchFamily="49" charset="0"/>
              </a:rPr>
              <a:t> &lt;&lt; </a:t>
            </a:r>
            <a:r>
              <a:rPr err="1">
                <a:latin typeface="Consolas" panose="020B0609020204030204" pitchFamily="49" charset="0"/>
              </a:rPr>
              <a:t>endl</a:t>
            </a:r>
            <a:r>
              <a:rPr>
                <a:latin typeface="Consolas" panose="020B0609020204030204" pitchFamily="49" charset="0"/>
              </a:rPr>
              <a:t>; </a:t>
            </a:r>
            <a:r>
              <a:rPr>
                <a:solidFill>
                  <a:srgbClr val="008400"/>
                </a:solidFill>
                <a:latin typeface="Consolas" panose="020B0609020204030204" pitchFamily="49" charset="0"/>
              </a:rPr>
              <a:t>// </a:t>
            </a:r>
            <a:r>
              <a:rPr err="1">
                <a:solidFill>
                  <a:srgbClr val="008400"/>
                </a:solidFill>
                <a:latin typeface="Consolas" panose="020B0609020204030204" pitchFamily="49" charset="0"/>
              </a:rPr>
              <a:t>输出无解信息</a:t>
            </a:r>
            <a:endParaRPr>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tabLst>
                <a:tab pos="431800" algn="l"/>
              </a:tabLst>
              <a:defRPr sz="1900">
                <a:solidFill>
                  <a:srgbClr val="BA2DA2"/>
                </a:solidFill>
                <a:latin typeface="Menlo"/>
                <a:ea typeface="Menlo"/>
                <a:cs typeface="Menlo"/>
                <a:sym typeface="Menlo"/>
              </a:defRPr>
            </a:pPr>
            <a:r>
              <a:rPr>
                <a:solidFill>
                  <a:srgbClr val="000000"/>
                </a:solidFill>
                <a:latin typeface="Consolas" panose="020B0609020204030204" pitchFamily="49" charset="0"/>
              </a:rPr>
              <a:t>    </a:t>
            </a:r>
            <a:r>
              <a:rPr>
                <a:latin typeface="Consolas" panose="020B0609020204030204" pitchFamily="49" charset="0"/>
              </a:rPr>
              <a:t>return</a:t>
            </a:r>
            <a:r>
              <a:rPr>
                <a:solidFill>
                  <a:srgbClr val="000000"/>
                </a:solidFill>
                <a:latin typeface="Consolas" panose="020B0609020204030204" pitchFamily="49" charset="0"/>
              </a:rPr>
              <a:t> </a:t>
            </a:r>
            <a:r>
              <a:rPr>
                <a:solidFill>
                  <a:srgbClr val="272AD8"/>
                </a:solidFill>
                <a:latin typeface="Consolas" panose="020B0609020204030204" pitchFamily="49" charset="0"/>
              </a:rPr>
              <a:t>0</a:t>
            </a:r>
            <a:r>
              <a:rPr>
                <a:solidFill>
                  <a:srgbClr val="000000"/>
                </a:solidFill>
                <a:latin typeface="Consolas" panose="020B0609020204030204" pitchFamily="49" charset="0"/>
              </a:rPr>
              <a:t> ;</a:t>
            </a:r>
            <a:endParaRPr>
              <a:solidFill>
                <a:srgbClr val="000000"/>
              </a:solidFill>
              <a:latin typeface="Consolas" panose="020B0609020204030204" pitchFamily="49" charset="0"/>
              <a:ea typeface="Helvetica"/>
              <a:cs typeface="Helvetica"/>
              <a:sym typeface="Helvetica"/>
            </a:endParaRPr>
          </a:p>
          <a:p>
            <a:pPr algn="l" defTabSz="439419">
              <a:tabLst>
                <a:tab pos="431800" algn="l"/>
              </a:tabLst>
              <a:defRPr sz="1900">
                <a:latin typeface="Menlo"/>
                <a:ea typeface="Menlo"/>
                <a:cs typeface="Menlo"/>
                <a:sym typeface="Menlo"/>
              </a:defRPr>
            </a:pPr>
            <a:r>
              <a:rPr>
                <a:latin typeface="Consolas" panose="020B0609020204030204" pitchFamily="49" charset="0"/>
              </a:rPr>
              <a:t>}</a:t>
            </a:r>
            <a:r>
              <a:rPr lang="en-US">
                <a:latin typeface="Consolas" panose="020B0609020204030204" pitchFamily="49" charset="0"/>
              </a:rPr>
              <a:t> </a:t>
            </a:r>
            <a:r>
              <a:rPr lang="en-US">
                <a:solidFill>
                  <a:srgbClr val="00B050"/>
                </a:solidFill>
                <a:latin typeface="Consolas" panose="020B0609020204030204" pitchFamily="49" charset="0"/>
              </a:rPr>
              <a:t>// L03-03.cpp</a:t>
            </a:r>
            <a:endParaRPr>
              <a:solidFill>
                <a:srgbClr val="00B050"/>
              </a:solidFill>
              <a:latin typeface="Consolas" panose="020B0609020204030204" pitchFamily="49" charset="0"/>
            </a:endParaRPr>
          </a:p>
        </p:txBody>
      </p:sp>
      <p:sp>
        <p:nvSpPr>
          <p:cNvPr id="5" name="另一种实现思路">
            <a:extLst>
              <a:ext uri="{FF2B5EF4-FFF2-40B4-BE49-F238E27FC236}">
                <a16:creationId xmlns:a16="http://schemas.microsoft.com/office/drawing/2014/main" id="{B92386D9-78B7-4F4E-8214-68639CEBD5EA}"/>
              </a:ext>
            </a:extLst>
          </p:cNvPr>
          <p:cNvSpPr txBox="1">
            <a:spLocks/>
          </p:cNvSpPr>
          <p:nvPr/>
        </p:nvSpPr>
        <p:spPr>
          <a:xfrm>
            <a:off x="547201" y="354125"/>
            <a:ext cx="9526830" cy="1152045"/>
          </a:xfrm>
          <a:prstGeom prst="rect">
            <a:avLst/>
          </a:prstGeom>
          <a:solidFill>
            <a:schemeClr val="accent5">
              <a:hueOff val="-82419"/>
              <a:satOff val="-9513"/>
              <a:lumOff val="-16343"/>
            </a:schemeClr>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ctr">
            <a:noAutofit/>
          </a:bodyPr>
          <a:lstStyle>
            <a:lvl1pPr marL="0" marR="0" indent="0" algn="ctr" defTabSz="584200" rtl="0" latinLnBrk="0">
              <a:lnSpc>
                <a:spcPct val="100000"/>
              </a:lnSpc>
              <a:spcBef>
                <a:spcPts val="0"/>
              </a:spcBef>
              <a:spcAft>
                <a:spcPts val="0"/>
              </a:spcAft>
              <a:buClrTx/>
              <a:buSzTx/>
              <a:buFontTx/>
              <a:buNone/>
              <a:tabLst/>
              <a:defRPr sz="4600" b="0" i="0" u="none" strike="noStrike" cap="none" spc="0" baseline="0">
                <a:solidFill>
                  <a:srgbClr val="FFFFFF"/>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r" hangingPunct="1"/>
            <a:r>
              <a:rPr lang="zh-CN" altLang="en-US">
                <a:solidFill>
                  <a:schemeClr val="bg1"/>
                </a:solidFill>
              </a:rPr>
              <a:t>算法优化 </a:t>
            </a:r>
            <a:r>
              <a:rPr lang="en-US" altLang="zh-CN">
                <a:solidFill>
                  <a:schemeClr val="bg1"/>
                </a:solidFill>
              </a:rPr>
              <a:t>—— </a:t>
            </a:r>
            <a:r>
              <a:rPr lang="zh-CN" altLang="en-US">
                <a:solidFill>
                  <a:schemeClr val="bg1"/>
                </a:solidFill>
              </a:rPr>
              <a:t>如何知道问题无解？</a:t>
            </a:r>
          </a:p>
        </p:txBody>
      </p:sp>
      <p:grpSp>
        <p:nvGrpSpPr>
          <p:cNvPr id="10" name="组合 9">
            <a:extLst>
              <a:ext uri="{FF2B5EF4-FFF2-40B4-BE49-F238E27FC236}">
                <a16:creationId xmlns:a16="http://schemas.microsoft.com/office/drawing/2014/main" id="{5667156B-04B4-1D84-C372-4D3455100EC8}"/>
              </a:ext>
            </a:extLst>
          </p:cNvPr>
          <p:cNvGrpSpPr/>
          <p:nvPr/>
        </p:nvGrpSpPr>
        <p:grpSpPr>
          <a:xfrm>
            <a:off x="845820" y="3213875"/>
            <a:ext cx="10669357" cy="471924"/>
            <a:chOff x="845820" y="3229115"/>
            <a:chExt cx="10669357" cy="471924"/>
          </a:xfrm>
        </p:grpSpPr>
        <p:sp>
          <p:nvSpPr>
            <p:cNvPr id="2" name="矩形: 圆角 1">
              <a:extLst>
                <a:ext uri="{FF2B5EF4-FFF2-40B4-BE49-F238E27FC236}">
                  <a16:creationId xmlns:a16="http://schemas.microsoft.com/office/drawing/2014/main" id="{D40809FF-EBF0-A1B1-88AE-6397B8AC54C7}"/>
                </a:ext>
              </a:extLst>
            </p:cNvPr>
            <p:cNvSpPr/>
            <p:nvPr/>
          </p:nvSpPr>
          <p:spPr>
            <a:xfrm>
              <a:off x="845820" y="3305057"/>
              <a:ext cx="10669354" cy="344923"/>
            </a:xfrm>
            <a:prstGeom prst="roundRect">
              <a:avLst/>
            </a:prstGeom>
            <a:solidFill>
              <a:schemeClr val="accent4">
                <a:lumMod val="20000"/>
                <a:lumOff val="80000"/>
                <a:alpha val="38824"/>
              </a:schemeClr>
            </a:solidFill>
            <a:ln w="19050">
              <a:solidFill>
                <a:srgbClr val="00206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6" name="文本框 5">
              <a:extLst>
                <a:ext uri="{FF2B5EF4-FFF2-40B4-BE49-F238E27FC236}">
                  <a16:creationId xmlns:a16="http://schemas.microsoft.com/office/drawing/2014/main" id="{B60601C3-1C92-4135-6A03-E14E835E52BD}"/>
                </a:ext>
              </a:extLst>
            </p:cNvPr>
            <p:cNvSpPr txBox="1"/>
            <p:nvPr/>
          </p:nvSpPr>
          <p:spPr>
            <a:xfrm>
              <a:off x="9873702" y="3229115"/>
              <a:ext cx="164147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zh-CN" altLang="en-US" sz="2000" u="none" strike="noStrike" cap="none" spc="0" normalizeH="0" baseline="0" dirty="0">
                  <a:ln>
                    <a:noFill/>
                  </a:ln>
                  <a:solidFill>
                    <a:srgbClr val="000000"/>
                  </a:solidFill>
                  <a:effectLst/>
                  <a:uFillTx/>
                  <a:latin typeface="Consolas" panose="020B0609020204030204" pitchFamily="49" charset="0"/>
                  <a:sym typeface="Helvetica Neue"/>
                </a:rPr>
                <a:t>循环开始前！</a:t>
              </a:r>
            </a:p>
          </p:txBody>
        </p:sp>
      </p:grpSp>
      <p:grpSp>
        <p:nvGrpSpPr>
          <p:cNvPr id="9" name="组合 8">
            <a:extLst>
              <a:ext uri="{FF2B5EF4-FFF2-40B4-BE49-F238E27FC236}">
                <a16:creationId xmlns:a16="http://schemas.microsoft.com/office/drawing/2014/main" id="{5EAC74EE-1B52-2BE0-D456-78B967EA0CBE}"/>
              </a:ext>
            </a:extLst>
          </p:cNvPr>
          <p:cNvGrpSpPr/>
          <p:nvPr/>
        </p:nvGrpSpPr>
        <p:grpSpPr>
          <a:xfrm>
            <a:off x="845820" y="6157218"/>
            <a:ext cx="10669356" cy="471924"/>
            <a:chOff x="845820" y="6126738"/>
            <a:chExt cx="10669356" cy="471924"/>
          </a:xfrm>
        </p:grpSpPr>
        <p:sp>
          <p:nvSpPr>
            <p:cNvPr id="3" name="矩形: 圆角 2">
              <a:extLst>
                <a:ext uri="{FF2B5EF4-FFF2-40B4-BE49-F238E27FC236}">
                  <a16:creationId xmlns:a16="http://schemas.microsoft.com/office/drawing/2014/main" id="{7D1D2135-0682-FD43-1280-FC1358A623D6}"/>
                </a:ext>
              </a:extLst>
            </p:cNvPr>
            <p:cNvSpPr/>
            <p:nvPr/>
          </p:nvSpPr>
          <p:spPr>
            <a:xfrm>
              <a:off x="845820" y="6177797"/>
              <a:ext cx="10669354" cy="344923"/>
            </a:xfrm>
            <a:prstGeom prst="roundRect">
              <a:avLst/>
            </a:prstGeom>
            <a:solidFill>
              <a:schemeClr val="accent4">
                <a:lumMod val="20000"/>
                <a:lumOff val="80000"/>
                <a:alpha val="38824"/>
              </a:schemeClr>
            </a:solidFill>
            <a:ln w="19050">
              <a:solidFill>
                <a:srgbClr val="00206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7" name="文本框 6">
              <a:extLst>
                <a:ext uri="{FF2B5EF4-FFF2-40B4-BE49-F238E27FC236}">
                  <a16:creationId xmlns:a16="http://schemas.microsoft.com/office/drawing/2014/main" id="{AE00FAFC-0EDA-76BA-F3CF-29FC5D495D51}"/>
                </a:ext>
              </a:extLst>
            </p:cNvPr>
            <p:cNvSpPr txBox="1"/>
            <p:nvPr/>
          </p:nvSpPr>
          <p:spPr>
            <a:xfrm>
              <a:off x="9873701" y="6126738"/>
              <a:ext cx="164147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zh-CN" altLang="en-US" sz="2000" u="none" strike="noStrike" cap="none" spc="0" normalizeH="0" baseline="0" dirty="0">
                  <a:ln>
                    <a:noFill/>
                  </a:ln>
                  <a:solidFill>
                    <a:srgbClr val="000000"/>
                  </a:solidFill>
                  <a:effectLst/>
                  <a:uFillTx/>
                  <a:latin typeface="Consolas" panose="020B0609020204030204" pitchFamily="49" charset="0"/>
                  <a:sym typeface="Helvetica Neue"/>
                </a:rPr>
                <a:t>循环进行中！</a:t>
              </a:r>
            </a:p>
          </p:txBody>
        </p:sp>
      </p:grpSp>
      <p:grpSp>
        <p:nvGrpSpPr>
          <p:cNvPr id="11" name="组合 10">
            <a:extLst>
              <a:ext uri="{FF2B5EF4-FFF2-40B4-BE49-F238E27FC236}">
                <a16:creationId xmlns:a16="http://schemas.microsoft.com/office/drawing/2014/main" id="{072B0964-FE20-F2E6-7930-C4D377DD0C61}"/>
              </a:ext>
            </a:extLst>
          </p:cNvPr>
          <p:cNvGrpSpPr/>
          <p:nvPr/>
        </p:nvGrpSpPr>
        <p:grpSpPr>
          <a:xfrm>
            <a:off x="845820" y="7285595"/>
            <a:ext cx="10669355" cy="471924"/>
            <a:chOff x="845820" y="7285595"/>
            <a:chExt cx="10669355" cy="471924"/>
          </a:xfrm>
        </p:grpSpPr>
        <p:sp>
          <p:nvSpPr>
            <p:cNvPr id="4" name="矩形: 圆角 3">
              <a:extLst>
                <a:ext uri="{FF2B5EF4-FFF2-40B4-BE49-F238E27FC236}">
                  <a16:creationId xmlns:a16="http://schemas.microsoft.com/office/drawing/2014/main" id="{9CD2ADD8-8B2C-079F-5E1D-CAF3D934C307}"/>
                </a:ext>
              </a:extLst>
            </p:cNvPr>
            <p:cNvSpPr/>
            <p:nvPr/>
          </p:nvSpPr>
          <p:spPr>
            <a:xfrm>
              <a:off x="845820" y="7361537"/>
              <a:ext cx="10669354" cy="320040"/>
            </a:xfrm>
            <a:prstGeom prst="roundRect">
              <a:avLst/>
            </a:prstGeom>
            <a:solidFill>
              <a:schemeClr val="accent4">
                <a:lumMod val="20000"/>
                <a:lumOff val="80000"/>
                <a:alpha val="38824"/>
              </a:schemeClr>
            </a:solidFill>
            <a:ln w="19050">
              <a:solidFill>
                <a:srgbClr val="00206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8" name="文本框 7">
              <a:extLst>
                <a:ext uri="{FF2B5EF4-FFF2-40B4-BE49-F238E27FC236}">
                  <a16:creationId xmlns:a16="http://schemas.microsoft.com/office/drawing/2014/main" id="{6817DFF9-A937-AC51-2A1D-5DE1331B3D3F}"/>
                </a:ext>
              </a:extLst>
            </p:cNvPr>
            <p:cNvSpPr txBox="1"/>
            <p:nvPr/>
          </p:nvSpPr>
          <p:spPr>
            <a:xfrm>
              <a:off x="9873700" y="7285595"/>
              <a:ext cx="164147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zh-CN" altLang="en-US" sz="2000" u="none" strike="noStrike" cap="none" spc="0" normalizeH="0" baseline="0" dirty="0">
                  <a:ln>
                    <a:noFill/>
                  </a:ln>
                  <a:solidFill>
                    <a:srgbClr val="000000"/>
                  </a:solidFill>
                  <a:effectLst/>
                  <a:uFillTx/>
                  <a:latin typeface="Consolas" panose="020B0609020204030204" pitchFamily="49" charset="0"/>
                  <a:sym typeface="Helvetica Neue"/>
                </a:rPr>
                <a:t>循环结束后！</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0714493-49A5-466F-BD26-B9E34B0E831C}"/>
              </a:ext>
            </a:extLst>
          </p:cNvPr>
          <p:cNvSpPr txBox="1"/>
          <p:nvPr>
            <p:custDataLst>
              <p:tags r:id="rId2"/>
            </p:custDataLst>
          </p:nvPr>
        </p:nvSpPr>
        <p:spPr>
          <a:xfrm>
            <a:off x="809413" y="426720"/>
            <a:ext cx="10403840" cy="3048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lnSpc>
                <a:spcPct val="200000"/>
              </a:lnSpc>
            </a:pP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根据变量</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g</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的算法作用，</a:t>
            </a:r>
            <a:endParaRPr lang="en-US" altLang="zh-CN" sz="2600">
              <a:latin typeface="Microsoft Yahei" panose="020B0503020204020204" pitchFamily="34" charset="-122"/>
              <a:ea typeface="Microsoft Yahei" panose="020B0503020204020204" pitchFamily="34" charset="-122"/>
              <a:sym typeface="Microsoft Yahei" panose="020B0503020204020204" pitchFamily="34" charset="-122"/>
            </a:endParaRPr>
          </a:p>
          <a:p>
            <a:pPr algn="l">
              <a:lnSpc>
                <a:spcPct val="200000"/>
              </a:lnSpc>
            </a:pPr>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以下哪些说明是正确的？</a:t>
            </a:r>
          </a:p>
        </p:txBody>
      </p:sp>
      <p:sp>
        <p:nvSpPr>
          <p:cNvPr id="6" name="文本框 5">
            <a:extLst>
              <a:ext uri="{FF2B5EF4-FFF2-40B4-BE49-F238E27FC236}">
                <a16:creationId xmlns:a16="http://schemas.microsoft.com/office/drawing/2014/main" id="{4974EB93-53B9-46A9-A9EA-73D8DEE4234C}"/>
              </a:ext>
            </a:extLst>
          </p:cNvPr>
          <p:cNvSpPr txBox="1"/>
          <p:nvPr>
            <p:custDataLst>
              <p:tags r:id="rId3"/>
            </p:custDataLst>
          </p:nvPr>
        </p:nvSpPr>
        <p:spPr>
          <a:xfrm>
            <a:off x="2600960" y="3962400"/>
            <a:ext cx="9103360" cy="9144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变量</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g</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必须在循环开始前设置初值。</a:t>
            </a:r>
            <a:endPar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endParaRPr>
          </a:p>
        </p:txBody>
      </p:sp>
      <p:sp>
        <p:nvSpPr>
          <p:cNvPr id="7" name="文本框 6">
            <a:extLst>
              <a:ext uri="{FF2B5EF4-FFF2-40B4-BE49-F238E27FC236}">
                <a16:creationId xmlns:a16="http://schemas.microsoft.com/office/drawing/2014/main" id="{F3035B9C-A167-47C1-9382-FC6FAA0EE43A}"/>
              </a:ext>
            </a:extLst>
          </p:cNvPr>
          <p:cNvSpPr txBox="1"/>
          <p:nvPr>
            <p:custDataLst>
              <p:tags r:id="rId4"/>
            </p:custDataLst>
          </p:nvPr>
        </p:nvSpPr>
        <p:spPr>
          <a:xfrm>
            <a:off x="2600960" y="5181600"/>
            <a:ext cx="9103360" cy="9144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kumimoji="0" lang="zh-CN" altLang="en-US" sz="2600" b="1" i="0" u="none" strike="noStrike" cap="none" spc="0" normalizeH="0" baseline="0" dirty="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变量</a:t>
            </a:r>
            <a:r>
              <a:rPr kumimoji="0" lang="en-US" altLang="zh-CN" sz="2600" b="1" i="0" u="none" strike="noStrike" cap="none" spc="0" normalizeH="0" baseline="0" dirty="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g</a:t>
            </a:r>
            <a:r>
              <a:rPr kumimoji="0" lang="zh-CN" altLang="en-US" sz="2600" b="1" i="0" u="none" strike="noStrike" cap="none" spc="0" normalizeH="0" baseline="0" dirty="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的初值可以设置成任意值。</a:t>
            </a:r>
          </a:p>
        </p:txBody>
      </p:sp>
      <p:sp>
        <p:nvSpPr>
          <p:cNvPr id="8" name="文本框 7">
            <a:extLst>
              <a:ext uri="{FF2B5EF4-FFF2-40B4-BE49-F238E27FC236}">
                <a16:creationId xmlns:a16="http://schemas.microsoft.com/office/drawing/2014/main" id="{F569BF63-2892-4054-AB03-E9D8F2D74865}"/>
              </a:ext>
            </a:extLst>
          </p:cNvPr>
          <p:cNvSpPr txBox="1"/>
          <p:nvPr>
            <p:custDataLst>
              <p:tags r:id="rId5"/>
            </p:custDataLst>
          </p:nvPr>
        </p:nvSpPr>
        <p:spPr>
          <a:xfrm>
            <a:off x="2600960" y="6400800"/>
            <a:ext cx="9697720" cy="9144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rPr>
              <a:t>设置有解标志时，变量</a:t>
            </a:r>
            <a:r>
              <a:rPr lang="en-US" altLang="zh-CN" sz="2600" dirty="0">
                <a:latin typeface="Microsoft Yahei" panose="020B0503020204020204" pitchFamily="34" charset="-122"/>
                <a:ea typeface="Microsoft Yahei" panose="020B0503020204020204" pitchFamily="34" charset="-122"/>
                <a:sym typeface="Microsoft Yahei" panose="020B0503020204020204" pitchFamily="34" charset="-122"/>
              </a:rPr>
              <a:t>g</a:t>
            </a:r>
            <a:r>
              <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rPr>
              <a:t>的值可以随便赋一个与初始值不同的值。</a:t>
            </a:r>
            <a:endParaRPr kumimoji="0" lang="zh-CN" altLang="en-US" sz="2600" b="1" i="0" u="none" strike="noStrike" cap="none" spc="0" normalizeH="0" baseline="0" dirty="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endParaRPr>
          </a:p>
        </p:txBody>
      </p:sp>
      <p:sp>
        <p:nvSpPr>
          <p:cNvPr id="9" name="文本框 8">
            <a:extLst>
              <a:ext uri="{FF2B5EF4-FFF2-40B4-BE49-F238E27FC236}">
                <a16:creationId xmlns:a16="http://schemas.microsoft.com/office/drawing/2014/main" id="{0E685188-855C-41A5-9CE5-66A6DFA2FB8B}"/>
              </a:ext>
            </a:extLst>
          </p:cNvPr>
          <p:cNvSpPr txBox="1"/>
          <p:nvPr>
            <p:custDataLst>
              <p:tags r:id="rId6"/>
            </p:custDataLst>
          </p:nvPr>
        </p:nvSpPr>
        <p:spPr>
          <a:xfrm>
            <a:off x="2600960" y="7620000"/>
            <a:ext cx="9103360" cy="9144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初始值和必须和有解标志值不同。</a:t>
            </a:r>
          </a:p>
        </p:txBody>
      </p:sp>
      <p:sp>
        <p:nvSpPr>
          <p:cNvPr id="10" name="矩形 9">
            <a:extLst>
              <a:ext uri="{FF2B5EF4-FFF2-40B4-BE49-F238E27FC236}">
                <a16:creationId xmlns:a16="http://schemas.microsoft.com/office/drawing/2014/main" id="{A6E07E36-0797-48FD-B1B6-002D25DDDA3C}"/>
              </a:ext>
            </a:extLst>
          </p:cNvPr>
          <p:cNvSpPr>
            <a:spLocks noChangeAspect="1"/>
          </p:cNvSpPr>
          <p:nvPr>
            <p:custDataLst>
              <p:tags r:id="rId7"/>
            </p:custDataLst>
          </p:nvPr>
        </p:nvSpPr>
        <p:spPr>
          <a:xfrm>
            <a:off x="1584960" y="4053840"/>
            <a:ext cx="731520" cy="731520"/>
          </a:xfrm>
          <a:prstGeom prst="rect">
            <a:avLst/>
          </a:prstGeom>
          <a:solidFill>
            <a:srgbClr val="00FF00"/>
          </a:solidFill>
          <a:ln w="25400" cap="flat" cmpd="sng">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af-ZA" altLang="zh-CN"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矩形 10">
            <a:extLst>
              <a:ext uri="{FF2B5EF4-FFF2-40B4-BE49-F238E27FC236}">
                <a16:creationId xmlns:a16="http://schemas.microsoft.com/office/drawing/2014/main" id="{F322A55D-F28B-4E71-8ACF-BF8E3A34B1F1}"/>
              </a:ext>
            </a:extLst>
          </p:cNvPr>
          <p:cNvSpPr>
            <a:spLocks noChangeAspect="1"/>
          </p:cNvSpPr>
          <p:nvPr>
            <p:custDataLst>
              <p:tags r:id="rId8"/>
            </p:custDataLst>
          </p:nvPr>
        </p:nvSpPr>
        <p:spPr>
          <a:xfrm>
            <a:off x="1584960" y="5273040"/>
            <a:ext cx="731520" cy="731520"/>
          </a:xfrm>
          <a:prstGeom prst="rect">
            <a:avLst/>
          </a:prstGeom>
          <a:solidFill>
            <a:srgbClr val="00FF00"/>
          </a:solidFill>
          <a:ln w="25400" cap="flat" cmpd="sng">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af-ZA" altLang="zh-CN"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矩形 11">
            <a:extLst>
              <a:ext uri="{FF2B5EF4-FFF2-40B4-BE49-F238E27FC236}">
                <a16:creationId xmlns:a16="http://schemas.microsoft.com/office/drawing/2014/main" id="{E41038FE-5B10-4AEC-8894-56CDA2B77998}"/>
              </a:ext>
            </a:extLst>
          </p:cNvPr>
          <p:cNvSpPr>
            <a:spLocks noChangeAspect="1"/>
          </p:cNvSpPr>
          <p:nvPr>
            <p:custDataLst>
              <p:tags r:id="rId9"/>
            </p:custDataLst>
          </p:nvPr>
        </p:nvSpPr>
        <p:spPr>
          <a:xfrm>
            <a:off x="1584960" y="6492240"/>
            <a:ext cx="731520" cy="731520"/>
          </a:xfrm>
          <a:prstGeom prst="rect">
            <a:avLst/>
          </a:prstGeom>
          <a:solidFill>
            <a:srgbClr val="00FF00"/>
          </a:solidFill>
          <a:ln w="25400" cap="flat" cmpd="sng">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af-ZA" altLang="zh-CN"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3" name="矩形 12">
            <a:extLst>
              <a:ext uri="{FF2B5EF4-FFF2-40B4-BE49-F238E27FC236}">
                <a16:creationId xmlns:a16="http://schemas.microsoft.com/office/drawing/2014/main" id="{92099103-070D-4511-83E7-1BB93861414E}"/>
              </a:ext>
            </a:extLst>
          </p:cNvPr>
          <p:cNvSpPr>
            <a:spLocks noChangeAspect="1"/>
          </p:cNvSpPr>
          <p:nvPr>
            <p:custDataLst>
              <p:tags r:id="rId10"/>
            </p:custDataLst>
          </p:nvPr>
        </p:nvSpPr>
        <p:spPr>
          <a:xfrm>
            <a:off x="1584960" y="7711440"/>
            <a:ext cx="731520" cy="731520"/>
          </a:xfrm>
          <a:prstGeom prst="rect">
            <a:avLst/>
          </a:prstGeom>
          <a:solidFill>
            <a:srgbClr val="00FF00"/>
          </a:solidFill>
          <a:ln w="25400" cap="flat" cmpd="sng">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af-ZA" altLang="zh-CN"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4" name="矩形: 圆角 13">
            <a:extLst>
              <a:ext uri="{FF2B5EF4-FFF2-40B4-BE49-F238E27FC236}">
                <a16:creationId xmlns:a16="http://schemas.microsoft.com/office/drawing/2014/main" id="{AF6B0EA6-0339-4546-8199-19A2E0F2E3ED}"/>
              </a:ext>
            </a:extLst>
          </p:cNvPr>
          <p:cNvSpPr/>
          <p:nvPr>
            <p:custDataLst>
              <p:tags r:id="rId11"/>
            </p:custDataLst>
          </p:nvPr>
        </p:nvSpPr>
        <p:spPr>
          <a:xfrm>
            <a:off x="8778240" y="8839200"/>
            <a:ext cx="2194560" cy="585216"/>
          </a:xfrm>
          <a:prstGeom prst="roundRect">
            <a:avLst/>
          </a:prstGeom>
          <a:solidFill>
            <a:srgbClr val="808080"/>
          </a:solidFill>
          <a:ln w="38100" cap="flat" cmpd="sng">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pic>
        <p:nvPicPr>
          <p:cNvPr id="21" name="图片 20">
            <a:extLst>
              <a:ext uri="{FF2B5EF4-FFF2-40B4-BE49-F238E27FC236}">
                <a16:creationId xmlns:a16="http://schemas.microsoft.com/office/drawing/2014/main" id="{12BD679A-1BED-4945-8F77-1F9A837455D0}"/>
              </a:ext>
            </a:extLst>
          </p:cNvPr>
          <p:cNvPicPr>
            <a:picLocks noChangeAspect="1"/>
          </p:cNvPicPr>
          <p:nvPr/>
        </p:nvPicPr>
        <p:blipFill>
          <a:blip r:embed="rId19"/>
          <a:stretch>
            <a:fillRect/>
          </a:stretch>
        </p:blipFill>
        <p:spPr>
          <a:xfrm>
            <a:off x="4549573" y="768350"/>
            <a:ext cx="8328227" cy="2659380"/>
          </a:xfrm>
          <a:prstGeom prst="rect">
            <a:avLst/>
          </a:prstGeom>
        </p:spPr>
      </p:pic>
      <p:grpSp>
        <p:nvGrpSpPr>
          <p:cNvPr id="19" name="组合 18">
            <a:extLst>
              <a:ext uri="{FF2B5EF4-FFF2-40B4-BE49-F238E27FC236}">
                <a16:creationId xmlns:a16="http://schemas.microsoft.com/office/drawing/2014/main" id="{ECEAE269-A0F9-4EFD-9F07-5BF3EB732596}"/>
              </a:ext>
            </a:extLst>
          </p:cNvPr>
          <p:cNvGrpSpPr/>
          <p:nvPr>
            <p:custDataLst>
              <p:tags r:id="rId12"/>
            </p:custDataLst>
          </p:nvPr>
        </p:nvGrpSpPr>
        <p:grpSpPr>
          <a:xfrm>
            <a:off x="0" y="0"/>
            <a:ext cx="13004800" cy="635000"/>
            <a:chOff x="0" y="0"/>
            <a:chExt cx="13004800" cy="635000"/>
          </a:xfrm>
        </p:grpSpPr>
        <p:sp>
          <p:nvSpPr>
            <p:cNvPr id="15" name="TitleBackground">
              <a:extLst>
                <a:ext uri="{FF2B5EF4-FFF2-40B4-BE49-F238E27FC236}">
                  <a16:creationId xmlns:a16="http://schemas.microsoft.com/office/drawing/2014/main" id="{2A3AFFDF-954A-4224-9A62-1C95C54AC17B}"/>
                </a:ext>
              </a:extLst>
            </p:cNvPr>
            <p:cNvSpPr/>
            <p:nvPr>
              <p:custDataLst>
                <p:tags r:id="rId14"/>
              </p:custDataLst>
            </p:nvPr>
          </p:nvSpPr>
          <p:spPr>
            <a:xfrm>
              <a:off x="0" y="0"/>
              <a:ext cx="13004800" cy="635000"/>
            </a:xfrm>
            <a:prstGeom prst="rect">
              <a:avLst/>
            </a:prstGeom>
            <a:solidFill>
              <a:srgbClr val="F6F7F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36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6" name="ColorBlock">
              <a:extLst>
                <a:ext uri="{FF2B5EF4-FFF2-40B4-BE49-F238E27FC236}">
                  <a16:creationId xmlns:a16="http://schemas.microsoft.com/office/drawing/2014/main" id="{96F2B20B-D5AE-4CAD-95FE-BD1DABBBBD8D}"/>
                </a:ext>
              </a:extLst>
            </p:cNvPr>
            <p:cNvSpPr/>
            <p:nvPr>
              <p:custDataLst>
                <p:tags r:id="rId15"/>
              </p:custDataLst>
            </p:nvPr>
          </p:nvSpPr>
          <p:spPr>
            <a:xfrm>
              <a:off x="0" y="0"/>
              <a:ext cx="190500" cy="635000"/>
            </a:xfrm>
            <a:prstGeom prst="rect">
              <a:avLst/>
            </a:prstGeom>
            <a:solidFill>
              <a:srgbClr val="639EF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36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7" name="TypeText">
              <a:extLst>
                <a:ext uri="{FF2B5EF4-FFF2-40B4-BE49-F238E27FC236}">
                  <a16:creationId xmlns:a16="http://schemas.microsoft.com/office/drawing/2014/main" id="{956EA930-0E64-48F3-9AF6-A0E138716956}"/>
                </a:ext>
              </a:extLst>
            </p:cNvPr>
            <p:cNvSpPr txBox="1"/>
            <p:nvPr>
              <p:custDataLst>
                <p:tags r:id="rId16"/>
              </p:custDataLst>
            </p:nvPr>
          </p:nvSpPr>
          <p:spPr>
            <a:xfrm>
              <a:off x="254000" y="0"/>
              <a:ext cx="1905000" cy="635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多选题</a:t>
              </a:r>
            </a:p>
          </p:txBody>
        </p:sp>
        <p:sp>
          <p:nvSpPr>
            <p:cNvPr id="18" name="TipText">
              <a:extLst>
                <a:ext uri="{FF2B5EF4-FFF2-40B4-BE49-F238E27FC236}">
                  <a16:creationId xmlns:a16="http://schemas.microsoft.com/office/drawing/2014/main" id="{14811C8E-5D4E-4F61-B5ED-9EFE912A26CE}"/>
                </a:ext>
              </a:extLst>
            </p:cNvPr>
            <p:cNvSpPr txBox="1"/>
            <p:nvPr>
              <p:custDataLst>
                <p:tags r:id="rId17"/>
              </p:custDataLst>
            </p:nvPr>
          </p:nvSpPr>
          <p:spPr>
            <a:xfrm>
              <a:off x="1444625" y="109220"/>
              <a:ext cx="2286000" cy="508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a:r>
                <a:rPr kumimoji="0" lang="en-US" altLang="zh-CN" sz="2000" b="1"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1</a:t>
              </a:r>
              <a:r>
                <a:rPr kumimoji="0" lang="zh-CN" altLang="en-US" sz="2000" b="1"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分</a:t>
              </a:r>
            </a:p>
          </p:txBody>
        </p:sp>
      </p:grpSp>
      <p:pic>
        <p:nvPicPr>
          <p:cNvPr id="4" name="图片 3">
            <a:extLst>
              <a:ext uri="{FF2B5EF4-FFF2-40B4-BE49-F238E27FC236}">
                <a16:creationId xmlns:a16="http://schemas.microsoft.com/office/drawing/2014/main" id="{4C559F56-A81A-4A60-AEF0-3DDB2D3E8701}"/>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1455400" y="63500"/>
            <a:ext cx="1422400" cy="508000"/>
          </a:xfrm>
          <a:prstGeom prst="rect">
            <a:avLst/>
          </a:prstGeom>
        </p:spPr>
      </p:pic>
    </p:spTree>
    <p:custDataLst>
      <p:tags r:id="rId1"/>
    </p:custDataLst>
    <p:extLst>
      <p:ext uri="{BB962C8B-B14F-4D97-AF65-F5344CB8AC3E}">
        <p14:creationId xmlns:p14="http://schemas.microsoft.com/office/powerpoint/2010/main" val="4259801300"/>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49</a:t>
            </a:fld>
            <a:endParaRPr/>
          </a:p>
        </p:txBody>
      </p:sp>
      <p:sp>
        <p:nvSpPr>
          <p:cNvPr id="174" name="枚举法的关键：循环语句中的测试"/>
          <p:cNvSpPr>
            <a:spLocks noGrp="1"/>
          </p:cNvSpPr>
          <p:nvPr>
            <p:ph type="title"/>
          </p:nvPr>
        </p:nvSpPr>
        <p:spPr>
          <a:xfrm>
            <a:off x="547202" y="354125"/>
            <a:ext cx="10323998" cy="1152045"/>
          </a:xfrm>
          <a:prstGeom prst="rect">
            <a:avLst/>
          </a:prstGeom>
        </p:spPr>
        <p:txBody>
          <a:bodyPr/>
          <a:lstStyle/>
          <a:p>
            <a:r>
              <a:rPr lang="zh-CN" altLang="en-US"/>
              <a:t>算法优化 </a:t>
            </a:r>
            <a:r>
              <a:rPr lang="en-US" altLang="zh-CN"/>
              <a:t>—— </a:t>
            </a:r>
            <a:r>
              <a:rPr lang="zh-CN" altLang="en-US"/>
              <a:t>当需要</a:t>
            </a:r>
            <a:r>
              <a:rPr lang="zh-CN" altLang="en-US" b="1">
                <a:solidFill>
                  <a:srgbClr val="FFFF00"/>
                </a:solidFill>
              </a:rPr>
              <a:t>提前结束</a:t>
            </a:r>
            <a:r>
              <a:t>循环</a:t>
            </a:r>
            <a:r>
              <a:rPr lang="zh-CN" altLang="en-US"/>
              <a:t>时</a:t>
            </a:r>
            <a:endParaRPr>
              <a:solidFill>
                <a:schemeClr val="accent4">
                  <a:hueOff val="366961"/>
                  <a:satOff val="4172"/>
                  <a:lumOff val="11129"/>
                </a:schemeClr>
              </a:solidFill>
            </a:endParaRPr>
          </a:p>
        </p:txBody>
      </p:sp>
      <p:sp>
        <p:nvSpPr>
          <p:cNvPr id="175" name="为了解决任务3.1，还需要用分支语句进行判断，即需要判断当前可能性下，ABCD四人所说的四句话中是否有 3 句为真。若是，则要将该可能性所假定的人判定为做好事者。…"/>
          <p:cNvSpPr txBox="1"/>
          <p:nvPr/>
        </p:nvSpPr>
        <p:spPr>
          <a:xfrm>
            <a:off x="561438" y="1958413"/>
            <a:ext cx="12304588" cy="1492075"/>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just">
              <a:lnSpc>
                <a:spcPct val="150000"/>
              </a:lnSpc>
              <a:defRPr sz="3200"/>
            </a:pPr>
            <a:r>
              <a:rPr lang="zh-CN" altLang="en-US" dirty="0">
                <a:solidFill>
                  <a:schemeClr val="tx1"/>
                </a:solidFill>
              </a:rPr>
              <a:t>如果循环没执行完就发现</a:t>
            </a:r>
            <a:r>
              <a:rPr dirty="0" err="1">
                <a:solidFill>
                  <a:schemeClr val="tx1"/>
                </a:solidFill>
              </a:rPr>
              <a:t>当前可能性</a:t>
            </a:r>
            <a:r>
              <a:rPr lang="zh-CN" altLang="en-US" dirty="0">
                <a:solidFill>
                  <a:schemeClr val="tx1"/>
                </a:solidFill>
              </a:rPr>
              <a:t>成立，即</a:t>
            </a:r>
            <a:r>
              <a:rPr dirty="0">
                <a:solidFill>
                  <a:schemeClr val="tx1"/>
                </a:solidFill>
              </a:rPr>
              <a:t>四句话中有3句为真</a:t>
            </a:r>
            <a:r>
              <a:rPr lang="zh-CN" altLang="en-US" dirty="0">
                <a:solidFill>
                  <a:schemeClr val="tx1"/>
                </a:solidFill>
              </a:rPr>
              <a:t>，是否可以</a:t>
            </a:r>
            <a:r>
              <a:rPr lang="zh-CN" altLang="en-US" dirty="0">
                <a:solidFill>
                  <a:srgbClr val="FF0000"/>
                </a:solidFill>
              </a:rPr>
              <a:t>立即</a:t>
            </a:r>
            <a:r>
              <a:rPr lang="zh-CN" altLang="en-US" dirty="0">
                <a:solidFill>
                  <a:schemeClr val="tx1"/>
                </a:solidFill>
              </a:rPr>
              <a:t>退出循环不再继续呢？</a:t>
            </a:r>
            <a:endParaRPr dirty="0">
              <a:solidFill>
                <a:schemeClr val="tx1"/>
              </a:solidFill>
            </a:endParaRPr>
          </a:p>
        </p:txBody>
      </p:sp>
      <p:sp>
        <p:nvSpPr>
          <p:cNvPr id="5" name="#include &lt;iostream&gt;…">
            <a:extLst>
              <a:ext uri="{FF2B5EF4-FFF2-40B4-BE49-F238E27FC236}">
                <a16:creationId xmlns:a16="http://schemas.microsoft.com/office/drawing/2014/main" id="{5110E70B-0778-497F-BF3C-6E2B79C558BA}"/>
              </a:ext>
            </a:extLst>
          </p:cNvPr>
          <p:cNvSpPr txBox="1"/>
          <p:nvPr/>
        </p:nvSpPr>
        <p:spPr>
          <a:xfrm>
            <a:off x="547201" y="3826294"/>
            <a:ext cx="12011562" cy="51314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lvl="2" algn="l" defTabSz="439419">
              <a:lnSpc>
                <a:spcPct val="150000"/>
              </a:lnSpc>
              <a:tabLst>
                <a:tab pos="431800" algn="l"/>
              </a:tabLst>
              <a:defRPr sz="1900">
                <a:solidFill>
                  <a:srgbClr val="008400"/>
                </a:solidFill>
                <a:latin typeface="Menlo"/>
                <a:ea typeface="Menlo"/>
                <a:cs typeface="Menlo"/>
                <a:sym typeface="Menlo"/>
              </a:defRPr>
            </a:pPr>
            <a:r>
              <a:rPr lang="af-ZA" altLang="zh-CN" sz="2000">
                <a:solidFill>
                  <a:srgbClr val="BA2DA2"/>
                </a:solidFill>
                <a:latin typeface="Consolas" panose="020B0609020204030204" pitchFamily="49" charset="0"/>
              </a:rPr>
              <a:t>for</a:t>
            </a:r>
            <a:r>
              <a:rPr lang="af-ZA" altLang="zh-CN" sz="2000">
                <a:latin typeface="Consolas" panose="020B0609020204030204" pitchFamily="49" charset="0"/>
              </a:rPr>
              <a:t> (</a:t>
            </a:r>
            <a:r>
              <a:rPr lang="af-ZA" altLang="zh-CN" sz="2000">
                <a:solidFill>
                  <a:srgbClr val="BA2DA2"/>
                </a:solidFill>
                <a:latin typeface="Consolas" panose="020B0609020204030204" pitchFamily="49" charset="0"/>
              </a:rPr>
              <a:t>int</a:t>
            </a:r>
            <a:r>
              <a:rPr lang="af-ZA" altLang="zh-CN" sz="2000">
                <a:latin typeface="Consolas" panose="020B0609020204030204" pitchFamily="49" charset="0"/>
              </a:rPr>
              <a:t> k=</a:t>
            </a:r>
            <a:r>
              <a:rPr lang="af-ZA" altLang="zh-CN" sz="2000">
                <a:solidFill>
                  <a:srgbClr val="272AD8"/>
                </a:solidFill>
                <a:latin typeface="Consolas" panose="020B0609020204030204" pitchFamily="49" charset="0"/>
              </a:rPr>
              <a:t>0</a:t>
            </a:r>
            <a:r>
              <a:rPr lang="af-ZA" altLang="zh-CN" sz="2000">
                <a:latin typeface="Consolas" panose="020B0609020204030204" pitchFamily="49" charset="0"/>
              </a:rPr>
              <a:t>; k&lt;</a:t>
            </a:r>
            <a:r>
              <a:rPr lang="af-ZA" altLang="zh-CN" sz="2000">
                <a:solidFill>
                  <a:srgbClr val="272AD8"/>
                </a:solidFill>
                <a:latin typeface="Consolas" panose="020B0609020204030204" pitchFamily="49" charset="0"/>
              </a:rPr>
              <a:t>4</a:t>
            </a:r>
            <a:r>
              <a:rPr lang="af-ZA" altLang="zh-CN" sz="2000">
                <a:latin typeface="Consolas" panose="020B0609020204030204" pitchFamily="49" charset="0"/>
              </a:rPr>
              <a:t>; k++) </a:t>
            </a:r>
          </a:p>
          <a:p>
            <a:pPr lvl="2" algn="l" defTabSz="439419">
              <a:lnSpc>
                <a:spcPct val="150000"/>
              </a:lnSpc>
              <a:tabLst>
                <a:tab pos="431800" algn="l"/>
              </a:tabLst>
              <a:defRPr sz="1900">
                <a:solidFill>
                  <a:srgbClr val="008400"/>
                </a:solidFill>
                <a:latin typeface="Menlo"/>
                <a:ea typeface="Menlo"/>
                <a:cs typeface="Menlo"/>
                <a:sym typeface="Menlo"/>
              </a:defRPr>
            </a:pPr>
            <a:r>
              <a:rPr lang="af-ZA" altLang="zh-CN" sz="2000">
                <a:solidFill>
                  <a:schemeClr val="tx1"/>
                </a:solidFill>
                <a:latin typeface="Consolas" panose="020B0609020204030204" pitchFamily="49" charset="0"/>
              </a:rPr>
              <a:t>{</a:t>
            </a:r>
          </a:p>
          <a:p>
            <a:pPr lvl="2" algn="l" defTabSz="439419">
              <a:lnSpc>
                <a:spcPct val="150000"/>
              </a:lnSpc>
              <a:tabLst>
                <a:tab pos="431800" algn="l"/>
              </a:tabLst>
              <a:defRPr sz="1900">
                <a:solidFill>
                  <a:srgbClr val="008400"/>
                </a:solidFill>
                <a:latin typeface="Menlo"/>
                <a:ea typeface="Menlo"/>
                <a:cs typeface="Menlo"/>
                <a:sym typeface="Menlo"/>
              </a:defRPr>
            </a:pPr>
            <a:r>
              <a:rPr lang="af-ZA" altLang="zh-CN" sz="2000">
                <a:solidFill>
                  <a:srgbClr val="BA2DA2"/>
                </a:solidFill>
                <a:latin typeface="Consolas" panose="020B0609020204030204" pitchFamily="49" charset="0"/>
              </a:rPr>
              <a:t>	</a:t>
            </a:r>
            <a:r>
              <a:rPr sz="2000">
                <a:solidFill>
                  <a:srgbClr val="BA2DA2"/>
                </a:solidFill>
                <a:latin typeface="Consolas" panose="020B0609020204030204" pitchFamily="49" charset="0"/>
              </a:rPr>
              <a:t>char</a:t>
            </a:r>
            <a:r>
              <a:rPr sz="2000">
                <a:latin typeface="Consolas" panose="020B0609020204030204" pitchFamily="49" charset="0"/>
              </a:rPr>
              <a:t> </a:t>
            </a:r>
            <a:r>
              <a:rPr sz="2000" err="1">
                <a:latin typeface="Consolas" panose="020B0609020204030204" pitchFamily="49" charset="0"/>
              </a:rPr>
              <a:t>thisman</a:t>
            </a:r>
            <a:r>
              <a:rPr sz="2000">
                <a:latin typeface="Consolas" panose="020B0609020204030204" pitchFamily="49" charset="0"/>
              </a:rPr>
              <a:t> = </a:t>
            </a:r>
            <a:r>
              <a:rPr sz="2000">
                <a:solidFill>
                  <a:srgbClr val="272AD8"/>
                </a:solidFill>
                <a:latin typeface="Consolas" panose="020B0609020204030204" pitchFamily="49" charset="0"/>
              </a:rPr>
              <a:t>'A'</a:t>
            </a:r>
            <a:r>
              <a:rPr sz="2000">
                <a:latin typeface="Consolas" panose="020B0609020204030204" pitchFamily="49" charset="0"/>
              </a:rPr>
              <a:t> + k;</a:t>
            </a:r>
            <a:endParaRPr sz="2000">
              <a:latin typeface="Consolas" panose="020B0609020204030204" pitchFamily="49" charset="0"/>
              <a:ea typeface="Helvetica"/>
              <a:cs typeface="Helvetica"/>
              <a:sym typeface="Helvetica"/>
            </a:endParaRPr>
          </a:p>
          <a:p>
            <a:pPr algn="l" defTabSz="439419">
              <a:lnSpc>
                <a:spcPct val="150000"/>
              </a:lnSpc>
              <a:tabLst>
                <a:tab pos="431800" algn="l"/>
              </a:tabLst>
              <a:defRPr sz="1900">
                <a:latin typeface="Menlo"/>
                <a:ea typeface="Menlo"/>
                <a:cs typeface="Menlo"/>
                <a:sym typeface="Menlo"/>
              </a:defRPr>
            </a:pPr>
            <a:r>
              <a:rPr lang="en-US" altLang="zh-CN" sz="2000">
                <a:solidFill>
                  <a:srgbClr val="BA2DA2"/>
                </a:solidFill>
                <a:latin typeface="Consolas" panose="020B0609020204030204" pitchFamily="49" charset="0"/>
              </a:rPr>
              <a:t>			</a:t>
            </a:r>
            <a:r>
              <a:rPr sz="2000">
                <a:solidFill>
                  <a:srgbClr val="BA2DA2"/>
                </a:solidFill>
                <a:latin typeface="Consolas" panose="020B0609020204030204" pitchFamily="49" charset="0"/>
              </a:rPr>
              <a:t>int</a:t>
            </a:r>
            <a:r>
              <a:rPr sz="2000">
                <a:latin typeface="Consolas" panose="020B0609020204030204" pitchFamily="49" charset="0"/>
              </a:rPr>
              <a:t> sum = ( </a:t>
            </a:r>
            <a:r>
              <a:rPr sz="2000" err="1">
                <a:latin typeface="Consolas" panose="020B0609020204030204" pitchFamily="49" charset="0"/>
              </a:rPr>
              <a:t>thisman</a:t>
            </a:r>
            <a:r>
              <a:rPr sz="2000">
                <a:latin typeface="Consolas" panose="020B0609020204030204" pitchFamily="49" charset="0"/>
              </a:rPr>
              <a:t>!=</a:t>
            </a:r>
            <a:r>
              <a:rPr sz="2000">
                <a:solidFill>
                  <a:srgbClr val="272AD8"/>
                </a:solidFill>
                <a:latin typeface="Consolas" panose="020B0609020204030204" pitchFamily="49" charset="0"/>
              </a:rPr>
              <a:t>'A'</a:t>
            </a:r>
            <a:r>
              <a:rPr sz="2000">
                <a:latin typeface="Consolas" panose="020B0609020204030204" pitchFamily="49" charset="0"/>
              </a:rPr>
              <a:t> ) + ( </a:t>
            </a:r>
            <a:r>
              <a:rPr sz="2000" err="1">
                <a:latin typeface="Consolas" panose="020B0609020204030204" pitchFamily="49" charset="0"/>
              </a:rPr>
              <a:t>thisman</a:t>
            </a:r>
            <a:r>
              <a:rPr sz="2000">
                <a:latin typeface="Consolas" panose="020B0609020204030204" pitchFamily="49" charset="0"/>
              </a:rPr>
              <a:t>==</a:t>
            </a:r>
            <a:r>
              <a:rPr sz="2000">
                <a:solidFill>
                  <a:srgbClr val="272AD8"/>
                </a:solidFill>
                <a:latin typeface="Consolas" panose="020B0609020204030204" pitchFamily="49" charset="0"/>
              </a:rPr>
              <a:t>'C'</a:t>
            </a:r>
            <a:r>
              <a:rPr sz="2000">
                <a:latin typeface="Consolas" panose="020B0609020204030204" pitchFamily="49" charset="0"/>
              </a:rPr>
              <a:t> )</a:t>
            </a:r>
            <a:endParaRPr sz="2000">
              <a:latin typeface="Consolas" panose="020B0609020204030204" pitchFamily="49" charset="0"/>
              <a:ea typeface="Helvetica"/>
              <a:cs typeface="Helvetica"/>
              <a:sym typeface="Helvetica"/>
            </a:endParaRPr>
          </a:p>
          <a:p>
            <a:pPr algn="l" defTabSz="439419">
              <a:lnSpc>
                <a:spcPct val="150000"/>
              </a:lnSpc>
              <a:tabLst>
                <a:tab pos="431800" algn="l"/>
              </a:tabLst>
              <a:defRPr sz="1900">
                <a:latin typeface="Menlo"/>
                <a:ea typeface="Menlo"/>
                <a:cs typeface="Menlo"/>
                <a:sym typeface="Menlo"/>
              </a:defRPr>
            </a:pPr>
            <a:r>
              <a:rPr lang="en-US" altLang="zh-CN" sz="2000">
                <a:latin typeface="Consolas" panose="020B0609020204030204" pitchFamily="49" charset="0"/>
              </a:rPr>
              <a:t>					 </a:t>
            </a:r>
            <a:r>
              <a:rPr sz="2000">
                <a:latin typeface="Consolas" panose="020B0609020204030204" pitchFamily="49" charset="0"/>
              </a:rPr>
              <a:t>+ ( </a:t>
            </a:r>
            <a:r>
              <a:rPr sz="2000" err="1">
                <a:latin typeface="Consolas" panose="020B0609020204030204" pitchFamily="49" charset="0"/>
              </a:rPr>
              <a:t>thisman</a:t>
            </a:r>
            <a:r>
              <a:rPr sz="2000">
                <a:latin typeface="Consolas" panose="020B0609020204030204" pitchFamily="49" charset="0"/>
              </a:rPr>
              <a:t>==</a:t>
            </a:r>
            <a:r>
              <a:rPr sz="2000">
                <a:solidFill>
                  <a:srgbClr val="272AD8"/>
                </a:solidFill>
                <a:latin typeface="Consolas" panose="020B0609020204030204" pitchFamily="49" charset="0"/>
              </a:rPr>
              <a:t>'D'</a:t>
            </a:r>
            <a:r>
              <a:rPr sz="2000">
                <a:latin typeface="Consolas" panose="020B0609020204030204" pitchFamily="49" charset="0"/>
              </a:rPr>
              <a:t> ) + ( </a:t>
            </a:r>
            <a:r>
              <a:rPr sz="2000" err="1">
                <a:latin typeface="Consolas" panose="020B0609020204030204" pitchFamily="49" charset="0"/>
              </a:rPr>
              <a:t>thisman</a:t>
            </a:r>
            <a:r>
              <a:rPr sz="2000">
                <a:latin typeface="Consolas" panose="020B0609020204030204" pitchFamily="49" charset="0"/>
              </a:rPr>
              <a:t>!=</a:t>
            </a:r>
            <a:r>
              <a:rPr sz="2000">
                <a:solidFill>
                  <a:srgbClr val="272AD8"/>
                </a:solidFill>
                <a:latin typeface="Consolas" panose="020B0609020204030204" pitchFamily="49" charset="0"/>
              </a:rPr>
              <a:t>'D'</a:t>
            </a:r>
            <a:r>
              <a:rPr sz="2000">
                <a:latin typeface="Consolas" panose="020B0609020204030204" pitchFamily="49" charset="0"/>
              </a:rPr>
              <a:t> );</a:t>
            </a:r>
            <a:r>
              <a:rPr lang="en-US" altLang="zh-CN" sz="2000">
                <a:latin typeface="Consolas" panose="020B0609020204030204" pitchFamily="49" charset="0"/>
              </a:rPr>
              <a:t>  </a:t>
            </a:r>
            <a:r>
              <a:rPr lang="en-US" altLang="zh-CN" sz="2000">
                <a:solidFill>
                  <a:srgbClr val="00B050"/>
                </a:solidFill>
                <a:latin typeface="Consolas" panose="020B0609020204030204" pitchFamily="49" charset="0"/>
              </a:rPr>
              <a:t>//// </a:t>
            </a:r>
            <a:r>
              <a:rPr lang="zh-CN" altLang="en-US" sz="2000">
                <a:solidFill>
                  <a:srgbClr val="00B050"/>
                </a:solidFill>
                <a:latin typeface="Consolas" panose="020B0609020204030204" pitchFamily="49" charset="0"/>
              </a:rPr>
              <a:t>变量含义为“真话数量”</a:t>
            </a:r>
            <a:endParaRPr sz="2000">
              <a:solidFill>
                <a:srgbClr val="00B050"/>
              </a:solidFill>
              <a:latin typeface="Consolas" panose="020B0609020204030204" pitchFamily="49" charset="0"/>
              <a:ea typeface="Helvetica"/>
              <a:cs typeface="Helvetica"/>
              <a:sym typeface="Helvetica"/>
            </a:endParaRPr>
          </a:p>
          <a:p>
            <a:pPr algn="l" defTabSz="439419">
              <a:lnSpc>
                <a:spcPct val="150000"/>
              </a:lnSpc>
              <a:tabLst>
                <a:tab pos="431800" algn="l"/>
              </a:tabLst>
              <a:defRPr sz="1900">
                <a:latin typeface="Menlo"/>
                <a:ea typeface="Menlo"/>
                <a:cs typeface="Menlo"/>
                <a:sym typeface="Menlo"/>
              </a:defRPr>
            </a:pPr>
            <a:r>
              <a:rPr lang="en-US" altLang="zh-CN" sz="2000">
                <a:solidFill>
                  <a:srgbClr val="BA2DA2"/>
                </a:solidFill>
                <a:latin typeface="Consolas" panose="020B0609020204030204" pitchFamily="49" charset="0"/>
              </a:rPr>
              <a:t>			</a:t>
            </a:r>
            <a:r>
              <a:rPr sz="2000">
                <a:solidFill>
                  <a:srgbClr val="BA2DA2"/>
                </a:solidFill>
                <a:latin typeface="Consolas" panose="020B0609020204030204" pitchFamily="49" charset="0"/>
              </a:rPr>
              <a:t>if</a:t>
            </a:r>
            <a:r>
              <a:rPr sz="2000">
                <a:latin typeface="Consolas" panose="020B0609020204030204" pitchFamily="49" charset="0"/>
              </a:rPr>
              <a:t> (sum == </a:t>
            </a:r>
            <a:r>
              <a:rPr sz="2000">
                <a:solidFill>
                  <a:srgbClr val="272AD8"/>
                </a:solidFill>
                <a:latin typeface="Consolas" panose="020B0609020204030204" pitchFamily="49" charset="0"/>
              </a:rPr>
              <a:t>3</a:t>
            </a:r>
            <a:r>
              <a:rPr sz="2000">
                <a:latin typeface="Consolas" panose="020B0609020204030204" pitchFamily="49" charset="0"/>
              </a:rPr>
              <a:t>)</a:t>
            </a:r>
            <a:r>
              <a:rPr lang="en-US" altLang="zh-CN" sz="2000">
                <a:solidFill>
                  <a:srgbClr val="00B050"/>
                </a:solidFill>
                <a:latin typeface="Consolas" panose="020B0609020204030204" pitchFamily="49" charset="0"/>
              </a:rPr>
              <a:t> // </a:t>
            </a:r>
            <a:r>
              <a:rPr lang="zh-CN" altLang="en-US" sz="2000">
                <a:solidFill>
                  <a:srgbClr val="00B050"/>
                </a:solidFill>
                <a:latin typeface="Consolas" panose="020B0609020204030204" pitchFamily="49" charset="0"/>
              </a:rPr>
              <a:t>判断真话数量是否为</a:t>
            </a:r>
            <a:r>
              <a:rPr lang="en-US" altLang="zh-CN" sz="2000">
                <a:solidFill>
                  <a:srgbClr val="00B050"/>
                </a:solidFill>
                <a:latin typeface="Consolas" panose="020B0609020204030204" pitchFamily="49" charset="0"/>
              </a:rPr>
              <a:t>3</a:t>
            </a:r>
            <a:r>
              <a:rPr lang="zh-CN" altLang="en-US" sz="2000">
                <a:solidFill>
                  <a:srgbClr val="00B050"/>
                </a:solidFill>
                <a:latin typeface="Consolas" panose="020B0609020204030204" pitchFamily="49" charset="0"/>
              </a:rPr>
              <a:t>（即是否有</a:t>
            </a:r>
            <a:r>
              <a:rPr lang="en-US" altLang="zh-CN" sz="2000">
                <a:solidFill>
                  <a:srgbClr val="00B050"/>
                </a:solidFill>
                <a:latin typeface="Consolas" panose="020B0609020204030204" pitchFamily="49" charset="0"/>
              </a:rPr>
              <a:t>3</a:t>
            </a:r>
            <a:r>
              <a:rPr lang="zh-CN" altLang="en-US" sz="2000">
                <a:solidFill>
                  <a:srgbClr val="00B050"/>
                </a:solidFill>
                <a:latin typeface="Consolas" panose="020B0609020204030204" pitchFamily="49" charset="0"/>
              </a:rPr>
              <a:t>句是真</a:t>
            </a:r>
            <a:r>
              <a:rPr lang="en-US" altLang="zh-CN" sz="2000">
                <a:solidFill>
                  <a:srgbClr val="00B050"/>
                </a:solidFill>
                <a:latin typeface="Consolas" panose="020B0609020204030204" pitchFamily="49" charset="0"/>
              </a:rPr>
              <a:t>)?</a:t>
            </a:r>
            <a:endParaRPr sz="2000">
              <a:solidFill>
                <a:srgbClr val="00B050"/>
              </a:solidFill>
              <a:latin typeface="Consolas" panose="020B0609020204030204" pitchFamily="49" charset="0"/>
              <a:ea typeface="Helvetica"/>
              <a:cs typeface="Helvetica"/>
              <a:sym typeface="Helvetica"/>
            </a:endParaRPr>
          </a:p>
          <a:p>
            <a:pPr algn="l" defTabSz="439419">
              <a:lnSpc>
                <a:spcPct val="150000"/>
              </a:lnSpc>
              <a:tabLst>
                <a:tab pos="431800" algn="l"/>
              </a:tabLst>
              <a:defRPr sz="1900">
                <a:solidFill>
                  <a:srgbClr val="008400"/>
                </a:solidFill>
                <a:latin typeface="Menlo"/>
                <a:ea typeface="Menlo"/>
                <a:cs typeface="Menlo"/>
                <a:sym typeface="Menlo"/>
              </a:defRPr>
            </a:pPr>
            <a:r>
              <a:rPr lang="en-US" altLang="zh-CN" sz="2000">
                <a:latin typeface="Consolas" panose="020B0609020204030204" pitchFamily="49" charset="0"/>
              </a:rPr>
              <a:t>			</a:t>
            </a:r>
            <a:r>
              <a:rPr sz="2000">
                <a:solidFill>
                  <a:srgbClr val="000000"/>
                </a:solidFill>
                <a:latin typeface="Consolas" panose="020B0609020204030204" pitchFamily="49" charset="0"/>
              </a:rPr>
              <a:t>{   </a:t>
            </a:r>
            <a:r>
              <a:rPr sz="2000">
                <a:latin typeface="Consolas" panose="020B0609020204030204" pitchFamily="49" charset="0"/>
              </a:rPr>
              <a:t>// </a:t>
            </a:r>
            <a:r>
              <a:rPr sz="2000" err="1">
                <a:latin typeface="Consolas" panose="020B0609020204030204" pitchFamily="49" charset="0"/>
              </a:rPr>
              <a:t>如果</a:t>
            </a:r>
            <a:r>
              <a:rPr lang="zh-CN" altLang="en-US" sz="2000">
                <a:latin typeface="Consolas" panose="020B0609020204030204" pitchFamily="49" charset="0"/>
              </a:rPr>
              <a:t>是</a:t>
            </a:r>
            <a:r>
              <a:rPr sz="2000">
                <a:latin typeface="Consolas" panose="020B0609020204030204" pitchFamily="49" charset="0"/>
              </a:rPr>
              <a:t>，</a:t>
            </a:r>
            <a:r>
              <a:rPr sz="2000" err="1">
                <a:latin typeface="Consolas" panose="020B0609020204030204" pitchFamily="49" charset="0"/>
              </a:rPr>
              <a:t>则输出当前可能性所假定的人为做好事者</a:t>
            </a:r>
            <a:endParaRPr sz="2000">
              <a:solidFill>
                <a:srgbClr val="000000"/>
              </a:solidFill>
              <a:latin typeface="Consolas" panose="020B0609020204030204" pitchFamily="49" charset="0"/>
              <a:ea typeface="Helvetica"/>
              <a:cs typeface="Helvetica"/>
              <a:sym typeface="Helvetica"/>
            </a:endParaRPr>
          </a:p>
          <a:p>
            <a:pPr algn="l" defTabSz="439419">
              <a:lnSpc>
                <a:spcPct val="150000"/>
              </a:lnSpc>
              <a:tabLst>
                <a:tab pos="431800" algn="l"/>
              </a:tabLst>
              <a:defRPr sz="1900">
                <a:latin typeface="Menlo"/>
                <a:ea typeface="Menlo"/>
                <a:cs typeface="Menlo"/>
                <a:sym typeface="Menlo"/>
              </a:defRPr>
            </a:pPr>
            <a:r>
              <a:rPr lang="en-US" altLang="zh-CN" sz="2000">
                <a:solidFill>
                  <a:srgbClr val="703DAA"/>
                </a:solidFill>
                <a:latin typeface="Consolas" panose="020B0609020204030204" pitchFamily="49" charset="0"/>
              </a:rPr>
              <a:t>				</a:t>
            </a:r>
            <a:r>
              <a:rPr sz="2000" err="1">
                <a:solidFill>
                  <a:srgbClr val="703DAA"/>
                </a:solidFill>
                <a:latin typeface="Consolas" panose="020B0609020204030204" pitchFamily="49" charset="0"/>
              </a:rPr>
              <a:t>cout</a:t>
            </a:r>
            <a:r>
              <a:rPr sz="2000">
                <a:latin typeface="Consolas" panose="020B0609020204030204" pitchFamily="49" charset="0"/>
              </a:rPr>
              <a:t> &lt;&lt; </a:t>
            </a:r>
            <a:r>
              <a:rPr sz="2000">
                <a:solidFill>
                  <a:srgbClr val="D12F1B"/>
                </a:solidFill>
                <a:latin typeface="Consolas" panose="020B0609020204030204" pitchFamily="49" charset="0"/>
              </a:rPr>
              <a:t>"</a:t>
            </a:r>
            <a:r>
              <a:rPr sz="2000" err="1">
                <a:solidFill>
                  <a:srgbClr val="D12F1B"/>
                </a:solidFill>
                <a:latin typeface="Consolas" panose="020B0609020204030204" pitchFamily="49" charset="0"/>
              </a:rPr>
              <a:t>做好事者为</a:t>
            </a:r>
            <a:r>
              <a:rPr sz="2000">
                <a:solidFill>
                  <a:srgbClr val="D12F1B"/>
                </a:solidFill>
                <a:latin typeface="Consolas" panose="020B0609020204030204" pitchFamily="49" charset="0"/>
              </a:rPr>
              <a:t>"</a:t>
            </a:r>
            <a:r>
              <a:rPr sz="2000">
                <a:latin typeface="Consolas" panose="020B0609020204030204" pitchFamily="49" charset="0"/>
              </a:rPr>
              <a:t> &lt;&lt; </a:t>
            </a:r>
            <a:r>
              <a:rPr sz="2000" err="1">
                <a:solidFill>
                  <a:srgbClr val="BA2DA2"/>
                </a:solidFill>
                <a:latin typeface="Consolas" panose="020B0609020204030204" pitchFamily="49" charset="0"/>
              </a:rPr>
              <a:t>thisman</a:t>
            </a:r>
            <a:r>
              <a:rPr sz="2000">
                <a:latin typeface="Consolas" panose="020B0609020204030204" pitchFamily="49" charset="0"/>
              </a:rPr>
              <a:t> &lt;&lt; </a:t>
            </a:r>
            <a:r>
              <a:rPr sz="2000" err="1">
                <a:latin typeface="Consolas" panose="020B0609020204030204" pitchFamily="49" charset="0"/>
              </a:rPr>
              <a:t>endl</a:t>
            </a:r>
            <a:r>
              <a:rPr sz="2000">
                <a:latin typeface="Consolas" panose="020B0609020204030204" pitchFamily="49" charset="0"/>
              </a:rPr>
              <a:t>;</a:t>
            </a:r>
            <a:endParaRPr lang="en-US" altLang="zh-CN" sz="2000">
              <a:latin typeface="Consolas" panose="020B0609020204030204" pitchFamily="49" charset="0"/>
            </a:endParaRPr>
          </a:p>
          <a:p>
            <a:pPr algn="l" defTabSz="439419">
              <a:lnSpc>
                <a:spcPct val="150000"/>
              </a:lnSpc>
              <a:tabLst>
                <a:tab pos="431800" algn="l"/>
              </a:tabLst>
              <a:defRPr sz="1900">
                <a:latin typeface="Menlo"/>
                <a:ea typeface="Menlo"/>
                <a:cs typeface="Menlo"/>
                <a:sym typeface="Menlo"/>
              </a:defRPr>
            </a:pPr>
            <a:r>
              <a:rPr lang="en-US" altLang="zh-CN" sz="2000">
                <a:solidFill>
                  <a:srgbClr val="000000"/>
                </a:solidFill>
                <a:latin typeface="Consolas" panose="020B0609020204030204" pitchFamily="49" charset="0"/>
                <a:ea typeface="Helvetica"/>
                <a:cs typeface="Helvetica"/>
                <a:sym typeface="Helvetica"/>
              </a:rPr>
              <a:t>				</a:t>
            </a:r>
            <a:r>
              <a:rPr lang="en-US" altLang="zh-CN" sz="2000">
                <a:solidFill>
                  <a:srgbClr val="000000"/>
                </a:solidFill>
                <a:highlight>
                  <a:srgbClr val="FFFF00"/>
                </a:highlight>
                <a:latin typeface="Consolas" panose="020B0609020204030204" pitchFamily="49" charset="0"/>
                <a:ea typeface="Helvetica"/>
                <a:cs typeface="Helvetica"/>
                <a:sym typeface="Helvetica"/>
              </a:rPr>
              <a:t>break;</a:t>
            </a:r>
            <a:endParaRPr sz="2000">
              <a:solidFill>
                <a:srgbClr val="000000"/>
              </a:solidFill>
              <a:highlight>
                <a:srgbClr val="FFFF00"/>
              </a:highlight>
              <a:latin typeface="Consolas" panose="020B0609020204030204" pitchFamily="49" charset="0"/>
              <a:ea typeface="Helvetica"/>
              <a:cs typeface="Helvetica"/>
              <a:sym typeface="Helvetica"/>
            </a:endParaRPr>
          </a:p>
          <a:p>
            <a:pPr algn="l" defTabSz="439419">
              <a:lnSpc>
                <a:spcPct val="150000"/>
              </a:lnSpc>
              <a:tabLst>
                <a:tab pos="431800" algn="l"/>
              </a:tabLst>
              <a:defRPr sz="1900">
                <a:latin typeface="Menlo"/>
                <a:ea typeface="Menlo"/>
                <a:cs typeface="Menlo"/>
                <a:sym typeface="Menlo"/>
              </a:defRPr>
            </a:pPr>
            <a:r>
              <a:rPr lang="en-US" altLang="zh-CN" sz="2000">
                <a:latin typeface="Consolas" panose="020B0609020204030204" pitchFamily="49" charset="0"/>
              </a:rPr>
              <a:t>			</a:t>
            </a:r>
            <a:r>
              <a:rPr sz="2000">
                <a:latin typeface="Consolas" panose="020B0609020204030204" pitchFamily="49" charset="0"/>
              </a:rPr>
              <a:t>}</a:t>
            </a:r>
            <a:endParaRPr lang="en-US" altLang="zh-CN" sz="2000">
              <a:latin typeface="Consolas" panose="020B0609020204030204" pitchFamily="49" charset="0"/>
            </a:endParaRPr>
          </a:p>
          <a:p>
            <a:pPr algn="l" defTabSz="439419">
              <a:lnSpc>
                <a:spcPct val="150000"/>
              </a:lnSpc>
              <a:tabLst>
                <a:tab pos="431800" algn="l"/>
              </a:tabLst>
              <a:defRPr sz="1900">
                <a:latin typeface="Menlo"/>
                <a:ea typeface="Menlo"/>
                <a:cs typeface="Menlo"/>
                <a:sym typeface="Menlo"/>
              </a:defRPr>
            </a:pPr>
            <a:r>
              <a:rPr lang="en-US" altLang="zh-CN" sz="2000">
                <a:latin typeface="Consolas" panose="020B0609020204030204" pitchFamily="49" charset="0"/>
              </a:rPr>
              <a:t>	}</a:t>
            </a:r>
          </a:p>
        </p:txBody>
      </p:sp>
      <p:sp>
        <p:nvSpPr>
          <p:cNvPr id="2" name="文本框 1">
            <a:extLst>
              <a:ext uri="{FF2B5EF4-FFF2-40B4-BE49-F238E27FC236}">
                <a16:creationId xmlns:a16="http://schemas.microsoft.com/office/drawing/2014/main" id="{F623A873-6392-4BC5-88C2-353201C875BF}"/>
              </a:ext>
            </a:extLst>
          </p:cNvPr>
          <p:cNvSpPr txBox="1"/>
          <p:nvPr/>
        </p:nvSpPr>
        <p:spPr>
          <a:xfrm>
            <a:off x="3256016" y="8262922"/>
            <a:ext cx="71830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a:solidFill>
                  <a:schemeClr val="tx1"/>
                </a:solidFill>
              </a:defRPr>
            </a:lvl1pPr>
          </a:lstStyle>
          <a:p>
            <a:r>
              <a:rPr lang="zh-CN" altLang="en-US" dirty="0"/>
              <a:t>使用“</a:t>
            </a:r>
            <a:r>
              <a:rPr lang="en-US" altLang="zh-CN" dirty="0">
                <a:highlight>
                  <a:srgbClr val="FFFF00"/>
                </a:highlight>
              </a:rPr>
              <a:t>break</a:t>
            </a:r>
            <a:r>
              <a:rPr lang="zh-CN" altLang="en-US" dirty="0">
                <a:highlight>
                  <a:srgbClr val="FFFF00"/>
                </a:highlight>
              </a:rPr>
              <a:t>语句</a:t>
            </a:r>
            <a:r>
              <a:rPr lang="zh-CN" altLang="en-US" dirty="0"/>
              <a:t>”，</a:t>
            </a:r>
            <a:r>
              <a:rPr lang="zh-CN" altLang="en-US" dirty="0">
                <a:solidFill>
                  <a:srgbClr val="FF0000"/>
                </a:solidFill>
              </a:rPr>
              <a:t>立即中止</a:t>
            </a:r>
            <a:r>
              <a:rPr lang="zh-CN" altLang="en-US" dirty="0"/>
              <a:t>当前循环，</a:t>
            </a:r>
            <a:r>
              <a:rPr lang="zh-CN" altLang="en-US" dirty="0">
                <a:solidFill>
                  <a:srgbClr val="FF0000"/>
                </a:solidFill>
              </a:rPr>
              <a:t>结束</a:t>
            </a:r>
            <a:r>
              <a:rPr lang="en-US" altLang="zh-CN" dirty="0"/>
              <a:t>for</a:t>
            </a:r>
            <a:r>
              <a:rPr lang="zh-CN" altLang="en-US" dirty="0"/>
              <a:t>语句</a:t>
            </a:r>
          </a:p>
        </p:txBody>
      </p:sp>
      <p:cxnSp>
        <p:nvCxnSpPr>
          <p:cNvPr id="4" name="直接箭头连接符 3">
            <a:extLst>
              <a:ext uri="{FF2B5EF4-FFF2-40B4-BE49-F238E27FC236}">
                <a16:creationId xmlns:a16="http://schemas.microsoft.com/office/drawing/2014/main" id="{418AFA89-3534-4606-8318-FAB2C37DFFE3}"/>
              </a:ext>
            </a:extLst>
          </p:cNvPr>
          <p:cNvCxnSpPr/>
          <p:nvPr/>
        </p:nvCxnSpPr>
        <p:spPr>
          <a:xfrm>
            <a:off x="1187757" y="8739473"/>
            <a:ext cx="479322" cy="392714"/>
          </a:xfrm>
          <a:prstGeom prst="straightConnector1">
            <a:avLst/>
          </a:prstGeom>
          <a:noFill/>
          <a:ln w="25400" cap="flat">
            <a:solidFill>
              <a:schemeClr val="tx1"/>
            </a:solidFill>
            <a:prstDash val="solid"/>
            <a:miter lim="400000"/>
            <a:headEnd type="arrow" w="med" len="med"/>
            <a:tailEnd type="none" w="med" len="med"/>
          </a:ln>
          <a:effectLst/>
          <a:sp3d/>
        </p:spPr>
        <p:style>
          <a:lnRef idx="0">
            <a:scrgbClr r="0" g="0" b="0"/>
          </a:lnRef>
          <a:fillRef idx="0">
            <a:scrgbClr r="0" g="0" b="0"/>
          </a:fillRef>
          <a:effectRef idx="0">
            <a:scrgbClr r="0" g="0" b="0"/>
          </a:effectRef>
          <a:fontRef idx="none"/>
        </p:style>
      </p:cxnSp>
      <p:sp>
        <p:nvSpPr>
          <p:cNvPr id="6" name="文本框 5">
            <a:extLst>
              <a:ext uri="{FF2B5EF4-FFF2-40B4-BE49-F238E27FC236}">
                <a16:creationId xmlns:a16="http://schemas.microsoft.com/office/drawing/2014/main" id="{6B39B7BC-EDAD-4942-A40D-8A3ABFC2E37E}"/>
              </a:ext>
            </a:extLst>
          </p:cNvPr>
          <p:cNvSpPr txBox="1"/>
          <p:nvPr/>
        </p:nvSpPr>
        <p:spPr>
          <a:xfrm>
            <a:off x="1614541" y="9036069"/>
            <a:ext cx="3282951"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dirty="0">
                <a:ln>
                  <a:noFill/>
                </a:ln>
                <a:solidFill>
                  <a:schemeClr val="tx1"/>
                </a:solidFill>
                <a:effectLst/>
                <a:uFillTx/>
                <a:latin typeface="Helvetica Neue"/>
                <a:ea typeface="Helvetica Neue"/>
                <a:cs typeface="Helvetica Neue"/>
                <a:sym typeface="Helvetica Neue"/>
              </a:rPr>
              <a:t>这里是</a:t>
            </a:r>
            <a:r>
              <a:rPr kumimoji="0" lang="en-US" altLang="zh-CN" sz="2400" b="1" i="0" u="none" strike="noStrike" cap="none" spc="0" normalizeH="0" baseline="0" dirty="0">
                <a:ln>
                  <a:noFill/>
                </a:ln>
                <a:solidFill>
                  <a:schemeClr val="tx1"/>
                </a:solidFill>
                <a:effectLst/>
                <a:uFillTx/>
                <a:latin typeface="Helvetica Neue"/>
                <a:ea typeface="Helvetica Neue"/>
                <a:cs typeface="Helvetica Neue"/>
                <a:sym typeface="Helvetica Neue"/>
              </a:rPr>
              <a:t>for</a:t>
            </a:r>
            <a:r>
              <a:rPr kumimoji="0" lang="zh-CN" altLang="en-US" sz="2400" b="1" i="0" u="none" strike="noStrike" cap="none" spc="0" normalizeH="0" baseline="0" dirty="0">
                <a:ln>
                  <a:noFill/>
                </a:ln>
                <a:solidFill>
                  <a:schemeClr val="tx1"/>
                </a:solidFill>
                <a:effectLst/>
                <a:uFillTx/>
                <a:latin typeface="Helvetica Neue"/>
                <a:ea typeface="Helvetica Neue"/>
                <a:cs typeface="Helvetica Neue"/>
                <a:sym typeface="Helvetica Neue"/>
              </a:rPr>
              <a:t>语句的结束点</a:t>
            </a:r>
          </a:p>
        </p:txBody>
      </p:sp>
      <p:cxnSp>
        <p:nvCxnSpPr>
          <p:cNvPr id="3" name="直接箭头连接符 2">
            <a:extLst>
              <a:ext uri="{FF2B5EF4-FFF2-40B4-BE49-F238E27FC236}">
                <a16:creationId xmlns:a16="http://schemas.microsoft.com/office/drawing/2014/main" id="{5E119A75-686D-6EDD-71CF-74F966987DDF}"/>
              </a:ext>
            </a:extLst>
          </p:cNvPr>
          <p:cNvCxnSpPr/>
          <p:nvPr/>
        </p:nvCxnSpPr>
        <p:spPr>
          <a:xfrm>
            <a:off x="2829232" y="7936513"/>
            <a:ext cx="479322" cy="392714"/>
          </a:xfrm>
          <a:prstGeom prst="straightConnector1">
            <a:avLst/>
          </a:prstGeom>
          <a:noFill/>
          <a:ln w="25400" cap="flat">
            <a:solidFill>
              <a:schemeClr val="tx1"/>
            </a:solidFill>
            <a:prstDash val="solid"/>
            <a:miter lim="400000"/>
            <a:headEnd type="arrow" w="med" len="med"/>
            <a:tailEnd type="none" w="med" len="med"/>
          </a:ln>
          <a:effectLst/>
          <a:sp3d/>
        </p:spPr>
        <p:style>
          <a:lnRef idx="0">
            <a:scrgbClr r="0" g="0" b="0"/>
          </a:lnRef>
          <a:fillRef idx="0">
            <a:scrgbClr r="0" g="0" b="0"/>
          </a:fillRef>
          <a:effectRef idx="0">
            <a:scrgbClr r="0" g="0" b="0"/>
          </a:effectRef>
          <a:fontRef idx="none"/>
        </p:style>
      </p:cxnSp>
      <p:pic>
        <p:nvPicPr>
          <p:cNvPr id="7" name="图片 6">
            <a:extLst>
              <a:ext uri="{FF2B5EF4-FFF2-40B4-BE49-F238E27FC236}">
                <a16:creationId xmlns:a16="http://schemas.microsoft.com/office/drawing/2014/main" id="{43294C97-BEFF-D864-985D-08ECB54096B0}"/>
              </a:ext>
            </a:extLst>
          </p:cNvPr>
          <p:cNvPicPr>
            <a:picLocks noChangeAspect="1"/>
          </p:cNvPicPr>
          <p:nvPr/>
        </p:nvPicPr>
        <p:blipFill>
          <a:blip r:embed="rId2"/>
          <a:stretch>
            <a:fillRect/>
          </a:stretch>
        </p:blipFill>
        <p:spPr>
          <a:xfrm>
            <a:off x="10865857" y="6606102"/>
            <a:ext cx="1696575" cy="2730502"/>
          </a:xfrm>
          <a:prstGeom prst="rect">
            <a:avLst/>
          </a:prstGeom>
        </p:spPr>
      </p:pic>
      <p:sp>
        <p:nvSpPr>
          <p:cNvPr id="8" name="弧形 7">
            <a:extLst>
              <a:ext uri="{FF2B5EF4-FFF2-40B4-BE49-F238E27FC236}">
                <a16:creationId xmlns:a16="http://schemas.microsoft.com/office/drawing/2014/main" id="{F11AFE4A-5835-D396-766D-985FDB297FBD}"/>
              </a:ext>
            </a:extLst>
          </p:cNvPr>
          <p:cNvSpPr/>
          <p:nvPr/>
        </p:nvSpPr>
        <p:spPr>
          <a:xfrm rot="13704809">
            <a:off x="10896617" y="8082770"/>
            <a:ext cx="1411780" cy="1304151"/>
          </a:xfrm>
          <a:prstGeom prst="arc">
            <a:avLst/>
          </a:prstGeom>
          <a:noFill/>
          <a:ln w="25400" cap="flat">
            <a:solidFill>
              <a:srgbClr val="FF0000"/>
            </a:solidFill>
            <a:prstDash val="sysDash"/>
            <a:miter lim="400000"/>
            <a:headEnd type="triangle" w="med" len="med"/>
            <a:tailEnd type="none" w="med" len="me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2348687087"/>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50</a:t>
            </a:fld>
            <a:endParaRPr/>
          </a:p>
        </p:txBody>
      </p:sp>
      <p:sp>
        <p:nvSpPr>
          <p:cNvPr id="186" name="另一种实现思路"/>
          <p:cNvSpPr>
            <a:spLocks noGrp="1"/>
          </p:cNvSpPr>
          <p:nvPr>
            <p:ph type="title"/>
          </p:nvPr>
        </p:nvSpPr>
        <p:spPr>
          <a:xfrm>
            <a:off x="547201" y="354125"/>
            <a:ext cx="7759672" cy="1152045"/>
          </a:xfrm>
          <a:prstGeom prst="rect">
            <a:avLst/>
          </a:prstGeom>
        </p:spPr>
        <p:txBody>
          <a:bodyPr/>
          <a:lstStyle/>
          <a:p>
            <a:pPr algn="l"/>
            <a:r>
              <a:rPr lang="en-US" altLang="zh-CN" sz="4000" dirty="0">
                <a:solidFill>
                  <a:schemeClr val="bg1"/>
                </a:solidFill>
              </a:rPr>
              <a:t>【</a:t>
            </a:r>
            <a:r>
              <a:rPr lang="zh-CN" altLang="en-US" sz="4000" dirty="0">
                <a:solidFill>
                  <a:schemeClr val="bg1"/>
                </a:solidFill>
              </a:rPr>
              <a:t>任务</a:t>
            </a:r>
            <a:r>
              <a:rPr lang="en-US" altLang="zh-CN" sz="4000" dirty="0">
                <a:solidFill>
                  <a:schemeClr val="bg1"/>
                </a:solidFill>
              </a:rPr>
              <a:t>3.1】</a:t>
            </a:r>
            <a:r>
              <a:rPr lang="zh-CN" altLang="en-US" sz="4000" b="1" dirty="0">
                <a:solidFill>
                  <a:srgbClr val="FFFF00"/>
                </a:solidFill>
              </a:rPr>
              <a:t>方法</a:t>
            </a:r>
            <a:r>
              <a:rPr lang="en-US" altLang="zh-CN" sz="4000" b="1" dirty="0">
                <a:solidFill>
                  <a:srgbClr val="FFFF00"/>
                </a:solidFill>
              </a:rPr>
              <a:t>3</a:t>
            </a:r>
            <a:r>
              <a:rPr lang="zh-CN" altLang="en-US" sz="4000" b="1">
                <a:solidFill>
                  <a:srgbClr val="FFFF00"/>
                </a:solidFill>
              </a:rPr>
              <a:t>：</a:t>
            </a:r>
            <a:r>
              <a:rPr lang="zh-CN" altLang="en-US" sz="4000">
                <a:solidFill>
                  <a:schemeClr val="bg1"/>
                </a:solidFill>
              </a:rPr>
              <a:t>彻底“数字化”</a:t>
            </a:r>
            <a:endParaRPr sz="4000" dirty="0">
              <a:solidFill>
                <a:schemeClr val="bg1"/>
              </a:solidFill>
            </a:endParaRPr>
          </a:p>
        </p:txBody>
      </p:sp>
      <p:sp>
        <p:nvSpPr>
          <p:cNvPr id="187" name="数字 0 表示 A…"/>
          <p:cNvSpPr txBox="1"/>
          <p:nvPr/>
        </p:nvSpPr>
        <p:spPr>
          <a:xfrm>
            <a:off x="1198864" y="2334708"/>
            <a:ext cx="10607071" cy="66517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lnSpc>
                <a:spcPct val="130000"/>
              </a:lnSpc>
              <a:defRPr sz="3000" b="0"/>
            </a:pPr>
            <a:r>
              <a:rPr err="1"/>
              <a:t>数字</a:t>
            </a:r>
            <a:r>
              <a:t> 0 </a:t>
            </a:r>
            <a:r>
              <a:rPr lang="en-US" altLang="zh-CN"/>
              <a:t> </a:t>
            </a:r>
            <a:r>
              <a:rPr err="1"/>
              <a:t>表示</a:t>
            </a:r>
            <a:r>
              <a:t> A  </a:t>
            </a:r>
          </a:p>
          <a:p>
            <a:pPr algn="l">
              <a:lnSpc>
                <a:spcPct val="130000"/>
              </a:lnSpc>
              <a:defRPr sz="3000" b="0"/>
            </a:pPr>
            <a:r>
              <a:rPr err="1"/>
              <a:t>数字</a:t>
            </a:r>
            <a:r>
              <a:t> 1 </a:t>
            </a:r>
            <a:r>
              <a:rPr lang="en-US" altLang="zh-CN"/>
              <a:t> </a:t>
            </a:r>
            <a:r>
              <a:rPr err="1"/>
              <a:t>表示</a:t>
            </a:r>
            <a:r>
              <a:t> B</a:t>
            </a:r>
          </a:p>
          <a:p>
            <a:pPr algn="l">
              <a:lnSpc>
                <a:spcPct val="130000"/>
              </a:lnSpc>
              <a:defRPr sz="3000" b="0"/>
            </a:pPr>
            <a:r>
              <a:rPr err="1"/>
              <a:t>数字</a:t>
            </a:r>
            <a:r>
              <a:t> 2 </a:t>
            </a:r>
            <a:r>
              <a:rPr lang="en-US" altLang="zh-CN"/>
              <a:t> </a:t>
            </a:r>
            <a:r>
              <a:rPr err="1"/>
              <a:t>表示</a:t>
            </a:r>
            <a:r>
              <a:t> C</a:t>
            </a:r>
          </a:p>
          <a:p>
            <a:pPr algn="l">
              <a:lnSpc>
                <a:spcPct val="130000"/>
              </a:lnSpc>
              <a:defRPr sz="3000" b="0"/>
            </a:pPr>
            <a:r>
              <a:rPr err="1"/>
              <a:t>数字</a:t>
            </a:r>
            <a:r>
              <a:t> 3 </a:t>
            </a:r>
            <a:r>
              <a:rPr lang="en-US" altLang="zh-CN"/>
              <a:t> </a:t>
            </a:r>
            <a:r>
              <a:rPr err="1"/>
              <a:t>表示</a:t>
            </a:r>
            <a:r>
              <a:t> D</a:t>
            </a:r>
          </a:p>
          <a:p>
            <a:pPr algn="l">
              <a:lnSpc>
                <a:spcPct val="130000"/>
              </a:lnSpc>
              <a:defRPr sz="3000" b="0"/>
            </a:pPr>
            <a:endParaRPr/>
          </a:p>
          <a:p>
            <a:pPr algn="l">
              <a:lnSpc>
                <a:spcPct val="130000"/>
              </a:lnSpc>
              <a:defRPr sz="3000" b="0"/>
            </a:pPr>
            <a:r>
              <a:t>让</a:t>
            </a:r>
            <a:r>
              <a:rPr lang="en-US" altLang="zh-CN"/>
              <a:t> </a:t>
            </a:r>
            <a:r>
              <a:rPr lang="en-US" altLang="zh-CN">
                <a:solidFill>
                  <a:srgbClr val="FF0000"/>
                </a:solidFill>
                <a:latin typeface="Consolas" panose="020B0609020204030204" pitchFamily="49" charset="0"/>
              </a:rPr>
              <a:t>int</a:t>
            </a:r>
            <a:r>
              <a:rPr>
                <a:solidFill>
                  <a:srgbClr val="FF0000"/>
                </a:solidFill>
                <a:latin typeface="Consolas" panose="020B0609020204030204" pitchFamily="49" charset="0"/>
              </a:rPr>
              <a:t> </a:t>
            </a:r>
            <a:r>
              <a:rPr lang="en-US">
                <a:solidFill>
                  <a:srgbClr val="FF0000"/>
                </a:solidFill>
                <a:latin typeface="Consolas" panose="020B0609020204030204" pitchFamily="49" charset="0"/>
              </a:rPr>
              <a:t>k</a:t>
            </a:r>
            <a:r>
              <a:t> 表示要找的人，</a:t>
            </a:r>
            <a:r>
              <a:rPr lang="en-US"/>
              <a:t>k</a:t>
            </a:r>
            <a:r>
              <a:t>从0</a:t>
            </a:r>
            <a:r>
              <a:rPr lang="zh-CN" altLang="en-US"/>
              <a:t>变化</a:t>
            </a:r>
            <a:r>
              <a:t>到3，</a:t>
            </a:r>
            <a:r>
              <a:rPr lang="zh-CN" altLang="en-US"/>
              <a:t>分别</a:t>
            </a:r>
            <a:r>
              <a:rPr err="1"/>
              <a:t>表示从A找到D</a:t>
            </a:r>
            <a:r>
              <a:t>。</a:t>
            </a:r>
            <a:endParaRPr lang="en-US" altLang="zh-CN"/>
          </a:p>
          <a:p>
            <a:pPr algn="l">
              <a:lnSpc>
                <a:spcPct val="130000"/>
              </a:lnSpc>
              <a:defRPr sz="3000" b="0"/>
            </a:pPr>
            <a:r>
              <a:rPr err="1"/>
              <a:t>这时</a:t>
            </a:r>
            <a:r>
              <a:rPr lang="zh-CN" altLang="en-US"/>
              <a:t>：</a:t>
            </a:r>
            <a:endParaRPr/>
          </a:p>
          <a:p>
            <a:pPr algn="l">
              <a:lnSpc>
                <a:spcPct val="130000"/>
              </a:lnSpc>
              <a:defRPr sz="3000">
                <a:solidFill>
                  <a:schemeClr val="accent1">
                    <a:hueOff val="114395"/>
                    <a:lumOff val="-24975"/>
                  </a:schemeClr>
                </a:solidFill>
                <a:latin typeface="Courier"/>
                <a:ea typeface="Courier"/>
                <a:cs typeface="Courier"/>
                <a:sym typeface="Courier"/>
              </a:defRPr>
            </a:pPr>
            <a:r>
              <a:t>  </a:t>
            </a:r>
            <a:r>
              <a:rPr err="1">
                <a:latin typeface="Consolas" panose="020B0609020204030204" pitchFamily="49" charset="0"/>
              </a:rPr>
              <a:t>A说：不是我</a:t>
            </a:r>
            <a:r>
              <a:rPr>
                <a:latin typeface="Consolas" panose="020B0609020204030204" pitchFamily="49" charset="0"/>
              </a:rPr>
              <a:t>; </a:t>
            </a:r>
            <a:r>
              <a:rPr lang="en-US" altLang="zh-CN">
                <a:latin typeface="Consolas" panose="020B0609020204030204" pitchFamily="49" charset="0"/>
              </a:rPr>
              <a:t>	</a:t>
            </a:r>
            <a:r>
              <a:rPr lang="zh-CN" altLang="en-US">
                <a:solidFill>
                  <a:schemeClr val="tx1"/>
                </a:solidFill>
                <a:latin typeface="Consolas" panose="020B0609020204030204" pitchFamily="49" charset="0"/>
              </a:rPr>
              <a:t>可写成表达式</a:t>
            </a:r>
            <a:r>
              <a:rPr>
                <a:latin typeface="Consolas" panose="020B0609020204030204" pitchFamily="49" charset="0"/>
              </a:rPr>
              <a:t>  </a:t>
            </a:r>
            <a:r>
              <a:rPr lang="en-US">
                <a:latin typeface="Consolas" panose="020B0609020204030204" pitchFamily="49" charset="0"/>
              </a:rPr>
              <a:t>k</a:t>
            </a:r>
            <a:r>
              <a:rPr>
                <a:latin typeface="Consolas" panose="020B0609020204030204" pitchFamily="49" charset="0"/>
              </a:rPr>
              <a:t> != 0;   </a:t>
            </a:r>
          </a:p>
          <a:p>
            <a:pPr algn="l">
              <a:lnSpc>
                <a:spcPct val="130000"/>
              </a:lnSpc>
              <a:defRPr sz="3000">
                <a:solidFill>
                  <a:schemeClr val="accent1">
                    <a:hueOff val="114395"/>
                    <a:lumOff val="-24975"/>
                  </a:schemeClr>
                </a:solidFill>
                <a:latin typeface="Courier"/>
                <a:ea typeface="Courier"/>
                <a:cs typeface="Courier"/>
                <a:sym typeface="Courier"/>
              </a:defRPr>
            </a:pPr>
            <a:r>
              <a:rPr>
                <a:latin typeface="Consolas" panose="020B0609020204030204" pitchFamily="49" charset="0"/>
              </a:rPr>
              <a:t>  </a:t>
            </a:r>
            <a:r>
              <a:rPr err="1">
                <a:latin typeface="Consolas" panose="020B0609020204030204" pitchFamily="49" charset="0"/>
              </a:rPr>
              <a:t>B说：是C</a:t>
            </a:r>
            <a:r>
              <a:rPr>
                <a:latin typeface="Consolas" panose="020B0609020204030204" pitchFamily="49" charset="0"/>
              </a:rPr>
              <a:t>;    </a:t>
            </a:r>
            <a:r>
              <a:rPr lang="en-US" altLang="zh-CN">
                <a:latin typeface="Consolas" panose="020B0609020204030204" pitchFamily="49" charset="0"/>
              </a:rPr>
              <a:t>	</a:t>
            </a:r>
            <a:r>
              <a:rPr>
                <a:solidFill>
                  <a:schemeClr val="tx1"/>
                </a:solidFill>
                <a:latin typeface="Consolas" panose="020B0609020204030204" pitchFamily="49" charset="0"/>
              </a:rPr>
              <a:t>可</a:t>
            </a:r>
            <a:r>
              <a:rPr lang="zh-CN" altLang="en-US">
                <a:solidFill>
                  <a:schemeClr val="tx1"/>
                </a:solidFill>
                <a:latin typeface="Consolas" panose="020B0609020204030204" pitchFamily="49" charset="0"/>
              </a:rPr>
              <a:t>写成表达式</a:t>
            </a:r>
            <a:r>
              <a:rPr>
                <a:latin typeface="Consolas" panose="020B0609020204030204" pitchFamily="49" charset="0"/>
              </a:rPr>
              <a:t>  </a:t>
            </a:r>
            <a:r>
              <a:rPr lang="en-US">
                <a:latin typeface="Consolas" panose="020B0609020204030204" pitchFamily="49" charset="0"/>
              </a:rPr>
              <a:t>k</a:t>
            </a:r>
            <a:r>
              <a:rPr>
                <a:latin typeface="Consolas" panose="020B0609020204030204" pitchFamily="49" charset="0"/>
              </a:rPr>
              <a:t> == 2;</a:t>
            </a:r>
          </a:p>
          <a:p>
            <a:pPr algn="l">
              <a:lnSpc>
                <a:spcPct val="130000"/>
              </a:lnSpc>
              <a:defRPr sz="3000">
                <a:solidFill>
                  <a:schemeClr val="accent1">
                    <a:hueOff val="114395"/>
                    <a:lumOff val="-24975"/>
                  </a:schemeClr>
                </a:solidFill>
                <a:latin typeface="Courier"/>
                <a:ea typeface="Courier"/>
                <a:cs typeface="Courier"/>
                <a:sym typeface="Courier"/>
              </a:defRPr>
            </a:pPr>
            <a:r>
              <a:rPr>
                <a:latin typeface="Consolas" panose="020B0609020204030204" pitchFamily="49" charset="0"/>
              </a:rPr>
              <a:t>  </a:t>
            </a:r>
            <a:r>
              <a:rPr err="1">
                <a:latin typeface="Consolas" panose="020B0609020204030204" pitchFamily="49" charset="0"/>
              </a:rPr>
              <a:t>C说：是D</a:t>
            </a:r>
            <a:r>
              <a:rPr>
                <a:latin typeface="Consolas" panose="020B0609020204030204" pitchFamily="49" charset="0"/>
              </a:rPr>
              <a:t>;    </a:t>
            </a:r>
            <a:r>
              <a:rPr lang="en-US" altLang="zh-CN">
                <a:latin typeface="Consolas" panose="020B0609020204030204" pitchFamily="49" charset="0"/>
              </a:rPr>
              <a:t>	</a:t>
            </a:r>
            <a:r>
              <a:rPr>
                <a:solidFill>
                  <a:schemeClr val="tx1"/>
                </a:solidFill>
                <a:latin typeface="Consolas" panose="020B0609020204030204" pitchFamily="49" charset="0"/>
              </a:rPr>
              <a:t>可</a:t>
            </a:r>
            <a:r>
              <a:rPr lang="zh-CN" altLang="en-US">
                <a:solidFill>
                  <a:schemeClr val="tx1"/>
                </a:solidFill>
                <a:latin typeface="Consolas" panose="020B0609020204030204" pitchFamily="49" charset="0"/>
              </a:rPr>
              <a:t>写成表达式</a:t>
            </a:r>
            <a:r>
              <a:rPr>
                <a:latin typeface="Consolas" panose="020B0609020204030204" pitchFamily="49" charset="0"/>
              </a:rPr>
              <a:t>  </a:t>
            </a:r>
            <a:r>
              <a:rPr lang="en-US">
                <a:latin typeface="Consolas" panose="020B0609020204030204" pitchFamily="49" charset="0"/>
              </a:rPr>
              <a:t>k</a:t>
            </a:r>
            <a:r>
              <a:rPr>
                <a:latin typeface="Consolas" panose="020B0609020204030204" pitchFamily="49" charset="0"/>
              </a:rPr>
              <a:t> == 3;</a:t>
            </a:r>
          </a:p>
          <a:p>
            <a:pPr algn="l">
              <a:lnSpc>
                <a:spcPct val="130000"/>
              </a:lnSpc>
              <a:defRPr sz="3000">
                <a:solidFill>
                  <a:schemeClr val="accent1">
                    <a:hueOff val="114395"/>
                    <a:lumOff val="-24975"/>
                  </a:schemeClr>
                </a:solidFill>
                <a:latin typeface="Courier"/>
                <a:ea typeface="Courier"/>
                <a:cs typeface="Courier"/>
                <a:sym typeface="Courier"/>
              </a:defRPr>
            </a:pPr>
            <a:r>
              <a:rPr>
                <a:latin typeface="Consolas" panose="020B0609020204030204" pitchFamily="49" charset="0"/>
              </a:rPr>
              <a:t>  </a:t>
            </a:r>
            <a:r>
              <a:rPr err="1">
                <a:latin typeface="Consolas" panose="020B0609020204030204" pitchFamily="49" charset="0"/>
              </a:rPr>
              <a:t>D说：他胡说</a:t>
            </a:r>
            <a:r>
              <a:rPr>
                <a:latin typeface="Consolas" panose="020B0609020204030204" pitchFamily="49" charset="0"/>
              </a:rPr>
              <a:t>； </a:t>
            </a:r>
            <a:r>
              <a:rPr lang="en-US" altLang="zh-CN">
                <a:latin typeface="Consolas" panose="020B0609020204030204" pitchFamily="49" charset="0"/>
              </a:rPr>
              <a:t>	</a:t>
            </a:r>
            <a:r>
              <a:rPr>
                <a:solidFill>
                  <a:schemeClr val="tx1"/>
                </a:solidFill>
                <a:latin typeface="Consolas" panose="020B0609020204030204" pitchFamily="49" charset="0"/>
              </a:rPr>
              <a:t>可</a:t>
            </a:r>
            <a:r>
              <a:rPr lang="zh-CN" altLang="en-US">
                <a:solidFill>
                  <a:schemeClr val="tx1"/>
                </a:solidFill>
                <a:latin typeface="Consolas" panose="020B0609020204030204" pitchFamily="49" charset="0"/>
              </a:rPr>
              <a:t>写成表达式</a:t>
            </a:r>
            <a:r>
              <a:rPr>
                <a:latin typeface="Consolas" panose="020B0609020204030204" pitchFamily="49" charset="0"/>
              </a:rPr>
              <a:t>  </a:t>
            </a:r>
            <a:r>
              <a:rPr lang="en-US">
                <a:latin typeface="Consolas" panose="020B0609020204030204" pitchFamily="49" charset="0"/>
              </a:rPr>
              <a:t>k</a:t>
            </a:r>
            <a:r>
              <a:rPr>
                <a:latin typeface="Consolas" panose="020B0609020204030204" pitchFamily="49" charset="0"/>
              </a:rPr>
              <a:t> != 3;</a:t>
            </a:r>
          </a:p>
        </p:txBody>
      </p:sp>
      <p:sp>
        <p:nvSpPr>
          <p:cNvPr id="2" name="矩形: 圆角 1">
            <a:extLst>
              <a:ext uri="{FF2B5EF4-FFF2-40B4-BE49-F238E27FC236}">
                <a16:creationId xmlns:a16="http://schemas.microsoft.com/office/drawing/2014/main" id="{CB04E27B-0666-46EF-8715-E464689929D2}"/>
              </a:ext>
            </a:extLst>
          </p:cNvPr>
          <p:cNvSpPr/>
          <p:nvPr/>
        </p:nvSpPr>
        <p:spPr>
          <a:xfrm>
            <a:off x="1108863" y="2334708"/>
            <a:ext cx="1351280" cy="2572572"/>
          </a:xfrm>
          <a:prstGeom prst="roundRect">
            <a:avLst>
              <a:gd name="adj" fmla="val 11404"/>
            </a:avLst>
          </a:prstGeom>
          <a:ln w="28575">
            <a:solidFill>
              <a:srgbClr val="00B050"/>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6" name="矩形: 圆角 5">
            <a:extLst>
              <a:ext uri="{FF2B5EF4-FFF2-40B4-BE49-F238E27FC236}">
                <a16:creationId xmlns:a16="http://schemas.microsoft.com/office/drawing/2014/main" id="{41660D6E-E5B1-4B24-A00C-276628AE18E0}"/>
              </a:ext>
            </a:extLst>
          </p:cNvPr>
          <p:cNvSpPr/>
          <p:nvPr/>
        </p:nvSpPr>
        <p:spPr>
          <a:xfrm>
            <a:off x="5404129" y="5273040"/>
            <a:ext cx="2481453" cy="822960"/>
          </a:xfrm>
          <a:prstGeom prst="roundRect">
            <a:avLst>
              <a:gd name="adj" fmla="val 11404"/>
            </a:avLst>
          </a:prstGeom>
          <a:ln w="28575">
            <a:solidFill>
              <a:srgbClr val="00B050"/>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7" name="矩形: 圆角 6">
            <a:extLst>
              <a:ext uri="{FF2B5EF4-FFF2-40B4-BE49-F238E27FC236}">
                <a16:creationId xmlns:a16="http://schemas.microsoft.com/office/drawing/2014/main" id="{2FA6577C-83DD-471F-B641-61F31FB2B36C}"/>
              </a:ext>
            </a:extLst>
          </p:cNvPr>
          <p:cNvSpPr/>
          <p:nvPr/>
        </p:nvSpPr>
        <p:spPr>
          <a:xfrm>
            <a:off x="8384458" y="6487105"/>
            <a:ext cx="642978" cy="2572572"/>
          </a:xfrm>
          <a:prstGeom prst="roundRect">
            <a:avLst>
              <a:gd name="adj" fmla="val 11404"/>
            </a:avLst>
          </a:prstGeom>
          <a:ln w="28575">
            <a:solidFill>
              <a:srgbClr val="00B050"/>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51</a:t>
            </a:fld>
            <a:endParaRPr/>
          </a:p>
        </p:txBody>
      </p:sp>
      <p:sp>
        <p:nvSpPr>
          <p:cNvPr id="194" name="任务3.1的参考源代码V3（简化）"/>
          <p:cNvSpPr>
            <a:spLocks noGrp="1"/>
          </p:cNvSpPr>
          <p:nvPr>
            <p:ph type="title"/>
          </p:nvPr>
        </p:nvSpPr>
        <p:spPr>
          <a:xfrm>
            <a:off x="547201" y="354125"/>
            <a:ext cx="8840640" cy="1152045"/>
          </a:xfrm>
          <a:prstGeom prst="rect">
            <a:avLst/>
          </a:prstGeom>
        </p:spPr>
        <p:txBody>
          <a:bodyPr/>
          <a:lstStyle/>
          <a:p>
            <a:r>
              <a:t>任务3.1的参考源代码</a:t>
            </a:r>
            <a:r>
              <a:rPr lang="zh-CN" altLang="en-US"/>
              <a:t>简化版 </a:t>
            </a:r>
            <a:r>
              <a:rPr lang="en-US" b="1">
                <a:solidFill>
                  <a:srgbClr val="FFFF00"/>
                </a:solidFill>
              </a:rPr>
              <a:t>V2</a:t>
            </a:r>
            <a:endParaRPr b="1">
              <a:solidFill>
                <a:srgbClr val="FFFF00"/>
              </a:solidFill>
            </a:endParaRPr>
          </a:p>
        </p:txBody>
      </p:sp>
      <p:sp>
        <p:nvSpPr>
          <p:cNvPr id="195" name="#include &lt;iostream&gt;…"/>
          <p:cNvSpPr txBox="1"/>
          <p:nvPr/>
        </p:nvSpPr>
        <p:spPr>
          <a:xfrm>
            <a:off x="535168" y="2019247"/>
            <a:ext cx="9650078" cy="76723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defTabSz="439419">
              <a:lnSpc>
                <a:spcPct val="130000"/>
              </a:lnSpc>
              <a:tabLst>
                <a:tab pos="431800" algn="l"/>
              </a:tabLst>
              <a:defRPr sz="1900">
                <a:solidFill>
                  <a:srgbClr val="D12F1B"/>
                </a:solidFill>
                <a:latin typeface="Menlo"/>
                <a:ea typeface="Menlo"/>
                <a:cs typeface="Menlo"/>
                <a:sym typeface="Menlo"/>
              </a:defRPr>
            </a:pPr>
            <a:r>
              <a:rPr dirty="0">
                <a:solidFill>
                  <a:srgbClr val="78492A"/>
                </a:solidFill>
                <a:latin typeface="Consolas" panose="020B0609020204030204" pitchFamily="49" charset="0"/>
              </a:rPr>
              <a:t>#include </a:t>
            </a:r>
            <a:r>
              <a:rPr dirty="0">
                <a:latin typeface="Consolas" panose="020B0609020204030204" pitchFamily="49" charset="0"/>
              </a:rPr>
              <a:t>&lt;iostream&gt;</a:t>
            </a:r>
            <a:endParaRPr dirty="0">
              <a:solidFill>
                <a:srgbClr val="000000"/>
              </a:solidFill>
              <a:latin typeface="Consolas" panose="020B0609020204030204" pitchFamily="49" charset="0"/>
              <a:ea typeface="Helvetica"/>
              <a:cs typeface="Helvetica"/>
              <a:sym typeface="Helvetica"/>
            </a:endParaRPr>
          </a:p>
          <a:p>
            <a:pPr algn="l" defTabSz="439419">
              <a:lnSpc>
                <a:spcPct val="130000"/>
              </a:lnSpc>
              <a:tabLst>
                <a:tab pos="431800" algn="l"/>
              </a:tabLst>
              <a:defRPr sz="1900">
                <a:solidFill>
                  <a:srgbClr val="BA2DA2"/>
                </a:solidFill>
                <a:latin typeface="Menlo"/>
                <a:ea typeface="Menlo"/>
                <a:cs typeface="Menlo"/>
                <a:sym typeface="Menlo"/>
              </a:defRPr>
            </a:pPr>
            <a:r>
              <a:rPr dirty="0">
                <a:latin typeface="Consolas" panose="020B0609020204030204" pitchFamily="49" charset="0"/>
              </a:rPr>
              <a:t>using</a:t>
            </a:r>
            <a:r>
              <a:rPr dirty="0">
                <a:solidFill>
                  <a:srgbClr val="000000"/>
                </a:solidFill>
                <a:latin typeface="Consolas" panose="020B0609020204030204" pitchFamily="49" charset="0"/>
              </a:rPr>
              <a:t> </a:t>
            </a:r>
            <a:r>
              <a:rPr dirty="0">
                <a:latin typeface="Consolas" panose="020B0609020204030204" pitchFamily="49" charset="0"/>
              </a:rPr>
              <a:t>namespace</a:t>
            </a:r>
            <a:r>
              <a:rPr dirty="0">
                <a:solidFill>
                  <a:srgbClr val="000000"/>
                </a:solidFill>
                <a:latin typeface="Consolas" panose="020B0609020204030204" pitchFamily="49" charset="0"/>
              </a:rPr>
              <a:t> </a:t>
            </a:r>
            <a:r>
              <a:rPr dirty="0">
                <a:solidFill>
                  <a:srgbClr val="703DAA"/>
                </a:solidFill>
                <a:latin typeface="Consolas" panose="020B0609020204030204" pitchFamily="49" charset="0"/>
              </a:rPr>
              <a:t>std</a:t>
            </a:r>
            <a:r>
              <a:rPr dirty="0">
                <a:solidFill>
                  <a:srgbClr val="000000"/>
                </a:solidFill>
                <a:latin typeface="Consolas" panose="020B0609020204030204" pitchFamily="49" charset="0"/>
              </a:rPr>
              <a:t>;</a:t>
            </a:r>
            <a:endParaRPr dirty="0">
              <a:solidFill>
                <a:srgbClr val="000000"/>
              </a:solidFill>
              <a:latin typeface="Consolas" panose="020B0609020204030204" pitchFamily="49" charset="0"/>
              <a:ea typeface="Helvetica"/>
              <a:cs typeface="Helvetica"/>
              <a:sym typeface="Helvetica"/>
            </a:endParaRPr>
          </a:p>
          <a:p>
            <a:pPr algn="l" defTabSz="439419">
              <a:lnSpc>
                <a:spcPct val="130000"/>
              </a:lnSpc>
              <a:tabLst>
                <a:tab pos="431800" algn="l"/>
              </a:tabLst>
              <a:defRPr sz="1900">
                <a:latin typeface="Menlo"/>
                <a:ea typeface="Menlo"/>
                <a:cs typeface="Menlo"/>
                <a:sym typeface="Menlo"/>
              </a:defRPr>
            </a:pPr>
            <a:r>
              <a:rPr dirty="0">
                <a:solidFill>
                  <a:srgbClr val="BA2DA2"/>
                </a:solidFill>
                <a:latin typeface="Consolas" panose="020B0609020204030204" pitchFamily="49" charset="0"/>
              </a:rPr>
              <a:t>int</a:t>
            </a:r>
            <a:r>
              <a:rPr dirty="0">
                <a:latin typeface="Consolas" panose="020B0609020204030204" pitchFamily="49" charset="0"/>
              </a:rPr>
              <a:t> main()</a:t>
            </a:r>
            <a:endParaRPr dirty="0">
              <a:latin typeface="Consolas" panose="020B0609020204030204" pitchFamily="49" charset="0"/>
              <a:ea typeface="Helvetica"/>
              <a:cs typeface="Helvetica"/>
              <a:sym typeface="Helvetica"/>
            </a:endParaRPr>
          </a:p>
          <a:p>
            <a:pPr algn="l" defTabSz="439419">
              <a:lnSpc>
                <a:spcPct val="130000"/>
              </a:lnSpc>
              <a:tabLst>
                <a:tab pos="431800" algn="l"/>
              </a:tabLst>
              <a:defRPr sz="1900">
                <a:latin typeface="Menlo"/>
                <a:ea typeface="Menlo"/>
                <a:cs typeface="Menlo"/>
                <a:sym typeface="Menlo"/>
              </a:defRPr>
            </a:pPr>
            <a:r>
              <a:rPr dirty="0">
                <a:latin typeface="Consolas" panose="020B0609020204030204" pitchFamily="49" charset="0"/>
              </a:rPr>
              <a:t>{</a:t>
            </a:r>
            <a:endParaRPr dirty="0">
              <a:latin typeface="Consolas" panose="020B0609020204030204" pitchFamily="49" charset="0"/>
              <a:ea typeface="Helvetica"/>
              <a:cs typeface="Helvetica"/>
              <a:sym typeface="Helvetica"/>
            </a:endParaRPr>
          </a:p>
          <a:p>
            <a:pPr lvl="4" indent="0" algn="l" defTabSz="439419">
              <a:lnSpc>
                <a:spcPct val="130000"/>
              </a:lnSpc>
              <a:tabLst>
                <a:tab pos="431800" algn="l"/>
              </a:tabLst>
              <a:defRPr sz="1900">
                <a:solidFill>
                  <a:srgbClr val="008400"/>
                </a:solidFill>
                <a:latin typeface="Menlo"/>
                <a:ea typeface="Menlo"/>
                <a:cs typeface="Menlo"/>
                <a:sym typeface="Menlo"/>
              </a:defRPr>
            </a:pPr>
            <a:r>
              <a:rPr dirty="0">
                <a:solidFill>
                  <a:srgbClr val="000000"/>
                </a:solidFill>
                <a:latin typeface="Consolas" panose="020B0609020204030204" pitchFamily="49" charset="0"/>
              </a:rPr>
              <a:t>    </a:t>
            </a:r>
            <a:r>
              <a:rPr dirty="0">
                <a:solidFill>
                  <a:srgbClr val="BA2DA2"/>
                </a:solidFill>
                <a:latin typeface="Consolas" panose="020B0609020204030204" pitchFamily="49" charset="0"/>
              </a:rPr>
              <a:t>int</a:t>
            </a:r>
            <a:r>
              <a:rPr dirty="0">
                <a:solidFill>
                  <a:srgbClr val="000000"/>
                </a:solidFill>
                <a:latin typeface="Consolas" panose="020B0609020204030204" pitchFamily="49" charset="0"/>
              </a:rPr>
              <a:t> g = </a:t>
            </a:r>
            <a:r>
              <a:rPr dirty="0">
                <a:solidFill>
                  <a:srgbClr val="272AD8"/>
                </a:solidFill>
                <a:latin typeface="Consolas" panose="020B0609020204030204" pitchFamily="49" charset="0"/>
              </a:rPr>
              <a:t>0</a:t>
            </a:r>
            <a:r>
              <a:rPr dirty="0">
                <a:solidFill>
                  <a:srgbClr val="000000"/>
                </a:solidFill>
                <a:latin typeface="Consolas" panose="020B0609020204030204" pitchFamily="49" charset="0"/>
              </a:rPr>
              <a:t>;                  </a:t>
            </a:r>
            <a:r>
              <a:rPr dirty="0">
                <a:latin typeface="Consolas" panose="020B0609020204030204" pitchFamily="49" charset="0"/>
              </a:rPr>
              <a:t>// 声明变量为整数类型，初始化为0</a:t>
            </a:r>
            <a:endParaRPr dirty="0">
              <a:solidFill>
                <a:srgbClr val="000000"/>
              </a:solidFill>
              <a:latin typeface="Consolas" panose="020B0609020204030204" pitchFamily="49" charset="0"/>
              <a:ea typeface="Helvetica"/>
              <a:cs typeface="Helvetica"/>
              <a:sym typeface="Helvetica"/>
            </a:endParaRPr>
          </a:p>
          <a:p>
            <a:pPr algn="l" defTabSz="439419">
              <a:lnSpc>
                <a:spcPct val="130000"/>
              </a:lnSpc>
              <a:tabLst>
                <a:tab pos="431800" algn="l"/>
              </a:tabLst>
              <a:defRPr sz="1900">
                <a:solidFill>
                  <a:srgbClr val="008400"/>
                </a:solidFill>
                <a:latin typeface="Menlo"/>
                <a:ea typeface="Menlo"/>
                <a:cs typeface="Menlo"/>
                <a:sym typeface="Menlo"/>
              </a:defRPr>
            </a:pPr>
            <a:r>
              <a:rPr dirty="0">
                <a:solidFill>
                  <a:srgbClr val="000000"/>
                </a:solidFill>
                <a:latin typeface="Consolas" panose="020B0609020204030204" pitchFamily="49" charset="0"/>
              </a:rPr>
              <a:t>    </a:t>
            </a:r>
            <a:r>
              <a:rPr dirty="0">
                <a:solidFill>
                  <a:srgbClr val="BA2DA2"/>
                </a:solidFill>
                <a:latin typeface="Consolas" panose="020B0609020204030204" pitchFamily="49" charset="0"/>
              </a:rPr>
              <a:t>for</a:t>
            </a:r>
            <a:r>
              <a:rPr dirty="0">
                <a:solidFill>
                  <a:srgbClr val="000000"/>
                </a:solidFill>
                <a:latin typeface="Consolas" panose="020B0609020204030204" pitchFamily="49" charset="0"/>
              </a:rPr>
              <a:t>(</a:t>
            </a:r>
            <a:r>
              <a:rPr dirty="0">
                <a:solidFill>
                  <a:srgbClr val="BA2DA2"/>
                </a:solidFill>
                <a:latin typeface="Consolas" panose="020B0609020204030204" pitchFamily="49" charset="0"/>
              </a:rPr>
              <a:t>int</a:t>
            </a:r>
            <a:r>
              <a:rPr dirty="0">
                <a:solidFill>
                  <a:srgbClr val="000000"/>
                </a:solidFill>
                <a:latin typeface="Consolas" panose="020B0609020204030204" pitchFamily="49" charset="0"/>
              </a:rPr>
              <a:t> k=</a:t>
            </a:r>
            <a:r>
              <a:rPr dirty="0">
                <a:solidFill>
                  <a:srgbClr val="272AD8"/>
                </a:solidFill>
                <a:latin typeface="Consolas" panose="020B0609020204030204" pitchFamily="49" charset="0"/>
              </a:rPr>
              <a:t>0</a:t>
            </a:r>
            <a:r>
              <a:rPr dirty="0">
                <a:solidFill>
                  <a:srgbClr val="000000"/>
                </a:solidFill>
                <a:latin typeface="Consolas" panose="020B0609020204030204" pitchFamily="49" charset="0"/>
              </a:rPr>
              <a:t>; k&lt;</a:t>
            </a:r>
            <a:r>
              <a:rPr dirty="0">
                <a:solidFill>
                  <a:srgbClr val="272AD8"/>
                </a:solidFill>
                <a:latin typeface="Consolas" panose="020B0609020204030204" pitchFamily="49" charset="0"/>
              </a:rPr>
              <a:t>4</a:t>
            </a:r>
            <a:r>
              <a:rPr dirty="0">
                <a:solidFill>
                  <a:srgbClr val="000000"/>
                </a:solidFill>
                <a:latin typeface="Consolas" panose="020B0609020204030204" pitchFamily="49" charset="0"/>
              </a:rPr>
              <a:t>; k++)      </a:t>
            </a:r>
            <a:r>
              <a:rPr dirty="0">
                <a:latin typeface="Consolas" panose="020B0609020204030204" pitchFamily="49" charset="0"/>
              </a:rPr>
              <a:t>// 循环从k为0到3，</a:t>
            </a:r>
            <a:endParaRPr dirty="0">
              <a:solidFill>
                <a:srgbClr val="000000"/>
              </a:solidFill>
              <a:latin typeface="Consolas" panose="020B0609020204030204" pitchFamily="49" charset="0"/>
              <a:ea typeface="Helvetica"/>
              <a:cs typeface="Helvetica"/>
              <a:sym typeface="Helvetica"/>
            </a:endParaRPr>
          </a:p>
          <a:p>
            <a:pPr algn="l" defTabSz="439419">
              <a:lnSpc>
                <a:spcPct val="130000"/>
              </a:lnSpc>
              <a:tabLst>
                <a:tab pos="431800" algn="l"/>
              </a:tabLst>
              <a:defRPr sz="1900">
                <a:latin typeface="Menlo"/>
                <a:ea typeface="Menlo"/>
                <a:cs typeface="Menlo"/>
                <a:sym typeface="Menlo"/>
              </a:defRPr>
            </a:pPr>
            <a:r>
              <a:rPr dirty="0">
                <a:latin typeface="Consolas" panose="020B0609020204030204" pitchFamily="49" charset="0"/>
              </a:rPr>
              <a:t>    {</a:t>
            </a:r>
          </a:p>
          <a:p>
            <a:pPr algn="l" defTabSz="439419">
              <a:lnSpc>
                <a:spcPct val="130000"/>
              </a:lnSpc>
              <a:tabLst>
                <a:tab pos="431800" algn="l"/>
              </a:tabLst>
              <a:defRPr sz="1900">
                <a:latin typeface="Menlo"/>
                <a:ea typeface="Menlo"/>
                <a:cs typeface="Menlo"/>
                <a:sym typeface="Menlo"/>
              </a:defRPr>
            </a:pPr>
            <a:endParaRPr dirty="0">
              <a:latin typeface="Consolas" panose="020B0609020204030204" pitchFamily="49" charset="0"/>
              <a:ea typeface="Helvetica"/>
              <a:cs typeface="Helvetica"/>
              <a:sym typeface="Helvetica"/>
            </a:endParaRPr>
          </a:p>
          <a:p>
            <a:pPr algn="l" defTabSz="439419">
              <a:lnSpc>
                <a:spcPct val="130000"/>
              </a:lnSpc>
              <a:tabLst>
                <a:tab pos="431800" algn="l"/>
              </a:tabLst>
              <a:defRPr sz="1900">
                <a:solidFill>
                  <a:srgbClr val="008400"/>
                </a:solidFill>
                <a:latin typeface="Menlo"/>
                <a:ea typeface="Menlo"/>
                <a:cs typeface="Menlo"/>
                <a:sym typeface="Menlo"/>
              </a:defRPr>
            </a:pPr>
            <a:r>
              <a:rPr dirty="0">
                <a:solidFill>
                  <a:srgbClr val="000000"/>
                </a:solidFill>
                <a:latin typeface="Consolas" panose="020B0609020204030204" pitchFamily="49" charset="0"/>
              </a:rPr>
              <a:t>        </a:t>
            </a:r>
            <a:r>
              <a:rPr dirty="0">
                <a:solidFill>
                  <a:srgbClr val="BA2DA2"/>
                </a:solidFill>
                <a:latin typeface="Consolas" panose="020B0609020204030204" pitchFamily="49" charset="0"/>
              </a:rPr>
              <a:t>if</a:t>
            </a:r>
            <a:r>
              <a:rPr dirty="0">
                <a:solidFill>
                  <a:srgbClr val="000000"/>
                </a:solidFill>
                <a:latin typeface="Consolas" panose="020B0609020204030204" pitchFamily="49" charset="0"/>
              </a:rPr>
              <a:t> (((k != </a:t>
            </a:r>
            <a:r>
              <a:rPr dirty="0">
                <a:solidFill>
                  <a:srgbClr val="272AD8"/>
                </a:solidFill>
                <a:latin typeface="Consolas" panose="020B0609020204030204" pitchFamily="49" charset="0"/>
              </a:rPr>
              <a:t>0</a:t>
            </a:r>
            <a:r>
              <a:rPr dirty="0">
                <a:solidFill>
                  <a:srgbClr val="000000"/>
                </a:solidFill>
                <a:latin typeface="Consolas" panose="020B0609020204030204" pitchFamily="49" charset="0"/>
              </a:rPr>
              <a:t>) + (k == </a:t>
            </a:r>
            <a:r>
              <a:rPr dirty="0">
                <a:solidFill>
                  <a:srgbClr val="272AD8"/>
                </a:solidFill>
                <a:latin typeface="Consolas" panose="020B0609020204030204" pitchFamily="49" charset="0"/>
              </a:rPr>
              <a:t>2</a:t>
            </a:r>
            <a:r>
              <a:rPr dirty="0">
                <a:solidFill>
                  <a:srgbClr val="000000"/>
                </a:solidFill>
                <a:latin typeface="Consolas" panose="020B0609020204030204" pitchFamily="49" charset="0"/>
              </a:rPr>
              <a:t>) + (k == </a:t>
            </a:r>
            <a:r>
              <a:rPr dirty="0">
                <a:solidFill>
                  <a:srgbClr val="272AD8"/>
                </a:solidFill>
                <a:latin typeface="Consolas" panose="020B0609020204030204" pitchFamily="49" charset="0"/>
              </a:rPr>
              <a:t>3</a:t>
            </a:r>
            <a:r>
              <a:rPr dirty="0">
                <a:solidFill>
                  <a:srgbClr val="000000"/>
                </a:solidFill>
                <a:latin typeface="Consolas" panose="020B0609020204030204" pitchFamily="49" charset="0"/>
              </a:rPr>
              <a:t>) + (k != </a:t>
            </a:r>
            <a:r>
              <a:rPr dirty="0">
                <a:solidFill>
                  <a:srgbClr val="272AD8"/>
                </a:solidFill>
                <a:latin typeface="Consolas" panose="020B0609020204030204" pitchFamily="49" charset="0"/>
              </a:rPr>
              <a:t>3</a:t>
            </a:r>
            <a:r>
              <a:rPr dirty="0">
                <a:solidFill>
                  <a:srgbClr val="000000"/>
                </a:solidFill>
                <a:latin typeface="Consolas" panose="020B0609020204030204" pitchFamily="49" charset="0"/>
              </a:rPr>
              <a:t>)) == </a:t>
            </a:r>
            <a:r>
              <a:rPr dirty="0">
                <a:solidFill>
                  <a:srgbClr val="272AD8"/>
                </a:solidFill>
                <a:latin typeface="Consolas" panose="020B0609020204030204" pitchFamily="49" charset="0"/>
              </a:rPr>
              <a:t>3</a:t>
            </a:r>
            <a:r>
              <a:rPr dirty="0">
                <a:solidFill>
                  <a:srgbClr val="000000"/>
                </a:solidFill>
                <a:latin typeface="Consolas" panose="020B0609020204030204" pitchFamily="49" charset="0"/>
              </a:rPr>
              <a:t>) </a:t>
            </a:r>
          </a:p>
          <a:p>
            <a:pPr algn="l" defTabSz="439419">
              <a:lnSpc>
                <a:spcPct val="130000"/>
              </a:lnSpc>
              <a:tabLst>
                <a:tab pos="431800" algn="l"/>
              </a:tabLst>
              <a:defRPr sz="1900">
                <a:latin typeface="Menlo"/>
                <a:ea typeface="Menlo"/>
                <a:cs typeface="Menlo"/>
                <a:sym typeface="Menlo"/>
              </a:defRPr>
            </a:pPr>
            <a:r>
              <a:rPr dirty="0">
                <a:latin typeface="Consolas" panose="020B0609020204030204" pitchFamily="49" charset="0"/>
              </a:rPr>
              <a:t>        {</a:t>
            </a:r>
            <a:endParaRPr dirty="0">
              <a:latin typeface="Consolas" panose="020B0609020204030204" pitchFamily="49" charset="0"/>
              <a:ea typeface="Helvetica"/>
              <a:cs typeface="Helvetica"/>
              <a:sym typeface="Helvetica"/>
            </a:endParaRPr>
          </a:p>
          <a:p>
            <a:pPr algn="l" defTabSz="439419">
              <a:lnSpc>
                <a:spcPct val="130000"/>
              </a:lnSpc>
              <a:tabLst>
                <a:tab pos="431800" algn="l"/>
              </a:tabLst>
              <a:defRPr sz="1900">
                <a:latin typeface="Menlo"/>
                <a:ea typeface="Menlo"/>
                <a:cs typeface="Menlo"/>
                <a:sym typeface="Menlo"/>
              </a:defRPr>
            </a:pPr>
            <a:r>
              <a:rPr dirty="0">
                <a:latin typeface="Consolas" panose="020B0609020204030204" pitchFamily="49" charset="0"/>
              </a:rPr>
              <a:t>            </a:t>
            </a:r>
            <a:r>
              <a:rPr dirty="0">
                <a:solidFill>
                  <a:srgbClr val="703DAA"/>
                </a:solidFill>
                <a:latin typeface="Consolas" panose="020B0609020204030204" pitchFamily="49" charset="0"/>
              </a:rPr>
              <a:t>cout</a:t>
            </a:r>
            <a:r>
              <a:rPr dirty="0">
                <a:latin typeface="Consolas" panose="020B0609020204030204" pitchFamily="49" charset="0"/>
              </a:rPr>
              <a:t> &lt;&lt; </a:t>
            </a:r>
            <a:r>
              <a:rPr dirty="0">
                <a:solidFill>
                  <a:srgbClr val="D12F1B"/>
                </a:solidFill>
                <a:latin typeface="Consolas" panose="020B0609020204030204" pitchFamily="49" charset="0"/>
              </a:rPr>
              <a:t>"</a:t>
            </a:r>
            <a:r>
              <a:rPr dirty="0" err="1">
                <a:solidFill>
                  <a:srgbClr val="D12F1B"/>
                </a:solidFill>
                <a:latin typeface="Consolas" panose="020B0609020204030204" pitchFamily="49" charset="0"/>
              </a:rPr>
              <a:t>做好事者为</a:t>
            </a:r>
            <a:r>
              <a:rPr dirty="0">
                <a:solidFill>
                  <a:srgbClr val="D12F1B"/>
                </a:solidFill>
                <a:latin typeface="Consolas" panose="020B0609020204030204" pitchFamily="49" charset="0"/>
              </a:rPr>
              <a:t>"</a:t>
            </a:r>
            <a:r>
              <a:rPr dirty="0">
                <a:latin typeface="Consolas" panose="020B0609020204030204" pitchFamily="49" charset="0"/>
              </a:rPr>
              <a:t> &lt;&lt; </a:t>
            </a:r>
            <a:r>
              <a:rPr dirty="0">
                <a:solidFill>
                  <a:srgbClr val="BA2DA2"/>
                </a:solidFill>
                <a:latin typeface="Consolas" panose="020B0609020204030204" pitchFamily="49" charset="0"/>
              </a:rPr>
              <a:t>char</a:t>
            </a:r>
            <a:r>
              <a:rPr dirty="0">
                <a:latin typeface="Consolas" panose="020B0609020204030204" pitchFamily="49" charset="0"/>
              </a:rPr>
              <a:t>(</a:t>
            </a:r>
            <a:r>
              <a:rPr dirty="0">
                <a:solidFill>
                  <a:srgbClr val="272AD8"/>
                </a:solidFill>
                <a:latin typeface="Consolas" panose="020B0609020204030204" pitchFamily="49" charset="0"/>
              </a:rPr>
              <a:t>'</a:t>
            </a:r>
            <a:r>
              <a:rPr dirty="0" err="1">
                <a:solidFill>
                  <a:srgbClr val="272AD8"/>
                </a:solidFill>
                <a:latin typeface="Consolas" panose="020B0609020204030204" pitchFamily="49" charset="0"/>
              </a:rPr>
              <a:t>A'</a:t>
            </a:r>
            <a:r>
              <a:rPr dirty="0" err="1">
                <a:latin typeface="Consolas" panose="020B0609020204030204" pitchFamily="49" charset="0"/>
              </a:rPr>
              <a:t>+k</a:t>
            </a:r>
            <a:r>
              <a:rPr dirty="0">
                <a:latin typeface="Consolas" panose="020B0609020204030204" pitchFamily="49" charset="0"/>
              </a:rPr>
              <a:t>) &lt;&lt; </a:t>
            </a:r>
            <a:r>
              <a:rPr dirty="0" err="1">
                <a:latin typeface="Consolas" panose="020B0609020204030204" pitchFamily="49" charset="0"/>
              </a:rPr>
              <a:t>endl</a:t>
            </a:r>
            <a:r>
              <a:rPr dirty="0">
                <a:latin typeface="Consolas" panose="020B0609020204030204" pitchFamily="49" charset="0"/>
              </a:rPr>
              <a:t>;  </a:t>
            </a:r>
            <a:r>
              <a:rPr dirty="0">
                <a:solidFill>
                  <a:srgbClr val="008400"/>
                </a:solidFill>
                <a:latin typeface="Consolas" panose="020B0609020204030204" pitchFamily="49" charset="0"/>
              </a:rPr>
              <a:t>// </a:t>
            </a:r>
            <a:r>
              <a:rPr dirty="0" err="1">
                <a:solidFill>
                  <a:srgbClr val="008400"/>
                </a:solidFill>
                <a:latin typeface="Consolas" panose="020B0609020204030204" pitchFamily="49" charset="0"/>
              </a:rPr>
              <a:t>输出做好事者</a:t>
            </a:r>
            <a:endParaRPr dirty="0">
              <a:latin typeface="Consolas" panose="020B0609020204030204" pitchFamily="49" charset="0"/>
              <a:ea typeface="Helvetica"/>
              <a:cs typeface="Helvetica"/>
              <a:sym typeface="Helvetica"/>
            </a:endParaRPr>
          </a:p>
          <a:p>
            <a:pPr algn="l" defTabSz="439419">
              <a:lnSpc>
                <a:spcPct val="130000"/>
              </a:lnSpc>
              <a:tabLst>
                <a:tab pos="431800" algn="l"/>
              </a:tabLst>
              <a:defRPr sz="1900">
                <a:latin typeface="Menlo"/>
                <a:ea typeface="Menlo"/>
                <a:cs typeface="Menlo"/>
                <a:sym typeface="Menlo"/>
              </a:defRPr>
            </a:pPr>
            <a:r>
              <a:rPr dirty="0">
                <a:latin typeface="Consolas" panose="020B0609020204030204" pitchFamily="49" charset="0"/>
              </a:rPr>
              <a:t>            g = </a:t>
            </a:r>
            <a:r>
              <a:rPr dirty="0">
                <a:solidFill>
                  <a:srgbClr val="272AD8"/>
                </a:solidFill>
                <a:latin typeface="Consolas" panose="020B0609020204030204" pitchFamily="49" charset="0"/>
              </a:rPr>
              <a:t>1</a:t>
            </a:r>
            <a:r>
              <a:rPr dirty="0">
                <a:latin typeface="Consolas" panose="020B0609020204030204" pitchFamily="49" charset="0"/>
              </a:rPr>
              <a:t>;              </a:t>
            </a:r>
            <a:r>
              <a:rPr dirty="0">
                <a:solidFill>
                  <a:srgbClr val="008400"/>
                </a:solidFill>
                <a:latin typeface="Consolas" panose="020B0609020204030204" pitchFamily="49" charset="0"/>
              </a:rPr>
              <a:t>// 让有解标志置1</a:t>
            </a:r>
            <a:endParaRPr dirty="0">
              <a:latin typeface="Consolas" panose="020B0609020204030204" pitchFamily="49" charset="0"/>
              <a:ea typeface="Helvetica"/>
              <a:cs typeface="Helvetica"/>
              <a:sym typeface="Helvetica"/>
            </a:endParaRPr>
          </a:p>
          <a:p>
            <a:pPr algn="l" defTabSz="439419">
              <a:lnSpc>
                <a:spcPct val="130000"/>
              </a:lnSpc>
              <a:tabLst>
                <a:tab pos="431800" algn="l"/>
              </a:tabLst>
              <a:defRPr sz="1900">
                <a:latin typeface="Menlo"/>
                <a:ea typeface="Menlo"/>
                <a:cs typeface="Menlo"/>
                <a:sym typeface="Menlo"/>
              </a:defRPr>
            </a:pPr>
            <a:r>
              <a:rPr dirty="0">
                <a:latin typeface="Consolas" panose="020B0609020204030204" pitchFamily="49" charset="0"/>
              </a:rPr>
              <a:t>        }</a:t>
            </a:r>
            <a:endParaRPr dirty="0">
              <a:latin typeface="Consolas" panose="020B0609020204030204" pitchFamily="49" charset="0"/>
              <a:ea typeface="Helvetica"/>
              <a:cs typeface="Helvetica"/>
              <a:sym typeface="Helvetica"/>
            </a:endParaRPr>
          </a:p>
          <a:p>
            <a:pPr algn="l" defTabSz="439419">
              <a:lnSpc>
                <a:spcPct val="130000"/>
              </a:lnSpc>
              <a:tabLst>
                <a:tab pos="431800" algn="l"/>
              </a:tabLst>
              <a:defRPr sz="1900">
                <a:latin typeface="Menlo"/>
                <a:ea typeface="Menlo"/>
                <a:cs typeface="Menlo"/>
                <a:sym typeface="Menlo"/>
              </a:defRPr>
            </a:pPr>
            <a:r>
              <a:rPr dirty="0">
                <a:latin typeface="Consolas" panose="020B0609020204030204" pitchFamily="49" charset="0"/>
              </a:rPr>
              <a:t>    }</a:t>
            </a:r>
            <a:endParaRPr dirty="0">
              <a:latin typeface="Consolas" panose="020B0609020204030204" pitchFamily="49" charset="0"/>
              <a:ea typeface="Helvetica"/>
              <a:cs typeface="Helvetica"/>
              <a:sym typeface="Helvetica"/>
            </a:endParaRPr>
          </a:p>
          <a:p>
            <a:pPr algn="l" defTabSz="439419">
              <a:lnSpc>
                <a:spcPct val="130000"/>
              </a:lnSpc>
              <a:tabLst>
                <a:tab pos="431800" algn="l"/>
              </a:tabLst>
              <a:defRPr sz="1900">
                <a:latin typeface="Menlo"/>
                <a:ea typeface="Menlo"/>
                <a:cs typeface="Menlo"/>
                <a:sym typeface="Menlo"/>
              </a:defRPr>
            </a:pPr>
            <a:r>
              <a:rPr dirty="0">
                <a:latin typeface="Consolas" panose="020B0609020204030204" pitchFamily="49" charset="0"/>
              </a:rPr>
              <a:t>    </a:t>
            </a:r>
            <a:r>
              <a:rPr dirty="0">
                <a:solidFill>
                  <a:srgbClr val="BA2DA2"/>
                </a:solidFill>
                <a:latin typeface="Consolas" panose="020B0609020204030204" pitchFamily="49" charset="0"/>
              </a:rPr>
              <a:t>if</a:t>
            </a:r>
            <a:r>
              <a:rPr dirty="0">
                <a:latin typeface="Consolas" panose="020B0609020204030204" pitchFamily="49" charset="0"/>
              </a:rPr>
              <a:t> (g != </a:t>
            </a:r>
            <a:r>
              <a:rPr dirty="0">
                <a:solidFill>
                  <a:srgbClr val="272AD8"/>
                </a:solidFill>
                <a:latin typeface="Consolas" panose="020B0609020204030204" pitchFamily="49" charset="0"/>
              </a:rPr>
              <a:t>1</a:t>
            </a:r>
            <a:r>
              <a:rPr dirty="0">
                <a:latin typeface="Consolas" panose="020B0609020204030204" pitchFamily="49" charset="0"/>
              </a:rPr>
              <a:t>)                 </a:t>
            </a:r>
            <a:r>
              <a:rPr dirty="0">
                <a:solidFill>
                  <a:srgbClr val="008400"/>
                </a:solidFill>
                <a:latin typeface="Consolas" panose="020B0609020204030204" pitchFamily="49" charset="0"/>
              </a:rPr>
              <a:t>// </a:t>
            </a:r>
            <a:r>
              <a:rPr dirty="0" err="1">
                <a:solidFill>
                  <a:srgbClr val="008400"/>
                </a:solidFill>
                <a:latin typeface="Consolas" panose="020B0609020204030204" pitchFamily="49" charset="0"/>
              </a:rPr>
              <a:t>则输出无解信息</a:t>
            </a:r>
            <a:endParaRPr lang="zh-CN" altLang="en-US" dirty="0">
              <a:latin typeface="Consolas" panose="020B0609020204030204" pitchFamily="49" charset="0"/>
              <a:ea typeface="Helvetica"/>
              <a:cs typeface="Helvetica"/>
              <a:sym typeface="Helvetica"/>
            </a:endParaRPr>
          </a:p>
          <a:p>
            <a:pPr algn="l" defTabSz="439419">
              <a:lnSpc>
                <a:spcPct val="130000"/>
              </a:lnSpc>
              <a:tabLst>
                <a:tab pos="431800" algn="l"/>
              </a:tabLst>
              <a:defRPr sz="1900">
                <a:latin typeface="Menlo"/>
                <a:ea typeface="Menlo"/>
                <a:cs typeface="Menlo"/>
                <a:sym typeface="Menlo"/>
              </a:defRPr>
            </a:pPr>
            <a:r>
              <a:rPr lang="zh-CN" altLang="en-US" dirty="0">
                <a:latin typeface="Consolas" panose="020B0609020204030204" pitchFamily="49" charset="0"/>
              </a:rPr>
              <a:t>    </a:t>
            </a:r>
            <a:r>
              <a:rPr lang="en-US" altLang="zh-CN" dirty="0">
                <a:latin typeface="Consolas" panose="020B0609020204030204" pitchFamily="49" charset="0"/>
              </a:rPr>
              <a:t>{</a:t>
            </a:r>
            <a:endParaRPr lang="zh-CN" altLang="en-US" dirty="0">
              <a:latin typeface="Consolas" panose="020B0609020204030204" pitchFamily="49" charset="0"/>
              <a:ea typeface="Helvetica"/>
              <a:cs typeface="Helvetica"/>
              <a:sym typeface="Helvetica"/>
            </a:endParaRPr>
          </a:p>
          <a:p>
            <a:pPr algn="l" defTabSz="439419">
              <a:lnSpc>
                <a:spcPct val="130000"/>
              </a:lnSpc>
              <a:tabLst>
                <a:tab pos="431800" algn="l"/>
              </a:tabLst>
              <a:defRPr sz="1900">
                <a:solidFill>
                  <a:srgbClr val="D12F1B"/>
                </a:solidFill>
                <a:latin typeface="Menlo"/>
                <a:ea typeface="Menlo"/>
                <a:cs typeface="Menlo"/>
                <a:sym typeface="Menlo"/>
              </a:defRPr>
            </a:pPr>
            <a:r>
              <a:rPr dirty="0">
                <a:solidFill>
                  <a:srgbClr val="000000"/>
                </a:solidFill>
                <a:latin typeface="Consolas" panose="020B0609020204030204" pitchFamily="49" charset="0"/>
              </a:rPr>
              <a:t>        </a:t>
            </a:r>
            <a:r>
              <a:rPr dirty="0">
                <a:solidFill>
                  <a:srgbClr val="703DAA"/>
                </a:solidFill>
                <a:latin typeface="Consolas" panose="020B0609020204030204" pitchFamily="49" charset="0"/>
              </a:rPr>
              <a:t>cout</a:t>
            </a:r>
            <a:r>
              <a:rPr dirty="0">
                <a:solidFill>
                  <a:srgbClr val="000000"/>
                </a:solidFill>
                <a:latin typeface="Consolas" panose="020B0609020204030204" pitchFamily="49" charset="0"/>
              </a:rPr>
              <a:t> &lt;&lt; </a:t>
            </a:r>
            <a:r>
              <a:rPr dirty="0">
                <a:latin typeface="Consolas" panose="020B0609020204030204" pitchFamily="49" charset="0"/>
              </a:rPr>
              <a:t>"</a:t>
            </a:r>
            <a:r>
              <a:rPr dirty="0" err="1">
                <a:latin typeface="Consolas" panose="020B0609020204030204" pitchFamily="49" charset="0"/>
              </a:rPr>
              <a:t>找不出做好事者</a:t>
            </a:r>
            <a:r>
              <a:rPr dirty="0">
                <a:latin typeface="Consolas" panose="020B0609020204030204" pitchFamily="49" charset="0"/>
              </a:rPr>
              <a:t>"</a:t>
            </a:r>
            <a:r>
              <a:rPr dirty="0">
                <a:solidFill>
                  <a:srgbClr val="000000"/>
                </a:solidFill>
                <a:latin typeface="Consolas" panose="020B0609020204030204" pitchFamily="49" charset="0"/>
              </a:rPr>
              <a:t> &lt;&lt; </a:t>
            </a:r>
            <a:r>
              <a:rPr dirty="0" err="1">
                <a:solidFill>
                  <a:srgbClr val="000000"/>
                </a:solidFill>
                <a:latin typeface="Consolas" panose="020B0609020204030204" pitchFamily="49" charset="0"/>
              </a:rPr>
              <a:t>endl</a:t>
            </a:r>
            <a:r>
              <a:rPr dirty="0">
                <a:solidFill>
                  <a:srgbClr val="000000"/>
                </a:solidFill>
                <a:latin typeface="Consolas" panose="020B0609020204030204" pitchFamily="49" charset="0"/>
              </a:rPr>
              <a:t>;</a:t>
            </a:r>
            <a:endParaRPr dirty="0">
              <a:solidFill>
                <a:srgbClr val="000000"/>
              </a:solidFill>
              <a:latin typeface="Consolas" panose="020B0609020204030204" pitchFamily="49" charset="0"/>
              <a:ea typeface="Helvetica"/>
              <a:cs typeface="Helvetica"/>
              <a:sym typeface="Helvetica"/>
            </a:endParaRPr>
          </a:p>
          <a:p>
            <a:pPr algn="l" defTabSz="439419">
              <a:lnSpc>
                <a:spcPct val="130000"/>
              </a:lnSpc>
              <a:tabLst>
                <a:tab pos="431800" algn="l"/>
              </a:tabLst>
              <a:defRPr sz="1900">
                <a:latin typeface="Menlo"/>
                <a:ea typeface="Menlo"/>
                <a:cs typeface="Menlo"/>
                <a:sym typeface="Menlo"/>
              </a:defRPr>
            </a:pPr>
            <a:r>
              <a:rPr lang="en-US" dirty="0">
                <a:latin typeface="Consolas" panose="020B0609020204030204" pitchFamily="49" charset="0"/>
              </a:rPr>
              <a:t>    }</a:t>
            </a:r>
            <a:endParaRPr lang="en-US" dirty="0">
              <a:latin typeface="Consolas" panose="020B0609020204030204" pitchFamily="49" charset="0"/>
              <a:ea typeface="Helvetica"/>
              <a:cs typeface="Helvetica"/>
              <a:sym typeface="Helvetica"/>
            </a:endParaRPr>
          </a:p>
          <a:p>
            <a:pPr algn="l" defTabSz="439419">
              <a:lnSpc>
                <a:spcPct val="130000"/>
              </a:lnSpc>
              <a:tabLst>
                <a:tab pos="431800" algn="l"/>
              </a:tabLst>
              <a:defRPr sz="1900">
                <a:solidFill>
                  <a:srgbClr val="BA2DA2"/>
                </a:solidFill>
                <a:latin typeface="Menlo"/>
                <a:ea typeface="Menlo"/>
                <a:cs typeface="Menlo"/>
                <a:sym typeface="Menlo"/>
              </a:defRPr>
            </a:pPr>
            <a:r>
              <a:rPr lang="en-US" dirty="0">
                <a:solidFill>
                  <a:srgbClr val="000000"/>
                </a:solidFill>
                <a:latin typeface="Consolas" panose="020B0609020204030204" pitchFamily="49" charset="0"/>
              </a:rPr>
              <a:t>    </a:t>
            </a:r>
            <a:r>
              <a:rPr lang="en-US" dirty="0">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272AD8"/>
                </a:solidFill>
                <a:latin typeface="Consolas" panose="020B0609020204030204" pitchFamily="49" charset="0"/>
              </a:rPr>
              <a:t>0</a:t>
            </a:r>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a typeface="Helvetica"/>
              <a:cs typeface="Helvetica"/>
              <a:sym typeface="Helvetica"/>
            </a:endParaRPr>
          </a:p>
          <a:p>
            <a:pPr algn="l" defTabSz="439419">
              <a:lnSpc>
                <a:spcPct val="130000"/>
              </a:lnSpc>
              <a:tabLst>
                <a:tab pos="431800" algn="l"/>
              </a:tabLst>
              <a:defRPr sz="1900">
                <a:latin typeface="Menlo"/>
                <a:ea typeface="Menlo"/>
                <a:cs typeface="Menlo"/>
                <a:sym typeface="Menlo"/>
              </a:defRPr>
            </a:pPr>
            <a:r>
              <a:rPr dirty="0">
                <a:latin typeface="Consolas" panose="020B0609020204030204" pitchFamily="49" charset="0"/>
              </a:rPr>
              <a:t>}</a:t>
            </a:r>
            <a:r>
              <a:rPr lang="en-US" dirty="0">
                <a:latin typeface="Consolas" panose="020B0609020204030204" pitchFamily="49" charset="0"/>
              </a:rPr>
              <a:t> </a:t>
            </a:r>
            <a:r>
              <a:rPr lang="en-US" dirty="0">
                <a:solidFill>
                  <a:srgbClr val="00B050"/>
                </a:solidFill>
                <a:latin typeface="Consolas" panose="020B0609020204030204" pitchFamily="49" charset="0"/>
              </a:rPr>
              <a:t>//</a:t>
            </a:r>
            <a:r>
              <a:rPr lang="zh-CN" altLang="en-US" dirty="0">
                <a:solidFill>
                  <a:srgbClr val="00B050"/>
                </a:solidFill>
                <a:latin typeface="Consolas" panose="020B0609020204030204" pitchFamily="49" charset="0"/>
              </a:rPr>
              <a:t> </a:t>
            </a:r>
            <a:r>
              <a:rPr lang="en-US" altLang="zh-CN" dirty="0">
                <a:solidFill>
                  <a:srgbClr val="00B050"/>
                </a:solidFill>
                <a:latin typeface="Consolas" panose="020B0609020204030204" pitchFamily="49" charset="0"/>
              </a:rPr>
              <a:t>L03-04.cpp</a:t>
            </a:r>
            <a:endParaRPr dirty="0">
              <a:solidFill>
                <a:srgbClr val="00B050"/>
              </a:solidFill>
              <a:latin typeface="Consolas" panose="020B0609020204030204" pitchFamily="49" charset="0"/>
            </a:endParaRPr>
          </a:p>
        </p:txBody>
      </p:sp>
      <p:sp>
        <p:nvSpPr>
          <p:cNvPr id="196" name="A说"/>
          <p:cNvSpPr/>
          <p:nvPr/>
        </p:nvSpPr>
        <p:spPr>
          <a:xfrm>
            <a:off x="2326589" y="4477473"/>
            <a:ext cx="985929" cy="595454"/>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defRPr sz="2900" b="0">
                <a:latin typeface="+mn-lt"/>
                <a:ea typeface="+mn-ea"/>
                <a:cs typeface="+mn-cs"/>
                <a:sym typeface="Helvetica Neue Medium"/>
              </a:defRPr>
            </a:lvl1pPr>
          </a:lstStyle>
          <a:p>
            <a:r>
              <a:t>A说</a:t>
            </a:r>
          </a:p>
        </p:txBody>
      </p:sp>
      <p:sp>
        <p:nvSpPr>
          <p:cNvPr id="197" name="B说"/>
          <p:cNvSpPr/>
          <p:nvPr/>
        </p:nvSpPr>
        <p:spPr>
          <a:xfrm>
            <a:off x="3872740" y="4469102"/>
            <a:ext cx="985929" cy="595454"/>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defRPr sz="2900" b="0">
                <a:latin typeface="+mn-lt"/>
                <a:ea typeface="+mn-ea"/>
                <a:cs typeface="+mn-cs"/>
                <a:sym typeface="Helvetica Neue Medium"/>
              </a:defRPr>
            </a:lvl1pPr>
          </a:lstStyle>
          <a:p>
            <a:r>
              <a:t>B说</a:t>
            </a:r>
          </a:p>
        </p:txBody>
      </p:sp>
      <p:sp>
        <p:nvSpPr>
          <p:cNvPr id="198" name="C说"/>
          <p:cNvSpPr/>
          <p:nvPr/>
        </p:nvSpPr>
        <p:spPr>
          <a:xfrm>
            <a:off x="5298090" y="4484329"/>
            <a:ext cx="985929" cy="595454"/>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defRPr sz="2900" b="0">
                <a:latin typeface="+mn-lt"/>
                <a:ea typeface="+mn-ea"/>
                <a:cs typeface="+mn-cs"/>
                <a:sym typeface="Helvetica Neue Medium"/>
              </a:defRPr>
            </a:lvl1pPr>
          </a:lstStyle>
          <a:p>
            <a:r>
              <a:t>C说</a:t>
            </a:r>
          </a:p>
        </p:txBody>
      </p:sp>
      <p:sp>
        <p:nvSpPr>
          <p:cNvPr id="199" name="D说"/>
          <p:cNvSpPr/>
          <p:nvPr/>
        </p:nvSpPr>
        <p:spPr>
          <a:xfrm>
            <a:off x="6788356" y="4477473"/>
            <a:ext cx="985929" cy="595454"/>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defRPr sz="2900" b="0">
                <a:latin typeface="+mn-lt"/>
                <a:ea typeface="+mn-ea"/>
                <a:cs typeface="+mn-cs"/>
                <a:sym typeface="Helvetica Neue Medium"/>
              </a:defRPr>
            </a:lvl1pPr>
          </a:lstStyle>
          <a:p>
            <a:r>
              <a:rPr err="1"/>
              <a:t>D说</a:t>
            </a:r>
            <a:endParaRPr/>
          </a:p>
        </p:txBody>
      </p:sp>
      <p:sp>
        <p:nvSpPr>
          <p:cNvPr id="200" name="矩形"/>
          <p:cNvSpPr/>
          <p:nvPr/>
        </p:nvSpPr>
        <p:spPr>
          <a:xfrm>
            <a:off x="1190148" y="5090418"/>
            <a:ext cx="8036684" cy="460247"/>
          </a:xfrm>
          <a:prstGeom prst="rect">
            <a:avLst/>
          </a:prstGeom>
          <a:ln w="12700">
            <a:solidFill>
              <a:srgbClr val="FF4568"/>
            </a:solidFill>
            <a:miter lim="400000"/>
          </a:ln>
        </p:spPr>
        <p:txBody>
          <a:bodyPr lIns="50800" tIns="50800" rIns="50800" bIns="50800" anchor="ctr"/>
          <a:lstStyle/>
          <a:p>
            <a:pPr>
              <a:defRPr sz="3600" b="0">
                <a:solidFill>
                  <a:srgbClr val="FFFFFF"/>
                </a:solidFill>
                <a:latin typeface="+mn-lt"/>
                <a:ea typeface="+mn-ea"/>
                <a:cs typeface="+mn-cs"/>
                <a:sym typeface="Helvetica Neue Medium"/>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9" presetClass="entr" fill="hold" grpId="1" nodeType="clickEffect">
                                  <p:stCondLst>
                                    <p:cond delay="0"/>
                                  </p:stCondLst>
                                  <p:iterate>
                                    <p:tmAbs val="0"/>
                                  </p:iterate>
                                  <p:childTnLst>
                                    <p:set>
                                      <p:cBhvr>
                                        <p:cTn id="6" fill="hold"/>
                                        <p:tgtEl>
                                          <p:spTgt spid="200"/>
                                        </p:tgtEl>
                                        <p:attrNameLst>
                                          <p:attrName>style.visibility</p:attrName>
                                        </p:attrNameLst>
                                      </p:cBhvr>
                                      <p:to>
                                        <p:strVal val="visible"/>
                                      </p:to>
                                    </p:set>
                                    <p:animEffect transition="in" filter="dissolve">
                                      <p:cBhvr>
                                        <p:cTn id="7" dur="1000"/>
                                        <p:tgtEl>
                                          <p:spTgt spid="200"/>
                                        </p:tgtEl>
                                      </p:cBhvr>
                                    </p:animEffect>
                                  </p:childTnLst>
                                </p:cTn>
                              </p:par>
                            </p:childTnLst>
                          </p:cTn>
                        </p:par>
                        <p:par>
                          <p:cTn id="8" fill="hold">
                            <p:stCondLst>
                              <p:cond delay="1000"/>
                            </p:stCondLst>
                            <p:childTnLst>
                              <p:par>
                                <p:cTn id="9" presetID="4" presetClass="entr" presetSubtype="32" fill="hold" grpId="2" nodeType="afterEffect">
                                  <p:stCondLst>
                                    <p:cond delay="200"/>
                                  </p:stCondLst>
                                  <p:iterate>
                                    <p:tmAbs val="0"/>
                                  </p:iterate>
                                  <p:childTnLst>
                                    <p:set>
                                      <p:cBhvr>
                                        <p:cTn id="10" fill="hold"/>
                                        <p:tgtEl>
                                          <p:spTgt spid="196"/>
                                        </p:tgtEl>
                                        <p:attrNameLst>
                                          <p:attrName>style.visibility</p:attrName>
                                        </p:attrNameLst>
                                      </p:cBhvr>
                                      <p:to>
                                        <p:strVal val="visible"/>
                                      </p:to>
                                    </p:set>
                                    <p:animEffect transition="in" filter="box(out)">
                                      <p:cBhvr>
                                        <p:cTn id="11" dur="1000"/>
                                        <p:tgtEl>
                                          <p:spTgt spid="196"/>
                                        </p:tgtEl>
                                      </p:cBhvr>
                                    </p:animEffect>
                                  </p:childTnLst>
                                </p:cTn>
                              </p:par>
                            </p:childTnLst>
                          </p:cTn>
                        </p:par>
                        <p:par>
                          <p:cTn id="12" fill="hold">
                            <p:stCondLst>
                              <p:cond delay="2200"/>
                            </p:stCondLst>
                            <p:childTnLst>
                              <p:par>
                                <p:cTn id="13" presetID="4" presetClass="entr" presetSubtype="32" fill="hold" grpId="3" nodeType="afterEffect">
                                  <p:stCondLst>
                                    <p:cond delay="0"/>
                                  </p:stCondLst>
                                  <p:iterate>
                                    <p:tmAbs val="0"/>
                                  </p:iterate>
                                  <p:childTnLst>
                                    <p:set>
                                      <p:cBhvr>
                                        <p:cTn id="14" fill="hold"/>
                                        <p:tgtEl>
                                          <p:spTgt spid="197"/>
                                        </p:tgtEl>
                                        <p:attrNameLst>
                                          <p:attrName>style.visibility</p:attrName>
                                        </p:attrNameLst>
                                      </p:cBhvr>
                                      <p:to>
                                        <p:strVal val="visible"/>
                                      </p:to>
                                    </p:set>
                                    <p:animEffect transition="in" filter="box(out)">
                                      <p:cBhvr>
                                        <p:cTn id="15" dur="1000"/>
                                        <p:tgtEl>
                                          <p:spTgt spid="197"/>
                                        </p:tgtEl>
                                      </p:cBhvr>
                                    </p:animEffect>
                                  </p:childTnLst>
                                </p:cTn>
                              </p:par>
                            </p:childTnLst>
                          </p:cTn>
                        </p:par>
                        <p:par>
                          <p:cTn id="16" fill="hold">
                            <p:stCondLst>
                              <p:cond delay="3200"/>
                            </p:stCondLst>
                            <p:childTnLst>
                              <p:par>
                                <p:cTn id="17" presetID="4" presetClass="entr" presetSubtype="32" fill="hold" grpId="4" nodeType="afterEffect">
                                  <p:stCondLst>
                                    <p:cond delay="0"/>
                                  </p:stCondLst>
                                  <p:iterate>
                                    <p:tmAbs val="0"/>
                                  </p:iterate>
                                  <p:childTnLst>
                                    <p:set>
                                      <p:cBhvr>
                                        <p:cTn id="18" fill="hold"/>
                                        <p:tgtEl>
                                          <p:spTgt spid="198"/>
                                        </p:tgtEl>
                                        <p:attrNameLst>
                                          <p:attrName>style.visibility</p:attrName>
                                        </p:attrNameLst>
                                      </p:cBhvr>
                                      <p:to>
                                        <p:strVal val="visible"/>
                                      </p:to>
                                    </p:set>
                                    <p:animEffect transition="in" filter="box(out)">
                                      <p:cBhvr>
                                        <p:cTn id="19" dur="1000"/>
                                        <p:tgtEl>
                                          <p:spTgt spid="198"/>
                                        </p:tgtEl>
                                      </p:cBhvr>
                                    </p:animEffect>
                                  </p:childTnLst>
                                </p:cTn>
                              </p:par>
                            </p:childTnLst>
                          </p:cTn>
                        </p:par>
                        <p:par>
                          <p:cTn id="20" fill="hold">
                            <p:stCondLst>
                              <p:cond delay="4200"/>
                            </p:stCondLst>
                            <p:childTnLst>
                              <p:par>
                                <p:cTn id="21" presetID="4" presetClass="entr" presetSubtype="32" fill="hold" grpId="5" nodeType="afterEffect">
                                  <p:stCondLst>
                                    <p:cond delay="0"/>
                                  </p:stCondLst>
                                  <p:iterate>
                                    <p:tmAbs val="0"/>
                                  </p:iterate>
                                  <p:childTnLst>
                                    <p:set>
                                      <p:cBhvr>
                                        <p:cTn id="22" fill="hold"/>
                                        <p:tgtEl>
                                          <p:spTgt spid="199"/>
                                        </p:tgtEl>
                                        <p:attrNameLst>
                                          <p:attrName>style.visibility</p:attrName>
                                        </p:attrNameLst>
                                      </p:cBhvr>
                                      <p:to>
                                        <p:strVal val="visible"/>
                                      </p:to>
                                    </p:set>
                                    <p:animEffect transition="in" filter="box(out)">
                                      <p:cBhvr>
                                        <p:cTn id="23" dur="10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 grpId="2" animBg="1" advAuto="0"/>
      <p:bldP spid="197" grpId="3" animBg="1" advAuto="0"/>
      <p:bldP spid="198" grpId="4" animBg="1" advAuto="0"/>
      <p:bldP spid="199" grpId="5" animBg="1" advAuto="0"/>
      <p:bldP spid="200" grpId="1" animBg="1" advAuto="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52</a:t>
            </a:fld>
            <a:endParaRPr/>
          </a:p>
        </p:txBody>
      </p:sp>
      <p:sp>
        <p:nvSpPr>
          <p:cNvPr id="194" name="任务3.1的参考源代码V3（简化）"/>
          <p:cNvSpPr>
            <a:spLocks noGrp="1"/>
          </p:cNvSpPr>
          <p:nvPr>
            <p:ph type="title"/>
          </p:nvPr>
        </p:nvSpPr>
        <p:spPr>
          <a:xfrm>
            <a:off x="547200" y="354125"/>
            <a:ext cx="8174769" cy="1152045"/>
          </a:xfrm>
          <a:prstGeom prst="rect">
            <a:avLst/>
          </a:prstGeom>
          <a:solidFill>
            <a:schemeClr val="accent3">
              <a:lumMod val="20000"/>
              <a:lumOff val="80000"/>
            </a:schemeClr>
          </a:solidFill>
          <a:ln>
            <a:noFill/>
          </a:ln>
        </p:spPr>
        <p:txBody>
          <a:bodyPr/>
          <a:lstStyle/>
          <a:p>
            <a:pPr algn="l"/>
            <a:r>
              <a:rPr lang="en-US" altLang="zh-CN" b="1">
                <a:solidFill>
                  <a:srgbClr val="00B050"/>
                </a:solidFill>
                <a:sym typeface="Wingdings" panose="05000000000000000000" pitchFamily="2" charset="2"/>
              </a:rPr>
              <a:t>【</a:t>
            </a:r>
            <a:r>
              <a:rPr lang="zh-CN" altLang="en-US" b="1">
                <a:solidFill>
                  <a:srgbClr val="00B050"/>
                </a:solidFill>
                <a:sym typeface="Wingdings" panose="05000000000000000000" pitchFamily="2" charset="2"/>
              </a:rPr>
              <a:t>学而</a:t>
            </a:r>
            <a:r>
              <a:rPr lang="zh-CN" altLang="en-US" b="1">
                <a:solidFill>
                  <a:srgbClr val="FF0000"/>
                </a:solidFill>
                <a:sym typeface="Wingdings" panose="05000000000000000000" pitchFamily="2" charset="2"/>
              </a:rPr>
              <a:t>时习</a:t>
            </a:r>
            <a:r>
              <a:rPr lang="zh-CN" altLang="en-US" b="1">
                <a:solidFill>
                  <a:srgbClr val="00B050"/>
                </a:solidFill>
                <a:sym typeface="Wingdings" panose="05000000000000000000" pitchFamily="2" charset="2"/>
              </a:rPr>
              <a:t>之</a:t>
            </a:r>
            <a:r>
              <a:rPr lang="en-US" altLang="zh-CN" b="1">
                <a:solidFill>
                  <a:srgbClr val="00B050"/>
                </a:solidFill>
                <a:sym typeface="Wingdings" panose="05000000000000000000" pitchFamily="2" charset="2"/>
              </a:rPr>
              <a:t>】</a:t>
            </a:r>
            <a:r>
              <a:rPr lang="zh-CN" altLang="en-US" b="1">
                <a:solidFill>
                  <a:srgbClr val="00B050"/>
                </a:solidFill>
                <a:sym typeface="Wingdings" panose="05000000000000000000" pitchFamily="2" charset="2"/>
              </a:rPr>
              <a:t>强制类型转换</a:t>
            </a:r>
            <a:endParaRPr b="1">
              <a:solidFill>
                <a:srgbClr val="00B050"/>
              </a:solidFill>
            </a:endParaRPr>
          </a:p>
        </p:txBody>
      </p:sp>
      <p:sp>
        <p:nvSpPr>
          <p:cNvPr id="2" name="文本框 1">
            <a:extLst>
              <a:ext uri="{FF2B5EF4-FFF2-40B4-BE49-F238E27FC236}">
                <a16:creationId xmlns:a16="http://schemas.microsoft.com/office/drawing/2014/main" id="{E85F7EBF-6B66-4460-AEFC-069962344962}"/>
              </a:ext>
            </a:extLst>
          </p:cNvPr>
          <p:cNvSpPr txBox="1"/>
          <p:nvPr/>
        </p:nvSpPr>
        <p:spPr>
          <a:xfrm>
            <a:off x="547201" y="2338706"/>
            <a:ext cx="11150488"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af-ZA" altLang="zh-CN" sz="3600">
                <a:solidFill>
                  <a:srgbClr val="703DAA"/>
                </a:solidFill>
                <a:latin typeface="Consolas" panose="020B0609020204030204" pitchFamily="49" charset="0"/>
              </a:rPr>
              <a:t>cout</a:t>
            </a:r>
            <a:r>
              <a:rPr lang="af-ZA" altLang="zh-CN" sz="3600">
                <a:latin typeface="Consolas" panose="020B0609020204030204" pitchFamily="49" charset="0"/>
              </a:rPr>
              <a:t> &lt;&lt; </a:t>
            </a:r>
            <a:r>
              <a:rPr lang="af-ZA" altLang="zh-CN" sz="3600">
                <a:solidFill>
                  <a:srgbClr val="D12F1B"/>
                </a:solidFill>
                <a:latin typeface="Consolas" panose="020B0609020204030204" pitchFamily="49" charset="0"/>
              </a:rPr>
              <a:t>"</a:t>
            </a:r>
            <a:r>
              <a:rPr lang="zh-CN" altLang="en-US" sz="3600">
                <a:solidFill>
                  <a:srgbClr val="D12F1B"/>
                </a:solidFill>
                <a:latin typeface="Consolas" panose="020B0609020204030204" pitchFamily="49" charset="0"/>
              </a:rPr>
              <a:t>做好事者为</a:t>
            </a:r>
            <a:r>
              <a:rPr lang="en-US" altLang="zh-CN" sz="3600">
                <a:solidFill>
                  <a:srgbClr val="D12F1B"/>
                </a:solidFill>
                <a:latin typeface="Consolas" panose="020B0609020204030204" pitchFamily="49" charset="0"/>
              </a:rPr>
              <a:t>"</a:t>
            </a:r>
            <a:r>
              <a:rPr lang="zh-CN" altLang="en-US" sz="3600">
                <a:latin typeface="Consolas" panose="020B0609020204030204" pitchFamily="49" charset="0"/>
              </a:rPr>
              <a:t> </a:t>
            </a:r>
            <a:r>
              <a:rPr lang="en-US" altLang="zh-CN" sz="3600">
                <a:latin typeface="Consolas" panose="020B0609020204030204" pitchFamily="49" charset="0"/>
              </a:rPr>
              <a:t>&lt;&lt; </a:t>
            </a:r>
            <a:r>
              <a:rPr lang="af-ZA" altLang="zh-CN" sz="3600">
                <a:solidFill>
                  <a:srgbClr val="BA2DA2"/>
                </a:solidFill>
                <a:highlight>
                  <a:srgbClr val="FFFF00"/>
                </a:highlight>
                <a:latin typeface="Consolas" panose="020B0609020204030204" pitchFamily="49" charset="0"/>
              </a:rPr>
              <a:t>char</a:t>
            </a:r>
            <a:r>
              <a:rPr lang="af-ZA" altLang="zh-CN" sz="3600">
                <a:highlight>
                  <a:srgbClr val="FFFF00"/>
                </a:highlight>
                <a:latin typeface="Consolas" panose="020B0609020204030204" pitchFamily="49" charset="0"/>
              </a:rPr>
              <a:t>(</a:t>
            </a:r>
            <a:r>
              <a:rPr lang="af-ZA" altLang="zh-CN" sz="3600">
                <a:solidFill>
                  <a:srgbClr val="272AD8"/>
                </a:solidFill>
                <a:highlight>
                  <a:srgbClr val="FFFF00"/>
                </a:highlight>
                <a:latin typeface="Consolas" panose="020B0609020204030204" pitchFamily="49" charset="0"/>
              </a:rPr>
              <a:t>'A'</a:t>
            </a:r>
            <a:r>
              <a:rPr lang="af-ZA" altLang="zh-CN" sz="3600">
                <a:highlight>
                  <a:srgbClr val="FFFF00"/>
                </a:highlight>
                <a:latin typeface="Consolas" panose="020B0609020204030204" pitchFamily="49" charset="0"/>
              </a:rPr>
              <a:t>+k)</a:t>
            </a:r>
            <a:r>
              <a:rPr lang="af-ZA" altLang="zh-CN" sz="3600">
                <a:latin typeface="Consolas" panose="020B0609020204030204" pitchFamily="49" charset="0"/>
              </a:rPr>
              <a:t> &lt;&lt; endl;</a:t>
            </a:r>
            <a:r>
              <a:rPr kumimoji="0" lang="zh-CN" altLang="en-US" sz="3600" b="1" i="0" u="none" strike="noStrike" cap="none" spc="0" normalizeH="0" baseline="0">
                <a:ln>
                  <a:noFill/>
                </a:ln>
                <a:solidFill>
                  <a:srgbClr val="000000"/>
                </a:solidFill>
                <a:effectLst/>
                <a:uFillTx/>
                <a:latin typeface="Helvetica Neue"/>
                <a:ea typeface="Helvetica Neue"/>
                <a:cs typeface="Helvetica Neue"/>
                <a:sym typeface="Helvetica Neue"/>
              </a:rPr>
              <a:t> </a:t>
            </a:r>
          </a:p>
        </p:txBody>
      </p:sp>
      <p:sp>
        <p:nvSpPr>
          <p:cNvPr id="3" name="文本框 2">
            <a:extLst>
              <a:ext uri="{FF2B5EF4-FFF2-40B4-BE49-F238E27FC236}">
                <a16:creationId xmlns:a16="http://schemas.microsoft.com/office/drawing/2014/main" id="{E4D4C910-FD1B-4B69-9400-DE666CF9774B}"/>
              </a:ext>
            </a:extLst>
          </p:cNvPr>
          <p:cNvSpPr txBox="1"/>
          <p:nvPr/>
        </p:nvSpPr>
        <p:spPr>
          <a:xfrm>
            <a:off x="653703" y="3218223"/>
            <a:ext cx="11734242" cy="26879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kumimoji="0" lang="zh-CN" altLang="en-US" sz="2800" b="1" i="0" u="none" strike="noStrike" cap="none" spc="0" normalizeH="0" baseline="0" dirty="0">
                <a:ln>
                  <a:noFill/>
                </a:ln>
                <a:solidFill>
                  <a:srgbClr val="FF0000"/>
                </a:solidFill>
                <a:effectLst/>
                <a:uFillTx/>
                <a:latin typeface="Helvetica Neue"/>
                <a:ea typeface="Helvetica Neue"/>
                <a:cs typeface="Helvetica Neue"/>
                <a:sym typeface="Helvetica Neue"/>
              </a:rPr>
              <a:t>表达式</a:t>
            </a:r>
            <a:r>
              <a:rPr kumimoji="0" lang="en-US" altLang="zh-CN" sz="2800" b="1" i="0" u="none" strike="noStrike" cap="none" spc="0" normalizeH="0" baseline="0" dirty="0">
                <a:ln>
                  <a:noFill/>
                </a:ln>
                <a:solidFill>
                  <a:srgbClr val="FF0000"/>
                </a:solidFill>
                <a:effectLst/>
                <a:uFillTx/>
                <a:latin typeface="Helvetica Neue"/>
                <a:ea typeface="Helvetica Neue"/>
                <a:cs typeface="Helvetica Neue"/>
                <a:sym typeface="Helvetica Neue"/>
              </a:rPr>
              <a:t>'</a:t>
            </a:r>
            <a:r>
              <a:rPr kumimoji="0" lang="en-US" altLang="zh-CN" sz="2800" b="1" i="0" u="none" strike="noStrike" cap="none" spc="0" normalizeH="0" baseline="0" dirty="0" err="1">
                <a:ln>
                  <a:noFill/>
                </a:ln>
                <a:solidFill>
                  <a:srgbClr val="FF0000"/>
                </a:solidFill>
                <a:effectLst/>
                <a:uFillTx/>
                <a:latin typeface="Helvetica Neue"/>
                <a:ea typeface="Helvetica Neue"/>
                <a:cs typeface="Helvetica Neue"/>
                <a:sym typeface="Helvetica Neue"/>
              </a:rPr>
              <a:t>A'+k</a:t>
            </a:r>
            <a:r>
              <a:rPr kumimoji="0" lang="zh-CN" altLang="en-US" sz="2800" b="1" i="0" u="none" strike="noStrike" cap="none" spc="0" normalizeH="0" baseline="0" dirty="0">
                <a:ln>
                  <a:noFill/>
                </a:ln>
                <a:solidFill>
                  <a:srgbClr val="000000"/>
                </a:solidFill>
                <a:effectLst/>
                <a:uFillTx/>
                <a:latin typeface="Helvetica Neue"/>
                <a:ea typeface="Helvetica Neue"/>
                <a:cs typeface="Helvetica Neue"/>
                <a:sym typeface="Helvetica Neue"/>
              </a:rPr>
              <a:t>的结果是一个整数。为了输出做好事者的“名字”（字母），需要把这个整数值（字符的</a:t>
            </a:r>
            <a:r>
              <a:rPr kumimoji="0" lang="en-US" altLang="zh-CN" sz="2800" b="1" i="0" u="none" strike="noStrike" cap="none" spc="0" normalizeH="0" baseline="0" dirty="0">
                <a:ln>
                  <a:noFill/>
                </a:ln>
                <a:solidFill>
                  <a:srgbClr val="000000"/>
                </a:solidFill>
                <a:effectLst/>
                <a:uFillTx/>
                <a:latin typeface="Helvetica Neue"/>
                <a:ea typeface="Helvetica Neue"/>
                <a:cs typeface="Helvetica Neue"/>
                <a:sym typeface="Helvetica Neue"/>
              </a:rPr>
              <a:t>ASCII</a:t>
            </a:r>
            <a:r>
              <a:rPr kumimoji="0" lang="zh-CN" altLang="en-US" sz="2800" b="1" i="0" u="none" strike="noStrike" cap="none" spc="0" normalizeH="0" baseline="0" dirty="0">
                <a:ln>
                  <a:noFill/>
                </a:ln>
                <a:solidFill>
                  <a:srgbClr val="000000"/>
                </a:solidFill>
                <a:effectLst/>
                <a:uFillTx/>
                <a:latin typeface="Helvetica Neue"/>
                <a:ea typeface="Helvetica Neue"/>
                <a:cs typeface="Helvetica Neue"/>
                <a:sym typeface="Helvetica Neue"/>
              </a:rPr>
              <a:t>值）转换成为对应的字母。不是随便转换，而是要按照</a:t>
            </a:r>
            <a:r>
              <a:rPr kumimoji="0" lang="en-US" altLang="zh-CN" sz="2800" b="1" i="0" u="none" strike="noStrike" cap="none" spc="0" normalizeH="0" baseline="0" dirty="0">
                <a:ln>
                  <a:noFill/>
                </a:ln>
                <a:solidFill>
                  <a:srgbClr val="000000"/>
                </a:solidFill>
                <a:effectLst/>
                <a:uFillTx/>
                <a:latin typeface="Helvetica Neue"/>
                <a:ea typeface="Helvetica Neue"/>
                <a:cs typeface="Helvetica Neue"/>
                <a:sym typeface="Helvetica Neue"/>
              </a:rPr>
              <a:t>ASCII</a:t>
            </a:r>
            <a:r>
              <a:rPr kumimoji="0" lang="zh-CN" altLang="en-US" sz="2800" b="1" i="0" u="none" strike="noStrike" cap="none" spc="0" normalizeH="0" baseline="0" dirty="0">
                <a:ln>
                  <a:noFill/>
                </a:ln>
                <a:solidFill>
                  <a:srgbClr val="000000"/>
                </a:solidFill>
                <a:effectLst/>
                <a:uFillTx/>
                <a:latin typeface="Helvetica Neue"/>
                <a:ea typeface="Helvetica Neue"/>
                <a:cs typeface="Helvetica Neue"/>
                <a:sym typeface="Helvetica Neue"/>
              </a:rPr>
              <a:t>表的编码规则进行转换。这个转换可以通过“强制类型转换”来实现，即“类型名（表达式）”来实现。</a:t>
            </a:r>
          </a:p>
        </p:txBody>
      </p:sp>
      <p:sp>
        <p:nvSpPr>
          <p:cNvPr id="4" name="矩形 3">
            <a:extLst>
              <a:ext uri="{FF2B5EF4-FFF2-40B4-BE49-F238E27FC236}">
                <a16:creationId xmlns:a16="http://schemas.microsoft.com/office/drawing/2014/main" id="{F483A910-1A6B-4775-AC21-20A2F374ADF7}"/>
              </a:ext>
            </a:extLst>
          </p:cNvPr>
          <p:cNvSpPr/>
          <p:nvPr/>
        </p:nvSpPr>
        <p:spPr>
          <a:xfrm>
            <a:off x="653703" y="6129065"/>
            <a:ext cx="9245766" cy="3046988"/>
          </a:xfrm>
          <a:prstGeom prst="rect">
            <a:avLst/>
          </a:prstGeom>
        </p:spPr>
        <p:txBody>
          <a:bodyPr wrap="square">
            <a:spAutoFit/>
          </a:bodyPr>
          <a:lstStyle/>
          <a:p>
            <a:pPr algn="l"/>
            <a:r>
              <a:rPr lang="zh-CN" altLang="en-US">
                <a:solidFill>
                  <a:srgbClr val="0070C0"/>
                </a:solidFill>
                <a:latin typeface="Consolas" panose="020B0609020204030204" pitchFamily="49" charset="0"/>
              </a:rPr>
              <a:t>#include &lt;iostream&gt;</a:t>
            </a:r>
          </a:p>
          <a:p>
            <a:pPr algn="l"/>
            <a:r>
              <a:rPr lang="zh-CN" altLang="en-US">
                <a:solidFill>
                  <a:srgbClr val="0070C0"/>
                </a:solidFill>
                <a:latin typeface="Consolas" panose="020B0609020204030204" pitchFamily="49" charset="0"/>
              </a:rPr>
              <a:t>using namespace std;</a:t>
            </a:r>
          </a:p>
          <a:p>
            <a:pPr algn="l"/>
            <a:endParaRPr lang="zh-CN" altLang="en-US">
              <a:solidFill>
                <a:srgbClr val="0070C0"/>
              </a:solidFill>
              <a:latin typeface="Consolas" panose="020B0609020204030204" pitchFamily="49" charset="0"/>
            </a:endParaRPr>
          </a:p>
          <a:p>
            <a:pPr algn="l"/>
            <a:r>
              <a:rPr lang="zh-CN" altLang="en-US">
                <a:solidFill>
                  <a:srgbClr val="0070C0"/>
                </a:solidFill>
                <a:latin typeface="Consolas" panose="020B0609020204030204" pitchFamily="49" charset="0"/>
              </a:rPr>
              <a:t>int main()</a:t>
            </a:r>
          </a:p>
          <a:p>
            <a:pPr algn="l"/>
            <a:r>
              <a:rPr lang="zh-CN" altLang="en-US">
                <a:solidFill>
                  <a:srgbClr val="0070C0"/>
                </a:solidFill>
                <a:latin typeface="Consolas" panose="020B0609020204030204" pitchFamily="49" charset="0"/>
              </a:rPr>
              <a:t>{</a:t>
            </a:r>
          </a:p>
          <a:p>
            <a:pPr algn="l"/>
            <a:r>
              <a:rPr lang="zh-CN" altLang="en-US">
                <a:solidFill>
                  <a:srgbClr val="0070C0"/>
                </a:solidFill>
                <a:latin typeface="Consolas" panose="020B0609020204030204" pitchFamily="49" charset="0"/>
              </a:rPr>
              <a:t>	</a:t>
            </a:r>
            <a:r>
              <a:rPr lang="zh-CN" altLang="en-US">
                <a:solidFill>
                  <a:schemeClr val="accent6">
                    <a:lumMod val="75000"/>
                  </a:schemeClr>
                </a:solidFill>
                <a:latin typeface="Consolas" panose="020B0609020204030204" pitchFamily="49" charset="0"/>
              </a:rPr>
              <a:t>cout &lt;&lt; 'A' + 3 &lt;&lt; ' ' &lt;&lt; char('A'+3) &lt;&lt; endl;</a:t>
            </a:r>
          </a:p>
          <a:p>
            <a:pPr algn="l"/>
            <a:r>
              <a:rPr lang="zh-CN" altLang="en-US">
                <a:solidFill>
                  <a:srgbClr val="0070C0"/>
                </a:solidFill>
                <a:latin typeface="Consolas" panose="020B0609020204030204" pitchFamily="49" charset="0"/>
              </a:rPr>
              <a:t>	return 0;</a:t>
            </a:r>
          </a:p>
          <a:p>
            <a:pPr algn="l"/>
            <a:r>
              <a:rPr lang="zh-CN" altLang="en-US">
                <a:solidFill>
                  <a:srgbClr val="0070C0"/>
                </a:solidFill>
                <a:latin typeface="Consolas" panose="020B0609020204030204" pitchFamily="49" charset="0"/>
              </a:rPr>
              <a:t>} </a:t>
            </a:r>
            <a:r>
              <a:rPr lang="zh-CN" altLang="en-US">
                <a:solidFill>
                  <a:srgbClr val="00B050"/>
                </a:solidFill>
                <a:latin typeface="Consolas" panose="020B0609020204030204" pitchFamily="49" charset="0"/>
              </a:rPr>
              <a:t>// </a:t>
            </a:r>
            <a:r>
              <a:rPr lang="en-US" altLang="zh-CN">
                <a:solidFill>
                  <a:srgbClr val="00B050"/>
                </a:solidFill>
                <a:latin typeface="Consolas" panose="020B0609020204030204" pitchFamily="49" charset="0"/>
              </a:rPr>
              <a:t>E</a:t>
            </a:r>
            <a:r>
              <a:rPr lang="zh-CN" altLang="en-US">
                <a:solidFill>
                  <a:srgbClr val="00B050"/>
                </a:solidFill>
                <a:latin typeface="Consolas" panose="020B0609020204030204" pitchFamily="49" charset="0"/>
              </a:rPr>
              <a:t>03-</a:t>
            </a:r>
            <a:r>
              <a:rPr lang="en-US" altLang="zh-CN">
                <a:solidFill>
                  <a:srgbClr val="00B050"/>
                </a:solidFill>
                <a:latin typeface="Consolas" panose="020B0609020204030204" pitchFamily="49" charset="0"/>
              </a:rPr>
              <a:t>04</a:t>
            </a:r>
            <a:r>
              <a:rPr lang="zh-CN" altLang="en-US">
                <a:solidFill>
                  <a:srgbClr val="00B050"/>
                </a:solidFill>
                <a:latin typeface="Consolas" panose="020B0609020204030204" pitchFamily="49" charset="0"/>
              </a:rPr>
              <a:t>.cpp</a:t>
            </a:r>
          </a:p>
        </p:txBody>
      </p:sp>
    </p:spTree>
    <p:extLst>
      <p:ext uri="{BB962C8B-B14F-4D97-AF65-F5344CB8AC3E}">
        <p14:creationId xmlns:p14="http://schemas.microsoft.com/office/powerpoint/2010/main" val="1637778560"/>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92DEF7D-A0B6-4F5B-BB8C-6F55ECD6C433}"/>
              </a:ext>
            </a:extLst>
          </p:cNvPr>
          <p:cNvSpPr txBox="1"/>
          <p:nvPr>
            <p:custDataLst>
              <p:tags r:id="rId2"/>
            </p:custDataLst>
          </p:nvPr>
        </p:nvSpPr>
        <p:spPr>
          <a:xfrm>
            <a:off x="1300480" y="1675383"/>
            <a:ext cx="10403840" cy="4708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lnSpc>
                <a:spcPct val="200000"/>
              </a:lnSpc>
            </a:pPr>
            <a:r>
              <a:rPr kumimoji="0" lang="en-US" altLang="zh-CN" sz="3600" b="1" i="0" u="none" strike="noStrike" cap="none" spc="0" normalizeH="0" baseline="0">
                <a:ln>
                  <a:noFill/>
                </a:ln>
                <a:effectLst/>
                <a:uFillTx/>
                <a:latin typeface="Lucida Console" panose="020B0609040504020204" pitchFamily="49" charset="0"/>
                <a:ea typeface="Microsoft Yahei" panose="020B0503020204020204" pitchFamily="34" charset="-122"/>
                <a:sym typeface="Microsoft Yahei" panose="020B0503020204020204" pitchFamily="34" charset="-122"/>
              </a:rPr>
              <a:t>char('A'+2)</a:t>
            </a:r>
            <a:r>
              <a:rPr lang="zh-CN" altLang="en-US" sz="3600">
                <a:latin typeface="Lucida Console" panose="020B0609040504020204" pitchFamily="49" charset="0"/>
                <a:ea typeface="Microsoft Yahei" panose="020B0503020204020204" pitchFamily="34" charset="-122"/>
                <a:sym typeface="Microsoft Yahei" panose="020B0503020204020204" pitchFamily="34" charset="-122"/>
              </a:rPr>
              <a:t> 的结果：</a:t>
            </a:r>
            <a:r>
              <a:rPr lang="en-US" altLang="zh-CN" sz="3600">
                <a:solidFill>
                  <a:srgbClr val="639EF4"/>
                </a:solidFill>
                <a:latin typeface="Lucida Console" panose="020B0609040504020204" pitchFamily="49" charset="0"/>
                <a:ea typeface="Microsoft Yahei" panose="020B0503020204020204" pitchFamily="34" charset="-122"/>
                <a:sym typeface="Microsoft Yahei" panose="020B0503020204020204" pitchFamily="34" charset="-122"/>
              </a:rPr>
              <a:t>[</a:t>
            </a:r>
            <a:r>
              <a:rPr lang="zh-CN" altLang="en-US" sz="3600">
                <a:solidFill>
                  <a:srgbClr val="639EF4"/>
                </a:solidFill>
                <a:latin typeface="Lucida Console" panose="020B0609040504020204" pitchFamily="49" charset="0"/>
                <a:ea typeface="Microsoft Yahei" panose="020B0503020204020204" pitchFamily="34" charset="-122"/>
                <a:sym typeface="Microsoft Yahei" panose="020B0503020204020204" pitchFamily="34" charset="-122"/>
              </a:rPr>
              <a:t>填空</a:t>
            </a:r>
            <a:r>
              <a:rPr lang="en-US" altLang="zh-CN" sz="3600">
                <a:solidFill>
                  <a:srgbClr val="639EF4"/>
                </a:solidFill>
                <a:latin typeface="Lucida Console" panose="020B0609040504020204" pitchFamily="49" charset="0"/>
                <a:ea typeface="Microsoft Yahei" panose="020B0503020204020204" pitchFamily="34" charset="-122"/>
                <a:sym typeface="Microsoft Yahei" panose="020B0503020204020204" pitchFamily="34" charset="-122"/>
              </a:rPr>
              <a:t>1]</a:t>
            </a:r>
          </a:p>
          <a:p>
            <a:pPr algn="l">
              <a:lnSpc>
                <a:spcPct val="200000"/>
              </a:lnSpc>
            </a:pPr>
            <a:r>
              <a:rPr lang="en-US" altLang="zh-CN" sz="3600">
                <a:latin typeface="Lucida Console" panose="020B0609040504020204" pitchFamily="49" charset="0"/>
                <a:ea typeface="Microsoft Yahei" panose="020B0503020204020204" pitchFamily="34" charset="-122"/>
                <a:sym typeface="Microsoft Yahei" panose="020B0503020204020204" pitchFamily="34" charset="-122"/>
              </a:rPr>
              <a:t>int(3.14159) </a:t>
            </a:r>
            <a:r>
              <a:rPr lang="zh-CN" altLang="en-US" sz="3600">
                <a:latin typeface="Lucida Console" panose="020B0609040504020204" pitchFamily="49" charset="0"/>
                <a:ea typeface="Microsoft Yahei" panose="020B0503020204020204" pitchFamily="34" charset="-122"/>
                <a:sym typeface="Microsoft Yahei" panose="020B0503020204020204" pitchFamily="34" charset="-122"/>
              </a:rPr>
              <a:t>的结果：</a:t>
            </a:r>
            <a:r>
              <a:rPr lang="zh-CN" altLang="en-US" sz="3600">
                <a:solidFill>
                  <a:srgbClr val="639EF4"/>
                </a:solidFill>
                <a:latin typeface="Lucida Console" panose="020B0609040504020204" pitchFamily="49" charset="0"/>
                <a:ea typeface="Microsoft Yahei" panose="020B0503020204020204" pitchFamily="34" charset="-122"/>
                <a:sym typeface="Microsoft Yahei" panose="020B0503020204020204" pitchFamily="34" charset="-122"/>
              </a:rPr>
              <a:t> </a:t>
            </a:r>
            <a:r>
              <a:rPr lang="en-US" altLang="zh-CN" sz="3600">
                <a:solidFill>
                  <a:srgbClr val="639EF4"/>
                </a:solidFill>
                <a:latin typeface="Lucida Console" panose="020B0609040504020204" pitchFamily="49" charset="0"/>
                <a:ea typeface="Microsoft Yahei" panose="020B0503020204020204" pitchFamily="34" charset="-122"/>
                <a:sym typeface="Microsoft Yahei" panose="020B0503020204020204" pitchFamily="34" charset="-122"/>
              </a:rPr>
              <a:t>[</a:t>
            </a:r>
            <a:r>
              <a:rPr lang="zh-CN" altLang="en-US" sz="3600">
                <a:solidFill>
                  <a:srgbClr val="639EF4"/>
                </a:solidFill>
                <a:latin typeface="Lucida Console" panose="020B0609040504020204" pitchFamily="49" charset="0"/>
                <a:ea typeface="Microsoft Yahei" panose="020B0503020204020204" pitchFamily="34" charset="-122"/>
                <a:sym typeface="Microsoft Yahei" panose="020B0503020204020204" pitchFamily="34" charset="-122"/>
              </a:rPr>
              <a:t>填空</a:t>
            </a:r>
            <a:r>
              <a:rPr lang="en-US" altLang="zh-CN" sz="3600">
                <a:solidFill>
                  <a:srgbClr val="639EF4"/>
                </a:solidFill>
                <a:latin typeface="Lucida Console" panose="020B0609040504020204" pitchFamily="49" charset="0"/>
                <a:ea typeface="Microsoft Yahei" panose="020B0503020204020204" pitchFamily="34" charset="-122"/>
                <a:sym typeface="Microsoft Yahei" panose="020B0503020204020204" pitchFamily="34" charset="-122"/>
              </a:rPr>
              <a:t>2]</a:t>
            </a:r>
            <a:r>
              <a:rPr lang="en-US" altLang="zh-CN" sz="3600">
                <a:latin typeface="Lucida Console" panose="020B0609040504020204" pitchFamily="49" charset="0"/>
                <a:ea typeface="Microsoft Yahei" panose="020B0503020204020204" pitchFamily="34" charset="-122"/>
                <a:sym typeface="Microsoft Yahei" panose="020B0503020204020204" pitchFamily="34" charset="-122"/>
              </a:rPr>
              <a:t> </a:t>
            </a:r>
          </a:p>
          <a:p>
            <a:pPr algn="l">
              <a:lnSpc>
                <a:spcPct val="200000"/>
              </a:lnSpc>
            </a:pPr>
            <a:r>
              <a:rPr kumimoji="0" lang="en-US" altLang="zh-CN" sz="3600" b="1" i="0" u="none" strike="noStrike" cap="none" spc="0" normalizeH="0" baseline="0">
                <a:ln>
                  <a:noFill/>
                </a:ln>
                <a:effectLst/>
                <a:uFillTx/>
                <a:latin typeface="Lucida Console" panose="020B0609040504020204" pitchFamily="49" charset="0"/>
                <a:ea typeface="Microsoft Yahei" panose="020B0503020204020204" pitchFamily="34" charset="-122"/>
                <a:sym typeface="Microsoft Yahei" panose="020B0503020204020204" pitchFamily="34" charset="-122"/>
              </a:rPr>
              <a:t>int</a:t>
            </a:r>
            <a:r>
              <a:rPr lang="en-US" altLang="zh-CN" sz="3600">
                <a:latin typeface="Lucida Console" panose="020B0609040504020204" pitchFamily="49" charset="0"/>
                <a:ea typeface="Microsoft Yahei" panose="020B0503020204020204" pitchFamily="34" charset="-122"/>
                <a:sym typeface="Microsoft Yahei" panose="020B0503020204020204" pitchFamily="34" charset="-122"/>
              </a:rPr>
              <a:t>('D') </a:t>
            </a:r>
            <a:r>
              <a:rPr kumimoji="0" lang="zh-CN" altLang="en-US" sz="3600" b="1" i="0" u="none" strike="noStrike" cap="none" spc="0" normalizeH="0" baseline="0">
                <a:ln>
                  <a:noFill/>
                </a:ln>
                <a:effectLst/>
                <a:uFillTx/>
                <a:latin typeface="Lucida Console" panose="020B0609040504020204" pitchFamily="49" charset="0"/>
                <a:ea typeface="Microsoft Yahei" panose="020B0503020204020204" pitchFamily="34" charset="-122"/>
                <a:sym typeface="Microsoft Yahei" panose="020B0503020204020204" pitchFamily="34" charset="-122"/>
              </a:rPr>
              <a:t>的结果（请查教材附录</a:t>
            </a:r>
            <a:r>
              <a:rPr kumimoji="0" lang="en-US" altLang="zh-CN" sz="3600" b="1" i="0" u="none" strike="noStrike" cap="none" spc="0" normalizeH="0" baseline="0">
                <a:ln>
                  <a:noFill/>
                </a:ln>
                <a:effectLst/>
                <a:uFillTx/>
                <a:latin typeface="Lucida Console" panose="020B0609040504020204" pitchFamily="49" charset="0"/>
                <a:ea typeface="Microsoft Yahei" panose="020B0503020204020204" pitchFamily="34" charset="-122"/>
                <a:sym typeface="Microsoft Yahei" panose="020B0503020204020204" pitchFamily="34" charset="-122"/>
              </a:rPr>
              <a:t>C</a:t>
            </a:r>
            <a:r>
              <a:rPr kumimoji="0" lang="zh-CN" altLang="en-US" sz="3600" b="1" i="0" u="none" strike="noStrike" cap="none" spc="0" normalizeH="0" baseline="0">
                <a:ln>
                  <a:noFill/>
                </a:ln>
                <a:effectLst/>
                <a:uFillTx/>
                <a:latin typeface="Lucida Console" panose="020B0609040504020204" pitchFamily="49" charset="0"/>
                <a:ea typeface="Microsoft Yahei" panose="020B0503020204020204" pitchFamily="34" charset="-122"/>
                <a:sym typeface="Microsoft Yahei" panose="020B0503020204020204" pitchFamily="34" charset="-122"/>
              </a:rPr>
              <a:t>）：</a:t>
            </a:r>
            <a:r>
              <a:rPr kumimoji="0" lang="en-US" altLang="zh-CN" sz="3600" b="1" i="0" u="none" strike="noStrike" cap="none" spc="0" normalizeH="0" baseline="0">
                <a:ln>
                  <a:noFill/>
                </a:ln>
                <a:solidFill>
                  <a:srgbClr val="639EF4"/>
                </a:solidFill>
                <a:effectLst/>
                <a:uFillTx/>
                <a:latin typeface="Lucida Console" panose="020B0609040504020204" pitchFamily="49" charset="0"/>
                <a:ea typeface="Microsoft Yahei" panose="020B0503020204020204" pitchFamily="34" charset="-122"/>
                <a:sym typeface="Microsoft Yahei" panose="020B0503020204020204" pitchFamily="34" charset="-122"/>
              </a:rPr>
              <a:t>[</a:t>
            </a:r>
            <a:r>
              <a:rPr kumimoji="0" lang="zh-CN" altLang="en-US" sz="3600" b="1" i="0" u="none" strike="noStrike" cap="none" spc="0" normalizeH="0" baseline="0">
                <a:ln>
                  <a:noFill/>
                </a:ln>
                <a:solidFill>
                  <a:srgbClr val="639EF4"/>
                </a:solidFill>
                <a:effectLst/>
                <a:uFillTx/>
                <a:latin typeface="Lucida Console" panose="020B0609040504020204" pitchFamily="49" charset="0"/>
                <a:ea typeface="Microsoft Yahei" panose="020B0503020204020204" pitchFamily="34" charset="-122"/>
                <a:sym typeface="Microsoft Yahei" panose="020B0503020204020204" pitchFamily="34" charset="-122"/>
              </a:rPr>
              <a:t>填空</a:t>
            </a:r>
            <a:r>
              <a:rPr kumimoji="0" lang="en-US" altLang="zh-CN" sz="3600" b="1" i="0" u="none" strike="noStrike" cap="none" spc="0" normalizeH="0" baseline="0">
                <a:ln>
                  <a:noFill/>
                </a:ln>
                <a:solidFill>
                  <a:srgbClr val="639EF4"/>
                </a:solidFill>
                <a:effectLst/>
                <a:uFillTx/>
                <a:latin typeface="Lucida Console" panose="020B0609040504020204" pitchFamily="49" charset="0"/>
                <a:ea typeface="Microsoft Yahei" panose="020B0503020204020204" pitchFamily="34" charset="-122"/>
                <a:sym typeface="Microsoft Yahei" panose="020B0503020204020204" pitchFamily="34" charset="-122"/>
              </a:rPr>
              <a:t>3]</a:t>
            </a:r>
            <a:r>
              <a:rPr kumimoji="0" lang="en-US" altLang="zh-CN" sz="3600" b="1" i="0" u="none" strike="noStrike" cap="none" spc="0" normalizeH="0" baseline="0">
                <a:ln>
                  <a:noFill/>
                </a:ln>
                <a:effectLst/>
                <a:uFillTx/>
                <a:latin typeface="Lucida Console" panose="020B0609040504020204" pitchFamily="49" charset="0"/>
                <a:ea typeface="Microsoft Yahei" panose="020B0503020204020204" pitchFamily="34" charset="-122"/>
                <a:sym typeface="Microsoft Yahei" panose="020B0503020204020204" pitchFamily="34" charset="-122"/>
              </a:rPr>
              <a:t> </a:t>
            </a:r>
          </a:p>
          <a:p>
            <a:pPr algn="l">
              <a:lnSpc>
                <a:spcPct val="200000"/>
              </a:lnSpc>
            </a:pPr>
            <a:r>
              <a:rPr lang="en-US" altLang="zh-CN" sz="3600">
                <a:latin typeface="Lucida Console" panose="020B0609040504020204" pitchFamily="49" charset="0"/>
                <a:ea typeface="Microsoft Yahei" panose="020B0503020204020204" pitchFamily="34" charset="-122"/>
                <a:sym typeface="Microsoft Yahei" panose="020B0503020204020204" pitchFamily="34" charset="-122"/>
              </a:rPr>
              <a:t>int(3.68) </a:t>
            </a:r>
            <a:r>
              <a:rPr lang="zh-CN" altLang="en-US" sz="3600">
                <a:latin typeface="Lucida Console" panose="020B0609040504020204" pitchFamily="49" charset="0"/>
                <a:ea typeface="Microsoft Yahei" panose="020B0503020204020204" pitchFamily="34" charset="-122"/>
                <a:sym typeface="Microsoft Yahei" panose="020B0503020204020204" pitchFamily="34" charset="-122"/>
              </a:rPr>
              <a:t>的结果：</a:t>
            </a:r>
            <a:r>
              <a:rPr lang="zh-CN" altLang="en-US" sz="3600">
                <a:solidFill>
                  <a:srgbClr val="639EF4"/>
                </a:solidFill>
                <a:latin typeface="Lucida Console" panose="020B0609040504020204" pitchFamily="49" charset="0"/>
                <a:ea typeface="Microsoft Yahei" panose="020B0503020204020204" pitchFamily="34" charset="-122"/>
                <a:sym typeface="Microsoft Yahei" panose="020B0503020204020204" pitchFamily="34" charset="-122"/>
              </a:rPr>
              <a:t> </a:t>
            </a:r>
            <a:r>
              <a:rPr lang="en-US" altLang="zh-CN" sz="3600">
                <a:solidFill>
                  <a:srgbClr val="639EF4"/>
                </a:solidFill>
                <a:latin typeface="Lucida Console" panose="020B0609040504020204" pitchFamily="49" charset="0"/>
                <a:ea typeface="Microsoft Yahei" panose="020B0503020204020204" pitchFamily="34" charset="-122"/>
                <a:sym typeface="Microsoft Yahei" panose="020B0503020204020204" pitchFamily="34" charset="-122"/>
              </a:rPr>
              <a:t>[</a:t>
            </a:r>
            <a:r>
              <a:rPr lang="zh-CN" altLang="en-US" sz="3600">
                <a:solidFill>
                  <a:srgbClr val="639EF4"/>
                </a:solidFill>
                <a:latin typeface="Lucida Console" panose="020B0609040504020204" pitchFamily="49" charset="0"/>
                <a:ea typeface="Microsoft Yahei" panose="020B0503020204020204" pitchFamily="34" charset="-122"/>
                <a:sym typeface="Microsoft Yahei" panose="020B0503020204020204" pitchFamily="34" charset="-122"/>
              </a:rPr>
              <a:t>填空</a:t>
            </a:r>
            <a:r>
              <a:rPr lang="en-US" altLang="zh-CN" sz="3600">
                <a:solidFill>
                  <a:srgbClr val="639EF4"/>
                </a:solidFill>
                <a:latin typeface="Lucida Console" panose="020B0609040504020204" pitchFamily="49" charset="0"/>
                <a:ea typeface="Microsoft Yahei" panose="020B0503020204020204" pitchFamily="34" charset="-122"/>
                <a:sym typeface="Microsoft Yahei" panose="020B0503020204020204" pitchFamily="34" charset="-122"/>
              </a:rPr>
              <a:t>4]</a:t>
            </a:r>
            <a:r>
              <a:rPr lang="en-US" altLang="zh-CN" sz="3600">
                <a:latin typeface="Lucida Console" panose="020B0609040504020204" pitchFamily="49" charset="0"/>
                <a:ea typeface="Microsoft Yahei" panose="020B0503020204020204" pitchFamily="34" charset="-122"/>
                <a:sym typeface="Microsoft Yahei" panose="020B0503020204020204" pitchFamily="34" charset="-122"/>
              </a:rPr>
              <a:t> </a:t>
            </a:r>
            <a:endParaRPr kumimoji="0" lang="zh-CN" altLang="en-US" sz="3600" b="1" i="0" u="none" strike="noStrike" cap="none" spc="0" normalizeH="0" baseline="0">
              <a:ln>
                <a:noFill/>
              </a:ln>
              <a:effectLst/>
              <a:uFillTx/>
              <a:latin typeface="Lucida Console" panose="020B0609040504020204" pitchFamily="49" charset="0"/>
              <a:ea typeface="Microsoft Yahei" panose="020B0503020204020204" pitchFamily="34" charset="-122"/>
              <a:sym typeface="Microsoft Yahei" panose="020B0503020204020204" pitchFamily="34" charset="-122"/>
            </a:endParaRPr>
          </a:p>
        </p:txBody>
      </p:sp>
      <p:sp>
        <p:nvSpPr>
          <p:cNvPr id="6" name="矩形: 圆角 5">
            <a:extLst>
              <a:ext uri="{FF2B5EF4-FFF2-40B4-BE49-F238E27FC236}">
                <a16:creationId xmlns:a16="http://schemas.microsoft.com/office/drawing/2014/main" id="{AA9F45D6-884D-47D1-BD5C-33FC1620D7D0}"/>
              </a:ext>
            </a:extLst>
          </p:cNvPr>
          <p:cNvSpPr/>
          <p:nvPr>
            <p:custDataLst>
              <p:tags r:id="rId3"/>
            </p:custDataLst>
          </p:nvPr>
        </p:nvSpPr>
        <p:spPr>
          <a:xfrm>
            <a:off x="8778240" y="8839200"/>
            <a:ext cx="2194560" cy="585216"/>
          </a:xfrm>
          <a:prstGeom prst="roundRect">
            <a:avLst/>
          </a:prstGeom>
          <a:solidFill>
            <a:srgbClr val="808080"/>
          </a:solidFill>
          <a:ln w="38100" cmpd="sng">
            <a:solidFill>
              <a:srgbClr val="000000"/>
            </a:solidFill>
            <a:prstDash val="solid"/>
          </a:ln>
        </p:spPr>
        <p:txBody>
          <a:bodyPr vert="horz" rtlCol="0" anchor="ctr" anchorCtr="1">
            <a:noAutofit/>
          </a:bodyPr>
          <a:lstStyle/>
          <a:p>
            <a:pPr algn="l"/>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2" name="矩形 11">
            <a:extLst>
              <a:ext uri="{FF2B5EF4-FFF2-40B4-BE49-F238E27FC236}">
                <a16:creationId xmlns:a16="http://schemas.microsoft.com/office/drawing/2014/main" id="{10CA0E5E-DABE-4762-85CC-A1A73EE3ACA5}"/>
              </a:ext>
            </a:extLst>
          </p:cNvPr>
          <p:cNvSpPr/>
          <p:nvPr>
            <p:custDataLst>
              <p:tags r:id="rId4"/>
            </p:custDataLst>
          </p:nvPr>
        </p:nvSpPr>
        <p:spPr>
          <a:xfrm>
            <a:off x="0" y="8319008"/>
            <a:ext cx="13004800" cy="520192"/>
          </a:xfrm>
          <a:prstGeom prst="rect">
            <a:avLst/>
          </a:prstGeom>
          <a:solidFill>
            <a:srgbClr val="FBFAEF"/>
          </a:solidFill>
        </p:spPr>
        <p:txBody>
          <a:bodyPr vert="horz" wrap="none" rtlCol="0" anchor="ctr" anchorCtr="1">
            <a:noAutofit/>
          </a:bodyPr>
          <a:lstStyle/>
          <a:p>
            <a:pPr algn="l"/>
            <a:r>
              <a:rPr lang="zh-CN" altLang="en-US" sz="1707">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707">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707">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1" name="组合 10">
            <a:extLst>
              <a:ext uri="{FF2B5EF4-FFF2-40B4-BE49-F238E27FC236}">
                <a16:creationId xmlns:a16="http://schemas.microsoft.com/office/drawing/2014/main" id="{8DD9ADB7-2215-46E3-B1B6-08C3CF075EE2}"/>
              </a:ext>
            </a:extLst>
          </p:cNvPr>
          <p:cNvGrpSpPr/>
          <p:nvPr>
            <p:custDataLst>
              <p:tags r:id="rId5"/>
            </p:custDataLst>
          </p:nvPr>
        </p:nvGrpSpPr>
        <p:grpSpPr>
          <a:xfrm>
            <a:off x="0" y="0"/>
            <a:ext cx="13004800" cy="635000"/>
            <a:chOff x="0" y="0"/>
            <a:chExt cx="13004800" cy="635000"/>
          </a:xfrm>
        </p:grpSpPr>
        <p:sp>
          <p:nvSpPr>
            <p:cNvPr id="7" name="TitleBackground">
              <a:extLst>
                <a:ext uri="{FF2B5EF4-FFF2-40B4-BE49-F238E27FC236}">
                  <a16:creationId xmlns:a16="http://schemas.microsoft.com/office/drawing/2014/main" id="{1DEB4FE9-B8E5-4114-96EB-6F9CCFFB504E}"/>
                </a:ext>
              </a:extLst>
            </p:cNvPr>
            <p:cNvSpPr/>
            <p:nvPr>
              <p:custDataLst>
                <p:tags r:id="rId7"/>
              </p:custDataLst>
            </p:nvPr>
          </p:nvSpPr>
          <p:spPr>
            <a:xfrm>
              <a:off x="0" y="0"/>
              <a:ext cx="13004800" cy="635000"/>
            </a:xfrm>
            <a:prstGeom prst="rect">
              <a:avLst/>
            </a:prstGeom>
            <a:solidFill>
              <a:srgbClr val="F6F7F8"/>
            </a:solidFill>
          </p:spPr>
          <p:txBody>
            <a:bodyPr rtlCol="0" anchor="ctr">
              <a:spAutoFit/>
            </a:bodyPr>
            <a:lstStyle/>
            <a:p>
              <a:pPr algn="l"/>
              <a:endParaRPr lang="zh-CN" altLang="en-US">
                <a:latin typeface="Consolas" panose="020B0609020204030204" pitchFamily="49" charset="0"/>
              </a:endParaRPr>
            </a:p>
          </p:txBody>
        </p:sp>
        <p:sp>
          <p:nvSpPr>
            <p:cNvPr id="8" name="ColorBlock">
              <a:extLst>
                <a:ext uri="{FF2B5EF4-FFF2-40B4-BE49-F238E27FC236}">
                  <a16:creationId xmlns:a16="http://schemas.microsoft.com/office/drawing/2014/main" id="{EEB57BE1-2549-4C00-925D-83CDA4DBA7D8}"/>
                </a:ext>
              </a:extLst>
            </p:cNvPr>
            <p:cNvSpPr/>
            <p:nvPr>
              <p:custDataLst>
                <p:tags r:id="rId8"/>
              </p:custDataLst>
            </p:nvPr>
          </p:nvSpPr>
          <p:spPr>
            <a:xfrm>
              <a:off x="0" y="0"/>
              <a:ext cx="190500" cy="635000"/>
            </a:xfrm>
            <a:prstGeom prst="rect">
              <a:avLst/>
            </a:prstGeom>
            <a:solidFill>
              <a:srgbClr val="639EF4"/>
            </a:solidFill>
          </p:spPr>
          <p:txBody>
            <a:bodyPr rtlCol="0" anchor="ctr">
              <a:spAutoFit/>
            </a:bodyPr>
            <a:lstStyle/>
            <a:p>
              <a:pPr algn="l"/>
              <a:endParaRPr lang="zh-CN" altLang="en-US">
                <a:latin typeface="Consolas" panose="020B0609020204030204" pitchFamily="49" charset="0"/>
              </a:endParaRPr>
            </a:p>
          </p:txBody>
        </p:sp>
        <p:sp>
          <p:nvSpPr>
            <p:cNvPr id="9" name="TypeText">
              <a:extLst>
                <a:ext uri="{FF2B5EF4-FFF2-40B4-BE49-F238E27FC236}">
                  <a16:creationId xmlns:a16="http://schemas.microsoft.com/office/drawing/2014/main" id="{BECD0AC9-CFC9-43DB-A030-87BCEF19ECD6}"/>
                </a:ext>
              </a:extLst>
            </p:cNvPr>
            <p:cNvSpPr txBox="1"/>
            <p:nvPr>
              <p:custDataLst>
                <p:tags r:id="rId9"/>
              </p:custDataLst>
            </p:nvPr>
          </p:nvSpPr>
          <p:spPr>
            <a:xfrm>
              <a:off x="254000" y="0"/>
              <a:ext cx="1905000" cy="635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填空题</a:t>
              </a:r>
            </a:p>
          </p:txBody>
        </p:sp>
        <p:sp>
          <p:nvSpPr>
            <p:cNvPr id="10" name="TipText">
              <a:extLst>
                <a:ext uri="{FF2B5EF4-FFF2-40B4-BE49-F238E27FC236}">
                  <a16:creationId xmlns:a16="http://schemas.microsoft.com/office/drawing/2014/main" id="{421A551D-529C-4F75-8117-9BBEF684940C}"/>
                </a:ext>
              </a:extLst>
            </p:cNvPr>
            <p:cNvSpPr txBox="1"/>
            <p:nvPr>
              <p:custDataLst>
                <p:tags r:id="rId10"/>
              </p:custDataLst>
            </p:nvPr>
          </p:nvSpPr>
          <p:spPr>
            <a:xfrm>
              <a:off x="1444625" y="109220"/>
              <a:ext cx="2286000" cy="508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a:r>
                <a:rPr kumimoji="0" lang="en-US" altLang="zh-CN" sz="2000" b="1"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4</a:t>
              </a:r>
              <a:r>
                <a:rPr kumimoji="0" lang="zh-CN" altLang="en-US" sz="2000" b="1"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分</a:t>
              </a:r>
            </a:p>
          </p:txBody>
        </p:sp>
      </p:grpSp>
      <p:pic>
        <p:nvPicPr>
          <p:cNvPr id="4" name="图片 3">
            <a:extLst>
              <a:ext uri="{FF2B5EF4-FFF2-40B4-BE49-F238E27FC236}">
                <a16:creationId xmlns:a16="http://schemas.microsoft.com/office/drawing/2014/main" id="{BC34A41F-BC98-4115-8616-EBBD87D46A23}"/>
              </a:ext>
            </a:extLst>
          </p:cNvPr>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1455400" y="63500"/>
            <a:ext cx="1422400" cy="508000"/>
          </a:xfrm>
          <a:prstGeom prst="rect">
            <a:avLst/>
          </a:prstGeom>
        </p:spPr>
      </p:pic>
    </p:spTree>
    <p:custDataLst>
      <p:tags r:id="rId1"/>
    </p:custDataLst>
    <p:extLst>
      <p:ext uri="{BB962C8B-B14F-4D97-AF65-F5344CB8AC3E}">
        <p14:creationId xmlns:p14="http://schemas.microsoft.com/office/powerpoint/2010/main" val="3652142288"/>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2"/>
          <p:cNvSpPr txBox="1">
            <a:spLocks noGrp="1"/>
          </p:cNvSpPr>
          <p:nvPr>
            <p:ph type="sldNum" sz="quarter" idx="2"/>
          </p:nvPr>
        </p:nvSpPr>
        <p:spPr>
          <a:xfrm>
            <a:off x="12555613" y="9176053"/>
            <a:ext cx="310413"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54</a:t>
            </a:fld>
            <a:endParaRPr/>
          </a:p>
        </p:txBody>
      </p:sp>
      <p:sp>
        <p:nvSpPr>
          <p:cNvPr id="39" name="标题 1"/>
          <p:cNvSpPr txBox="1">
            <a:spLocks noGrp="1"/>
          </p:cNvSpPr>
          <p:nvPr>
            <p:ph type="title"/>
          </p:nvPr>
        </p:nvSpPr>
        <p:spPr>
          <a:xfrm>
            <a:off x="9232511" y="631923"/>
            <a:ext cx="3223687" cy="555596"/>
          </a:xfrm>
          <a:prstGeom prst="rect">
            <a:avLst/>
          </a:prstGeom>
          <a:solidFill>
            <a:schemeClr val="accent3">
              <a:lumMod val="20000"/>
              <a:lumOff val="80000"/>
            </a:schemeClr>
          </a:solidFill>
          <a:effectLst>
            <a:outerShdw blurRad="266700" dir="5400000" rotWithShape="0">
              <a:srgbClr val="000000"/>
            </a:outerShdw>
          </a:effectLst>
        </p:spPr>
        <p:txBody>
          <a:bodyPr/>
          <a:lstStyle/>
          <a:p>
            <a:r>
              <a:rPr lang="zh-CN" altLang="en-US" sz="3200">
                <a:solidFill>
                  <a:schemeClr val="tx1">
                    <a:lumMod val="95000"/>
                    <a:lumOff val="5000"/>
                  </a:schemeClr>
                </a:solidFill>
              </a:rPr>
              <a:t>上周</a:t>
            </a:r>
            <a:r>
              <a:rPr sz="3200">
                <a:solidFill>
                  <a:schemeClr val="tx1">
                    <a:lumMod val="95000"/>
                    <a:lumOff val="5000"/>
                  </a:schemeClr>
                </a:solidFill>
              </a:rPr>
              <a:t>思考题</a:t>
            </a:r>
            <a:r>
              <a:rPr lang="zh-CN" altLang="en-US" sz="3200">
                <a:solidFill>
                  <a:schemeClr val="tx1">
                    <a:lumMod val="95000"/>
                    <a:lumOff val="5000"/>
                  </a:schemeClr>
                </a:solidFill>
              </a:rPr>
              <a:t>解答</a:t>
            </a:r>
            <a:endParaRPr sz="3200">
              <a:solidFill>
                <a:schemeClr val="tx1">
                  <a:lumMod val="95000"/>
                  <a:lumOff val="5000"/>
                </a:schemeClr>
              </a:solidFill>
            </a:endParaRPr>
          </a:p>
        </p:txBody>
      </p:sp>
      <p:sp>
        <p:nvSpPr>
          <p:cNvPr id="40" name="如果游戏中的最大数（比如100）允许用户自由来设定，又该如何编程来生成所需的卡片呢？"/>
          <p:cNvSpPr txBox="1">
            <a:spLocks noGrp="1"/>
          </p:cNvSpPr>
          <p:nvPr>
            <p:ph type="body" sz="quarter" idx="4294967295"/>
          </p:nvPr>
        </p:nvSpPr>
        <p:spPr>
          <a:xfrm>
            <a:off x="548602" y="2104582"/>
            <a:ext cx="11907596" cy="2264218"/>
          </a:xfrm>
          <a:prstGeom prst="rect">
            <a:avLst/>
          </a:prstGeom>
          <a:solidFill>
            <a:srgbClr val="D6D5D5"/>
          </a:solidFill>
        </p:spPr>
        <p:txBody>
          <a:bodyPr lIns="65022" tIns="65022" rIns="65022" bIns="65022" anchor="t">
            <a:noAutofit/>
          </a:bodyPr>
          <a:lstStyle>
            <a:lvl1pPr marL="0" indent="1086875">
              <a:spcBef>
                <a:spcPts val="0"/>
              </a:spcBef>
              <a:buSzTx/>
              <a:buNone/>
              <a:defRPr sz="4200">
                <a:latin typeface="+mn-lt"/>
                <a:ea typeface="+mn-ea"/>
                <a:cs typeface="+mn-cs"/>
                <a:sym typeface="Helvetica Neue Medium"/>
              </a:defRPr>
            </a:lvl1pPr>
          </a:lstStyle>
          <a:p>
            <a:pPr>
              <a:lnSpc>
                <a:spcPct val="150000"/>
              </a:lnSpc>
            </a:pPr>
            <a:r>
              <a:t>如果游戏中的最大数（比如100）允许用户自由来设定，又该如何编程来</a:t>
            </a:r>
            <a:r>
              <a:rPr>
                <a:solidFill>
                  <a:srgbClr val="FF0000"/>
                </a:solidFill>
              </a:rPr>
              <a:t>生成</a:t>
            </a:r>
            <a:r>
              <a:t>所需的</a:t>
            </a:r>
            <a:r>
              <a:rPr>
                <a:solidFill>
                  <a:srgbClr val="FF0000"/>
                </a:solidFill>
              </a:rPr>
              <a:t>卡片</a:t>
            </a:r>
            <a:r>
              <a:t>呢？</a:t>
            </a:r>
          </a:p>
        </p:txBody>
      </p:sp>
      <p:sp>
        <p:nvSpPr>
          <p:cNvPr id="3" name="箭头: 右 2">
            <a:extLst>
              <a:ext uri="{FF2B5EF4-FFF2-40B4-BE49-F238E27FC236}">
                <a16:creationId xmlns:a16="http://schemas.microsoft.com/office/drawing/2014/main" id="{23F6162D-7BCC-412F-BE9B-0C32362D0F36}"/>
              </a:ext>
            </a:extLst>
          </p:cNvPr>
          <p:cNvSpPr/>
          <p:nvPr/>
        </p:nvSpPr>
        <p:spPr>
          <a:xfrm rot="5400000">
            <a:off x="5400040" y="5354320"/>
            <a:ext cx="2204720" cy="1249680"/>
          </a:xfrm>
          <a:prstGeom prst="rightArrow">
            <a:avLst>
              <a:gd name="adj1" fmla="val 50000"/>
              <a:gd name="adj2" fmla="val 58130"/>
            </a:avLst>
          </a:prstGeom>
          <a:solidFill>
            <a:srgbClr val="00B0F0"/>
          </a:solidFill>
        </p:spPr>
        <p:txBody>
          <a:bodyPr rtlCol="0" anchor="ctr">
            <a:spAutoFit/>
          </a:bodyPr>
          <a:lstStyle/>
          <a:p>
            <a:pPr algn="l"/>
            <a:endParaRPr lang="zh-CN" altLang="en-US">
              <a:latin typeface="Consolas" panose="020B0609020204030204" pitchFamily="49" charset="0"/>
            </a:endParaRPr>
          </a:p>
        </p:txBody>
      </p:sp>
      <p:sp>
        <p:nvSpPr>
          <p:cNvPr id="10" name="文本框 9">
            <a:extLst>
              <a:ext uri="{FF2B5EF4-FFF2-40B4-BE49-F238E27FC236}">
                <a16:creationId xmlns:a16="http://schemas.microsoft.com/office/drawing/2014/main" id="{CCF1B8F3-ED11-431D-BF47-84C1EB514261}"/>
              </a:ext>
            </a:extLst>
          </p:cNvPr>
          <p:cNvSpPr txBox="1"/>
          <p:nvPr/>
        </p:nvSpPr>
        <p:spPr>
          <a:xfrm>
            <a:off x="267339" y="7950611"/>
            <a:ext cx="12737461"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4400" b="1" i="0" u="none" strike="noStrike" cap="none" spc="0" normalizeH="0" baseline="0">
                <a:ln>
                  <a:noFill/>
                </a:ln>
                <a:solidFill>
                  <a:srgbClr val="000000"/>
                </a:solidFill>
                <a:effectLst/>
                <a:uFillTx/>
                <a:latin typeface="Helvetica Neue"/>
                <a:ea typeface="Helvetica Neue"/>
                <a:cs typeface="Helvetica Neue"/>
                <a:sym typeface="Helvetica Neue"/>
              </a:rPr>
              <a:t>【</a:t>
            </a:r>
            <a:r>
              <a:rPr kumimoji="0" lang="zh-CN" altLang="en-US" sz="4400" b="1" i="0" u="none" strike="noStrike" cap="none" spc="0" normalizeH="0" baseline="0">
                <a:ln>
                  <a:noFill/>
                </a:ln>
                <a:solidFill>
                  <a:srgbClr val="000000"/>
                </a:solidFill>
                <a:effectLst/>
                <a:uFillTx/>
                <a:latin typeface="Helvetica Neue"/>
                <a:ea typeface="Helvetica Neue"/>
                <a:cs typeface="Helvetica Neue"/>
                <a:sym typeface="Helvetica Neue"/>
              </a:rPr>
              <a:t>任务</a:t>
            </a:r>
            <a:r>
              <a:rPr lang="en-US" altLang="zh-CN" sz="4400"/>
              <a:t>3.2】</a:t>
            </a:r>
            <a:r>
              <a:rPr kumimoji="0" lang="zh-CN" altLang="en-US" sz="4400" b="1" i="0" u="none" strike="noStrike" cap="none" spc="0" normalizeH="0" baseline="0">
                <a:ln>
                  <a:noFill/>
                </a:ln>
                <a:solidFill>
                  <a:srgbClr val="000000"/>
                </a:solidFill>
                <a:effectLst/>
                <a:uFillTx/>
                <a:latin typeface="Helvetica Neue"/>
                <a:ea typeface="Helvetica Neue"/>
                <a:cs typeface="Helvetica Neue"/>
                <a:sym typeface="Helvetica Neue"/>
              </a:rPr>
              <a:t>编程输出</a:t>
            </a:r>
            <a:r>
              <a:rPr kumimoji="0" lang="zh-CN" altLang="en-US" sz="4400" b="1" i="0" u="none" strike="noStrike" cap="none" spc="0" normalizeH="0" baseline="0">
                <a:ln>
                  <a:noFill/>
                </a:ln>
                <a:solidFill>
                  <a:srgbClr val="000000"/>
                </a:solidFill>
                <a:effectLst/>
                <a:highlight>
                  <a:srgbClr val="FFFF00"/>
                </a:highlight>
                <a:uFillTx/>
                <a:latin typeface="Helvetica Neue"/>
                <a:ea typeface="Helvetica Neue"/>
                <a:cs typeface="Helvetica Neue"/>
                <a:sym typeface="Helvetica Neue"/>
              </a:rPr>
              <a:t>猜姓氏游戏</a:t>
            </a:r>
            <a:r>
              <a:rPr kumimoji="0" lang="zh-CN" altLang="en-US" sz="4400" b="1" i="0" u="none" strike="noStrike" cap="none" spc="0" normalizeH="0" baseline="0">
                <a:ln>
                  <a:noFill/>
                </a:ln>
                <a:solidFill>
                  <a:srgbClr val="000000"/>
                </a:solidFill>
                <a:effectLst/>
                <a:uFillTx/>
                <a:latin typeface="Helvetica Neue"/>
                <a:ea typeface="Helvetica Neue"/>
                <a:cs typeface="Helvetica Neue"/>
                <a:sym typeface="Helvetica Neue"/>
              </a:rPr>
              <a:t>中卡片上的数字</a:t>
            </a:r>
            <a:r>
              <a:rPr lang="zh-CN" altLang="en-US" sz="4400"/>
              <a:t>。</a:t>
            </a:r>
            <a:endParaRPr kumimoji="0" lang="zh-CN" altLang="en-US" sz="4400" b="1"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2" name="矩形 1">
            <a:extLst>
              <a:ext uri="{FF2B5EF4-FFF2-40B4-BE49-F238E27FC236}">
                <a16:creationId xmlns:a16="http://schemas.microsoft.com/office/drawing/2014/main" id="{C99C5207-C98F-4CE5-BDF3-EA2119174806}"/>
              </a:ext>
            </a:extLst>
          </p:cNvPr>
          <p:cNvSpPr/>
          <p:nvPr/>
        </p:nvSpPr>
        <p:spPr>
          <a:xfrm>
            <a:off x="2459889" y="5563661"/>
            <a:ext cx="2955391" cy="830997"/>
          </a:xfrm>
          <a:prstGeom prst="rect">
            <a:avLst/>
          </a:prstGeom>
        </p:spPr>
        <p:txBody>
          <a:bodyPr wrap="square">
            <a:spAutoFit/>
          </a:bodyPr>
          <a:lstStyle/>
          <a:p>
            <a:r>
              <a:rPr lang="zh-CN" altLang="en-US" b="0">
                <a:solidFill>
                  <a:srgbClr val="00B0F0"/>
                </a:solidFill>
              </a:rPr>
              <a:t>用姓氏序号</a:t>
            </a:r>
            <a:r>
              <a:rPr lang="en-US" altLang="zh-CN" b="0">
                <a:solidFill>
                  <a:srgbClr val="00B0F0"/>
                </a:solidFill>
              </a:rPr>
              <a:t>1~100</a:t>
            </a:r>
            <a:r>
              <a:rPr lang="zh-CN" altLang="en-US" b="0">
                <a:solidFill>
                  <a:srgbClr val="00B0F0"/>
                </a:solidFill>
              </a:rPr>
              <a:t>来代表各姓氏</a:t>
            </a:r>
            <a:endParaRPr lang="zh-CN" altLang="en-US">
              <a:solidFill>
                <a:srgbClr val="00B0F0"/>
              </a:solidFill>
            </a:endParaRPr>
          </a:p>
        </p:txBody>
      </p:sp>
      <p:sp>
        <p:nvSpPr>
          <p:cNvPr id="8" name="【任务3.2】谁做的坏事？">
            <a:extLst>
              <a:ext uri="{FF2B5EF4-FFF2-40B4-BE49-F238E27FC236}">
                <a16:creationId xmlns:a16="http://schemas.microsoft.com/office/drawing/2014/main" id="{E42BA4BB-3F24-41C9-A510-92B1785D9629}"/>
              </a:ext>
            </a:extLst>
          </p:cNvPr>
          <p:cNvSpPr txBox="1">
            <a:spLocks/>
          </p:cNvSpPr>
          <p:nvPr/>
        </p:nvSpPr>
        <p:spPr>
          <a:xfrm>
            <a:off x="547201" y="354125"/>
            <a:ext cx="7707799" cy="1152045"/>
          </a:xfrm>
          <a:prstGeom prst="rect">
            <a:avLst/>
          </a:prstGeom>
          <a:solidFill>
            <a:schemeClr val="accent5">
              <a:hueOff val="-82419"/>
              <a:satOff val="-9513"/>
              <a:lumOff val="-16343"/>
            </a:schemeClr>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ctr">
            <a:noAutofit/>
          </a:bodyPr>
          <a:lstStyle>
            <a:lvl1pPr marL="0" marR="0" indent="0" algn="ctr" defTabSz="584200" rtl="0" latinLnBrk="0">
              <a:lnSpc>
                <a:spcPct val="100000"/>
              </a:lnSpc>
              <a:spcBef>
                <a:spcPts val="0"/>
              </a:spcBef>
              <a:spcAft>
                <a:spcPts val="0"/>
              </a:spcAft>
              <a:buClrTx/>
              <a:buSzTx/>
              <a:buFontTx/>
              <a:buNone/>
              <a:tabLst/>
              <a:defRPr sz="4600" b="0" i="0" u="none" strike="noStrike" cap="none" spc="0" baseline="0">
                <a:solidFill>
                  <a:srgbClr val="FFFFFF"/>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l" hangingPunct="1"/>
            <a:r>
              <a:rPr lang="en-US" altLang="zh-CN"/>
              <a:t>【</a:t>
            </a:r>
            <a:r>
              <a:rPr lang="zh-CN" altLang="en-US"/>
              <a:t>任务</a:t>
            </a:r>
            <a:r>
              <a:rPr lang="en-US" altLang="zh-CN"/>
              <a:t>3.2】</a:t>
            </a:r>
            <a:r>
              <a:rPr lang="zh-CN" altLang="en-US"/>
              <a:t>百家姓游戏卡片</a:t>
            </a:r>
          </a:p>
        </p:txBody>
      </p:sp>
      <p:sp>
        <p:nvSpPr>
          <p:cNvPr id="4" name="文本框 3">
            <a:extLst>
              <a:ext uri="{FF2B5EF4-FFF2-40B4-BE49-F238E27FC236}">
                <a16:creationId xmlns:a16="http://schemas.microsoft.com/office/drawing/2014/main" id="{841B68B6-86CC-F37A-15DB-A4C8E763F467}"/>
              </a:ext>
            </a:extLst>
          </p:cNvPr>
          <p:cNvSpPr txBox="1"/>
          <p:nvPr/>
        </p:nvSpPr>
        <p:spPr>
          <a:xfrm>
            <a:off x="8080000" y="4813939"/>
            <a:ext cx="4376198" cy="471924"/>
          </a:xfrm>
          <a:prstGeom prst="rect">
            <a:avLst/>
          </a:prstGeom>
          <a:solidFill>
            <a:schemeClr val="accent6">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zh-CN" altLang="en-US" sz="2000" b="0" u="none" strike="noStrike" cap="none" spc="0" normalizeH="0" baseline="0">
                <a:ln>
                  <a:noFill/>
                </a:ln>
                <a:solidFill>
                  <a:srgbClr val="000000"/>
                </a:solidFill>
                <a:effectLst/>
                <a:uFillTx/>
                <a:latin typeface="Consolas" panose="020B0609020204030204" pitchFamily="49" charset="0"/>
                <a:sym typeface="Helvetica Neue"/>
              </a:rPr>
              <a:t>“生成”不是指制造出带有数字的纸张！</a:t>
            </a:r>
            <a:endParaRPr kumimoji="0" lang="zh-CN" altLang="en-US" sz="2000" b="0" u="none" strike="noStrike" cap="none" spc="0" normalizeH="0" baseline="0" dirty="0">
              <a:ln>
                <a:noFill/>
              </a:ln>
              <a:solidFill>
                <a:srgbClr val="000000"/>
              </a:solidFill>
              <a:effectLst/>
              <a:uFillTx/>
              <a:latin typeface="Consolas" panose="020B0609020204030204" pitchFamily="49" charset="0"/>
              <a:sym typeface="Helvetica Neue"/>
            </a:endParaRPr>
          </a:p>
        </p:txBody>
      </p:sp>
      <p:cxnSp>
        <p:nvCxnSpPr>
          <p:cNvPr id="6" name="直接箭头连接符 5">
            <a:extLst>
              <a:ext uri="{FF2B5EF4-FFF2-40B4-BE49-F238E27FC236}">
                <a16:creationId xmlns:a16="http://schemas.microsoft.com/office/drawing/2014/main" id="{5B90B830-8450-2C9F-F470-6CAE1CD8296E}"/>
              </a:ext>
            </a:extLst>
          </p:cNvPr>
          <p:cNvCxnSpPr>
            <a:stCxn id="4" idx="1"/>
          </p:cNvCxnSpPr>
          <p:nvPr/>
        </p:nvCxnSpPr>
        <p:spPr>
          <a:xfrm flipH="1" flipV="1">
            <a:off x="7523409" y="4071068"/>
            <a:ext cx="556591" cy="97883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55</a:t>
            </a:fld>
            <a:endParaRPr/>
          </a:p>
        </p:txBody>
      </p:sp>
      <p:sp>
        <p:nvSpPr>
          <p:cNvPr id="203" name="【任务3.2】谁做的坏事？"/>
          <p:cNvSpPr>
            <a:spLocks noGrp="1"/>
          </p:cNvSpPr>
          <p:nvPr>
            <p:ph type="title"/>
          </p:nvPr>
        </p:nvSpPr>
        <p:spPr>
          <a:xfrm>
            <a:off x="547200" y="354125"/>
            <a:ext cx="10255993" cy="1152045"/>
          </a:xfrm>
          <a:prstGeom prst="rect">
            <a:avLst/>
          </a:prstGeom>
        </p:spPr>
        <p:txBody>
          <a:bodyPr/>
          <a:lstStyle/>
          <a:p>
            <a:r>
              <a:rPr lang="zh-CN" altLang="en-US"/>
              <a:t>程序设计策略：自顶向下，逐步求精</a:t>
            </a:r>
            <a:endParaRPr/>
          </a:p>
        </p:txBody>
      </p:sp>
      <p:sp>
        <p:nvSpPr>
          <p:cNvPr id="2" name="矩形 1">
            <a:extLst>
              <a:ext uri="{FF2B5EF4-FFF2-40B4-BE49-F238E27FC236}">
                <a16:creationId xmlns:a16="http://schemas.microsoft.com/office/drawing/2014/main" id="{24A1BBD6-7741-4E47-AEE1-84FDE8B02936}"/>
              </a:ext>
            </a:extLst>
          </p:cNvPr>
          <p:cNvSpPr/>
          <p:nvPr/>
        </p:nvSpPr>
        <p:spPr>
          <a:xfrm>
            <a:off x="619760" y="2226608"/>
            <a:ext cx="11470640" cy="7294305"/>
          </a:xfrm>
          <a:prstGeom prst="rect">
            <a:avLst/>
          </a:prstGeom>
        </p:spPr>
        <p:txBody>
          <a:bodyPr wrap="square">
            <a:spAutoFit/>
          </a:bodyPr>
          <a:lstStyle/>
          <a:p>
            <a:pPr algn="l">
              <a:lnSpc>
                <a:spcPct val="120000"/>
              </a:lnSpc>
            </a:pPr>
            <a:r>
              <a:rPr lang="zh-CN" altLang="en-US" sz="2800">
                <a:solidFill>
                  <a:srgbClr val="0070C0"/>
                </a:solidFill>
                <a:latin typeface="Consolas" panose="020B0609020204030204" pitchFamily="49" charset="0"/>
              </a:rPr>
              <a:t>#include &lt;iostream&gt;</a:t>
            </a:r>
          </a:p>
          <a:p>
            <a:pPr algn="l">
              <a:lnSpc>
                <a:spcPct val="120000"/>
              </a:lnSpc>
            </a:pPr>
            <a:r>
              <a:rPr lang="zh-CN" altLang="en-US" sz="2800">
                <a:solidFill>
                  <a:srgbClr val="0070C0"/>
                </a:solidFill>
                <a:latin typeface="Consolas" panose="020B0609020204030204" pitchFamily="49" charset="0"/>
              </a:rPr>
              <a:t>using namespace std;</a:t>
            </a:r>
          </a:p>
          <a:p>
            <a:pPr algn="l">
              <a:lnSpc>
                <a:spcPct val="120000"/>
              </a:lnSpc>
            </a:pPr>
            <a:endParaRPr lang="zh-CN" altLang="en-US" sz="2800">
              <a:solidFill>
                <a:srgbClr val="0070C0"/>
              </a:solidFill>
              <a:latin typeface="Consolas" panose="020B0609020204030204" pitchFamily="49" charset="0"/>
            </a:endParaRPr>
          </a:p>
          <a:p>
            <a:pPr algn="l">
              <a:lnSpc>
                <a:spcPct val="120000"/>
              </a:lnSpc>
            </a:pPr>
            <a:r>
              <a:rPr lang="zh-CN" altLang="en-US" sz="2800">
                <a:solidFill>
                  <a:srgbClr val="0070C0"/>
                </a:solidFill>
                <a:latin typeface="Consolas" panose="020B0609020204030204" pitchFamily="49" charset="0"/>
              </a:rPr>
              <a:t>int main() </a:t>
            </a:r>
            <a:endParaRPr lang="zh-CN" altLang="en-US" sz="2800" u="sng">
              <a:solidFill>
                <a:srgbClr val="0070C0"/>
              </a:solidFill>
              <a:latin typeface="Consolas" panose="020B0609020204030204" pitchFamily="49" charset="0"/>
            </a:endParaRPr>
          </a:p>
          <a:p>
            <a:pPr algn="l">
              <a:lnSpc>
                <a:spcPct val="120000"/>
              </a:lnSpc>
            </a:pPr>
            <a:r>
              <a:rPr lang="zh-CN" altLang="en-US" sz="2800" u="sng">
                <a:solidFill>
                  <a:srgbClr val="0070C0"/>
                </a:solidFill>
                <a:latin typeface="Consolas" panose="020B0609020204030204" pitchFamily="49" charset="0"/>
              </a:rPr>
              <a:t>{</a:t>
            </a:r>
          </a:p>
          <a:p>
            <a:pPr algn="l">
              <a:lnSpc>
                <a:spcPct val="120000"/>
              </a:lnSpc>
            </a:pPr>
            <a:r>
              <a:rPr lang="zh-CN" altLang="en-US" sz="2800">
                <a:solidFill>
                  <a:srgbClr val="0070C0"/>
                </a:solidFill>
                <a:latin typeface="Consolas" panose="020B0609020204030204" pitchFamily="49" charset="0"/>
              </a:rPr>
              <a:t>    for (int m=0; m&lt;7; m++) </a:t>
            </a:r>
            <a:r>
              <a:rPr lang="en-US" altLang="zh-CN" sz="2800" b="0">
                <a:solidFill>
                  <a:srgbClr val="00B050"/>
                </a:solidFill>
                <a:latin typeface="Consolas" panose="020B0609020204030204" pitchFamily="49" charset="0"/>
              </a:rPr>
              <a:t>// m </a:t>
            </a:r>
            <a:r>
              <a:rPr lang="zh-CN" altLang="en-US" sz="2800" b="0">
                <a:solidFill>
                  <a:srgbClr val="00B050"/>
                </a:solidFill>
                <a:latin typeface="Consolas" panose="020B0609020204030204" pitchFamily="49" charset="0"/>
              </a:rPr>
              <a:t>是卡片编号</a:t>
            </a:r>
          </a:p>
          <a:p>
            <a:pPr algn="l">
              <a:lnSpc>
                <a:spcPct val="120000"/>
              </a:lnSpc>
            </a:pPr>
            <a:r>
              <a:rPr lang="zh-CN" altLang="en-US" sz="2800">
                <a:solidFill>
                  <a:srgbClr val="0070C0"/>
                </a:solidFill>
                <a:latin typeface="Consolas" panose="020B0609020204030204" pitchFamily="49" charset="0"/>
              </a:rPr>
              <a:t>    {</a:t>
            </a:r>
          </a:p>
          <a:p>
            <a:pPr algn="l">
              <a:lnSpc>
                <a:spcPct val="120000"/>
              </a:lnSpc>
            </a:pPr>
            <a:r>
              <a:rPr lang="zh-CN" altLang="en-US" sz="2800">
                <a:solidFill>
                  <a:srgbClr val="0070C0"/>
                </a:solidFill>
                <a:latin typeface="Consolas" panose="020B0609020204030204" pitchFamily="49" charset="0"/>
              </a:rPr>
              <a:t>        cout &lt;&lt; "CARD " &lt;&lt; m &lt;&lt; endl;</a:t>
            </a:r>
          </a:p>
          <a:p>
            <a:pPr algn="l">
              <a:lnSpc>
                <a:spcPct val="120000"/>
              </a:lnSpc>
            </a:pPr>
            <a:r>
              <a:rPr lang="zh-CN" altLang="en-US" sz="2800">
                <a:solidFill>
                  <a:srgbClr val="0070C0"/>
                </a:solidFill>
                <a:latin typeface="Consolas" panose="020B0609020204030204" pitchFamily="49" charset="0"/>
              </a:rPr>
              <a:t>        </a:t>
            </a:r>
            <a:r>
              <a:rPr lang="zh-CN" altLang="en-US" sz="2800">
                <a:solidFill>
                  <a:schemeClr val="accent6">
                    <a:lumMod val="75000"/>
                  </a:schemeClr>
                </a:solidFill>
                <a:latin typeface="Consolas" panose="020B0609020204030204" pitchFamily="49" charset="0"/>
              </a:rPr>
              <a:t>for (int i = 1; i &lt;= 100; i++)</a:t>
            </a:r>
          </a:p>
          <a:p>
            <a:pPr algn="l">
              <a:lnSpc>
                <a:spcPct val="120000"/>
              </a:lnSpc>
            </a:pPr>
            <a:r>
              <a:rPr lang="zh-CN" altLang="en-US" sz="2800">
                <a:solidFill>
                  <a:schemeClr val="accent6">
                    <a:lumMod val="75000"/>
                  </a:schemeClr>
                </a:solidFill>
                <a:latin typeface="Consolas" panose="020B0609020204030204" pitchFamily="49" charset="0"/>
              </a:rPr>
              <a:t>            </a:t>
            </a:r>
            <a:r>
              <a:rPr lang="zh-CN" altLang="en-US" sz="2800">
                <a:solidFill>
                  <a:schemeClr val="accent6">
                    <a:lumMod val="75000"/>
                  </a:schemeClr>
                </a:solidFill>
                <a:highlight>
                  <a:srgbClr val="FFFF00"/>
                </a:highlight>
                <a:latin typeface="Consolas" panose="020B0609020204030204" pitchFamily="49" charset="0"/>
              </a:rPr>
              <a:t>if (i &amp; (1 &lt;&lt; m)) cout &lt;&lt; i &lt;&lt; ' ';</a:t>
            </a:r>
          </a:p>
          <a:p>
            <a:pPr algn="l">
              <a:lnSpc>
                <a:spcPct val="120000"/>
              </a:lnSpc>
            </a:pPr>
            <a:r>
              <a:rPr lang="zh-CN" altLang="en-US" sz="2800">
                <a:solidFill>
                  <a:srgbClr val="0070C0"/>
                </a:solidFill>
                <a:latin typeface="Consolas" panose="020B0609020204030204" pitchFamily="49" charset="0"/>
              </a:rPr>
              <a:t>        cout &lt;&lt; endl &lt;&lt; endl; </a:t>
            </a:r>
            <a:r>
              <a:rPr lang="en-US" altLang="zh-CN" sz="2800" b="0">
                <a:solidFill>
                  <a:srgbClr val="00B050"/>
                </a:solidFill>
                <a:latin typeface="Consolas" panose="020B0609020204030204" pitchFamily="49" charset="0"/>
              </a:rPr>
              <a:t>/// </a:t>
            </a:r>
            <a:r>
              <a:rPr lang="zh-CN" altLang="en-US" sz="2800" b="0">
                <a:solidFill>
                  <a:srgbClr val="00B050"/>
                </a:solidFill>
                <a:latin typeface="Consolas" panose="020B0609020204030204" pitchFamily="49" charset="0"/>
              </a:rPr>
              <a:t>每张卡片输出之间空一行</a:t>
            </a:r>
          </a:p>
          <a:p>
            <a:pPr algn="l">
              <a:lnSpc>
                <a:spcPct val="120000"/>
              </a:lnSpc>
            </a:pPr>
            <a:r>
              <a:rPr lang="zh-CN" altLang="en-US" sz="2800">
                <a:solidFill>
                  <a:srgbClr val="0070C0"/>
                </a:solidFill>
                <a:latin typeface="Consolas" panose="020B0609020204030204" pitchFamily="49" charset="0"/>
              </a:rPr>
              <a:t>    }</a:t>
            </a:r>
          </a:p>
          <a:p>
            <a:pPr algn="l">
              <a:lnSpc>
                <a:spcPct val="120000"/>
              </a:lnSpc>
            </a:pPr>
            <a:r>
              <a:rPr lang="zh-CN" altLang="en-US" sz="2800">
                <a:solidFill>
                  <a:srgbClr val="0070C0"/>
                </a:solidFill>
                <a:latin typeface="Consolas" panose="020B0609020204030204" pitchFamily="49" charset="0"/>
              </a:rPr>
              <a:t>    return 0;</a:t>
            </a:r>
          </a:p>
          <a:p>
            <a:pPr algn="l">
              <a:lnSpc>
                <a:spcPct val="120000"/>
              </a:lnSpc>
            </a:pPr>
            <a:r>
              <a:rPr lang="zh-CN" altLang="en-US" sz="2800">
                <a:solidFill>
                  <a:srgbClr val="0070C0"/>
                </a:solidFill>
                <a:latin typeface="Consolas" panose="020B0609020204030204" pitchFamily="49" charset="0"/>
              </a:rPr>
              <a:t>}</a:t>
            </a:r>
          </a:p>
        </p:txBody>
      </p:sp>
      <p:sp>
        <p:nvSpPr>
          <p:cNvPr id="3" name="矩形 2">
            <a:extLst>
              <a:ext uri="{FF2B5EF4-FFF2-40B4-BE49-F238E27FC236}">
                <a16:creationId xmlns:a16="http://schemas.microsoft.com/office/drawing/2014/main" id="{A683E4A6-662C-4938-86AE-EC32D66BD378}"/>
              </a:ext>
            </a:extLst>
          </p:cNvPr>
          <p:cNvSpPr/>
          <p:nvPr/>
        </p:nvSpPr>
        <p:spPr>
          <a:xfrm>
            <a:off x="1284749" y="4876800"/>
            <a:ext cx="10550832" cy="3596148"/>
          </a:xfrm>
          <a:prstGeom prst="rect">
            <a:avLst/>
          </a:prstGeom>
          <a:solidFill>
            <a:schemeClr val="accent4">
              <a:lumMod val="20000"/>
              <a:lumOff val="80000"/>
            </a:schemeClr>
          </a:solidFill>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4" name="文本框 3">
            <a:extLst>
              <a:ext uri="{FF2B5EF4-FFF2-40B4-BE49-F238E27FC236}">
                <a16:creationId xmlns:a16="http://schemas.microsoft.com/office/drawing/2014/main" id="{17A8FFBE-21B5-48D7-8334-D6A77AD48C66}"/>
              </a:ext>
            </a:extLst>
          </p:cNvPr>
          <p:cNvSpPr txBox="1"/>
          <p:nvPr/>
        </p:nvSpPr>
        <p:spPr>
          <a:xfrm>
            <a:off x="5675196" y="2032000"/>
            <a:ext cx="2987997" cy="2133918"/>
          </a:xfrm>
          <a:prstGeom prst="rect">
            <a:avLst/>
          </a:prstGeom>
          <a:no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dist">
              <a:lnSpc>
                <a:spcPct val="150000"/>
              </a:lnSpc>
            </a:pPr>
            <a:r>
              <a:rPr lang="zh-CN" altLang="en-US" sz="4400"/>
              <a:t>逐步求精：</a:t>
            </a:r>
            <a:endParaRPr lang="en-US" altLang="zh-CN" sz="4400"/>
          </a:p>
          <a:p>
            <a:pPr algn="dist">
              <a:lnSpc>
                <a:spcPct val="150000"/>
              </a:lnSpc>
            </a:pPr>
            <a:r>
              <a:rPr lang="en-US" altLang="zh-CN" sz="4400"/>
              <a:t>1. </a:t>
            </a:r>
            <a:r>
              <a:rPr kumimoji="0" lang="zh-CN" altLang="en-US" sz="4400" b="1" i="0" u="none" strike="noStrike" cap="none" spc="0" normalizeH="0" baseline="0">
                <a:ln>
                  <a:noFill/>
                </a:ln>
                <a:solidFill>
                  <a:srgbClr val="000000"/>
                </a:solidFill>
                <a:effectLst/>
                <a:uFillTx/>
                <a:latin typeface="Helvetica Neue"/>
                <a:ea typeface="Helvetica Neue"/>
                <a:cs typeface="Helvetica Neue"/>
                <a:sym typeface="Helvetica Neue"/>
              </a:rPr>
              <a:t>先写框架</a:t>
            </a:r>
          </a:p>
        </p:txBody>
      </p:sp>
    </p:spTree>
    <p:extLst>
      <p:ext uri="{BB962C8B-B14F-4D97-AF65-F5344CB8AC3E}">
        <p14:creationId xmlns:p14="http://schemas.microsoft.com/office/powerpoint/2010/main" val="3526567861"/>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56</a:t>
            </a:fld>
            <a:endParaRPr/>
          </a:p>
        </p:txBody>
      </p:sp>
      <p:sp>
        <p:nvSpPr>
          <p:cNvPr id="203" name="【任务3.2】谁做的坏事？"/>
          <p:cNvSpPr>
            <a:spLocks noGrp="1"/>
          </p:cNvSpPr>
          <p:nvPr>
            <p:ph type="title"/>
          </p:nvPr>
        </p:nvSpPr>
        <p:spPr>
          <a:xfrm>
            <a:off x="547200" y="354125"/>
            <a:ext cx="10255993" cy="1152045"/>
          </a:xfrm>
          <a:prstGeom prst="rect">
            <a:avLst/>
          </a:prstGeom>
        </p:spPr>
        <p:txBody>
          <a:bodyPr/>
          <a:lstStyle/>
          <a:p>
            <a:r>
              <a:rPr lang="zh-CN" altLang="en-US"/>
              <a:t>程序设计策略：自顶向下，逐步求精</a:t>
            </a:r>
            <a:endParaRPr/>
          </a:p>
        </p:txBody>
      </p:sp>
      <p:sp>
        <p:nvSpPr>
          <p:cNvPr id="2" name="矩形 1">
            <a:extLst>
              <a:ext uri="{FF2B5EF4-FFF2-40B4-BE49-F238E27FC236}">
                <a16:creationId xmlns:a16="http://schemas.microsoft.com/office/drawing/2014/main" id="{24A1BBD6-7741-4E47-AEE1-84FDE8B02936}"/>
              </a:ext>
            </a:extLst>
          </p:cNvPr>
          <p:cNvSpPr/>
          <p:nvPr/>
        </p:nvSpPr>
        <p:spPr>
          <a:xfrm>
            <a:off x="619760" y="2226608"/>
            <a:ext cx="12100920" cy="7294305"/>
          </a:xfrm>
          <a:prstGeom prst="rect">
            <a:avLst/>
          </a:prstGeom>
        </p:spPr>
        <p:txBody>
          <a:bodyPr wrap="square">
            <a:spAutoFit/>
          </a:bodyPr>
          <a:lstStyle/>
          <a:p>
            <a:pPr algn="l">
              <a:lnSpc>
                <a:spcPct val="120000"/>
              </a:lnSpc>
            </a:pPr>
            <a:r>
              <a:rPr lang="zh-CN" altLang="en-US" sz="2800" dirty="0">
                <a:solidFill>
                  <a:srgbClr val="0070C0"/>
                </a:solidFill>
                <a:latin typeface="Consolas" panose="020B0609020204030204" pitchFamily="49" charset="0"/>
              </a:rPr>
              <a:t>#include &lt;iostream&gt;</a:t>
            </a:r>
          </a:p>
          <a:p>
            <a:pPr algn="l">
              <a:lnSpc>
                <a:spcPct val="120000"/>
              </a:lnSpc>
            </a:pPr>
            <a:r>
              <a:rPr lang="zh-CN" altLang="en-US" sz="2800" dirty="0">
                <a:solidFill>
                  <a:srgbClr val="0070C0"/>
                </a:solidFill>
                <a:latin typeface="Consolas" panose="020B0609020204030204" pitchFamily="49" charset="0"/>
              </a:rPr>
              <a:t>using namespace std;</a:t>
            </a:r>
          </a:p>
          <a:p>
            <a:pPr algn="l">
              <a:lnSpc>
                <a:spcPct val="120000"/>
              </a:lnSpc>
            </a:pPr>
            <a:endParaRPr lang="zh-CN" altLang="en-US" sz="2800" dirty="0">
              <a:solidFill>
                <a:srgbClr val="0070C0"/>
              </a:solidFill>
              <a:latin typeface="Consolas" panose="020B0609020204030204" pitchFamily="49" charset="0"/>
            </a:endParaRPr>
          </a:p>
          <a:p>
            <a:pPr algn="l">
              <a:lnSpc>
                <a:spcPct val="120000"/>
              </a:lnSpc>
            </a:pPr>
            <a:r>
              <a:rPr lang="zh-CN" altLang="en-US" sz="2800" dirty="0">
                <a:solidFill>
                  <a:srgbClr val="0070C0"/>
                </a:solidFill>
                <a:latin typeface="Consolas" panose="020B0609020204030204" pitchFamily="49" charset="0"/>
              </a:rPr>
              <a:t>int main() </a:t>
            </a:r>
          </a:p>
          <a:p>
            <a:pPr algn="l">
              <a:lnSpc>
                <a:spcPct val="120000"/>
              </a:lnSpc>
            </a:pPr>
            <a:r>
              <a:rPr lang="zh-CN" altLang="en-US" sz="2800" dirty="0">
                <a:solidFill>
                  <a:srgbClr val="0070C0"/>
                </a:solidFill>
                <a:latin typeface="Consolas" panose="020B0609020204030204" pitchFamily="49" charset="0"/>
              </a:rPr>
              <a:t>{</a:t>
            </a:r>
          </a:p>
          <a:p>
            <a:pPr algn="l">
              <a:lnSpc>
                <a:spcPct val="120000"/>
              </a:lnSpc>
            </a:pPr>
            <a:r>
              <a:rPr lang="zh-CN" altLang="en-US" sz="2800" dirty="0">
                <a:solidFill>
                  <a:srgbClr val="0070C0"/>
                </a:solidFill>
                <a:latin typeface="Consolas" panose="020B0609020204030204" pitchFamily="49" charset="0"/>
              </a:rPr>
              <a:t>    for (int m=0; m&lt;7; m++) </a:t>
            </a:r>
            <a:r>
              <a:rPr lang="en-US" altLang="zh-CN" sz="2800" b="0" dirty="0">
                <a:solidFill>
                  <a:srgbClr val="00B050"/>
                </a:solidFill>
                <a:latin typeface="Consolas" panose="020B0609020204030204" pitchFamily="49" charset="0"/>
              </a:rPr>
              <a:t>// m </a:t>
            </a:r>
            <a:r>
              <a:rPr lang="zh-CN" altLang="en-US" sz="2800" b="0" dirty="0">
                <a:solidFill>
                  <a:srgbClr val="00B050"/>
                </a:solidFill>
                <a:latin typeface="Consolas" panose="020B0609020204030204" pitchFamily="49" charset="0"/>
              </a:rPr>
              <a:t>是卡片编号，百家姓需要</a:t>
            </a:r>
            <a:r>
              <a:rPr lang="en-US" altLang="zh-CN" sz="2800" dirty="0">
                <a:solidFill>
                  <a:srgbClr val="FF0000"/>
                </a:solidFill>
                <a:latin typeface="Consolas" panose="020B0609020204030204" pitchFamily="49" charset="0"/>
              </a:rPr>
              <a:t>7</a:t>
            </a:r>
            <a:r>
              <a:rPr lang="zh-CN" altLang="en-US" sz="2800" b="0" dirty="0">
                <a:solidFill>
                  <a:srgbClr val="00B050"/>
                </a:solidFill>
                <a:latin typeface="Consolas" panose="020B0609020204030204" pitchFamily="49" charset="0"/>
              </a:rPr>
              <a:t>张卡片</a:t>
            </a:r>
          </a:p>
          <a:p>
            <a:pPr algn="l">
              <a:lnSpc>
                <a:spcPct val="120000"/>
              </a:lnSpc>
            </a:pPr>
            <a:r>
              <a:rPr lang="zh-CN" altLang="en-US" sz="2800" dirty="0">
                <a:solidFill>
                  <a:srgbClr val="0070C0"/>
                </a:solidFill>
                <a:latin typeface="Consolas" panose="020B0609020204030204" pitchFamily="49" charset="0"/>
              </a:rPr>
              <a:t>    {</a:t>
            </a:r>
          </a:p>
          <a:p>
            <a:pPr algn="l">
              <a:lnSpc>
                <a:spcPct val="120000"/>
              </a:lnSpc>
            </a:pPr>
            <a:r>
              <a:rPr lang="zh-CN" altLang="en-US" sz="2800" dirty="0">
                <a:solidFill>
                  <a:srgbClr val="0070C0"/>
                </a:solidFill>
                <a:latin typeface="Consolas" panose="020B0609020204030204" pitchFamily="49" charset="0"/>
              </a:rPr>
              <a:t>        cout &lt;&lt; "CARD " &lt;&lt; m &lt;&lt; endl;</a:t>
            </a:r>
          </a:p>
          <a:p>
            <a:pPr algn="l">
              <a:lnSpc>
                <a:spcPct val="120000"/>
              </a:lnSpc>
            </a:pPr>
            <a:r>
              <a:rPr lang="zh-CN" altLang="en-US" sz="2800" dirty="0">
                <a:solidFill>
                  <a:srgbClr val="0070C0"/>
                </a:solidFill>
                <a:latin typeface="Consolas" panose="020B0609020204030204" pitchFamily="49" charset="0"/>
              </a:rPr>
              <a:t>        </a:t>
            </a:r>
            <a:r>
              <a:rPr lang="zh-CN" altLang="en-US" sz="2800" dirty="0">
                <a:solidFill>
                  <a:schemeClr val="accent6">
                    <a:lumMod val="75000"/>
                  </a:schemeClr>
                </a:solidFill>
                <a:latin typeface="Consolas" panose="020B0609020204030204" pitchFamily="49" charset="0"/>
              </a:rPr>
              <a:t>for (int i = 1; i &lt;= 100; i++)</a:t>
            </a:r>
          </a:p>
          <a:p>
            <a:pPr algn="l">
              <a:lnSpc>
                <a:spcPct val="120000"/>
              </a:lnSpc>
            </a:pPr>
            <a:r>
              <a:rPr lang="zh-CN" altLang="en-US" sz="2800" dirty="0">
                <a:solidFill>
                  <a:schemeClr val="accent6">
                    <a:lumMod val="75000"/>
                  </a:schemeClr>
                </a:solidFill>
                <a:latin typeface="Consolas" panose="020B0609020204030204" pitchFamily="49" charset="0"/>
              </a:rPr>
              <a:t>            </a:t>
            </a:r>
            <a:r>
              <a:rPr lang="zh-CN" altLang="en-US" sz="2800" dirty="0">
                <a:solidFill>
                  <a:schemeClr val="accent6">
                    <a:lumMod val="75000"/>
                  </a:schemeClr>
                </a:solidFill>
                <a:highlight>
                  <a:srgbClr val="FFFF00"/>
                </a:highlight>
                <a:latin typeface="Consolas" panose="020B0609020204030204" pitchFamily="49" charset="0"/>
              </a:rPr>
              <a:t>if (i &amp; (1 &lt;&lt; m)) cout &lt;&lt; i &lt;&lt; ' ';</a:t>
            </a:r>
          </a:p>
          <a:p>
            <a:pPr algn="l">
              <a:lnSpc>
                <a:spcPct val="120000"/>
              </a:lnSpc>
            </a:pPr>
            <a:r>
              <a:rPr lang="zh-CN" altLang="en-US" sz="2800" dirty="0">
                <a:solidFill>
                  <a:srgbClr val="0070C0"/>
                </a:solidFill>
                <a:latin typeface="Consolas" panose="020B0609020204030204" pitchFamily="49" charset="0"/>
              </a:rPr>
              <a:t>        cout &lt;&lt; endl &lt;&lt; endl; </a:t>
            </a:r>
            <a:r>
              <a:rPr lang="en-US" altLang="zh-CN" sz="2800" b="0" dirty="0">
                <a:solidFill>
                  <a:srgbClr val="00B050"/>
                </a:solidFill>
                <a:latin typeface="Consolas" panose="020B0609020204030204" pitchFamily="49" charset="0"/>
              </a:rPr>
              <a:t>/// </a:t>
            </a:r>
            <a:r>
              <a:rPr lang="zh-CN" altLang="en-US" sz="2800" b="0" dirty="0">
                <a:solidFill>
                  <a:srgbClr val="00B050"/>
                </a:solidFill>
                <a:latin typeface="Consolas" panose="020B0609020204030204" pitchFamily="49" charset="0"/>
              </a:rPr>
              <a:t>每张卡片输出之间空一行</a:t>
            </a:r>
          </a:p>
          <a:p>
            <a:pPr algn="l">
              <a:lnSpc>
                <a:spcPct val="120000"/>
              </a:lnSpc>
            </a:pPr>
            <a:r>
              <a:rPr lang="zh-CN" altLang="en-US" sz="2800" dirty="0">
                <a:solidFill>
                  <a:srgbClr val="0070C0"/>
                </a:solidFill>
                <a:latin typeface="Consolas" panose="020B0609020204030204" pitchFamily="49" charset="0"/>
              </a:rPr>
              <a:t>    }</a:t>
            </a:r>
          </a:p>
          <a:p>
            <a:pPr algn="l">
              <a:lnSpc>
                <a:spcPct val="120000"/>
              </a:lnSpc>
            </a:pPr>
            <a:r>
              <a:rPr lang="zh-CN" altLang="en-US" sz="2800" dirty="0">
                <a:solidFill>
                  <a:srgbClr val="0070C0"/>
                </a:solidFill>
                <a:latin typeface="Consolas" panose="020B0609020204030204" pitchFamily="49" charset="0"/>
              </a:rPr>
              <a:t>    return 0;</a:t>
            </a:r>
          </a:p>
          <a:p>
            <a:pPr algn="l">
              <a:lnSpc>
                <a:spcPct val="120000"/>
              </a:lnSpc>
            </a:pPr>
            <a:r>
              <a:rPr lang="zh-CN" altLang="en-US" sz="2800" dirty="0">
                <a:solidFill>
                  <a:srgbClr val="0070C0"/>
                </a:solidFill>
                <a:latin typeface="Consolas" panose="020B0609020204030204" pitchFamily="49" charset="0"/>
              </a:rPr>
              <a:t>}</a:t>
            </a:r>
          </a:p>
        </p:txBody>
      </p:sp>
      <p:sp>
        <p:nvSpPr>
          <p:cNvPr id="3" name="矩形 2">
            <a:extLst>
              <a:ext uri="{FF2B5EF4-FFF2-40B4-BE49-F238E27FC236}">
                <a16:creationId xmlns:a16="http://schemas.microsoft.com/office/drawing/2014/main" id="{A683E4A6-662C-4938-86AE-EC32D66BD378}"/>
              </a:ext>
            </a:extLst>
          </p:cNvPr>
          <p:cNvSpPr/>
          <p:nvPr/>
        </p:nvSpPr>
        <p:spPr>
          <a:xfrm>
            <a:off x="1961535" y="5737122"/>
            <a:ext cx="9601984" cy="2257809"/>
          </a:xfrm>
          <a:prstGeom prst="rect">
            <a:avLst/>
          </a:prstGeom>
          <a:solidFill>
            <a:schemeClr val="accent4">
              <a:lumMod val="20000"/>
              <a:lumOff val="80000"/>
            </a:schemeClr>
          </a:solidFill>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4" name="文本框 3">
            <a:extLst>
              <a:ext uri="{FF2B5EF4-FFF2-40B4-BE49-F238E27FC236}">
                <a16:creationId xmlns:a16="http://schemas.microsoft.com/office/drawing/2014/main" id="{17A8FFBE-21B5-48D7-8334-D6A77AD48C66}"/>
              </a:ext>
            </a:extLst>
          </p:cNvPr>
          <p:cNvSpPr txBox="1"/>
          <p:nvPr/>
        </p:nvSpPr>
        <p:spPr>
          <a:xfrm>
            <a:off x="5675196" y="2032000"/>
            <a:ext cx="6937797" cy="2133918"/>
          </a:xfrm>
          <a:prstGeom prst="rect">
            <a:avLst/>
          </a:prstGeom>
          <a:no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lang="zh-CN" altLang="en-US" sz="4400"/>
              <a:t>逐步求精：</a:t>
            </a:r>
            <a:endParaRPr lang="en-US" altLang="zh-CN" sz="4400"/>
          </a:p>
          <a:p>
            <a:pPr marL="0" marR="0" indent="0" algn="l" defTabSz="584200" rtl="0" fontAlgn="auto" latinLnBrk="0" hangingPunct="0">
              <a:lnSpc>
                <a:spcPct val="150000"/>
              </a:lnSpc>
              <a:spcBef>
                <a:spcPts val="0"/>
              </a:spcBef>
              <a:spcAft>
                <a:spcPts val="0"/>
              </a:spcAft>
              <a:buClrTx/>
              <a:buSzTx/>
              <a:buFontTx/>
              <a:buNone/>
              <a:tabLst/>
            </a:pPr>
            <a:r>
              <a:rPr kumimoji="0" lang="en-US" altLang="zh-CN" sz="4400" b="1" i="0" u="none" strike="noStrike" cap="none" spc="0" normalizeH="0" baseline="0">
                <a:ln>
                  <a:noFill/>
                </a:ln>
                <a:solidFill>
                  <a:srgbClr val="000000"/>
                </a:solidFill>
                <a:effectLst/>
                <a:uFillTx/>
                <a:latin typeface="Helvetica Neue"/>
                <a:ea typeface="Helvetica Neue"/>
                <a:cs typeface="Helvetica Neue"/>
                <a:sym typeface="Helvetica Neue"/>
              </a:rPr>
              <a:t>2. </a:t>
            </a:r>
            <a:r>
              <a:rPr kumimoji="0" lang="zh-CN" altLang="en-US" sz="4400" b="1" i="0" u="none" strike="noStrike" cap="none" spc="0" normalizeH="0" baseline="0">
                <a:ln>
                  <a:noFill/>
                </a:ln>
                <a:solidFill>
                  <a:srgbClr val="000000"/>
                </a:solidFill>
                <a:effectLst/>
                <a:uFillTx/>
                <a:latin typeface="Helvetica Neue"/>
                <a:ea typeface="Helvetica Neue"/>
                <a:cs typeface="Helvetica Neue"/>
                <a:sym typeface="Helvetica Neue"/>
              </a:rPr>
              <a:t>依次输出各张卡片的数字</a:t>
            </a:r>
          </a:p>
        </p:txBody>
      </p:sp>
    </p:spTree>
    <p:extLst>
      <p:ext uri="{BB962C8B-B14F-4D97-AF65-F5344CB8AC3E}">
        <p14:creationId xmlns:p14="http://schemas.microsoft.com/office/powerpoint/2010/main" val="3668908475"/>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57</a:t>
            </a:fld>
            <a:endParaRPr/>
          </a:p>
        </p:txBody>
      </p:sp>
      <p:sp>
        <p:nvSpPr>
          <p:cNvPr id="203" name="【任务3.2】谁做的坏事？"/>
          <p:cNvSpPr>
            <a:spLocks noGrp="1"/>
          </p:cNvSpPr>
          <p:nvPr>
            <p:ph type="title"/>
          </p:nvPr>
        </p:nvSpPr>
        <p:spPr>
          <a:xfrm>
            <a:off x="547200" y="354125"/>
            <a:ext cx="10255993" cy="1152045"/>
          </a:xfrm>
          <a:prstGeom prst="rect">
            <a:avLst/>
          </a:prstGeom>
        </p:spPr>
        <p:txBody>
          <a:bodyPr/>
          <a:lstStyle/>
          <a:p>
            <a:r>
              <a:rPr lang="zh-CN" altLang="en-US"/>
              <a:t>程序设计策略：自顶向下，逐步求精</a:t>
            </a:r>
            <a:endParaRPr/>
          </a:p>
        </p:txBody>
      </p:sp>
      <p:sp>
        <p:nvSpPr>
          <p:cNvPr id="2" name="矩形 1">
            <a:extLst>
              <a:ext uri="{FF2B5EF4-FFF2-40B4-BE49-F238E27FC236}">
                <a16:creationId xmlns:a16="http://schemas.microsoft.com/office/drawing/2014/main" id="{24A1BBD6-7741-4E47-AEE1-84FDE8B02936}"/>
              </a:ext>
            </a:extLst>
          </p:cNvPr>
          <p:cNvSpPr/>
          <p:nvPr/>
        </p:nvSpPr>
        <p:spPr>
          <a:xfrm>
            <a:off x="619760" y="2226608"/>
            <a:ext cx="11470640" cy="7294305"/>
          </a:xfrm>
          <a:prstGeom prst="rect">
            <a:avLst/>
          </a:prstGeom>
        </p:spPr>
        <p:txBody>
          <a:bodyPr wrap="square">
            <a:spAutoFit/>
          </a:bodyPr>
          <a:lstStyle/>
          <a:p>
            <a:pPr algn="l">
              <a:lnSpc>
                <a:spcPct val="120000"/>
              </a:lnSpc>
            </a:pPr>
            <a:r>
              <a:rPr lang="zh-CN" altLang="en-US" sz="2800">
                <a:solidFill>
                  <a:srgbClr val="0070C0"/>
                </a:solidFill>
                <a:latin typeface="Consolas" panose="020B0609020204030204" pitchFamily="49" charset="0"/>
              </a:rPr>
              <a:t>#include &lt;iostream&gt;</a:t>
            </a:r>
          </a:p>
          <a:p>
            <a:pPr algn="l">
              <a:lnSpc>
                <a:spcPct val="120000"/>
              </a:lnSpc>
            </a:pPr>
            <a:r>
              <a:rPr lang="zh-CN" altLang="en-US" sz="2800">
                <a:solidFill>
                  <a:srgbClr val="0070C0"/>
                </a:solidFill>
                <a:latin typeface="Consolas" panose="020B0609020204030204" pitchFamily="49" charset="0"/>
              </a:rPr>
              <a:t>using namespace std;</a:t>
            </a:r>
          </a:p>
          <a:p>
            <a:pPr algn="l">
              <a:lnSpc>
                <a:spcPct val="120000"/>
              </a:lnSpc>
            </a:pPr>
            <a:endParaRPr lang="zh-CN" altLang="en-US" sz="2800">
              <a:solidFill>
                <a:srgbClr val="0070C0"/>
              </a:solidFill>
              <a:latin typeface="Consolas" panose="020B0609020204030204" pitchFamily="49" charset="0"/>
            </a:endParaRPr>
          </a:p>
          <a:p>
            <a:pPr algn="l">
              <a:lnSpc>
                <a:spcPct val="120000"/>
              </a:lnSpc>
            </a:pPr>
            <a:r>
              <a:rPr lang="zh-CN" altLang="en-US" sz="2800">
                <a:solidFill>
                  <a:srgbClr val="0070C0"/>
                </a:solidFill>
                <a:latin typeface="Consolas" panose="020B0609020204030204" pitchFamily="49" charset="0"/>
              </a:rPr>
              <a:t>int main() </a:t>
            </a:r>
          </a:p>
          <a:p>
            <a:pPr algn="l">
              <a:lnSpc>
                <a:spcPct val="120000"/>
              </a:lnSpc>
            </a:pPr>
            <a:r>
              <a:rPr lang="zh-CN" altLang="en-US" sz="2800">
                <a:solidFill>
                  <a:srgbClr val="0070C0"/>
                </a:solidFill>
                <a:latin typeface="Consolas" panose="020B0609020204030204" pitchFamily="49" charset="0"/>
              </a:rPr>
              <a:t>{</a:t>
            </a:r>
          </a:p>
          <a:p>
            <a:pPr algn="l">
              <a:lnSpc>
                <a:spcPct val="120000"/>
              </a:lnSpc>
            </a:pPr>
            <a:r>
              <a:rPr lang="zh-CN" altLang="en-US" sz="2800">
                <a:solidFill>
                  <a:srgbClr val="0070C0"/>
                </a:solidFill>
                <a:latin typeface="Consolas" panose="020B0609020204030204" pitchFamily="49" charset="0"/>
              </a:rPr>
              <a:t>    for (int m=0; m&lt;7; m++) </a:t>
            </a:r>
            <a:r>
              <a:rPr lang="en-US" altLang="zh-CN" sz="2800" b="0">
                <a:solidFill>
                  <a:srgbClr val="00B050"/>
                </a:solidFill>
                <a:latin typeface="Consolas" panose="020B0609020204030204" pitchFamily="49" charset="0"/>
              </a:rPr>
              <a:t>// m </a:t>
            </a:r>
            <a:r>
              <a:rPr lang="zh-CN" altLang="en-US" sz="2800" b="0">
                <a:solidFill>
                  <a:srgbClr val="00B050"/>
                </a:solidFill>
                <a:latin typeface="Consolas" panose="020B0609020204030204" pitchFamily="49" charset="0"/>
              </a:rPr>
              <a:t>是卡片编号</a:t>
            </a:r>
          </a:p>
          <a:p>
            <a:pPr algn="l">
              <a:lnSpc>
                <a:spcPct val="120000"/>
              </a:lnSpc>
            </a:pPr>
            <a:r>
              <a:rPr lang="zh-CN" altLang="en-US" sz="2800">
                <a:solidFill>
                  <a:srgbClr val="0070C0"/>
                </a:solidFill>
                <a:latin typeface="Consolas" panose="020B0609020204030204" pitchFamily="49" charset="0"/>
              </a:rPr>
              <a:t>    {</a:t>
            </a:r>
          </a:p>
          <a:p>
            <a:pPr algn="l">
              <a:lnSpc>
                <a:spcPct val="120000"/>
              </a:lnSpc>
            </a:pPr>
            <a:r>
              <a:rPr lang="zh-CN" altLang="en-US" sz="2800">
                <a:solidFill>
                  <a:srgbClr val="0070C0"/>
                </a:solidFill>
                <a:latin typeface="Consolas" panose="020B0609020204030204" pitchFamily="49" charset="0"/>
              </a:rPr>
              <a:t>        cout &lt;&lt; "CARD " &lt;&lt; m &lt;&lt; endl;</a:t>
            </a:r>
          </a:p>
          <a:p>
            <a:pPr algn="l">
              <a:lnSpc>
                <a:spcPct val="120000"/>
              </a:lnSpc>
            </a:pPr>
            <a:r>
              <a:rPr lang="zh-CN" altLang="en-US" sz="2800">
                <a:solidFill>
                  <a:srgbClr val="0070C0"/>
                </a:solidFill>
                <a:latin typeface="Consolas" panose="020B0609020204030204" pitchFamily="49" charset="0"/>
              </a:rPr>
              <a:t>        </a:t>
            </a:r>
            <a:r>
              <a:rPr lang="zh-CN" altLang="en-US" sz="2800">
                <a:solidFill>
                  <a:schemeClr val="accent6">
                    <a:lumMod val="75000"/>
                  </a:schemeClr>
                </a:solidFill>
                <a:latin typeface="Consolas" panose="020B0609020204030204" pitchFamily="49" charset="0"/>
              </a:rPr>
              <a:t>for (int i = 1; i &lt;= 100; i++)</a:t>
            </a:r>
          </a:p>
          <a:p>
            <a:pPr algn="l">
              <a:lnSpc>
                <a:spcPct val="120000"/>
              </a:lnSpc>
            </a:pPr>
            <a:r>
              <a:rPr lang="zh-CN" altLang="en-US" sz="2800">
                <a:solidFill>
                  <a:schemeClr val="accent6">
                    <a:lumMod val="75000"/>
                  </a:schemeClr>
                </a:solidFill>
                <a:latin typeface="Consolas" panose="020B0609020204030204" pitchFamily="49" charset="0"/>
              </a:rPr>
              <a:t>            </a:t>
            </a:r>
            <a:r>
              <a:rPr lang="zh-CN" altLang="en-US" sz="2800">
                <a:solidFill>
                  <a:schemeClr val="accent6">
                    <a:lumMod val="75000"/>
                  </a:schemeClr>
                </a:solidFill>
                <a:highlight>
                  <a:srgbClr val="FFFF00"/>
                </a:highlight>
                <a:latin typeface="Consolas" panose="020B0609020204030204" pitchFamily="49" charset="0"/>
              </a:rPr>
              <a:t>if (i &amp; (1 &lt;&lt; m)) cout &lt;&lt; i &lt;&lt; ' ';</a:t>
            </a:r>
          </a:p>
          <a:p>
            <a:pPr algn="l">
              <a:lnSpc>
                <a:spcPct val="120000"/>
              </a:lnSpc>
            </a:pPr>
            <a:r>
              <a:rPr lang="zh-CN" altLang="en-US" sz="2800">
                <a:solidFill>
                  <a:srgbClr val="0070C0"/>
                </a:solidFill>
                <a:latin typeface="Consolas" panose="020B0609020204030204" pitchFamily="49" charset="0"/>
              </a:rPr>
              <a:t>        cout &lt;&lt; endl &lt;&lt; endl; </a:t>
            </a:r>
            <a:r>
              <a:rPr lang="en-US" altLang="zh-CN" sz="2800" b="0">
                <a:solidFill>
                  <a:srgbClr val="00B050"/>
                </a:solidFill>
                <a:latin typeface="Consolas" panose="020B0609020204030204" pitchFamily="49" charset="0"/>
              </a:rPr>
              <a:t>/// </a:t>
            </a:r>
            <a:r>
              <a:rPr lang="zh-CN" altLang="en-US" sz="2800" b="0">
                <a:solidFill>
                  <a:srgbClr val="00B050"/>
                </a:solidFill>
                <a:latin typeface="Consolas" panose="020B0609020204030204" pitchFamily="49" charset="0"/>
              </a:rPr>
              <a:t>每张卡片输出之间空一行</a:t>
            </a:r>
          </a:p>
          <a:p>
            <a:pPr algn="l">
              <a:lnSpc>
                <a:spcPct val="120000"/>
              </a:lnSpc>
            </a:pPr>
            <a:r>
              <a:rPr lang="zh-CN" altLang="en-US" sz="2800">
                <a:solidFill>
                  <a:srgbClr val="0070C0"/>
                </a:solidFill>
                <a:latin typeface="Consolas" panose="020B0609020204030204" pitchFamily="49" charset="0"/>
              </a:rPr>
              <a:t>    }</a:t>
            </a:r>
          </a:p>
          <a:p>
            <a:pPr algn="l">
              <a:lnSpc>
                <a:spcPct val="120000"/>
              </a:lnSpc>
            </a:pPr>
            <a:r>
              <a:rPr lang="zh-CN" altLang="en-US" sz="2800">
                <a:solidFill>
                  <a:srgbClr val="0070C0"/>
                </a:solidFill>
                <a:latin typeface="Consolas" panose="020B0609020204030204" pitchFamily="49" charset="0"/>
              </a:rPr>
              <a:t>    return 0;</a:t>
            </a:r>
          </a:p>
          <a:p>
            <a:pPr algn="l">
              <a:lnSpc>
                <a:spcPct val="120000"/>
              </a:lnSpc>
            </a:pPr>
            <a:r>
              <a:rPr lang="zh-CN" altLang="en-US" sz="2800">
                <a:solidFill>
                  <a:srgbClr val="0070C0"/>
                </a:solidFill>
                <a:latin typeface="Consolas" panose="020B0609020204030204" pitchFamily="49" charset="0"/>
              </a:rPr>
              <a:t>}</a:t>
            </a:r>
          </a:p>
        </p:txBody>
      </p:sp>
      <p:sp>
        <p:nvSpPr>
          <p:cNvPr id="3" name="矩形 2">
            <a:extLst>
              <a:ext uri="{FF2B5EF4-FFF2-40B4-BE49-F238E27FC236}">
                <a16:creationId xmlns:a16="http://schemas.microsoft.com/office/drawing/2014/main" id="{A683E4A6-662C-4938-86AE-EC32D66BD378}"/>
              </a:ext>
            </a:extLst>
          </p:cNvPr>
          <p:cNvSpPr/>
          <p:nvPr/>
        </p:nvSpPr>
        <p:spPr>
          <a:xfrm>
            <a:off x="2184400" y="6510429"/>
            <a:ext cx="8107680" cy="830997"/>
          </a:xfrm>
          <a:prstGeom prst="rect">
            <a:avLst/>
          </a:prstGeom>
          <a:solidFill>
            <a:schemeClr val="accent4">
              <a:lumMod val="20000"/>
              <a:lumOff val="80000"/>
            </a:schemeClr>
          </a:solidFill>
        </p:spPr>
        <p:txBody>
          <a:bodyPr wrap="square" rtlCol="0" anchor="ctr">
            <a:spAutoFit/>
          </a:bodyPr>
          <a:lstStyle/>
          <a:p>
            <a:pPr algn="l"/>
            <a:r>
              <a:rPr lang="en-US" altLang="zh-CN">
                <a:solidFill>
                  <a:srgbClr val="FF0000"/>
                </a:solidFill>
                <a:latin typeface="Consolas" panose="020B0609020204030204" pitchFamily="49" charset="0"/>
              </a:rPr>
              <a:t>// </a:t>
            </a:r>
            <a:r>
              <a:rPr lang="zh-CN" altLang="en-US">
                <a:solidFill>
                  <a:srgbClr val="FF0000"/>
                </a:solidFill>
                <a:latin typeface="Consolas" panose="020B0609020204030204" pitchFamily="49" charset="0"/>
              </a:rPr>
              <a:t>哪些数在这张卡片上？</a:t>
            </a:r>
          </a:p>
          <a:p>
            <a:pPr algn="l"/>
            <a:endParaRPr lang="zh-CN" altLang="en-US">
              <a:solidFill>
                <a:srgbClr val="FF0000"/>
              </a:solidFill>
              <a:latin typeface="Consolas" panose="020B0609020204030204" pitchFamily="49" charset="0"/>
            </a:endParaRPr>
          </a:p>
        </p:txBody>
      </p:sp>
      <p:sp>
        <p:nvSpPr>
          <p:cNvPr id="4" name="文本框 3">
            <a:extLst>
              <a:ext uri="{FF2B5EF4-FFF2-40B4-BE49-F238E27FC236}">
                <a16:creationId xmlns:a16="http://schemas.microsoft.com/office/drawing/2014/main" id="{17A8FFBE-21B5-48D7-8334-D6A77AD48C66}"/>
              </a:ext>
            </a:extLst>
          </p:cNvPr>
          <p:cNvSpPr txBox="1"/>
          <p:nvPr/>
        </p:nvSpPr>
        <p:spPr>
          <a:xfrm>
            <a:off x="5675196" y="2032000"/>
            <a:ext cx="6373540" cy="2133918"/>
          </a:xfrm>
          <a:prstGeom prst="rect">
            <a:avLst/>
          </a:prstGeom>
          <a:no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lang="zh-CN" altLang="en-US" sz="4400"/>
              <a:t>逐步求精：</a:t>
            </a:r>
            <a:endParaRPr lang="en-US" altLang="zh-CN" sz="4400"/>
          </a:p>
          <a:p>
            <a:pPr marL="0" marR="0" indent="0" algn="l" defTabSz="584200" rtl="0" fontAlgn="auto" latinLnBrk="0" hangingPunct="0">
              <a:lnSpc>
                <a:spcPct val="150000"/>
              </a:lnSpc>
              <a:spcBef>
                <a:spcPts val="0"/>
              </a:spcBef>
              <a:spcAft>
                <a:spcPts val="0"/>
              </a:spcAft>
              <a:buClrTx/>
              <a:buSzTx/>
              <a:buFontTx/>
              <a:buNone/>
              <a:tabLst/>
            </a:pPr>
            <a:r>
              <a:rPr kumimoji="0" lang="en-US" altLang="zh-CN" sz="4400" b="1" i="0" u="none" strike="noStrike" cap="none" spc="0" normalizeH="0" baseline="0">
                <a:ln>
                  <a:noFill/>
                </a:ln>
                <a:solidFill>
                  <a:srgbClr val="000000"/>
                </a:solidFill>
                <a:effectLst/>
                <a:uFillTx/>
                <a:latin typeface="Helvetica Neue"/>
                <a:ea typeface="Helvetica Neue"/>
                <a:cs typeface="Helvetica Neue"/>
                <a:sym typeface="Helvetica Neue"/>
              </a:rPr>
              <a:t>3. </a:t>
            </a:r>
            <a:r>
              <a:rPr kumimoji="0" lang="zh-CN" altLang="en-US" sz="4400" b="1" i="0" u="none" strike="noStrike" cap="none" spc="0" normalizeH="0" baseline="0">
                <a:ln>
                  <a:noFill/>
                </a:ln>
                <a:solidFill>
                  <a:srgbClr val="000000"/>
                </a:solidFill>
                <a:effectLst/>
                <a:uFillTx/>
                <a:latin typeface="Helvetica Neue"/>
                <a:ea typeface="Helvetica Neue"/>
                <a:cs typeface="Helvetica Neue"/>
                <a:sym typeface="Helvetica Neue"/>
              </a:rPr>
              <a:t>卡片内容的开头和结尾</a:t>
            </a:r>
          </a:p>
        </p:txBody>
      </p:sp>
    </p:spTree>
    <p:extLst>
      <p:ext uri="{BB962C8B-B14F-4D97-AF65-F5344CB8AC3E}">
        <p14:creationId xmlns:p14="http://schemas.microsoft.com/office/powerpoint/2010/main" val="1557226533"/>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58</a:t>
            </a:fld>
            <a:endParaRPr/>
          </a:p>
        </p:txBody>
      </p:sp>
      <p:sp>
        <p:nvSpPr>
          <p:cNvPr id="2" name="矩形 1">
            <a:extLst>
              <a:ext uri="{FF2B5EF4-FFF2-40B4-BE49-F238E27FC236}">
                <a16:creationId xmlns:a16="http://schemas.microsoft.com/office/drawing/2014/main" id="{24A1BBD6-7741-4E47-AEE1-84FDE8B02936}"/>
              </a:ext>
            </a:extLst>
          </p:cNvPr>
          <p:cNvSpPr/>
          <p:nvPr/>
        </p:nvSpPr>
        <p:spPr>
          <a:xfrm>
            <a:off x="619760" y="2226608"/>
            <a:ext cx="11480800" cy="7294305"/>
          </a:xfrm>
          <a:prstGeom prst="rect">
            <a:avLst/>
          </a:prstGeom>
        </p:spPr>
        <p:txBody>
          <a:bodyPr wrap="square">
            <a:spAutoFit/>
          </a:bodyPr>
          <a:lstStyle/>
          <a:p>
            <a:pPr algn="l">
              <a:lnSpc>
                <a:spcPct val="120000"/>
              </a:lnSpc>
            </a:pPr>
            <a:r>
              <a:rPr lang="zh-CN" altLang="en-US" sz="2800">
                <a:solidFill>
                  <a:srgbClr val="0070C0"/>
                </a:solidFill>
                <a:latin typeface="Consolas" panose="020B0609020204030204" pitchFamily="49" charset="0"/>
              </a:rPr>
              <a:t>#include &lt;iostream&gt;</a:t>
            </a:r>
          </a:p>
          <a:p>
            <a:pPr algn="l">
              <a:lnSpc>
                <a:spcPct val="120000"/>
              </a:lnSpc>
            </a:pPr>
            <a:r>
              <a:rPr lang="zh-CN" altLang="en-US" sz="2800">
                <a:solidFill>
                  <a:srgbClr val="0070C0"/>
                </a:solidFill>
                <a:latin typeface="Consolas" panose="020B0609020204030204" pitchFamily="49" charset="0"/>
              </a:rPr>
              <a:t>using namespace std;</a:t>
            </a:r>
          </a:p>
          <a:p>
            <a:pPr algn="l">
              <a:lnSpc>
                <a:spcPct val="120000"/>
              </a:lnSpc>
            </a:pPr>
            <a:endParaRPr lang="zh-CN" altLang="en-US" sz="2800">
              <a:solidFill>
                <a:srgbClr val="0070C0"/>
              </a:solidFill>
              <a:latin typeface="Consolas" panose="020B0609020204030204" pitchFamily="49" charset="0"/>
            </a:endParaRPr>
          </a:p>
          <a:p>
            <a:pPr algn="l">
              <a:lnSpc>
                <a:spcPct val="120000"/>
              </a:lnSpc>
            </a:pPr>
            <a:r>
              <a:rPr lang="zh-CN" altLang="en-US" sz="2800">
                <a:solidFill>
                  <a:srgbClr val="0070C0"/>
                </a:solidFill>
                <a:latin typeface="Consolas" panose="020B0609020204030204" pitchFamily="49" charset="0"/>
              </a:rPr>
              <a:t>int main() </a:t>
            </a:r>
          </a:p>
          <a:p>
            <a:pPr algn="l">
              <a:lnSpc>
                <a:spcPct val="120000"/>
              </a:lnSpc>
            </a:pPr>
            <a:r>
              <a:rPr lang="zh-CN" altLang="en-US" sz="2800">
                <a:solidFill>
                  <a:srgbClr val="0070C0"/>
                </a:solidFill>
                <a:latin typeface="Consolas" panose="020B0609020204030204" pitchFamily="49" charset="0"/>
              </a:rPr>
              <a:t>{</a:t>
            </a:r>
          </a:p>
          <a:p>
            <a:pPr algn="l">
              <a:lnSpc>
                <a:spcPct val="120000"/>
              </a:lnSpc>
            </a:pPr>
            <a:r>
              <a:rPr lang="zh-CN" altLang="en-US" sz="2800">
                <a:solidFill>
                  <a:srgbClr val="0070C0"/>
                </a:solidFill>
                <a:latin typeface="Consolas" panose="020B0609020204030204" pitchFamily="49" charset="0"/>
              </a:rPr>
              <a:t>    for (int m=0; m&lt;7; m++) </a:t>
            </a:r>
            <a:r>
              <a:rPr lang="en-US" altLang="zh-CN" sz="2800" b="0">
                <a:solidFill>
                  <a:srgbClr val="00B050"/>
                </a:solidFill>
                <a:latin typeface="Consolas" panose="020B0609020204030204" pitchFamily="49" charset="0"/>
              </a:rPr>
              <a:t>// m </a:t>
            </a:r>
            <a:r>
              <a:rPr lang="zh-CN" altLang="en-US" sz="2800" b="0">
                <a:solidFill>
                  <a:srgbClr val="00B050"/>
                </a:solidFill>
                <a:latin typeface="Consolas" panose="020B0609020204030204" pitchFamily="49" charset="0"/>
              </a:rPr>
              <a:t>是卡片编号</a:t>
            </a:r>
            <a:endParaRPr lang="zh-CN" altLang="en-US" sz="2800">
              <a:solidFill>
                <a:srgbClr val="0070C0"/>
              </a:solidFill>
              <a:latin typeface="Consolas" panose="020B0609020204030204" pitchFamily="49" charset="0"/>
            </a:endParaRPr>
          </a:p>
          <a:p>
            <a:pPr algn="l">
              <a:lnSpc>
                <a:spcPct val="120000"/>
              </a:lnSpc>
            </a:pPr>
            <a:r>
              <a:rPr lang="zh-CN" altLang="en-US" sz="2800">
                <a:solidFill>
                  <a:srgbClr val="0070C0"/>
                </a:solidFill>
                <a:latin typeface="Consolas" panose="020B0609020204030204" pitchFamily="49" charset="0"/>
              </a:rPr>
              <a:t>    {</a:t>
            </a:r>
          </a:p>
          <a:p>
            <a:pPr algn="l">
              <a:lnSpc>
                <a:spcPct val="120000"/>
              </a:lnSpc>
            </a:pPr>
            <a:r>
              <a:rPr lang="zh-CN" altLang="en-US" sz="2800">
                <a:solidFill>
                  <a:srgbClr val="0070C0"/>
                </a:solidFill>
                <a:latin typeface="Consolas" panose="020B0609020204030204" pitchFamily="49" charset="0"/>
              </a:rPr>
              <a:t>        cout &lt;&lt; "CARD " &lt;&lt; m &lt;&lt; endl;</a:t>
            </a:r>
          </a:p>
          <a:p>
            <a:pPr algn="l">
              <a:lnSpc>
                <a:spcPct val="120000"/>
              </a:lnSpc>
            </a:pPr>
            <a:r>
              <a:rPr lang="zh-CN" altLang="en-US" sz="2800">
                <a:solidFill>
                  <a:srgbClr val="0070C0"/>
                </a:solidFill>
                <a:latin typeface="Consolas" panose="020B0609020204030204" pitchFamily="49" charset="0"/>
              </a:rPr>
              <a:t>        </a:t>
            </a:r>
            <a:r>
              <a:rPr lang="zh-CN" altLang="en-US" sz="2800">
                <a:solidFill>
                  <a:schemeClr val="accent6">
                    <a:lumMod val="75000"/>
                  </a:schemeClr>
                </a:solidFill>
                <a:latin typeface="Consolas" panose="020B0609020204030204" pitchFamily="49" charset="0"/>
              </a:rPr>
              <a:t>for (int i = 1; i &lt;= 100; i++) </a:t>
            </a:r>
            <a:r>
              <a:rPr lang="en-US" altLang="zh-CN" sz="2800" b="0">
                <a:solidFill>
                  <a:srgbClr val="00B050"/>
                </a:solidFill>
                <a:latin typeface="Consolas" panose="020B0609020204030204" pitchFamily="49" charset="0"/>
              </a:rPr>
              <a:t>/// </a:t>
            </a:r>
            <a:r>
              <a:rPr lang="zh-CN" altLang="en-US" sz="2800" b="0">
                <a:solidFill>
                  <a:srgbClr val="00B050"/>
                </a:solidFill>
                <a:highlight>
                  <a:srgbClr val="FFFF00"/>
                </a:highlight>
                <a:latin typeface="Consolas" panose="020B0609020204030204" pitchFamily="49" charset="0"/>
              </a:rPr>
              <a:t>循环中的循环</a:t>
            </a:r>
            <a:endParaRPr lang="zh-CN" altLang="en-US" sz="2800">
              <a:solidFill>
                <a:schemeClr val="accent6">
                  <a:lumMod val="75000"/>
                </a:schemeClr>
              </a:solidFill>
              <a:highlight>
                <a:srgbClr val="FFFF00"/>
              </a:highlight>
              <a:latin typeface="Consolas" panose="020B0609020204030204" pitchFamily="49" charset="0"/>
            </a:endParaRPr>
          </a:p>
          <a:p>
            <a:pPr algn="l">
              <a:lnSpc>
                <a:spcPct val="120000"/>
              </a:lnSpc>
            </a:pPr>
            <a:r>
              <a:rPr lang="zh-CN" altLang="en-US" sz="2800">
                <a:solidFill>
                  <a:schemeClr val="accent6">
                    <a:lumMod val="75000"/>
                  </a:schemeClr>
                </a:solidFill>
                <a:latin typeface="Consolas" panose="020B0609020204030204" pitchFamily="49" charset="0"/>
              </a:rPr>
              <a:t>            if (i &amp; (1 &lt;&lt; m)) cout &lt;&lt; i &lt;&lt; ' ';</a:t>
            </a:r>
          </a:p>
          <a:p>
            <a:pPr algn="l">
              <a:lnSpc>
                <a:spcPct val="120000"/>
              </a:lnSpc>
            </a:pPr>
            <a:r>
              <a:rPr lang="zh-CN" altLang="en-US" sz="2800">
                <a:solidFill>
                  <a:srgbClr val="0070C0"/>
                </a:solidFill>
                <a:latin typeface="Consolas" panose="020B0609020204030204" pitchFamily="49" charset="0"/>
              </a:rPr>
              <a:t>        cout &lt;&lt; endl &lt;&lt; endl; </a:t>
            </a:r>
            <a:r>
              <a:rPr lang="en-US" altLang="zh-CN" sz="2800" b="0">
                <a:solidFill>
                  <a:srgbClr val="00B050"/>
                </a:solidFill>
                <a:latin typeface="Consolas" panose="020B0609020204030204" pitchFamily="49" charset="0"/>
              </a:rPr>
              <a:t>/// </a:t>
            </a:r>
            <a:r>
              <a:rPr lang="zh-CN" altLang="en-US" sz="2800" b="0">
                <a:solidFill>
                  <a:srgbClr val="00B050"/>
                </a:solidFill>
                <a:latin typeface="Consolas" panose="020B0609020204030204" pitchFamily="49" charset="0"/>
              </a:rPr>
              <a:t>每张卡片输出之间空一行</a:t>
            </a:r>
          </a:p>
          <a:p>
            <a:pPr algn="l">
              <a:lnSpc>
                <a:spcPct val="120000"/>
              </a:lnSpc>
            </a:pPr>
            <a:r>
              <a:rPr lang="zh-CN" altLang="en-US" sz="2800">
                <a:solidFill>
                  <a:srgbClr val="0070C0"/>
                </a:solidFill>
                <a:latin typeface="Consolas" panose="020B0609020204030204" pitchFamily="49" charset="0"/>
              </a:rPr>
              <a:t>    }</a:t>
            </a:r>
          </a:p>
          <a:p>
            <a:pPr algn="l">
              <a:lnSpc>
                <a:spcPct val="120000"/>
              </a:lnSpc>
            </a:pPr>
            <a:r>
              <a:rPr lang="zh-CN" altLang="en-US" sz="2800">
                <a:solidFill>
                  <a:srgbClr val="0070C0"/>
                </a:solidFill>
                <a:latin typeface="Consolas" panose="020B0609020204030204" pitchFamily="49" charset="0"/>
              </a:rPr>
              <a:t>    return 0;</a:t>
            </a:r>
          </a:p>
          <a:p>
            <a:pPr algn="l">
              <a:lnSpc>
                <a:spcPct val="120000"/>
              </a:lnSpc>
            </a:pPr>
            <a:r>
              <a:rPr lang="zh-CN" altLang="en-US" sz="2800">
                <a:solidFill>
                  <a:srgbClr val="0070C0"/>
                </a:solidFill>
                <a:latin typeface="Consolas" panose="020B0609020204030204" pitchFamily="49" charset="0"/>
              </a:rPr>
              <a:t>}</a:t>
            </a:r>
          </a:p>
        </p:txBody>
      </p:sp>
      <p:sp>
        <p:nvSpPr>
          <p:cNvPr id="3" name="矩形 2">
            <a:extLst>
              <a:ext uri="{FF2B5EF4-FFF2-40B4-BE49-F238E27FC236}">
                <a16:creationId xmlns:a16="http://schemas.microsoft.com/office/drawing/2014/main" id="{BC50C4F1-6F91-4879-A562-E8EBCD2EF8DE}"/>
              </a:ext>
            </a:extLst>
          </p:cNvPr>
          <p:cNvSpPr/>
          <p:nvPr/>
        </p:nvSpPr>
        <p:spPr>
          <a:xfrm>
            <a:off x="3053080" y="6953568"/>
            <a:ext cx="6614160" cy="461665"/>
          </a:xfrm>
          <a:prstGeom prst="rect">
            <a:avLst/>
          </a:prstGeom>
          <a:solidFill>
            <a:schemeClr val="tx2">
              <a:lumMod val="20000"/>
              <a:lumOff val="80000"/>
            </a:schemeClr>
          </a:solidFill>
        </p:spPr>
        <p:txBody>
          <a:bodyPr rtlCol="0" anchor="ctr">
            <a:spAutoFit/>
          </a:bodyPr>
          <a:lstStyle/>
          <a:p>
            <a:pPr algn="l"/>
            <a:r>
              <a:rPr lang="en-US" altLang="zh-CN">
                <a:solidFill>
                  <a:srgbClr val="FF0000"/>
                </a:solidFill>
                <a:latin typeface="Consolas" panose="020B0609020204030204" pitchFamily="49" charset="0"/>
              </a:rPr>
              <a:t>// </a:t>
            </a:r>
            <a:r>
              <a:rPr lang="zh-CN" altLang="en-US">
                <a:solidFill>
                  <a:srgbClr val="FF0000"/>
                </a:solidFill>
                <a:latin typeface="Consolas" panose="020B0609020204030204" pitchFamily="49" charset="0"/>
              </a:rPr>
              <a:t>逐一枚举</a:t>
            </a:r>
            <a:r>
              <a:rPr lang="en-US" altLang="zh-CN">
                <a:solidFill>
                  <a:srgbClr val="FF0000"/>
                </a:solidFill>
                <a:latin typeface="Consolas" panose="020B0609020204030204" pitchFamily="49" charset="0"/>
              </a:rPr>
              <a:t>1-100</a:t>
            </a:r>
            <a:r>
              <a:rPr lang="zh-CN" altLang="en-US">
                <a:solidFill>
                  <a:srgbClr val="FF0000"/>
                </a:solidFill>
                <a:latin typeface="Consolas" panose="020B0609020204030204" pitchFamily="49" charset="0"/>
              </a:rPr>
              <a:t>中的数，看是否“符合条件”</a:t>
            </a:r>
          </a:p>
        </p:txBody>
      </p:sp>
      <p:sp>
        <p:nvSpPr>
          <p:cNvPr id="4" name="文本框 3">
            <a:extLst>
              <a:ext uri="{FF2B5EF4-FFF2-40B4-BE49-F238E27FC236}">
                <a16:creationId xmlns:a16="http://schemas.microsoft.com/office/drawing/2014/main" id="{893EC3C7-22A4-46D3-A419-CA45CD6B2715}"/>
              </a:ext>
            </a:extLst>
          </p:cNvPr>
          <p:cNvSpPr txBox="1"/>
          <p:nvPr/>
        </p:nvSpPr>
        <p:spPr>
          <a:xfrm>
            <a:off x="5675196" y="2032000"/>
            <a:ext cx="6873678" cy="2133918"/>
          </a:xfrm>
          <a:prstGeom prst="rect">
            <a:avLst/>
          </a:prstGeom>
          <a:no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lang="zh-CN" altLang="en-US" sz="4400"/>
              <a:t>逐步求精：</a:t>
            </a:r>
            <a:endParaRPr lang="en-US" altLang="zh-CN" sz="4400"/>
          </a:p>
          <a:p>
            <a:pPr marL="0" marR="0" indent="0" algn="l" defTabSz="584200" rtl="0" fontAlgn="auto" latinLnBrk="0" hangingPunct="0">
              <a:lnSpc>
                <a:spcPct val="150000"/>
              </a:lnSpc>
              <a:spcBef>
                <a:spcPts val="0"/>
              </a:spcBef>
              <a:spcAft>
                <a:spcPts val="0"/>
              </a:spcAft>
              <a:buClrTx/>
              <a:buSzTx/>
              <a:buFontTx/>
              <a:buNone/>
              <a:tabLst/>
            </a:pPr>
            <a:r>
              <a:rPr kumimoji="0" lang="en-US" altLang="zh-CN" sz="4400" b="1" i="0" u="none" strike="noStrike" cap="none" spc="0" normalizeH="0" baseline="0">
                <a:ln>
                  <a:noFill/>
                </a:ln>
                <a:solidFill>
                  <a:srgbClr val="000000"/>
                </a:solidFill>
                <a:effectLst/>
                <a:uFillTx/>
                <a:latin typeface="Helvetica Neue"/>
                <a:ea typeface="Helvetica Neue"/>
                <a:cs typeface="Helvetica Neue"/>
                <a:sym typeface="Helvetica Neue"/>
              </a:rPr>
              <a:t>4. </a:t>
            </a:r>
            <a:r>
              <a:rPr kumimoji="0" lang="zh-CN" altLang="en-US" sz="4400" b="1" i="0" u="none" strike="noStrike" cap="none" spc="0" normalizeH="0" baseline="0">
                <a:ln>
                  <a:noFill/>
                </a:ln>
                <a:solidFill>
                  <a:srgbClr val="000000"/>
                </a:solidFill>
                <a:effectLst/>
                <a:uFillTx/>
                <a:latin typeface="Helvetica Neue"/>
                <a:ea typeface="Helvetica Neue"/>
                <a:cs typeface="Helvetica Neue"/>
                <a:sym typeface="Helvetica Neue"/>
              </a:rPr>
              <a:t>枚举</a:t>
            </a:r>
            <a:r>
              <a:rPr kumimoji="0" lang="en-US" altLang="zh-CN" sz="4400" b="1" i="0" u="none" strike="noStrike" cap="none" spc="0" normalizeH="0" baseline="0">
                <a:ln>
                  <a:noFill/>
                </a:ln>
                <a:solidFill>
                  <a:srgbClr val="000000"/>
                </a:solidFill>
                <a:effectLst/>
                <a:uFillTx/>
                <a:latin typeface="Helvetica Neue"/>
                <a:ea typeface="Helvetica Neue"/>
                <a:cs typeface="Helvetica Neue"/>
                <a:sym typeface="Helvetica Neue"/>
              </a:rPr>
              <a:t>1~100</a:t>
            </a:r>
            <a:r>
              <a:rPr kumimoji="0" lang="zh-CN" altLang="en-US" sz="4400" b="1" i="0" u="none" strike="noStrike" cap="none" spc="0" normalizeH="0" baseline="0">
                <a:ln>
                  <a:noFill/>
                </a:ln>
                <a:solidFill>
                  <a:srgbClr val="000000"/>
                </a:solidFill>
                <a:effectLst/>
                <a:uFillTx/>
                <a:latin typeface="Helvetica Neue"/>
                <a:ea typeface="Helvetica Neue"/>
                <a:cs typeface="Helvetica Neue"/>
                <a:sym typeface="Helvetica Neue"/>
              </a:rPr>
              <a:t>所有数字</a:t>
            </a:r>
          </a:p>
        </p:txBody>
      </p:sp>
      <p:sp>
        <p:nvSpPr>
          <p:cNvPr id="9" name="【任务3.2】谁做的坏事？">
            <a:extLst>
              <a:ext uri="{FF2B5EF4-FFF2-40B4-BE49-F238E27FC236}">
                <a16:creationId xmlns:a16="http://schemas.microsoft.com/office/drawing/2014/main" id="{812F3C1D-A831-4CFA-8BED-907236313B67}"/>
              </a:ext>
            </a:extLst>
          </p:cNvPr>
          <p:cNvSpPr>
            <a:spLocks noGrp="1"/>
          </p:cNvSpPr>
          <p:nvPr>
            <p:ph type="title"/>
          </p:nvPr>
        </p:nvSpPr>
        <p:spPr>
          <a:xfrm>
            <a:off x="547200" y="354125"/>
            <a:ext cx="10255993" cy="1152045"/>
          </a:xfrm>
          <a:prstGeom prst="rect">
            <a:avLst/>
          </a:prstGeom>
        </p:spPr>
        <p:txBody>
          <a:bodyPr/>
          <a:lstStyle/>
          <a:p>
            <a:r>
              <a:rPr lang="zh-CN" altLang="en-US"/>
              <a:t>程序设计策略：自顶向下，逐步求精</a:t>
            </a:r>
            <a:endParaRPr/>
          </a:p>
        </p:txBody>
      </p:sp>
    </p:spTree>
    <p:extLst>
      <p:ext uri="{BB962C8B-B14F-4D97-AF65-F5344CB8AC3E}">
        <p14:creationId xmlns:p14="http://schemas.microsoft.com/office/powerpoint/2010/main" val="394484389"/>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59</a:t>
            </a:fld>
            <a:endParaRPr/>
          </a:p>
        </p:txBody>
      </p:sp>
      <p:sp>
        <p:nvSpPr>
          <p:cNvPr id="2" name="矩形 1">
            <a:extLst>
              <a:ext uri="{FF2B5EF4-FFF2-40B4-BE49-F238E27FC236}">
                <a16:creationId xmlns:a16="http://schemas.microsoft.com/office/drawing/2014/main" id="{24A1BBD6-7741-4E47-AEE1-84FDE8B02936}"/>
              </a:ext>
            </a:extLst>
          </p:cNvPr>
          <p:cNvSpPr/>
          <p:nvPr/>
        </p:nvSpPr>
        <p:spPr>
          <a:xfrm>
            <a:off x="619759" y="2226608"/>
            <a:ext cx="11768185" cy="7294305"/>
          </a:xfrm>
          <a:prstGeom prst="rect">
            <a:avLst/>
          </a:prstGeom>
        </p:spPr>
        <p:txBody>
          <a:bodyPr wrap="square">
            <a:spAutoFit/>
          </a:bodyPr>
          <a:lstStyle/>
          <a:p>
            <a:pPr algn="l">
              <a:lnSpc>
                <a:spcPct val="120000"/>
              </a:lnSpc>
            </a:pPr>
            <a:r>
              <a:rPr lang="zh-CN" altLang="en-US" sz="2800">
                <a:solidFill>
                  <a:srgbClr val="0070C0"/>
                </a:solidFill>
                <a:latin typeface="Consolas" panose="020B0609020204030204" pitchFamily="49" charset="0"/>
              </a:rPr>
              <a:t>#include &lt;iostream&gt;</a:t>
            </a:r>
          </a:p>
          <a:p>
            <a:pPr algn="l">
              <a:lnSpc>
                <a:spcPct val="120000"/>
              </a:lnSpc>
            </a:pPr>
            <a:r>
              <a:rPr lang="zh-CN" altLang="en-US" sz="2800">
                <a:solidFill>
                  <a:srgbClr val="0070C0"/>
                </a:solidFill>
                <a:latin typeface="Consolas" panose="020B0609020204030204" pitchFamily="49" charset="0"/>
              </a:rPr>
              <a:t>using namespace std;</a:t>
            </a:r>
          </a:p>
          <a:p>
            <a:pPr algn="l">
              <a:lnSpc>
                <a:spcPct val="120000"/>
              </a:lnSpc>
            </a:pPr>
            <a:endParaRPr lang="zh-CN" altLang="en-US" sz="2800">
              <a:solidFill>
                <a:srgbClr val="0070C0"/>
              </a:solidFill>
              <a:latin typeface="Consolas" panose="020B0609020204030204" pitchFamily="49" charset="0"/>
            </a:endParaRPr>
          </a:p>
          <a:p>
            <a:pPr algn="l">
              <a:lnSpc>
                <a:spcPct val="120000"/>
              </a:lnSpc>
            </a:pPr>
            <a:r>
              <a:rPr lang="zh-CN" altLang="en-US" sz="2800">
                <a:solidFill>
                  <a:srgbClr val="0070C0"/>
                </a:solidFill>
                <a:latin typeface="Consolas" panose="020B0609020204030204" pitchFamily="49" charset="0"/>
              </a:rPr>
              <a:t>int main() </a:t>
            </a:r>
          </a:p>
          <a:p>
            <a:pPr algn="l">
              <a:lnSpc>
                <a:spcPct val="120000"/>
              </a:lnSpc>
            </a:pPr>
            <a:r>
              <a:rPr lang="zh-CN" altLang="en-US" sz="2800">
                <a:solidFill>
                  <a:srgbClr val="0070C0"/>
                </a:solidFill>
                <a:latin typeface="Consolas" panose="020B0609020204030204" pitchFamily="49" charset="0"/>
              </a:rPr>
              <a:t>{</a:t>
            </a:r>
          </a:p>
          <a:p>
            <a:pPr algn="l">
              <a:lnSpc>
                <a:spcPct val="120000"/>
              </a:lnSpc>
            </a:pPr>
            <a:r>
              <a:rPr lang="zh-CN" altLang="en-US" sz="2800">
                <a:solidFill>
                  <a:srgbClr val="0070C0"/>
                </a:solidFill>
                <a:latin typeface="Consolas" panose="020B0609020204030204" pitchFamily="49" charset="0"/>
              </a:rPr>
              <a:t>    for (int m=0; m&lt;7; m++)</a:t>
            </a:r>
          </a:p>
          <a:p>
            <a:pPr algn="l">
              <a:lnSpc>
                <a:spcPct val="120000"/>
              </a:lnSpc>
            </a:pPr>
            <a:r>
              <a:rPr lang="zh-CN" altLang="en-US" sz="2800">
                <a:solidFill>
                  <a:srgbClr val="0070C0"/>
                </a:solidFill>
                <a:latin typeface="Consolas" panose="020B0609020204030204" pitchFamily="49" charset="0"/>
              </a:rPr>
              <a:t>    {</a:t>
            </a:r>
          </a:p>
          <a:p>
            <a:pPr algn="l">
              <a:lnSpc>
                <a:spcPct val="120000"/>
              </a:lnSpc>
            </a:pPr>
            <a:r>
              <a:rPr lang="zh-CN" altLang="en-US" sz="2800">
                <a:solidFill>
                  <a:srgbClr val="0070C0"/>
                </a:solidFill>
                <a:latin typeface="Consolas" panose="020B0609020204030204" pitchFamily="49" charset="0"/>
              </a:rPr>
              <a:t>        cout &lt;&lt; "CARD " &lt;&lt; m &lt;&lt; endl;</a:t>
            </a:r>
          </a:p>
          <a:p>
            <a:pPr algn="l">
              <a:lnSpc>
                <a:spcPct val="120000"/>
              </a:lnSpc>
            </a:pPr>
            <a:r>
              <a:rPr lang="zh-CN" altLang="en-US" sz="2800">
                <a:solidFill>
                  <a:srgbClr val="0070C0"/>
                </a:solidFill>
                <a:latin typeface="Consolas" panose="020B0609020204030204" pitchFamily="49" charset="0"/>
              </a:rPr>
              <a:t>        </a:t>
            </a:r>
            <a:r>
              <a:rPr lang="zh-CN" altLang="en-US" sz="2800">
                <a:solidFill>
                  <a:schemeClr val="accent6">
                    <a:lumMod val="75000"/>
                  </a:schemeClr>
                </a:solidFill>
                <a:latin typeface="Consolas" panose="020B0609020204030204" pitchFamily="49" charset="0"/>
              </a:rPr>
              <a:t>for (int i = 1; i &lt;= 100; i++) </a:t>
            </a:r>
            <a:r>
              <a:rPr lang="en-US" altLang="zh-CN" sz="2800" b="0">
                <a:solidFill>
                  <a:srgbClr val="00B050"/>
                </a:solidFill>
                <a:latin typeface="Consolas" panose="020B0609020204030204" pitchFamily="49" charset="0"/>
              </a:rPr>
              <a:t>/// </a:t>
            </a:r>
            <a:r>
              <a:rPr lang="zh-CN" altLang="en-US" sz="2800" b="0">
                <a:solidFill>
                  <a:srgbClr val="00B050"/>
                </a:solidFill>
                <a:highlight>
                  <a:srgbClr val="FFFF00"/>
                </a:highlight>
                <a:latin typeface="Consolas" panose="020B0609020204030204" pitchFamily="49" charset="0"/>
              </a:rPr>
              <a:t>获得指定位置</a:t>
            </a:r>
            <a:r>
              <a:rPr lang="en-US" altLang="zh-CN" sz="2800" b="0">
                <a:solidFill>
                  <a:srgbClr val="00B050"/>
                </a:solidFill>
                <a:highlight>
                  <a:srgbClr val="FFFF00"/>
                </a:highlight>
                <a:latin typeface="Consolas" panose="020B0609020204030204" pitchFamily="49" charset="0"/>
              </a:rPr>
              <a:t>bit</a:t>
            </a:r>
            <a:r>
              <a:rPr lang="zh-CN" altLang="en-US" sz="2800" b="0">
                <a:solidFill>
                  <a:srgbClr val="00B050"/>
                </a:solidFill>
                <a:highlight>
                  <a:srgbClr val="FFFF00"/>
                </a:highlight>
                <a:latin typeface="Consolas" panose="020B0609020204030204" pitchFamily="49" charset="0"/>
              </a:rPr>
              <a:t>值</a:t>
            </a:r>
            <a:endParaRPr lang="zh-CN" altLang="en-US" sz="2800">
              <a:solidFill>
                <a:schemeClr val="accent6">
                  <a:lumMod val="75000"/>
                </a:schemeClr>
              </a:solidFill>
              <a:highlight>
                <a:srgbClr val="FFFF00"/>
              </a:highlight>
              <a:latin typeface="Consolas" panose="020B0609020204030204" pitchFamily="49" charset="0"/>
            </a:endParaRPr>
          </a:p>
          <a:p>
            <a:pPr algn="l">
              <a:lnSpc>
                <a:spcPct val="120000"/>
              </a:lnSpc>
            </a:pPr>
            <a:r>
              <a:rPr lang="zh-CN" altLang="en-US" sz="2800">
                <a:solidFill>
                  <a:schemeClr val="accent6">
                    <a:lumMod val="75000"/>
                  </a:schemeClr>
                </a:solidFill>
                <a:latin typeface="Consolas" panose="020B0609020204030204" pitchFamily="49" charset="0"/>
              </a:rPr>
              <a:t>            </a:t>
            </a:r>
            <a:r>
              <a:rPr lang="zh-CN" altLang="en-US" sz="2800" b="0">
                <a:solidFill>
                  <a:schemeClr val="tx2">
                    <a:lumMod val="20000"/>
                    <a:lumOff val="80000"/>
                  </a:schemeClr>
                </a:solidFill>
                <a:highlight>
                  <a:srgbClr val="C0C0C0"/>
                </a:highlight>
                <a:latin typeface="Consolas" panose="020B0609020204030204" pitchFamily="49" charset="0"/>
              </a:rPr>
              <a:t>if (i &amp; (1 &lt;&lt; m)) cout &lt;&lt; i &lt;&lt; ' ';</a:t>
            </a:r>
          </a:p>
          <a:p>
            <a:pPr algn="l">
              <a:lnSpc>
                <a:spcPct val="120000"/>
              </a:lnSpc>
            </a:pPr>
            <a:r>
              <a:rPr lang="zh-CN" altLang="en-US" sz="2800">
                <a:solidFill>
                  <a:srgbClr val="0070C0"/>
                </a:solidFill>
                <a:latin typeface="Consolas" panose="020B0609020204030204" pitchFamily="49" charset="0"/>
              </a:rPr>
              <a:t>        cout &lt;&lt; endl &lt;&lt; endl; </a:t>
            </a:r>
            <a:r>
              <a:rPr lang="en-US" altLang="zh-CN" sz="2800" b="0">
                <a:solidFill>
                  <a:srgbClr val="00B050"/>
                </a:solidFill>
                <a:latin typeface="Consolas" panose="020B0609020204030204" pitchFamily="49" charset="0"/>
              </a:rPr>
              <a:t>/// </a:t>
            </a:r>
            <a:r>
              <a:rPr lang="zh-CN" altLang="en-US" sz="2800" b="0">
                <a:solidFill>
                  <a:srgbClr val="00B050"/>
                </a:solidFill>
                <a:latin typeface="Consolas" panose="020B0609020204030204" pitchFamily="49" charset="0"/>
              </a:rPr>
              <a:t>每张卡片输出之间空一行</a:t>
            </a:r>
          </a:p>
          <a:p>
            <a:pPr algn="l">
              <a:lnSpc>
                <a:spcPct val="120000"/>
              </a:lnSpc>
            </a:pPr>
            <a:r>
              <a:rPr lang="zh-CN" altLang="en-US" sz="2800">
                <a:solidFill>
                  <a:srgbClr val="0070C0"/>
                </a:solidFill>
                <a:latin typeface="Consolas" panose="020B0609020204030204" pitchFamily="49" charset="0"/>
              </a:rPr>
              <a:t>    }</a:t>
            </a:r>
          </a:p>
          <a:p>
            <a:pPr algn="l">
              <a:lnSpc>
                <a:spcPct val="120000"/>
              </a:lnSpc>
            </a:pPr>
            <a:r>
              <a:rPr lang="zh-CN" altLang="en-US" sz="2800">
                <a:solidFill>
                  <a:srgbClr val="0070C0"/>
                </a:solidFill>
                <a:latin typeface="Consolas" panose="020B0609020204030204" pitchFamily="49" charset="0"/>
              </a:rPr>
              <a:t>    return 0;</a:t>
            </a:r>
          </a:p>
          <a:p>
            <a:pPr algn="l">
              <a:lnSpc>
                <a:spcPct val="120000"/>
              </a:lnSpc>
            </a:pPr>
            <a:r>
              <a:rPr lang="zh-CN" altLang="en-US" sz="2800">
                <a:solidFill>
                  <a:srgbClr val="0070C0"/>
                </a:solidFill>
                <a:latin typeface="Consolas" panose="020B0609020204030204" pitchFamily="49" charset="0"/>
              </a:rPr>
              <a:t>}</a:t>
            </a:r>
            <a:endParaRPr lang="zh-CN" altLang="en-US" sz="2800">
              <a:solidFill>
                <a:schemeClr val="bg1">
                  <a:lumMod val="65000"/>
                </a:schemeClr>
              </a:solidFill>
              <a:latin typeface="Consolas" panose="020B0609020204030204" pitchFamily="49" charset="0"/>
            </a:endParaRPr>
          </a:p>
        </p:txBody>
      </p:sp>
      <p:sp>
        <p:nvSpPr>
          <p:cNvPr id="5" name="文本框 4">
            <a:extLst>
              <a:ext uri="{FF2B5EF4-FFF2-40B4-BE49-F238E27FC236}">
                <a16:creationId xmlns:a16="http://schemas.microsoft.com/office/drawing/2014/main" id="{BA7ADC89-08BF-4576-962F-25592B0ECBEB}"/>
              </a:ext>
            </a:extLst>
          </p:cNvPr>
          <p:cNvSpPr txBox="1"/>
          <p:nvPr/>
        </p:nvSpPr>
        <p:spPr>
          <a:xfrm>
            <a:off x="5675196" y="2032000"/>
            <a:ext cx="6373540" cy="2133918"/>
          </a:xfrm>
          <a:prstGeom prst="rect">
            <a:avLst/>
          </a:prstGeom>
          <a:no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kumimoji="0" lang="zh-CN" altLang="en-US" sz="4400" b="1" i="0" u="none" strike="noStrike" cap="none" spc="0" normalizeH="0" baseline="0">
                <a:ln>
                  <a:noFill/>
                </a:ln>
                <a:solidFill>
                  <a:srgbClr val="000000"/>
                </a:solidFill>
                <a:effectLst/>
                <a:uFillTx/>
                <a:latin typeface="Helvetica Neue"/>
                <a:ea typeface="Helvetica Neue"/>
                <a:cs typeface="Helvetica Neue"/>
                <a:sym typeface="Helvetica Neue"/>
              </a:rPr>
              <a:t>逐步求精：</a:t>
            </a:r>
            <a:endParaRPr kumimoji="0" lang="en-US" altLang="zh-CN" sz="4400" b="1" i="0" u="none" strike="noStrike" cap="none" spc="0" normalizeH="0" baseline="0">
              <a:ln>
                <a:noFill/>
              </a:ln>
              <a:solidFill>
                <a:srgbClr val="000000"/>
              </a:solidFill>
              <a:effectLst/>
              <a:uFillTx/>
              <a:latin typeface="Helvetica Neue"/>
              <a:ea typeface="Helvetica Neue"/>
              <a:cs typeface="Helvetica Neue"/>
              <a:sym typeface="Helvetica Neue"/>
            </a:endParaRPr>
          </a:p>
          <a:p>
            <a:pPr marL="0" marR="0" indent="0" algn="l" defTabSz="584200" rtl="0" fontAlgn="auto" latinLnBrk="0" hangingPunct="0">
              <a:lnSpc>
                <a:spcPct val="150000"/>
              </a:lnSpc>
              <a:spcBef>
                <a:spcPts val="0"/>
              </a:spcBef>
              <a:spcAft>
                <a:spcPts val="0"/>
              </a:spcAft>
              <a:buClrTx/>
              <a:buSzTx/>
              <a:buFontTx/>
              <a:buNone/>
              <a:tabLst/>
            </a:pPr>
            <a:r>
              <a:rPr lang="en-US" altLang="zh-CN" sz="4400"/>
              <a:t>5. </a:t>
            </a:r>
            <a:r>
              <a:rPr kumimoji="0" lang="zh-CN" altLang="en-US" sz="4400" b="1" i="0" u="none" strike="noStrike" cap="none" spc="0" normalizeH="0" baseline="0">
                <a:ln>
                  <a:noFill/>
                </a:ln>
                <a:solidFill>
                  <a:srgbClr val="000000"/>
                </a:solidFill>
                <a:effectLst/>
                <a:uFillTx/>
                <a:latin typeface="Helvetica Neue"/>
                <a:ea typeface="Helvetica Neue"/>
                <a:cs typeface="Helvetica Neue"/>
                <a:sym typeface="Helvetica Neue"/>
              </a:rPr>
              <a:t>判断数字是否符合要求</a:t>
            </a:r>
          </a:p>
        </p:txBody>
      </p:sp>
      <p:sp>
        <p:nvSpPr>
          <p:cNvPr id="8" name="【任务3.2】谁做的坏事？">
            <a:extLst>
              <a:ext uri="{FF2B5EF4-FFF2-40B4-BE49-F238E27FC236}">
                <a16:creationId xmlns:a16="http://schemas.microsoft.com/office/drawing/2014/main" id="{D490827D-7E57-4FE5-B62D-70E5D039FEA8}"/>
              </a:ext>
            </a:extLst>
          </p:cNvPr>
          <p:cNvSpPr>
            <a:spLocks noGrp="1"/>
          </p:cNvSpPr>
          <p:nvPr>
            <p:ph type="title"/>
          </p:nvPr>
        </p:nvSpPr>
        <p:spPr>
          <a:xfrm>
            <a:off x="547200" y="354125"/>
            <a:ext cx="10255993" cy="1152045"/>
          </a:xfrm>
          <a:prstGeom prst="rect">
            <a:avLst/>
          </a:prstGeom>
        </p:spPr>
        <p:txBody>
          <a:bodyPr/>
          <a:lstStyle/>
          <a:p>
            <a:r>
              <a:rPr lang="zh-CN" altLang="en-US"/>
              <a:t>程序设计策略：自顶向下，逐步求精</a:t>
            </a:r>
            <a:endParaRPr/>
          </a:p>
        </p:txBody>
      </p:sp>
      <p:sp>
        <p:nvSpPr>
          <p:cNvPr id="3" name="爆炸形: 8 pt  2">
            <a:extLst>
              <a:ext uri="{FF2B5EF4-FFF2-40B4-BE49-F238E27FC236}">
                <a16:creationId xmlns:a16="http://schemas.microsoft.com/office/drawing/2014/main" id="{C4AAA1CA-424E-4C27-AC11-7D8860A26FEF}"/>
              </a:ext>
            </a:extLst>
          </p:cNvPr>
          <p:cNvSpPr/>
          <p:nvPr/>
        </p:nvSpPr>
        <p:spPr>
          <a:xfrm>
            <a:off x="8464062" y="5525477"/>
            <a:ext cx="4401964" cy="2157046"/>
          </a:xfrm>
          <a:prstGeom prst="irregularSeal1">
            <a:avLst/>
          </a:prstGeom>
          <a:ln w="12700">
            <a:solidFill>
              <a:schemeClr val="accent5">
                <a:lumMod val="75000"/>
              </a:schemeClr>
            </a:solidFill>
            <a:prstDash val="dash"/>
            <a:extLst>
              <a:ext uri="{C807C97D-BFC1-408E-A445-0C87EB9F89A2}">
                <ask:lineSketchStyleProps xmlns:ask="http://schemas.microsoft.com/office/drawing/2018/sketchyshapes">
                  <ask:type>
                    <ask:lineSketchNone/>
                  </ask:type>
                </ask:lineSketchStyleProps>
              </a:ext>
            </a:extLst>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4" name="箭头: 下 3">
            <a:extLst>
              <a:ext uri="{FF2B5EF4-FFF2-40B4-BE49-F238E27FC236}">
                <a16:creationId xmlns:a16="http://schemas.microsoft.com/office/drawing/2014/main" id="{7D22D13D-903E-461C-8091-26DFC2DDAFB2}"/>
              </a:ext>
            </a:extLst>
          </p:cNvPr>
          <p:cNvSpPr/>
          <p:nvPr/>
        </p:nvSpPr>
        <p:spPr>
          <a:xfrm>
            <a:off x="10188305" y="4040554"/>
            <a:ext cx="953477" cy="1672492"/>
          </a:xfrm>
          <a:prstGeom prst="downArrow">
            <a:avLst/>
          </a:prstGeom>
          <a:solidFill>
            <a:schemeClr val="tx2">
              <a:lumMod val="20000"/>
              <a:lumOff val="80000"/>
            </a:schemeClr>
          </a:solidFill>
        </p:spPr>
        <p:txBody>
          <a:bodyPr wrap="square" rtlCol="0" anchor="ctr">
            <a:spAutoFit/>
          </a:bodyPr>
          <a:lstStyle/>
          <a:p>
            <a:pPr algn="l"/>
            <a:endParaRPr lang="zh-CN" altLang="en-US">
              <a:solidFill>
                <a:srgbClr val="0070C0"/>
              </a:solidFill>
              <a:latin typeface="Consolas" panose="020B0609020204030204" pitchFamily="49" charset="0"/>
            </a:endParaRPr>
          </a:p>
        </p:txBody>
      </p:sp>
    </p:spTree>
    <p:extLst>
      <p:ext uri="{BB962C8B-B14F-4D97-AF65-F5344CB8AC3E}">
        <p14:creationId xmlns:p14="http://schemas.microsoft.com/office/powerpoint/2010/main" val="4106034508"/>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60</a:t>
            </a:fld>
            <a:endParaRPr/>
          </a:p>
        </p:txBody>
      </p:sp>
      <p:pic>
        <p:nvPicPr>
          <p:cNvPr id="5" name="图片 4">
            <a:extLst>
              <a:ext uri="{FF2B5EF4-FFF2-40B4-BE49-F238E27FC236}">
                <a16:creationId xmlns:a16="http://schemas.microsoft.com/office/drawing/2014/main" id="{BADEE92C-276F-44DA-8572-27B6B2CEA440}"/>
              </a:ext>
            </a:extLst>
          </p:cNvPr>
          <p:cNvPicPr>
            <a:picLocks noChangeAspect="1"/>
          </p:cNvPicPr>
          <p:nvPr/>
        </p:nvPicPr>
        <p:blipFill rotWithShape="1">
          <a:blip r:embed="rId2"/>
          <a:srcRect r="43548"/>
          <a:stretch/>
        </p:blipFill>
        <p:spPr>
          <a:xfrm>
            <a:off x="547199" y="2168312"/>
            <a:ext cx="3329232" cy="2999823"/>
          </a:xfrm>
          <a:prstGeom prst="rect">
            <a:avLst/>
          </a:prstGeom>
        </p:spPr>
      </p:pic>
      <p:sp>
        <p:nvSpPr>
          <p:cNvPr id="10" name="文本框 9">
            <a:extLst>
              <a:ext uri="{FF2B5EF4-FFF2-40B4-BE49-F238E27FC236}">
                <a16:creationId xmlns:a16="http://schemas.microsoft.com/office/drawing/2014/main" id="{92AC4688-25A5-4E0E-96F7-583C73EFF140}"/>
              </a:ext>
            </a:extLst>
          </p:cNvPr>
          <p:cNvSpPr txBox="1"/>
          <p:nvPr/>
        </p:nvSpPr>
        <p:spPr>
          <a:xfrm>
            <a:off x="4313723" y="2207177"/>
            <a:ext cx="6064984" cy="6124754"/>
          </a:xfrm>
          <a:prstGeom prst="rect">
            <a:avLst/>
          </a:prstGeom>
          <a:noFill/>
          <a:ln w="12700" cap="flat">
            <a:solidFill>
              <a:schemeClr val="accent1"/>
            </a:solidFill>
            <a:prstDash val="dash"/>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2800" b="0">
                <a:solidFill>
                  <a:srgbClr val="0000FF"/>
                </a:solidFill>
                <a:effectLst/>
                <a:latin typeface="Consolas" panose="020B0609020204030204" pitchFamily="49" charset="0"/>
              </a:rPr>
              <a:t>#include </a:t>
            </a:r>
            <a:r>
              <a:rPr lang="en-US" altLang="zh-CN" sz="2800" b="0">
                <a:solidFill>
                  <a:srgbClr val="A31515"/>
                </a:solidFill>
                <a:effectLst/>
                <a:latin typeface="Consolas" panose="020B0609020204030204" pitchFamily="49" charset="0"/>
              </a:rPr>
              <a:t>&lt;iostream&gt;</a:t>
            </a:r>
            <a:endParaRPr lang="en-US" altLang="zh-CN" sz="2800" b="0">
              <a:solidFill>
                <a:srgbClr val="000000"/>
              </a:solidFill>
              <a:effectLst/>
              <a:latin typeface="Consolas" panose="020B0609020204030204" pitchFamily="49" charset="0"/>
            </a:endParaRPr>
          </a:p>
          <a:p>
            <a:pPr algn="l"/>
            <a:r>
              <a:rPr lang="en-US" altLang="zh-CN" sz="2800" b="0">
                <a:solidFill>
                  <a:srgbClr val="0000FF"/>
                </a:solidFill>
                <a:effectLst/>
                <a:latin typeface="Consolas" panose="020B0609020204030204" pitchFamily="49" charset="0"/>
              </a:rPr>
              <a:t>using</a:t>
            </a:r>
            <a:r>
              <a:rPr lang="en-US" altLang="zh-CN" sz="2800" b="0">
                <a:solidFill>
                  <a:srgbClr val="000000"/>
                </a:solidFill>
                <a:effectLst/>
                <a:latin typeface="Consolas" panose="020B0609020204030204" pitchFamily="49" charset="0"/>
              </a:rPr>
              <a:t> </a:t>
            </a:r>
            <a:r>
              <a:rPr lang="en-US" altLang="zh-CN" sz="2800" b="0">
                <a:solidFill>
                  <a:srgbClr val="0000FF"/>
                </a:solidFill>
                <a:effectLst/>
                <a:latin typeface="Consolas" panose="020B0609020204030204" pitchFamily="49" charset="0"/>
              </a:rPr>
              <a:t>namespace</a:t>
            </a:r>
            <a:r>
              <a:rPr lang="en-US" altLang="zh-CN" sz="2800" b="0">
                <a:solidFill>
                  <a:srgbClr val="000000"/>
                </a:solidFill>
                <a:effectLst/>
                <a:latin typeface="Consolas" panose="020B0609020204030204" pitchFamily="49" charset="0"/>
              </a:rPr>
              <a:t> std;</a:t>
            </a:r>
          </a:p>
          <a:p>
            <a:pPr algn="l"/>
            <a:br>
              <a:rPr lang="en-US" altLang="zh-CN" sz="2800" b="0">
                <a:solidFill>
                  <a:srgbClr val="000000"/>
                </a:solidFill>
                <a:effectLst/>
                <a:latin typeface="Consolas" panose="020B0609020204030204" pitchFamily="49" charset="0"/>
              </a:rPr>
            </a:br>
            <a:r>
              <a:rPr lang="en-US" altLang="zh-CN" sz="2800" b="0">
                <a:solidFill>
                  <a:srgbClr val="0000FF"/>
                </a:solidFill>
                <a:effectLst/>
                <a:latin typeface="Consolas" panose="020B0609020204030204" pitchFamily="49" charset="0"/>
              </a:rPr>
              <a:t>int</a:t>
            </a:r>
            <a:r>
              <a:rPr lang="en-US" altLang="zh-CN" sz="2800" b="0">
                <a:solidFill>
                  <a:srgbClr val="000000"/>
                </a:solidFill>
                <a:effectLst/>
                <a:latin typeface="Consolas" panose="020B0609020204030204" pitchFamily="49" charset="0"/>
              </a:rPr>
              <a:t> main()</a:t>
            </a:r>
          </a:p>
          <a:p>
            <a:pPr algn="l"/>
            <a:r>
              <a:rPr lang="en-US" altLang="zh-CN" sz="2800" b="0">
                <a:solidFill>
                  <a:srgbClr val="000000"/>
                </a:solidFill>
                <a:effectLst/>
                <a:latin typeface="Consolas" panose="020B0609020204030204" pitchFamily="49" charset="0"/>
              </a:rPr>
              <a:t>{</a:t>
            </a:r>
          </a:p>
          <a:p>
            <a:pPr algn="l"/>
            <a:r>
              <a:rPr lang="en-US" altLang="zh-CN" sz="2800" b="0">
                <a:solidFill>
                  <a:srgbClr val="000000"/>
                </a:solidFill>
                <a:effectLst/>
                <a:latin typeface="Consolas" panose="020B0609020204030204" pitchFamily="49" charset="0"/>
              </a:rPr>
              <a:t>    cout &lt;&lt; (</a:t>
            </a:r>
            <a:r>
              <a:rPr lang="en-US" altLang="zh-CN" sz="2800" b="0">
                <a:solidFill>
                  <a:srgbClr val="098658"/>
                </a:solidFill>
                <a:effectLst/>
                <a:latin typeface="Consolas" panose="020B0609020204030204" pitchFamily="49" charset="0"/>
              </a:rPr>
              <a:t>6</a:t>
            </a:r>
            <a:r>
              <a:rPr lang="en-US" altLang="zh-CN" sz="2800" b="0">
                <a:solidFill>
                  <a:srgbClr val="000000"/>
                </a:solidFill>
                <a:effectLst/>
                <a:latin typeface="Consolas" panose="020B0609020204030204" pitchFamily="49" charset="0"/>
              </a:rPr>
              <a:t> &amp; </a:t>
            </a:r>
            <a:r>
              <a:rPr lang="en-US" altLang="zh-CN" sz="2800" b="0">
                <a:solidFill>
                  <a:srgbClr val="098658"/>
                </a:solidFill>
                <a:effectLst/>
                <a:latin typeface="Consolas" panose="020B0609020204030204" pitchFamily="49" charset="0"/>
              </a:rPr>
              <a:t>3</a:t>
            </a:r>
            <a:r>
              <a:rPr lang="en-US" altLang="zh-CN" sz="2800" b="0">
                <a:solidFill>
                  <a:srgbClr val="000000"/>
                </a:solidFill>
                <a:effectLst/>
                <a:latin typeface="Consolas" panose="020B0609020204030204" pitchFamily="49" charset="0"/>
              </a:rPr>
              <a:t>) &lt;&lt; endl;</a:t>
            </a:r>
          </a:p>
          <a:p>
            <a:pPr algn="l"/>
            <a:r>
              <a:rPr lang="en-US" altLang="zh-CN" sz="2800" b="0">
                <a:solidFill>
                  <a:srgbClr val="000000"/>
                </a:solidFill>
                <a:effectLst/>
                <a:latin typeface="Consolas" panose="020B0609020204030204" pitchFamily="49" charset="0"/>
              </a:rPr>
              <a:t>    cout &lt;&lt; (</a:t>
            </a:r>
            <a:r>
              <a:rPr lang="en-US" altLang="zh-CN" sz="2800" b="0">
                <a:solidFill>
                  <a:srgbClr val="098658"/>
                </a:solidFill>
                <a:effectLst/>
                <a:latin typeface="Consolas" panose="020B0609020204030204" pitchFamily="49" charset="0"/>
              </a:rPr>
              <a:t>6</a:t>
            </a:r>
            <a:r>
              <a:rPr lang="en-US" altLang="zh-CN" sz="2800" b="0">
                <a:solidFill>
                  <a:srgbClr val="000000"/>
                </a:solidFill>
                <a:effectLst/>
                <a:latin typeface="Consolas" panose="020B0609020204030204" pitchFamily="49" charset="0"/>
              </a:rPr>
              <a:t> | </a:t>
            </a:r>
            <a:r>
              <a:rPr lang="en-US" altLang="zh-CN" sz="2800" b="0">
                <a:solidFill>
                  <a:srgbClr val="098658"/>
                </a:solidFill>
                <a:effectLst/>
                <a:latin typeface="Consolas" panose="020B0609020204030204" pitchFamily="49" charset="0"/>
              </a:rPr>
              <a:t>3</a:t>
            </a:r>
            <a:r>
              <a:rPr lang="en-US" altLang="zh-CN" sz="2800" b="0">
                <a:solidFill>
                  <a:srgbClr val="000000"/>
                </a:solidFill>
                <a:effectLst/>
                <a:latin typeface="Consolas" panose="020B0609020204030204" pitchFamily="49" charset="0"/>
              </a:rPr>
              <a:t>) &lt;&lt; endl;</a:t>
            </a:r>
          </a:p>
          <a:p>
            <a:pPr algn="l"/>
            <a:r>
              <a:rPr lang="en-US" altLang="zh-CN" sz="2800" b="0">
                <a:solidFill>
                  <a:srgbClr val="000000"/>
                </a:solidFill>
                <a:effectLst/>
                <a:latin typeface="Consolas" panose="020B0609020204030204" pitchFamily="49" charset="0"/>
              </a:rPr>
              <a:t>    cout &lt;&lt; (</a:t>
            </a:r>
            <a:r>
              <a:rPr lang="en-US" altLang="zh-CN" sz="2800" b="0">
                <a:solidFill>
                  <a:srgbClr val="098658"/>
                </a:solidFill>
                <a:effectLst/>
                <a:latin typeface="Consolas" panose="020B0609020204030204" pitchFamily="49" charset="0"/>
              </a:rPr>
              <a:t>6</a:t>
            </a:r>
            <a:r>
              <a:rPr lang="en-US" altLang="zh-CN" sz="2800" b="0">
                <a:solidFill>
                  <a:srgbClr val="000000"/>
                </a:solidFill>
                <a:effectLst/>
                <a:latin typeface="Consolas" panose="020B0609020204030204" pitchFamily="49" charset="0"/>
              </a:rPr>
              <a:t> ^ </a:t>
            </a:r>
            <a:r>
              <a:rPr lang="en-US" altLang="zh-CN" sz="2800" b="0">
                <a:solidFill>
                  <a:srgbClr val="098658"/>
                </a:solidFill>
                <a:effectLst/>
                <a:latin typeface="Consolas" panose="020B0609020204030204" pitchFamily="49" charset="0"/>
              </a:rPr>
              <a:t>3</a:t>
            </a:r>
            <a:r>
              <a:rPr lang="en-US" altLang="zh-CN" sz="2800" b="0">
                <a:solidFill>
                  <a:srgbClr val="000000"/>
                </a:solidFill>
                <a:effectLst/>
                <a:latin typeface="Consolas" panose="020B0609020204030204" pitchFamily="49" charset="0"/>
              </a:rPr>
              <a:t>) &lt;&lt; endl;</a:t>
            </a:r>
          </a:p>
          <a:p>
            <a:pPr algn="l"/>
            <a:r>
              <a:rPr lang="en-US" altLang="zh-CN" sz="2800" b="0">
                <a:solidFill>
                  <a:srgbClr val="000000"/>
                </a:solidFill>
                <a:effectLst/>
                <a:latin typeface="Consolas" panose="020B0609020204030204" pitchFamily="49" charset="0"/>
              </a:rPr>
              <a:t>    cout &lt;&lt; </a:t>
            </a:r>
            <a:r>
              <a:rPr lang="en-US" altLang="zh-CN" sz="2800" b="0">
                <a:latin typeface="Consolas" panose="020B0609020204030204" pitchFamily="49" charset="0"/>
              </a:rPr>
              <a:t>(</a:t>
            </a:r>
            <a:r>
              <a:rPr lang="en-US" altLang="zh-CN" sz="2800" b="0">
                <a:solidFill>
                  <a:srgbClr val="000000"/>
                </a:solidFill>
                <a:effectLst/>
                <a:latin typeface="Consolas" panose="020B0609020204030204" pitchFamily="49" charset="0"/>
              </a:rPr>
              <a:t>~</a:t>
            </a:r>
            <a:r>
              <a:rPr lang="en-US" altLang="zh-CN" sz="2800" b="0">
                <a:solidFill>
                  <a:srgbClr val="098658"/>
                </a:solidFill>
                <a:effectLst/>
                <a:latin typeface="Consolas" panose="020B0609020204030204" pitchFamily="49" charset="0"/>
              </a:rPr>
              <a:t>6)</a:t>
            </a:r>
            <a:r>
              <a:rPr lang="en-US" altLang="zh-CN" sz="2800" b="0">
                <a:solidFill>
                  <a:srgbClr val="000000"/>
                </a:solidFill>
                <a:effectLst/>
                <a:latin typeface="Consolas" panose="020B0609020204030204" pitchFamily="49" charset="0"/>
              </a:rPr>
              <a:t> &lt;&lt; endl;</a:t>
            </a:r>
          </a:p>
          <a:p>
            <a:pPr algn="l"/>
            <a:r>
              <a:rPr lang="en-US" altLang="zh-CN" sz="2800" b="0">
                <a:solidFill>
                  <a:srgbClr val="000000"/>
                </a:solidFill>
                <a:effectLst/>
                <a:latin typeface="Consolas" panose="020B0609020204030204" pitchFamily="49" charset="0"/>
              </a:rPr>
              <a:t>    cout &lt;&lt; (</a:t>
            </a:r>
            <a:r>
              <a:rPr lang="en-US" altLang="zh-CN" sz="2800" b="0">
                <a:solidFill>
                  <a:srgbClr val="098658"/>
                </a:solidFill>
                <a:effectLst/>
                <a:latin typeface="Consolas" panose="020B0609020204030204" pitchFamily="49" charset="0"/>
              </a:rPr>
              <a:t>3</a:t>
            </a:r>
            <a:r>
              <a:rPr lang="en-US" altLang="zh-CN" sz="2800" b="0">
                <a:solidFill>
                  <a:srgbClr val="000000"/>
                </a:solidFill>
                <a:effectLst/>
                <a:latin typeface="Consolas" panose="020B0609020204030204" pitchFamily="49" charset="0"/>
              </a:rPr>
              <a:t> &lt;&lt; </a:t>
            </a:r>
            <a:r>
              <a:rPr lang="en-US" altLang="zh-CN" sz="2800" b="0">
                <a:solidFill>
                  <a:srgbClr val="098658"/>
                </a:solidFill>
                <a:effectLst/>
                <a:latin typeface="Consolas" panose="020B0609020204030204" pitchFamily="49" charset="0"/>
              </a:rPr>
              <a:t>2</a:t>
            </a:r>
            <a:r>
              <a:rPr lang="en-US" altLang="zh-CN" sz="2800" b="0">
                <a:solidFill>
                  <a:srgbClr val="000000"/>
                </a:solidFill>
                <a:effectLst/>
                <a:latin typeface="Consolas" panose="020B0609020204030204" pitchFamily="49" charset="0"/>
              </a:rPr>
              <a:t>) &lt;&lt; endl;</a:t>
            </a:r>
          </a:p>
          <a:p>
            <a:pPr algn="l"/>
            <a:r>
              <a:rPr lang="en-US" altLang="zh-CN" sz="2800" b="0">
                <a:solidFill>
                  <a:srgbClr val="000000"/>
                </a:solidFill>
                <a:effectLst/>
                <a:latin typeface="Consolas" panose="020B0609020204030204" pitchFamily="49" charset="0"/>
              </a:rPr>
              <a:t>    cout &lt;&lt; (</a:t>
            </a:r>
            <a:r>
              <a:rPr lang="en-US" altLang="zh-CN" sz="2800" b="0">
                <a:solidFill>
                  <a:srgbClr val="098658"/>
                </a:solidFill>
                <a:effectLst/>
                <a:latin typeface="Consolas" panose="020B0609020204030204" pitchFamily="49" charset="0"/>
              </a:rPr>
              <a:t>3</a:t>
            </a:r>
            <a:r>
              <a:rPr lang="en-US" altLang="zh-CN" sz="2800" b="0">
                <a:solidFill>
                  <a:srgbClr val="000000"/>
                </a:solidFill>
                <a:effectLst/>
                <a:latin typeface="Consolas" panose="020B0609020204030204" pitchFamily="49" charset="0"/>
              </a:rPr>
              <a:t> &gt;&gt; </a:t>
            </a:r>
            <a:r>
              <a:rPr lang="en-US" altLang="zh-CN" sz="2800" b="0">
                <a:solidFill>
                  <a:srgbClr val="098658"/>
                </a:solidFill>
                <a:effectLst/>
                <a:latin typeface="Consolas" panose="020B0609020204030204" pitchFamily="49" charset="0"/>
              </a:rPr>
              <a:t>1</a:t>
            </a:r>
            <a:r>
              <a:rPr lang="en-US" altLang="zh-CN" sz="2800" b="0">
                <a:solidFill>
                  <a:srgbClr val="000000"/>
                </a:solidFill>
                <a:effectLst/>
                <a:latin typeface="Consolas" panose="020B0609020204030204" pitchFamily="49" charset="0"/>
              </a:rPr>
              <a:t>) &lt;&lt; endl;</a:t>
            </a:r>
          </a:p>
          <a:p>
            <a:pPr algn="l"/>
            <a:br>
              <a:rPr lang="en-US" altLang="zh-CN" sz="2800" b="0">
                <a:solidFill>
                  <a:srgbClr val="000000"/>
                </a:solidFill>
                <a:effectLst/>
                <a:latin typeface="Consolas" panose="020B0609020204030204" pitchFamily="49" charset="0"/>
              </a:rPr>
            </a:br>
            <a:r>
              <a:rPr lang="en-US" altLang="zh-CN" sz="2800" b="0">
                <a:solidFill>
                  <a:srgbClr val="000000"/>
                </a:solidFill>
                <a:effectLst/>
                <a:latin typeface="Consolas" panose="020B0609020204030204" pitchFamily="49" charset="0"/>
              </a:rPr>
              <a:t>    </a:t>
            </a:r>
            <a:r>
              <a:rPr lang="en-US" altLang="zh-CN" sz="2800" b="0">
                <a:solidFill>
                  <a:srgbClr val="0000FF"/>
                </a:solidFill>
                <a:effectLst/>
                <a:latin typeface="Consolas" panose="020B0609020204030204" pitchFamily="49" charset="0"/>
              </a:rPr>
              <a:t>return</a:t>
            </a:r>
            <a:r>
              <a:rPr lang="en-US" altLang="zh-CN" sz="2800" b="0">
                <a:solidFill>
                  <a:srgbClr val="000000"/>
                </a:solidFill>
                <a:effectLst/>
                <a:latin typeface="Consolas" panose="020B0609020204030204" pitchFamily="49" charset="0"/>
              </a:rPr>
              <a:t> </a:t>
            </a:r>
            <a:r>
              <a:rPr lang="en-US" altLang="zh-CN" sz="2800" b="0">
                <a:solidFill>
                  <a:srgbClr val="098658"/>
                </a:solidFill>
                <a:effectLst/>
                <a:latin typeface="Consolas" panose="020B0609020204030204" pitchFamily="49" charset="0"/>
              </a:rPr>
              <a:t>0</a:t>
            </a:r>
            <a:r>
              <a:rPr lang="en-US" altLang="zh-CN" sz="2800" b="0">
                <a:solidFill>
                  <a:srgbClr val="000000"/>
                </a:solidFill>
                <a:effectLst/>
                <a:latin typeface="Consolas" panose="020B0609020204030204" pitchFamily="49" charset="0"/>
              </a:rPr>
              <a:t>;</a:t>
            </a:r>
          </a:p>
          <a:p>
            <a:pPr algn="l"/>
            <a:r>
              <a:rPr lang="en-US" altLang="zh-CN" sz="2800" b="0">
                <a:solidFill>
                  <a:srgbClr val="000000"/>
                </a:solidFill>
                <a:effectLst/>
                <a:latin typeface="Consolas" panose="020B0609020204030204" pitchFamily="49" charset="0"/>
              </a:rPr>
              <a:t>}</a:t>
            </a:r>
          </a:p>
        </p:txBody>
      </p:sp>
      <p:pic>
        <p:nvPicPr>
          <p:cNvPr id="9" name="图片 8">
            <a:extLst>
              <a:ext uri="{FF2B5EF4-FFF2-40B4-BE49-F238E27FC236}">
                <a16:creationId xmlns:a16="http://schemas.microsoft.com/office/drawing/2014/main" id="{2F64AD36-E9E8-49F6-8D82-014BA69F18E7}"/>
              </a:ext>
            </a:extLst>
          </p:cNvPr>
          <p:cNvPicPr>
            <a:picLocks noChangeAspect="1"/>
          </p:cNvPicPr>
          <p:nvPr/>
        </p:nvPicPr>
        <p:blipFill>
          <a:blip r:embed="rId3"/>
          <a:stretch>
            <a:fillRect/>
          </a:stretch>
        </p:blipFill>
        <p:spPr>
          <a:xfrm>
            <a:off x="547199" y="5332108"/>
            <a:ext cx="3329232" cy="2999823"/>
          </a:xfrm>
          <a:prstGeom prst="rect">
            <a:avLst/>
          </a:prstGeom>
        </p:spPr>
      </p:pic>
      <p:sp>
        <p:nvSpPr>
          <p:cNvPr id="18" name="【任务3.2】谁做的坏事？">
            <a:extLst>
              <a:ext uri="{FF2B5EF4-FFF2-40B4-BE49-F238E27FC236}">
                <a16:creationId xmlns:a16="http://schemas.microsoft.com/office/drawing/2014/main" id="{75B613DF-8A6E-466B-9E1D-6E0CDF1B8B84}"/>
              </a:ext>
            </a:extLst>
          </p:cNvPr>
          <p:cNvSpPr>
            <a:spLocks noGrp="1"/>
          </p:cNvSpPr>
          <p:nvPr>
            <p:ph type="title"/>
          </p:nvPr>
        </p:nvSpPr>
        <p:spPr>
          <a:xfrm>
            <a:off x="547199" y="354125"/>
            <a:ext cx="4368679" cy="1152045"/>
          </a:xfrm>
          <a:prstGeom prst="rect">
            <a:avLst/>
          </a:prstGeom>
        </p:spPr>
        <p:txBody>
          <a:bodyPr/>
          <a:lstStyle/>
          <a:p>
            <a:r>
              <a:rPr lang="zh-CN" altLang="en-US"/>
              <a:t>二进制位运算</a:t>
            </a:r>
            <a:endParaRPr/>
          </a:p>
        </p:txBody>
      </p:sp>
      <p:sp>
        <p:nvSpPr>
          <p:cNvPr id="3" name="文本框 2">
            <a:extLst>
              <a:ext uri="{FF2B5EF4-FFF2-40B4-BE49-F238E27FC236}">
                <a16:creationId xmlns:a16="http://schemas.microsoft.com/office/drawing/2014/main" id="{8408D060-ABCA-5CD9-2236-B6138AC1BEB1}"/>
              </a:ext>
            </a:extLst>
          </p:cNvPr>
          <p:cNvSpPr txBox="1"/>
          <p:nvPr/>
        </p:nvSpPr>
        <p:spPr>
          <a:xfrm>
            <a:off x="547199" y="8579440"/>
            <a:ext cx="8189843" cy="1015663"/>
          </a:xfrm>
          <a:prstGeom prst="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zh-CN" altLang="en-US" sz="2000" b="0">
                <a:latin typeface="Consolas" panose="020B0609020204030204" pitchFamily="49" charset="0"/>
              </a:rPr>
              <a:t>关于“</a:t>
            </a:r>
            <a:r>
              <a:rPr lang="zh-CN" altLang="en-US" sz="2000">
                <a:solidFill>
                  <a:srgbClr val="FF0000"/>
                </a:solidFill>
                <a:latin typeface="Consolas" panose="020B0609020204030204" pitchFamily="49" charset="0"/>
              </a:rPr>
              <a:t>求反码</a:t>
            </a:r>
            <a:r>
              <a:rPr lang="zh-CN" altLang="en-US" sz="2000" b="0">
                <a:latin typeface="Consolas" panose="020B0609020204030204" pitchFamily="49" charset="0"/>
              </a:rPr>
              <a:t>”运算的课后阅读材料：</a:t>
            </a:r>
            <a:r>
              <a:rPr lang="en-US" altLang="zh-CN" sz="2000" b="0" i="1">
                <a:latin typeface="Consolas" panose="020B0609020204030204" pitchFamily="49" charset="0"/>
                <a:hlinkClick r:id="rId4"/>
              </a:rPr>
              <a:t>https://blog.csdn.net/fyq_sdut/article/details/105628117</a:t>
            </a:r>
            <a:endParaRPr lang="en-US" altLang="zh-CN" sz="2000" b="0" i="1">
              <a:latin typeface="Consolas" panose="020B0609020204030204" pitchFamily="49" charset="0"/>
            </a:endParaRPr>
          </a:p>
          <a:p>
            <a:pPr algn="l"/>
            <a:r>
              <a:rPr lang="zh-CN" altLang="en-US" sz="2000" b="0" i="1">
                <a:latin typeface="Consolas" panose="020B0609020204030204" pitchFamily="49" charset="0"/>
                <a:hlinkClick r:id="rId5"/>
              </a:rPr>
              <a:t>https://blog.csdn.net/qk233/article/details/108715207</a:t>
            </a:r>
            <a:r>
              <a:rPr lang="en-US" altLang="zh-CN" sz="2000" b="0" i="1">
                <a:latin typeface="Consolas" panose="020B0609020204030204" pitchFamily="49" charset="0"/>
              </a:rPr>
              <a:t> </a:t>
            </a:r>
          </a:p>
        </p:txBody>
      </p:sp>
      <p:sp>
        <p:nvSpPr>
          <p:cNvPr id="6" name="矩形: 圆角 5">
            <a:extLst>
              <a:ext uri="{FF2B5EF4-FFF2-40B4-BE49-F238E27FC236}">
                <a16:creationId xmlns:a16="http://schemas.microsoft.com/office/drawing/2014/main" id="{EC686B81-41E0-DE34-0DF7-2AC3CADDAE4F}"/>
              </a:ext>
            </a:extLst>
          </p:cNvPr>
          <p:cNvSpPr/>
          <p:nvPr/>
        </p:nvSpPr>
        <p:spPr>
          <a:xfrm>
            <a:off x="4130872" y="5701085"/>
            <a:ext cx="6456459" cy="400110"/>
          </a:xfrm>
          <a:prstGeom prst="roundRect">
            <a:avLst/>
          </a:prstGeom>
          <a:solidFill>
            <a:srgbClr val="FFE0DC">
              <a:alpha val="47059"/>
            </a:srgbClr>
          </a:solidFill>
          <a:ln w="19050">
            <a:solidFill>
              <a:schemeClr val="tx1">
                <a:lumMod val="75000"/>
                <a:lumOff val="25000"/>
              </a:schemeClr>
            </a:solid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
        <p:nvSpPr>
          <p:cNvPr id="4" name="星形: 五角 3">
            <a:extLst>
              <a:ext uri="{FF2B5EF4-FFF2-40B4-BE49-F238E27FC236}">
                <a16:creationId xmlns:a16="http://schemas.microsoft.com/office/drawing/2014/main" id="{B9AD24EB-BCBA-9B62-6146-2F051B425DFE}"/>
              </a:ext>
            </a:extLst>
          </p:cNvPr>
          <p:cNvSpPr/>
          <p:nvPr/>
        </p:nvSpPr>
        <p:spPr>
          <a:xfrm>
            <a:off x="10680774" y="5726210"/>
            <a:ext cx="349859" cy="349859"/>
          </a:xfrm>
          <a:prstGeom prst="star5">
            <a:avLst/>
          </a:prstGeom>
          <a:solidFill>
            <a:srgbClr val="FF0000"/>
          </a:solidFill>
          <a:ln w="19050">
            <a:noFill/>
          </a:ln>
        </p:spPr>
        <p:txBody>
          <a:bodyPr wrap="square" rtlCol="0" anchor="ctr">
            <a:spAutoFit/>
          </a:bodyPr>
          <a:lstStyle/>
          <a:p>
            <a:pPr algn="l"/>
            <a:endParaRPr lang="zh-CN" altLang="en-US">
              <a:solidFill>
                <a:srgbClr val="0070C0"/>
              </a:solidFill>
              <a:latin typeface="Consolas" panose="020B0609020204030204" pitchFamily="49" charset="0"/>
            </a:endParaRPr>
          </a:p>
        </p:txBody>
      </p:sp>
    </p:spTree>
    <p:extLst>
      <p:ext uri="{BB962C8B-B14F-4D97-AF65-F5344CB8AC3E}">
        <p14:creationId xmlns:p14="http://schemas.microsoft.com/office/powerpoint/2010/main" val="531069317"/>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圆角 20">
            <a:extLst>
              <a:ext uri="{FF2B5EF4-FFF2-40B4-BE49-F238E27FC236}">
                <a16:creationId xmlns:a16="http://schemas.microsoft.com/office/drawing/2014/main" id="{D4DB282D-6E70-31E2-4F87-0F7A37B5048D}"/>
              </a:ext>
            </a:extLst>
          </p:cNvPr>
          <p:cNvSpPr/>
          <p:nvPr/>
        </p:nvSpPr>
        <p:spPr>
          <a:xfrm>
            <a:off x="2496461" y="6048255"/>
            <a:ext cx="10283780" cy="1596979"/>
          </a:xfrm>
          <a:prstGeom prst="roundRect">
            <a:avLst>
              <a:gd name="adj" fmla="val 9006"/>
            </a:avLst>
          </a:prstGeom>
          <a:solidFill>
            <a:schemeClr val="bg1">
              <a:lumMod val="85000"/>
              <a:alpha val="41176"/>
            </a:schemeClr>
          </a:solidFill>
          <a:ln w="19050">
            <a:no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202"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61</a:t>
            </a:fld>
            <a:endParaRPr/>
          </a:p>
        </p:txBody>
      </p:sp>
      <p:sp>
        <p:nvSpPr>
          <p:cNvPr id="18" name="【任务3.2】谁做的坏事？">
            <a:extLst>
              <a:ext uri="{FF2B5EF4-FFF2-40B4-BE49-F238E27FC236}">
                <a16:creationId xmlns:a16="http://schemas.microsoft.com/office/drawing/2014/main" id="{75B613DF-8A6E-466B-9E1D-6E0CDF1B8B84}"/>
              </a:ext>
            </a:extLst>
          </p:cNvPr>
          <p:cNvSpPr>
            <a:spLocks noGrp="1"/>
          </p:cNvSpPr>
          <p:nvPr>
            <p:ph type="title"/>
          </p:nvPr>
        </p:nvSpPr>
        <p:spPr>
          <a:xfrm>
            <a:off x="547200" y="354125"/>
            <a:ext cx="9652868" cy="1152045"/>
          </a:xfrm>
          <a:prstGeom prst="rect">
            <a:avLst/>
          </a:prstGeom>
        </p:spPr>
        <p:txBody>
          <a:bodyPr/>
          <a:lstStyle/>
          <a:p>
            <a:r>
              <a:rPr lang="zh-CN" altLang="en-US" dirty="0"/>
              <a:t>二进制位运算：求指定位置的</a:t>
            </a:r>
            <a:r>
              <a:rPr lang="en-US" altLang="zh-CN" dirty="0"/>
              <a:t>bit</a:t>
            </a:r>
            <a:r>
              <a:rPr lang="zh-CN" altLang="en-US" dirty="0"/>
              <a:t>值</a:t>
            </a:r>
            <a:endParaRPr dirty="0"/>
          </a:p>
        </p:txBody>
      </p:sp>
      <p:graphicFrame>
        <p:nvGraphicFramePr>
          <p:cNvPr id="2" name="表格 2">
            <a:extLst>
              <a:ext uri="{FF2B5EF4-FFF2-40B4-BE49-F238E27FC236}">
                <a16:creationId xmlns:a16="http://schemas.microsoft.com/office/drawing/2014/main" id="{E61911B4-F069-057F-6991-CC55AB4252FA}"/>
              </a:ext>
            </a:extLst>
          </p:cNvPr>
          <p:cNvGraphicFramePr>
            <a:graphicFrameLocks noGrp="1"/>
          </p:cNvGraphicFramePr>
          <p:nvPr>
            <p:extLst>
              <p:ext uri="{D42A27DB-BD31-4B8C-83A1-F6EECF244321}">
                <p14:modId xmlns:p14="http://schemas.microsoft.com/office/powerpoint/2010/main" val="1967327581"/>
              </p:ext>
            </p:extLst>
          </p:nvPr>
        </p:nvGraphicFramePr>
        <p:xfrm>
          <a:off x="2817849" y="2775397"/>
          <a:ext cx="4497352" cy="393192"/>
        </p:xfrm>
        <a:graphic>
          <a:graphicData uri="http://schemas.openxmlformats.org/drawingml/2006/table">
            <a:tbl>
              <a:tblPr firstRow="1" bandRow="1">
                <a:tableStyleId>{5940675A-B579-460E-94D1-54222C63F5DA}</a:tableStyleId>
              </a:tblPr>
              <a:tblGrid>
                <a:gridCol w="562169">
                  <a:extLst>
                    <a:ext uri="{9D8B030D-6E8A-4147-A177-3AD203B41FA5}">
                      <a16:colId xmlns:a16="http://schemas.microsoft.com/office/drawing/2014/main" val="3975040653"/>
                    </a:ext>
                  </a:extLst>
                </a:gridCol>
                <a:gridCol w="562169">
                  <a:extLst>
                    <a:ext uri="{9D8B030D-6E8A-4147-A177-3AD203B41FA5}">
                      <a16:colId xmlns:a16="http://schemas.microsoft.com/office/drawing/2014/main" val="2121460928"/>
                    </a:ext>
                  </a:extLst>
                </a:gridCol>
                <a:gridCol w="562169">
                  <a:extLst>
                    <a:ext uri="{9D8B030D-6E8A-4147-A177-3AD203B41FA5}">
                      <a16:colId xmlns:a16="http://schemas.microsoft.com/office/drawing/2014/main" val="3171898027"/>
                    </a:ext>
                  </a:extLst>
                </a:gridCol>
                <a:gridCol w="562169">
                  <a:extLst>
                    <a:ext uri="{9D8B030D-6E8A-4147-A177-3AD203B41FA5}">
                      <a16:colId xmlns:a16="http://schemas.microsoft.com/office/drawing/2014/main" val="3906089704"/>
                    </a:ext>
                  </a:extLst>
                </a:gridCol>
                <a:gridCol w="562169">
                  <a:extLst>
                    <a:ext uri="{9D8B030D-6E8A-4147-A177-3AD203B41FA5}">
                      <a16:colId xmlns:a16="http://schemas.microsoft.com/office/drawing/2014/main" val="2720578248"/>
                    </a:ext>
                  </a:extLst>
                </a:gridCol>
                <a:gridCol w="562169">
                  <a:extLst>
                    <a:ext uri="{9D8B030D-6E8A-4147-A177-3AD203B41FA5}">
                      <a16:colId xmlns:a16="http://schemas.microsoft.com/office/drawing/2014/main" val="3748541466"/>
                    </a:ext>
                  </a:extLst>
                </a:gridCol>
                <a:gridCol w="562169">
                  <a:extLst>
                    <a:ext uri="{9D8B030D-6E8A-4147-A177-3AD203B41FA5}">
                      <a16:colId xmlns:a16="http://schemas.microsoft.com/office/drawing/2014/main" val="324090804"/>
                    </a:ext>
                  </a:extLst>
                </a:gridCol>
                <a:gridCol w="562169">
                  <a:extLst>
                    <a:ext uri="{9D8B030D-6E8A-4147-A177-3AD203B41FA5}">
                      <a16:colId xmlns:a16="http://schemas.microsoft.com/office/drawing/2014/main" val="4121045173"/>
                    </a:ext>
                  </a:extLst>
                </a:gridCol>
              </a:tblGrid>
              <a:tr h="370840">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val="1299414880"/>
                  </a:ext>
                </a:extLst>
              </a:tr>
            </a:tbl>
          </a:graphicData>
        </a:graphic>
      </p:graphicFrame>
      <p:sp>
        <p:nvSpPr>
          <p:cNvPr id="3" name="文本框 2">
            <a:extLst>
              <a:ext uri="{FF2B5EF4-FFF2-40B4-BE49-F238E27FC236}">
                <a16:creationId xmlns:a16="http://schemas.microsoft.com/office/drawing/2014/main" id="{E5CCF3D9-6EA1-967B-B89F-0B9AFF71F926}"/>
              </a:ext>
            </a:extLst>
          </p:cNvPr>
          <p:cNvSpPr txBox="1"/>
          <p:nvPr/>
        </p:nvSpPr>
        <p:spPr>
          <a:xfrm>
            <a:off x="547200" y="2557295"/>
            <a:ext cx="1375377" cy="6935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zh-CN" altLang="en-US" sz="3200" u="none" strike="noStrike" cap="none" spc="0" normalizeH="0" baseline="0" dirty="0">
                <a:ln>
                  <a:noFill/>
                </a:ln>
                <a:solidFill>
                  <a:srgbClr val="000000"/>
                </a:solidFill>
                <a:effectLst/>
                <a:uFillTx/>
                <a:latin typeface="Consolas" panose="020B0609020204030204" pitchFamily="49" charset="0"/>
                <a:sym typeface="Helvetica Neue"/>
              </a:rPr>
              <a:t>整数 </a:t>
            </a:r>
            <a:r>
              <a:rPr kumimoji="0" lang="en-US" altLang="zh-CN" sz="3200" u="none" strike="noStrike" cap="none" spc="0" normalizeH="0" baseline="0" dirty="0" err="1">
                <a:ln>
                  <a:noFill/>
                </a:ln>
                <a:solidFill>
                  <a:srgbClr val="000000"/>
                </a:solidFill>
                <a:effectLst/>
                <a:uFillTx/>
                <a:latin typeface="Consolas" panose="020B0609020204030204" pitchFamily="49" charset="0"/>
                <a:sym typeface="Helvetica Neue"/>
              </a:rPr>
              <a:t>i</a:t>
            </a:r>
            <a:endParaRPr kumimoji="0" lang="zh-CN" altLang="en-US" sz="3200" u="none" strike="noStrike" cap="none" spc="0" normalizeH="0" baseline="0" dirty="0">
              <a:ln>
                <a:noFill/>
              </a:ln>
              <a:solidFill>
                <a:srgbClr val="000000"/>
              </a:solidFill>
              <a:effectLst/>
              <a:uFillTx/>
              <a:latin typeface="Consolas" panose="020B0609020204030204" pitchFamily="49" charset="0"/>
              <a:sym typeface="Helvetica Neue"/>
            </a:endParaRPr>
          </a:p>
        </p:txBody>
      </p:sp>
      <p:graphicFrame>
        <p:nvGraphicFramePr>
          <p:cNvPr id="4" name="表格 2">
            <a:extLst>
              <a:ext uri="{FF2B5EF4-FFF2-40B4-BE49-F238E27FC236}">
                <a16:creationId xmlns:a16="http://schemas.microsoft.com/office/drawing/2014/main" id="{21B914CD-381B-1157-F8AD-352C3BE4D227}"/>
              </a:ext>
            </a:extLst>
          </p:cNvPr>
          <p:cNvGraphicFramePr>
            <a:graphicFrameLocks noGrp="1"/>
          </p:cNvGraphicFramePr>
          <p:nvPr>
            <p:extLst>
              <p:ext uri="{D42A27DB-BD31-4B8C-83A1-F6EECF244321}">
                <p14:modId xmlns:p14="http://schemas.microsoft.com/office/powerpoint/2010/main" val="49911587"/>
              </p:ext>
            </p:extLst>
          </p:nvPr>
        </p:nvGraphicFramePr>
        <p:xfrm>
          <a:off x="7984900" y="2771984"/>
          <a:ext cx="4497352" cy="393192"/>
        </p:xfrm>
        <a:graphic>
          <a:graphicData uri="http://schemas.openxmlformats.org/drawingml/2006/table">
            <a:tbl>
              <a:tblPr firstRow="1" bandRow="1">
                <a:tableStyleId>{5940675A-B579-460E-94D1-54222C63F5DA}</a:tableStyleId>
              </a:tblPr>
              <a:tblGrid>
                <a:gridCol w="562169">
                  <a:extLst>
                    <a:ext uri="{9D8B030D-6E8A-4147-A177-3AD203B41FA5}">
                      <a16:colId xmlns:a16="http://schemas.microsoft.com/office/drawing/2014/main" val="3975040653"/>
                    </a:ext>
                  </a:extLst>
                </a:gridCol>
                <a:gridCol w="562169">
                  <a:extLst>
                    <a:ext uri="{9D8B030D-6E8A-4147-A177-3AD203B41FA5}">
                      <a16:colId xmlns:a16="http://schemas.microsoft.com/office/drawing/2014/main" val="2121460928"/>
                    </a:ext>
                  </a:extLst>
                </a:gridCol>
                <a:gridCol w="562169">
                  <a:extLst>
                    <a:ext uri="{9D8B030D-6E8A-4147-A177-3AD203B41FA5}">
                      <a16:colId xmlns:a16="http://schemas.microsoft.com/office/drawing/2014/main" val="3171898027"/>
                    </a:ext>
                  </a:extLst>
                </a:gridCol>
                <a:gridCol w="562169">
                  <a:extLst>
                    <a:ext uri="{9D8B030D-6E8A-4147-A177-3AD203B41FA5}">
                      <a16:colId xmlns:a16="http://schemas.microsoft.com/office/drawing/2014/main" val="3906089704"/>
                    </a:ext>
                  </a:extLst>
                </a:gridCol>
                <a:gridCol w="562169">
                  <a:extLst>
                    <a:ext uri="{9D8B030D-6E8A-4147-A177-3AD203B41FA5}">
                      <a16:colId xmlns:a16="http://schemas.microsoft.com/office/drawing/2014/main" val="2720578248"/>
                    </a:ext>
                  </a:extLst>
                </a:gridCol>
                <a:gridCol w="562169">
                  <a:extLst>
                    <a:ext uri="{9D8B030D-6E8A-4147-A177-3AD203B41FA5}">
                      <a16:colId xmlns:a16="http://schemas.microsoft.com/office/drawing/2014/main" val="3748541466"/>
                    </a:ext>
                  </a:extLst>
                </a:gridCol>
                <a:gridCol w="562169">
                  <a:extLst>
                    <a:ext uri="{9D8B030D-6E8A-4147-A177-3AD203B41FA5}">
                      <a16:colId xmlns:a16="http://schemas.microsoft.com/office/drawing/2014/main" val="324090804"/>
                    </a:ext>
                  </a:extLst>
                </a:gridCol>
                <a:gridCol w="562169">
                  <a:extLst>
                    <a:ext uri="{9D8B030D-6E8A-4147-A177-3AD203B41FA5}">
                      <a16:colId xmlns:a16="http://schemas.microsoft.com/office/drawing/2014/main" val="4121045173"/>
                    </a:ext>
                  </a:extLst>
                </a:gridCol>
              </a:tblGrid>
              <a:tr h="370840">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299414880"/>
                  </a:ext>
                </a:extLst>
              </a:tr>
            </a:tbl>
          </a:graphicData>
        </a:graphic>
      </p:graphicFrame>
      <p:cxnSp>
        <p:nvCxnSpPr>
          <p:cNvPr id="7" name="直接连接符 6">
            <a:extLst>
              <a:ext uri="{FF2B5EF4-FFF2-40B4-BE49-F238E27FC236}">
                <a16:creationId xmlns:a16="http://schemas.microsoft.com/office/drawing/2014/main" id="{D862EBC9-7025-EF8C-BAFD-AAEDF917CD16}"/>
              </a:ext>
            </a:extLst>
          </p:cNvPr>
          <p:cNvCxnSpPr/>
          <p:nvPr/>
        </p:nvCxnSpPr>
        <p:spPr>
          <a:xfrm>
            <a:off x="7482625" y="2968580"/>
            <a:ext cx="334851" cy="0"/>
          </a:xfrm>
          <a:prstGeom prst="line">
            <a:avLst/>
          </a:prstGeom>
          <a:noFill/>
          <a:ln w="25400" cap="flat">
            <a:solidFill>
              <a:srgbClr val="FF0000"/>
            </a:solidFill>
            <a:prstDash val="sysDot"/>
            <a:miter lim="400000"/>
          </a:ln>
          <a:effectLst/>
          <a:sp3d/>
        </p:spPr>
        <p:style>
          <a:lnRef idx="0">
            <a:scrgbClr r="0" g="0" b="0"/>
          </a:lnRef>
          <a:fillRef idx="0">
            <a:scrgbClr r="0" g="0" b="0"/>
          </a:fillRef>
          <a:effectRef idx="0">
            <a:scrgbClr r="0" g="0" b="0"/>
          </a:effectRef>
          <a:fontRef idx="none"/>
        </p:style>
      </p:cxnSp>
      <p:sp>
        <p:nvSpPr>
          <p:cNvPr id="8" name="文本框 7">
            <a:extLst>
              <a:ext uri="{FF2B5EF4-FFF2-40B4-BE49-F238E27FC236}">
                <a16:creationId xmlns:a16="http://schemas.microsoft.com/office/drawing/2014/main" id="{024CCCFA-5CC7-8D72-573A-DA921F383199}"/>
              </a:ext>
            </a:extLst>
          </p:cNvPr>
          <p:cNvSpPr txBox="1"/>
          <p:nvPr/>
        </p:nvSpPr>
        <p:spPr>
          <a:xfrm>
            <a:off x="525463" y="3927907"/>
            <a:ext cx="12253354" cy="6935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lang="zh-CN" altLang="en-US" sz="3200">
                <a:highlight>
                  <a:srgbClr val="FFFF00"/>
                </a:highlight>
                <a:latin typeface="Consolas" panose="020B0609020204030204" pitchFamily="49" charset="0"/>
              </a:rPr>
              <a:t>第</a:t>
            </a:r>
            <a:r>
              <a:rPr lang="en-US" altLang="zh-CN" sz="3200">
                <a:highlight>
                  <a:srgbClr val="FFFF00"/>
                </a:highlight>
                <a:latin typeface="Consolas" panose="020B0609020204030204" pitchFamily="49" charset="0"/>
              </a:rPr>
              <a:t>m</a:t>
            </a:r>
            <a:r>
              <a:rPr lang="zh-CN" altLang="en-US" sz="3200">
                <a:highlight>
                  <a:srgbClr val="FFFF00"/>
                </a:highlight>
                <a:latin typeface="Consolas" panose="020B0609020204030204" pitchFamily="49" charset="0"/>
              </a:rPr>
              <a:t>位</a:t>
            </a:r>
            <a:r>
              <a:rPr lang="zh-CN" altLang="en-US" sz="3200" dirty="0">
                <a:highlight>
                  <a:srgbClr val="FFFF00"/>
                </a:highlight>
                <a:latin typeface="Consolas" panose="020B0609020204030204" pitchFamily="49" charset="0"/>
              </a:rPr>
              <a:t>的</a:t>
            </a:r>
            <a:r>
              <a:rPr lang="en-US" altLang="zh-CN" sz="3200" dirty="0">
                <a:highlight>
                  <a:srgbClr val="FFFF00"/>
                </a:highlight>
                <a:latin typeface="Consolas" panose="020B0609020204030204" pitchFamily="49" charset="0"/>
              </a:rPr>
              <a:t>bit</a:t>
            </a:r>
            <a:r>
              <a:rPr lang="zh-CN" altLang="en-US" sz="3200" dirty="0">
                <a:highlight>
                  <a:srgbClr val="FFFF00"/>
                </a:highlight>
                <a:latin typeface="Consolas" panose="020B0609020204030204" pitchFamily="49" charset="0"/>
              </a:rPr>
              <a:t>值是多少？</a:t>
            </a:r>
            <a:r>
              <a:rPr lang="zh-CN" altLang="en-US" sz="3200" dirty="0">
                <a:latin typeface="Consolas" panose="020B0609020204030204" pitchFamily="49" charset="0"/>
              </a:rPr>
              <a:t>（从低位向高位数</a:t>
            </a:r>
            <a:r>
              <a:rPr lang="zh-CN" altLang="en-US" sz="3200">
                <a:latin typeface="Consolas" panose="020B0609020204030204" pitchFamily="49" charset="0"/>
              </a:rPr>
              <a:t>，第</a:t>
            </a:r>
            <a:r>
              <a:rPr lang="en-US" altLang="zh-CN" sz="3200">
                <a:latin typeface="Consolas" panose="020B0609020204030204" pitchFamily="49" charset="0"/>
              </a:rPr>
              <a:t>m</a:t>
            </a:r>
            <a:r>
              <a:rPr lang="zh-CN" altLang="en-US" sz="3200">
                <a:latin typeface="Consolas" panose="020B0609020204030204" pitchFamily="49" charset="0"/>
              </a:rPr>
              <a:t>位）以下图示中</a:t>
            </a:r>
            <a:r>
              <a:rPr lang="en-US" altLang="zh-CN" sz="3200">
                <a:solidFill>
                  <a:srgbClr val="FF0000"/>
                </a:solidFill>
                <a:latin typeface="Consolas" panose="020B0609020204030204" pitchFamily="49" charset="0"/>
              </a:rPr>
              <a:t>m=6</a:t>
            </a:r>
            <a:endParaRPr kumimoji="0" lang="zh-CN" altLang="en-US" sz="3200" u="none" strike="noStrike" cap="none" spc="0" normalizeH="0" baseline="0" dirty="0">
              <a:ln>
                <a:noFill/>
              </a:ln>
              <a:solidFill>
                <a:srgbClr val="FF0000"/>
              </a:solidFill>
              <a:effectLst/>
              <a:uFillTx/>
              <a:latin typeface="Consolas" panose="020B0609020204030204" pitchFamily="49" charset="0"/>
              <a:sym typeface="Helvetica Neue"/>
            </a:endParaRPr>
          </a:p>
        </p:txBody>
      </p:sp>
      <p:graphicFrame>
        <p:nvGraphicFramePr>
          <p:cNvPr id="11" name="表格 2">
            <a:extLst>
              <a:ext uri="{FF2B5EF4-FFF2-40B4-BE49-F238E27FC236}">
                <a16:creationId xmlns:a16="http://schemas.microsoft.com/office/drawing/2014/main" id="{A8556CB7-A14A-BFD4-F9B1-9A12A32B2658}"/>
              </a:ext>
            </a:extLst>
          </p:cNvPr>
          <p:cNvGraphicFramePr>
            <a:graphicFrameLocks noGrp="1"/>
          </p:cNvGraphicFramePr>
          <p:nvPr>
            <p:extLst>
              <p:ext uri="{D42A27DB-BD31-4B8C-83A1-F6EECF244321}">
                <p14:modId xmlns:p14="http://schemas.microsoft.com/office/powerpoint/2010/main" val="561557002"/>
              </p:ext>
            </p:extLst>
          </p:nvPr>
        </p:nvGraphicFramePr>
        <p:xfrm>
          <a:off x="2841566" y="5238821"/>
          <a:ext cx="4497352" cy="393192"/>
        </p:xfrm>
        <a:graphic>
          <a:graphicData uri="http://schemas.openxmlformats.org/drawingml/2006/table">
            <a:tbl>
              <a:tblPr firstRow="1" bandRow="1">
                <a:tableStyleId>{5940675A-B579-460E-94D1-54222C63F5DA}</a:tableStyleId>
              </a:tblPr>
              <a:tblGrid>
                <a:gridCol w="562169">
                  <a:extLst>
                    <a:ext uri="{9D8B030D-6E8A-4147-A177-3AD203B41FA5}">
                      <a16:colId xmlns:a16="http://schemas.microsoft.com/office/drawing/2014/main" val="3975040653"/>
                    </a:ext>
                  </a:extLst>
                </a:gridCol>
                <a:gridCol w="562169">
                  <a:extLst>
                    <a:ext uri="{9D8B030D-6E8A-4147-A177-3AD203B41FA5}">
                      <a16:colId xmlns:a16="http://schemas.microsoft.com/office/drawing/2014/main" val="2121460928"/>
                    </a:ext>
                  </a:extLst>
                </a:gridCol>
                <a:gridCol w="562169">
                  <a:extLst>
                    <a:ext uri="{9D8B030D-6E8A-4147-A177-3AD203B41FA5}">
                      <a16:colId xmlns:a16="http://schemas.microsoft.com/office/drawing/2014/main" val="3171898027"/>
                    </a:ext>
                  </a:extLst>
                </a:gridCol>
                <a:gridCol w="562169">
                  <a:extLst>
                    <a:ext uri="{9D8B030D-6E8A-4147-A177-3AD203B41FA5}">
                      <a16:colId xmlns:a16="http://schemas.microsoft.com/office/drawing/2014/main" val="3906089704"/>
                    </a:ext>
                  </a:extLst>
                </a:gridCol>
                <a:gridCol w="562169">
                  <a:extLst>
                    <a:ext uri="{9D8B030D-6E8A-4147-A177-3AD203B41FA5}">
                      <a16:colId xmlns:a16="http://schemas.microsoft.com/office/drawing/2014/main" val="2720578248"/>
                    </a:ext>
                  </a:extLst>
                </a:gridCol>
                <a:gridCol w="562169">
                  <a:extLst>
                    <a:ext uri="{9D8B030D-6E8A-4147-A177-3AD203B41FA5}">
                      <a16:colId xmlns:a16="http://schemas.microsoft.com/office/drawing/2014/main" val="3748541466"/>
                    </a:ext>
                  </a:extLst>
                </a:gridCol>
                <a:gridCol w="562169">
                  <a:extLst>
                    <a:ext uri="{9D8B030D-6E8A-4147-A177-3AD203B41FA5}">
                      <a16:colId xmlns:a16="http://schemas.microsoft.com/office/drawing/2014/main" val="324090804"/>
                    </a:ext>
                  </a:extLst>
                </a:gridCol>
                <a:gridCol w="562169">
                  <a:extLst>
                    <a:ext uri="{9D8B030D-6E8A-4147-A177-3AD203B41FA5}">
                      <a16:colId xmlns:a16="http://schemas.microsoft.com/office/drawing/2014/main" val="4121045173"/>
                    </a:ext>
                  </a:extLst>
                </a:gridCol>
              </a:tblGrid>
              <a:tr h="370840">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extLst>
                  <a:ext uri="{0D108BD9-81ED-4DB2-BD59-A6C34878D82A}">
                    <a16:rowId xmlns:a16="http://schemas.microsoft.com/office/drawing/2014/main" val="1299414880"/>
                  </a:ext>
                </a:extLst>
              </a:tr>
            </a:tbl>
          </a:graphicData>
        </a:graphic>
      </p:graphicFrame>
      <p:graphicFrame>
        <p:nvGraphicFramePr>
          <p:cNvPr id="12" name="表格 2">
            <a:extLst>
              <a:ext uri="{FF2B5EF4-FFF2-40B4-BE49-F238E27FC236}">
                <a16:creationId xmlns:a16="http://schemas.microsoft.com/office/drawing/2014/main" id="{277FE2D0-2CA2-C28F-B219-5EDE20E521E0}"/>
              </a:ext>
            </a:extLst>
          </p:cNvPr>
          <p:cNvGraphicFramePr>
            <a:graphicFrameLocks noGrp="1"/>
          </p:cNvGraphicFramePr>
          <p:nvPr>
            <p:extLst>
              <p:ext uri="{D42A27DB-BD31-4B8C-83A1-F6EECF244321}">
                <p14:modId xmlns:p14="http://schemas.microsoft.com/office/powerpoint/2010/main" val="2200049036"/>
              </p:ext>
            </p:extLst>
          </p:nvPr>
        </p:nvGraphicFramePr>
        <p:xfrm>
          <a:off x="8008617" y="5235408"/>
          <a:ext cx="4497352" cy="393192"/>
        </p:xfrm>
        <a:graphic>
          <a:graphicData uri="http://schemas.openxmlformats.org/drawingml/2006/table">
            <a:tbl>
              <a:tblPr firstRow="1" bandRow="1">
                <a:tableStyleId>{5940675A-B579-460E-94D1-54222C63F5DA}</a:tableStyleId>
              </a:tblPr>
              <a:tblGrid>
                <a:gridCol w="562169">
                  <a:extLst>
                    <a:ext uri="{9D8B030D-6E8A-4147-A177-3AD203B41FA5}">
                      <a16:colId xmlns:a16="http://schemas.microsoft.com/office/drawing/2014/main" val="3975040653"/>
                    </a:ext>
                  </a:extLst>
                </a:gridCol>
                <a:gridCol w="562169">
                  <a:extLst>
                    <a:ext uri="{9D8B030D-6E8A-4147-A177-3AD203B41FA5}">
                      <a16:colId xmlns:a16="http://schemas.microsoft.com/office/drawing/2014/main" val="2121460928"/>
                    </a:ext>
                  </a:extLst>
                </a:gridCol>
                <a:gridCol w="562169">
                  <a:extLst>
                    <a:ext uri="{9D8B030D-6E8A-4147-A177-3AD203B41FA5}">
                      <a16:colId xmlns:a16="http://schemas.microsoft.com/office/drawing/2014/main" val="3171898027"/>
                    </a:ext>
                  </a:extLst>
                </a:gridCol>
                <a:gridCol w="562169">
                  <a:extLst>
                    <a:ext uri="{9D8B030D-6E8A-4147-A177-3AD203B41FA5}">
                      <a16:colId xmlns:a16="http://schemas.microsoft.com/office/drawing/2014/main" val="3906089704"/>
                    </a:ext>
                  </a:extLst>
                </a:gridCol>
                <a:gridCol w="562169">
                  <a:extLst>
                    <a:ext uri="{9D8B030D-6E8A-4147-A177-3AD203B41FA5}">
                      <a16:colId xmlns:a16="http://schemas.microsoft.com/office/drawing/2014/main" val="2720578248"/>
                    </a:ext>
                  </a:extLst>
                </a:gridCol>
                <a:gridCol w="562169">
                  <a:extLst>
                    <a:ext uri="{9D8B030D-6E8A-4147-A177-3AD203B41FA5}">
                      <a16:colId xmlns:a16="http://schemas.microsoft.com/office/drawing/2014/main" val="3748541466"/>
                    </a:ext>
                  </a:extLst>
                </a:gridCol>
                <a:gridCol w="562169">
                  <a:extLst>
                    <a:ext uri="{9D8B030D-6E8A-4147-A177-3AD203B41FA5}">
                      <a16:colId xmlns:a16="http://schemas.microsoft.com/office/drawing/2014/main" val="324090804"/>
                    </a:ext>
                  </a:extLst>
                </a:gridCol>
                <a:gridCol w="562169">
                  <a:extLst>
                    <a:ext uri="{9D8B030D-6E8A-4147-A177-3AD203B41FA5}">
                      <a16:colId xmlns:a16="http://schemas.microsoft.com/office/drawing/2014/main" val="4121045173"/>
                    </a:ext>
                  </a:extLst>
                </a:gridCol>
              </a:tblGrid>
              <a:tr h="370840">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FF0000"/>
                          </a:solidFill>
                        </a:rPr>
                        <a:t>1</a:t>
                      </a:r>
                      <a:endParaRPr lang="zh-CN" altLang="en-US" dirty="0">
                        <a:solidFill>
                          <a:srgbClr val="FF0000"/>
                        </a:solidFill>
                      </a:endParaRPr>
                    </a:p>
                  </a:txBody>
                  <a:tcPr>
                    <a:solidFill>
                      <a:schemeClr val="accent4">
                        <a:lumMod val="20000"/>
                        <a:lumOff val="80000"/>
                      </a:schemeClr>
                    </a:solidFill>
                  </a:tcPr>
                </a:tc>
                <a:extLst>
                  <a:ext uri="{0D108BD9-81ED-4DB2-BD59-A6C34878D82A}">
                    <a16:rowId xmlns:a16="http://schemas.microsoft.com/office/drawing/2014/main" val="1299414880"/>
                  </a:ext>
                </a:extLst>
              </a:tr>
            </a:tbl>
          </a:graphicData>
        </a:graphic>
      </p:graphicFrame>
      <p:cxnSp>
        <p:nvCxnSpPr>
          <p:cNvPr id="13" name="直接连接符 12">
            <a:extLst>
              <a:ext uri="{FF2B5EF4-FFF2-40B4-BE49-F238E27FC236}">
                <a16:creationId xmlns:a16="http://schemas.microsoft.com/office/drawing/2014/main" id="{5C8D697D-6072-F250-E972-557871D8BB07}"/>
              </a:ext>
            </a:extLst>
          </p:cNvPr>
          <p:cNvCxnSpPr/>
          <p:nvPr/>
        </p:nvCxnSpPr>
        <p:spPr>
          <a:xfrm>
            <a:off x="7506342" y="5432004"/>
            <a:ext cx="334851" cy="0"/>
          </a:xfrm>
          <a:prstGeom prst="line">
            <a:avLst/>
          </a:prstGeom>
          <a:noFill/>
          <a:ln w="25400" cap="flat">
            <a:solidFill>
              <a:srgbClr val="FF0000"/>
            </a:solidFill>
            <a:prstDash val="sysDot"/>
            <a:miter lim="400000"/>
          </a:ln>
          <a:effectLst/>
          <a:sp3d/>
        </p:spPr>
        <p:style>
          <a:lnRef idx="0">
            <a:scrgbClr r="0" g="0" b="0"/>
          </a:lnRef>
          <a:fillRef idx="0">
            <a:scrgbClr r="0" g="0" b="0"/>
          </a:fillRef>
          <a:effectRef idx="0">
            <a:scrgbClr r="0" g="0" b="0"/>
          </a:effectRef>
          <a:fontRef idx="none"/>
        </p:style>
      </p:cxnSp>
      <p:graphicFrame>
        <p:nvGraphicFramePr>
          <p:cNvPr id="14" name="表格 2">
            <a:extLst>
              <a:ext uri="{FF2B5EF4-FFF2-40B4-BE49-F238E27FC236}">
                <a16:creationId xmlns:a16="http://schemas.microsoft.com/office/drawing/2014/main" id="{9E7CA2D7-A519-D08F-3E50-B0D3CE54C79D}"/>
              </a:ext>
            </a:extLst>
          </p:cNvPr>
          <p:cNvGraphicFramePr>
            <a:graphicFrameLocks noGrp="1"/>
          </p:cNvGraphicFramePr>
          <p:nvPr>
            <p:extLst>
              <p:ext uri="{D42A27DB-BD31-4B8C-83A1-F6EECF244321}">
                <p14:modId xmlns:p14="http://schemas.microsoft.com/office/powerpoint/2010/main" val="1669711928"/>
              </p:ext>
            </p:extLst>
          </p:nvPr>
        </p:nvGraphicFramePr>
        <p:xfrm>
          <a:off x="2841566" y="6322968"/>
          <a:ext cx="4497352" cy="393192"/>
        </p:xfrm>
        <a:graphic>
          <a:graphicData uri="http://schemas.openxmlformats.org/drawingml/2006/table">
            <a:tbl>
              <a:tblPr firstRow="1" bandRow="1">
                <a:tableStyleId>{5940675A-B579-460E-94D1-54222C63F5DA}</a:tableStyleId>
              </a:tblPr>
              <a:tblGrid>
                <a:gridCol w="562169">
                  <a:extLst>
                    <a:ext uri="{9D8B030D-6E8A-4147-A177-3AD203B41FA5}">
                      <a16:colId xmlns:a16="http://schemas.microsoft.com/office/drawing/2014/main" val="3975040653"/>
                    </a:ext>
                  </a:extLst>
                </a:gridCol>
                <a:gridCol w="562169">
                  <a:extLst>
                    <a:ext uri="{9D8B030D-6E8A-4147-A177-3AD203B41FA5}">
                      <a16:colId xmlns:a16="http://schemas.microsoft.com/office/drawing/2014/main" val="2121460928"/>
                    </a:ext>
                  </a:extLst>
                </a:gridCol>
                <a:gridCol w="562169">
                  <a:extLst>
                    <a:ext uri="{9D8B030D-6E8A-4147-A177-3AD203B41FA5}">
                      <a16:colId xmlns:a16="http://schemas.microsoft.com/office/drawing/2014/main" val="3171898027"/>
                    </a:ext>
                  </a:extLst>
                </a:gridCol>
                <a:gridCol w="562169">
                  <a:extLst>
                    <a:ext uri="{9D8B030D-6E8A-4147-A177-3AD203B41FA5}">
                      <a16:colId xmlns:a16="http://schemas.microsoft.com/office/drawing/2014/main" val="3906089704"/>
                    </a:ext>
                  </a:extLst>
                </a:gridCol>
                <a:gridCol w="562169">
                  <a:extLst>
                    <a:ext uri="{9D8B030D-6E8A-4147-A177-3AD203B41FA5}">
                      <a16:colId xmlns:a16="http://schemas.microsoft.com/office/drawing/2014/main" val="2720578248"/>
                    </a:ext>
                  </a:extLst>
                </a:gridCol>
                <a:gridCol w="562169">
                  <a:extLst>
                    <a:ext uri="{9D8B030D-6E8A-4147-A177-3AD203B41FA5}">
                      <a16:colId xmlns:a16="http://schemas.microsoft.com/office/drawing/2014/main" val="3748541466"/>
                    </a:ext>
                  </a:extLst>
                </a:gridCol>
                <a:gridCol w="562169">
                  <a:extLst>
                    <a:ext uri="{9D8B030D-6E8A-4147-A177-3AD203B41FA5}">
                      <a16:colId xmlns:a16="http://schemas.microsoft.com/office/drawing/2014/main" val="324090804"/>
                    </a:ext>
                  </a:extLst>
                </a:gridCol>
                <a:gridCol w="562169">
                  <a:extLst>
                    <a:ext uri="{9D8B030D-6E8A-4147-A177-3AD203B41FA5}">
                      <a16:colId xmlns:a16="http://schemas.microsoft.com/office/drawing/2014/main" val="4121045173"/>
                    </a:ext>
                  </a:extLst>
                </a:gridCol>
              </a:tblGrid>
              <a:tr h="370840">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extLst>
                  <a:ext uri="{0D108BD9-81ED-4DB2-BD59-A6C34878D82A}">
                    <a16:rowId xmlns:a16="http://schemas.microsoft.com/office/drawing/2014/main" val="1299414880"/>
                  </a:ext>
                </a:extLst>
              </a:tr>
            </a:tbl>
          </a:graphicData>
        </a:graphic>
      </p:graphicFrame>
      <p:graphicFrame>
        <p:nvGraphicFramePr>
          <p:cNvPr id="15" name="表格 2">
            <a:extLst>
              <a:ext uri="{FF2B5EF4-FFF2-40B4-BE49-F238E27FC236}">
                <a16:creationId xmlns:a16="http://schemas.microsoft.com/office/drawing/2014/main" id="{B7A624B2-A111-22E0-6FD6-F38751394D66}"/>
              </a:ext>
            </a:extLst>
          </p:cNvPr>
          <p:cNvGraphicFramePr>
            <a:graphicFrameLocks noGrp="1"/>
          </p:cNvGraphicFramePr>
          <p:nvPr>
            <p:extLst>
              <p:ext uri="{D42A27DB-BD31-4B8C-83A1-F6EECF244321}">
                <p14:modId xmlns:p14="http://schemas.microsoft.com/office/powerpoint/2010/main" val="3067726547"/>
              </p:ext>
            </p:extLst>
          </p:nvPr>
        </p:nvGraphicFramePr>
        <p:xfrm>
          <a:off x="8008617" y="6319555"/>
          <a:ext cx="4497352" cy="393192"/>
        </p:xfrm>
        <a:graphic>
          <a:graphicData uri="http://schemas.openxmlformats.org/drawingml/2006/table">
            <a:tbl>
              <a:tblPr firstRow="1" bandRow="1">
                <a:tableStyleId>{5940675A-B579-460E-94D1-54222C63F5DA}</a:tableStyleId>
              </a:tblPr>
              <a:tblGrid>
                <a:gridCol w="562169">
                  <a:extLst>
                    <a:ext uri="{9D8B030D-6E8A-4147-A177-3AD203B41FA5}">
                      <a16:colId xmlns:a16="http://schemas.microsoft.com/office/drawing/2014/main" val="3975040653"/>
                    </a:ext>
                  </a:extLst>
                </a:gridCol>
                <a:gridCol w="562169">
                  <a:extLst>
                    <a:ext uri="{9D8B030D-6E8A-4147-A177-3AD203B41FA5}">
                      <a16:colId xmlns:a16="http://schemas.microsoft.com/office/drawing/2014/main" val="2121460928"/>
                    </a:ext>
                  </a:extLst>
                </a:gridCol>
                <a:gridCol w="562169">
                  <a:extLst>
                    <a:ext uri="{9D8B030D-6E8A-4147-A177-3AD203B41FA5}">
                      <a16:colId xmlns:a16="http://schemas.microsoft.com/office/drawing/2014/main" val="3171898027"/>
                    </a:ext>
                  </a:extLst>
                </a:gridCol>
                <a:gridCol w="562169">
                  <a:extLst>
                    <a:ext uri="{9D8B030D-6E8A-4147-A177-3AD203B41FA5}">
                      <a16:colId xmlns:a16="http://schemas.microsoft.com/office/drawing/2014/main" val="3906089704"/>
                    </a:ext>
                  </a:extLst>
                </a:gridCol>
                <a:gridCol w="562169">
                  <a:extLst>
                    <a:ext uri="{9D8B030D-6E8A-4147-A177-3AD203B41FA5}">
                      <a16:colId xmlns:a16="http://schemas.microsoft.com/office/drawing/2014/main" val="2720578248"/>
                    </a:ext>
                  </a:extLst>
                </a:gridCol>
                <a:gridCol w="562169">
                  <a:extLst>
                    <a:ext uri="{9D8B030D-6E8A-4147-A177-3AD203B41FA5}">
                      <a16:colId xmlns:a16="http://schemas.microsoft.com/office/drawing/2014/main" val="3748541466"/>
                    </a:ext>
                  </a:extLst>
                </a:gridCol>
                <a:gridCol w="562169">
                  <a:extLst>
                    <a:ext uri="{9D8B030D-6E8A-4147-A177-3AD203B41FA5}">
                      <a16:colId xmlns:a16="http://schemas.microsoft.com/office/drawing/2014/main" val="324090804"/>
                    </a:ext>
                  </a:extLst>
                </a:gridCol>
                <a:gridCol w="562169">
                  <a:extLst>
                    <a:ext uri="{9D8B030D-6E8A-4147-A177-3AD203B41FA5}">
                      <a16:colId xmlns:a16="http://schemas.microsoft.com/office/drawing/2014/main" val="4121045173"/>
                    </a:ext>
                  </a:extLst>
                </a:gridCol>
              </a:tblGrid>
              <a:tr h="370840">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1</a:t>
                      </a:r>
                      <a:endParaRPr lang="zh-CN" altLang="en-US" dirty="0">
                        <a:solidFill>
                          <a:srgbClr val="0070C0"/>
                        </a:solidFill>
                      </a:endParaRPr>
                    </a:p>
                  </a:txBody>
                  <a:tcPr>
                    <a:solidFill>
                      <a:schemeClr val="accent5">
                        <a:lumMod val="40000"/>
                        <a:lumOff val="60000"/>
                      </a:schemeClr>
                    </a:solidFill>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FF0000"/>
                          </a:solidFill>
                        </a:rPr>
                        <a:t>0</a:t>
                      </a:r>
                      <a:endParaRPr lang="zh-CN" altLang="en-US" dirty="0">
                        <a:solidFill>
                          <a:srgbClr val="FF0000"/>
                        </a:solidFill>
                      </a:endParaRPr>
                    </a:p>
                  </a:txBody>
                  <a:tcPr>
                    <a:solidFill>
                      <a:schemeClr val="accent4">
                        <a:lumMod val="20000"/>
                        <a:lumOff val="80000"/>
                      </a:schemeClr>
                    </a:solidFill>
                  </a:tcPr>
                </a:tc>
                <a:extLst>
                  <a:ext uri="{0D108BD9-81ED-4DB2-BD59-A6C34878D82A}">
                    <a16:rowId xmlns:a16="http://schemas.microsoft.com/office/drawing/2014/main" val="1299414880"/>
                  </a:ext>
                </a:extLst>
              </a:tr>
            </a:tbl>
          </a:graphicData>
        </a:graphic>
      </p:graphicFrame>
      <p:cxnSp>
        <p:nvCxnSpPr>
          <p:cNvPr id="16" name="直接连接符 15">
            <a:extLst>
              <a:ext uri="{FF2B5EF4-FFF2-40B4-BE49-F238E27FC236}">
                <a16:creationId xmlns:a16="http://schemas.microsoft.com/office/drawing/2014/main" id="{5526F833-8D9F-AC66-D74F-D3BFBB4AD277}"/>
              </a:ext>
            </a:extLst>
          </p:cNvPr>
          <p:cNvCxnSpPr/>
          <p:nvPr/>
        </p:nvCxnSpPr>
        <p:spPr>
          <a:xfrm>
            <a:off x="7506342" y="6516151"/>
            <a:ext cx="334851" cy="0"/>
          </a:xfrm>
          <a:prstGeom prst="line">
            <a:avLst/>
          </a:prstGeom>
          <a:noFill/>
          <a:ln w="25400" cap="flat">
            <a:solidFill>
              <a:srgbClr val="FF0000"/>
            </a:solidFill>
            <a:prstDash val="sysDot"/>
            <a:miter lim="400000"/>
          </a:ln>
          <a:effectLst/>
          <a:sp3d/>
        </p:spPr>
        <p:style>
          <a:lnRef idx="0">
            <a:scrgbClr r="0" g="0" b="0"/>
          </a:lnRef>
          <a:fillRef idx="0">
            <a:scrgbClr r="0" g="0" b="0"/>
          </a:fillRef>
          <a:effectRef idx="0">
            <a:scrgbClr r="0" g="0" b="0"/>
          </a:effectRef>
          <a:fontRef idx="none"/>
        </p:style>
      </p:cxnSp>
      <p:graphicFrame>
        <p:nvGraphicFramePr>
          <p:cNvPr id="17" name="表格 2">
            <a:extLst>
              <a:ext uri="{FF2B5EF4-FFF2-40B4-BE49-F238E27FC236}">
                <a16:creationId xmlns:a16="http://schemas.microsoft.com/office/drawing/2014/main" id="{CCF96291-03E0-93BE-6F8F-5622AEA9D5B5}"/>
              </a:ext>
            </a:extLst>
          </p:cNvPr>
          <p:cNvGraphicFramePr>
            <a:graphicFrameLocks noGrp="1"/>
          </p:cNvGraphicFramePr>
          <p:nvPr>
            <p:extLst>
              <p:ext uri="{D42A27DB-BD31-4B8C-83A1-F6EECF244321}">
                <p14:modId xmlns:p14="http://schemas.microsoft.com/office/powerpoint/2010/main" val="2890288953"/>
              </p:ext>
            </p:extLst>
          </p:nvPr>
        </p:nvGraphicFramePr>
        <p:xfrm>
          <a:off x="2841566" y="7021506"/>
          <a:ext cx="4497352" cy="393192"/>
        </p:xfrm>
        <a:graphic>
          <a:graphicData uri="http://schemas.openxmlformats.org/drawingml/2006/table">
            <a:tbl>
              <a:tblPr firstRow="1" bandRow="1">
                <a:tableStyleId>{5940675A-B579-460E-94D1-54222C63F5DA}</a:tableStyleId>
              </a:tblPr>
              <a:tblGrid>
                <a:gridCol w="562169">
                  <a:extLst>
                    <a:ext uri="{9D8B030D-6E8A-4147-A177-3AD203B41FA5}">
                      <a16:colId xmlns:a16="http://schemas.microsoft.com/office/drawing/2014/main" val="3975040653"/>
                    </a:ext>
                  </a:extLst>
                </a:gridCol>
                <a:gridCol w="562169">
                  <a:extLst>
                    <a:ext uri="{9D8B030D-6E8A-4147-A177-3AD203B41FA5}">
                      <a16:colId xmlns:a16="http://schemas.microsoft.com/office/drawing/2014/main" val="2121460928"/>
                    </a:ext>
                  </a:extLst>
                </a:gridCol>
                <a:gridCol w="562169">
                  <a:extLst>
                    <a:ext uri="{9D8B030D-6E8A-4147-A177-3AD203B41FA5}">
                      <a16:colId xmlns:a16="http://schemas.microsoft.com/office/drawing/2014/main" val="3171898027"/>
                    </a:ext>
                  </a:extLst>
                </a:gridCol>
                <a:gridCol w="562169">
                  <a:extLst>
                    <a:ext uri="{9D8B030D-6E8A-4147-A177-3AD203B41FA5}">
                      <a16:colId xmlns:a16="http://schemas.microsoft.com/office/drawing/2014/main" val="3906089704"/>
                    </a:ext>
                  </a:extLst>
                </a:gridCol>
                <a:gridCol w="562169">
                  <a:extLst>
                    <a:ext uri="{9D8B030D-6E8A-4147-A177-3AD203B41FA5}">
                      <a16:colId xmlns:a16="http://schemas.microsoft.com/office/drawing/2014/main" val="2720578248"/>
                    </a:ext>
                  </a:extLst>
                </a:gridCol>
                <a:gridCol w="562169">
                  <a:extLst>
                    <a:ext uri="{9D8B030D-6E8A-4147-A177-3AD203B41FA5}">
                      <a16:colId xmlns:a16="http://schemas.microsoft.com/office/drawing/2014/main" val="3748541466"/>
                    </a:ext>
                  </a:extLst>
                </a:gridCol>
                <a:gridCol w="562169">
                  <a:extLst>
                    <a:ext uri="{9D8B030D-6E8A-4147-A177-3AD203B41FA5}">
                      <a16:colId xmlns:a16="http://schemas.microsoft.com/office/drawing/2014/main" val="324090804"/>
                    </a:ext>
                  </a:extLst>
                </a:gridCol>
                <a:gridCol w="562169">
                  <a:extLst>
                    <a:ext uri="{9D8B030D-6E8A-4147-A177-3AD203B41FA5}">
                      <a16:colId xmlns:a16="http://schemas.microsoft.com/office/drawing/2014/main" val="4121045173"/>
                    </a:ext>
                  </a:extLst>
                </a:gridCol>
              </a:tblGrid>
              <a:tr h="370840">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val="1299414880"/>
                  </a:ext>
                </a:extLst>
              </a:tr>
            </a:tbl>
          </a:graphicData>
        </a:graphic>
      </p:graphicFrame>
      <p:graphicFrame>
        <p:nvGraphicFramePr>
          <p:cNvPr id="19" name="表格 2">
            <a:extLst>
              <a:ext uri="{FF2B5EF4-FFF2-40B4-BE49-F238E27FC236}">
                <a16:creationId xmlns:a16="http://schemas.microsoft.com/office/drawing/2014/main" id="{63FA864D-AD04-D15C-3E73-530D2E01ACD2}"/>
              </a:ext>
            </a:extLst>
          </p:cNvPr>
          <p:cNvGraphicFramePr>
            <a:graphicFrameLocks noGrp="1"/>
          </p:cNvGraphicFramePr>
          <p:nvPr>
            <p:extLst>
              <p:ext uri="{D42A27DB-BD31-4B8C-83A1-F6EECF244321}">
                <p14:modId xmlns:p14="http://schemas.microsoft.com/office/powerpoint/2010/main" val="156102613"/>
              </p:ext>
            </p:extLst>
          </p:nvPr>
        </p:nvGraphicFramePr>
        <p:xfrm>
          <a:off x="8008617" y="7018093"/>
          <a:ext cx="4497352" cy="393192"/>
        </p:xfrm>
        <a:graphic>
          <a:graphicData uri="http://schemas.openxmlformats.org/drawingml/2006/table">
            <a:tbl>
              <a:tblPr firstRow="1" bandRow="1">
                <a:tableStyleId>{5940675A-B579-460E-94D1-54222C63F5DA}</a:tableStyleId>
              </a:tblPr>
              <a:tblGrid>
                <a:gridCol w="562169">
                  <a:extLst>
                    <a:ext uri="{9D8B030D-6E8A-4147-A177-3AD203B41FA5}">
                      <a16:colId xmlns:a16="http://schemas.microsoft.com/office/drawing/2014/main" val="3975040653"/>
                    </a:ext>
                  </a:extLst>
                </a:gridCol>
                <a:gridCol w="562169">
                  <a:extLst>
                    <a:ext uri="{9D8B030D-6E8A-4147-A177-3AD203B41FA5}">
                      <a16:colId xmlns:a16="http://schemas.microsoft.com/office/drawing/2014/main" val="2121460928"/>
                    </a:ext>
                  </a:extLst>
                </a:gridCol>
                <a:gridCol w="562169">
                  <a:extLst>
                    <a:ext uri="{9D8B030D-6E8A-4147-A177-3AD203B41FA5}">
                      <a16:colId xmlns:a16="http://schemas.microsoft.com/office/drawing/2014/main" val="3171898027"/>
                    </a:ext>
                  </a:extLst>
                </a:gridCol>
                <a:gridCol w="562169">
                  <a:extLst>
                    <a:ext uri="{9D8B030D-6E8A-4147-A177-3AD203B41FA5}">
                      <a16:colId xmlns:a16="http://schemas.microsoft.com/office/drawing/2014/main" val="3906089704"/>
                    </a:ext>
                  </a:extLst>
                </a:gridCol>
                <a:gridCol w="562169">
                  <a:extLst>
                    <a:ext uri="{9D8B030D-6E8A-4147-A177-3AD203B41FA5}">
                      <a16:colId xmlns:a16="http://schemas.microsoft.com/office/drawing/2014/main" val="2720578248"/>
                    </a:ext>
                  </a:extLst>
                </a:gridCol>
                <a:gridCol w="562169">
                  <a:extLst>
                    <a:ext uri="{9D8B030D-6E8A-4147-A177-3AD203B41FA5}">
                      <a16:colId xmlns:a16="http://schemas.microsoft.com/office/drawing/2014/main" val="3748541466"/>
                    </a:ext>
                  </a:extLst>
                </a:gridCol>
                <a:gridCol w="562169">
                  <a:extLst>
                    <a:ext uri="{9D8B030D-6E8A-4147-A177-3AD203B41FA5}">
                      <a16:colId xmlns:a16="http://schemas.microsoft.com/office/drawing/2014/main" val="324090804"/>
                    </a:ext>
                  </a:extLst>
                </a:gridCol>
                <a:gridCol w="562169">
                  <a:extLst>
                    <a:ext uri="{9D8B030D-6E8A-4147-A177-3AD203B41FA5}">
                      <a16:colId xmlns:a16="http://schemas.microsoft.com/office/drawing/2014/main" val="4121045173"/>
                    </a:ext>
                  </a:extLst>
                </a:gridCol>
              </a:tblGrid>
              <a:tr h="370840">
                <a:tc>
                  <a:txBody>
                    <a:bodyPr/>
                    <a:lstStyle/>
                    <a:p>
                      <a:r>
                        <a:rPr lang="en-US" altLang="zh-CN" dirty="0"/>
                        <a:t>0</a:t>
                      </a:r>
                      <a:endParaRPr lang="zh-CN" altLang="en-US" dirty="0"/>
                    </a:p>
                  </a:txBody>
                  <a:tcPr/>
                </a:tc>
                <a:tc>
                  <a:txBody>
                    <a:bodyPr/>
                    <a:lstStyle/>
                    <a:p>
                      <a:r>
                        <a:rPr lang="en-US" altLang="zh-CN" dirty="0"/>
                        <a:t>X</a:t>
                      </a:r>
                      <a:endParaRPr lang="zh-CN" altLang="en-US" dirty="0"/>
                    </a:p>
                  </a:txBody>
                  <a:tcPr>
                    <a:solidFill>
                      <a:schemeClr val="accent3">
                        <a:lumMod val="60000"/>
                        <a:lumOff val="40000"/>
                      </a:schemeClr>
                    </a:solidFill>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299414880"/>
                  </a:ext>
                </a:extLst>
              </a:tr>
            </a:tbl>
          </a:graphicData>
        </a:graphic>
      </p:graphicFrame>
      <p:cxnSp>
        <p:nvCxnSpPr>
          <p:cNvPr id="20" name="直接连接符 19">
            <a:extLst>
              <a:ext uri="{FF2B5EF4-FFF2-40B4-BE49-F238E27FC236}">
                <a16:creationId xmlns:a16="http://schemas.microsoft.com/office/drawing/2014/main" id="{860AC017-833A-38B2-CE61-0717313424B9}"/>
              </a:ext>
            </a:extLst>
          </p:cNvPr>
          <p:cNvCxnSpPr/>
          <p:nvPr/>
        </p:nvCxnSpPr>
        <p:spPr>
          <a:xfrm>
            <a:off x="7506342" y="7214689"/>
            <a:ext cx="334851" cy="0"/>
          </a:xfrm>
          <a:prstGeom prst="line">
            <a:avLst/>
          </a:prstGeom>
          <a:noFill/>
          <a:ln w="25400" cap="flat">
            <a:solidFill>
              <a:srgbClr val="FF0000"/>
            </a:solidFill>
            <a:prstDash val="sysDot"/>
            <a:miter lim="400000"/>
          </a:ln>
          <a:effectLst/>
          <a:sp3d/>
        </p:spPr>
        <p:style>
          <a:lnRef idx="0">
            <a:scrgbClr r="0" g="0" b="0"/>
          </a:lnRef>
          <a:fillRef idx="0">
            <a:scrgbClr r="0" g="0" b="0"/>
          </a:fillRef>
          <a:effectRef idx="0">
            <a:scrgbClr r="0" g="0" b="0"/>
          </a:effectRef>
          <a:fontRef idx="none"/>
        </p:style>
      </p:cxnSp>
      <p:graphicFrame>
        <p:nvGraphicFramePr>
          <p:cNvPr id="22" name="表格 2">
            <a:extLst>
              <a:ext uri="{FF2B5EF4-FFF2-40B4-BE49-F238E27FC236}">
                <a16:creationId xmlns:a16="http://schemas.microsoft.com/office/drawing/2014/main" id="{DE0850D6-4B4B-AB38-A0F3-AF71A16B92C6}"/>
              </a:ext>
            </a:extLst>
          </p:cNvPr>
          <p:cNvGraphicFramePr>
            <a:graphicFrameLocks noGrp="1"/>
          </p:cNvGraphicFramePr>
          <p:nvPr>
            <p:extLst>
              <p:ext uri="{D42A27DB-BD31-4B8C-83A1-F6EECF244321}">
                <p14:modId xmlns:p14="http://schemas.microsoft.com/office/powerpoint/2010/main" val="4188261339"/>
              </p:ext>
            </p:extLst>
          </p:nvPr>
        </p:nvGraphicFramePr>
        <p:xfrm>
          <a:off x="2841566" y="8150588"/>
          <a:ext cx="4497352" cy="393192"/>
        </p:xfrm>
        <a:graphic>
          <a:graphicData uri="http://schemas.openxmlformats.org/drawingml/2006/table">
            <a:tbl>
              <a:tblPr firstRow="1" bandRow="1">
                <a:tableStyleId>{5940675A-B579-460E-94D1-54222C63F5DA}</a:tableStyleId>
              </a:tblPr>
              <a:tblGrid>
                <a:gridCol w="562169">
                  <a:extLst>
                    <a:ext uri="{9D8B030D-6E8A-4147-A177-3AD203B41FA5}">
                      <a16:colId xmlns:a16="http://schemas.microsoft.com/office/drawing/2014/main" val="3975040653"/>
                    </a:ext>
                  </a:extLst>
                </a:gridCol>
                <a:gridCol w="562169">
                  <a:extLst>
                    <a:ext uri="{9D8B030D-6E8A-4147-A177-3AD203B41FA5}">
                      <a16:colId xmlns:a16="http://schemas.microsoft.com/office/drawing/2014/main" val="2121460928"/>
                    </a:ext>
                  </a:extLst>
                </a:gridCol>
                <a:gridCol w="562169">
                  <a:extLst>
                    <a:ext uri="{9D8B030D-6E8A-4147-A177-3AD203B41FA5}">
                      <a16:colId xmlns:a16="http://schemas.microsoft.com/office/drawing/2014/main" val="3171898027"/>
                    </a:ext>
                  </a:extLst>
                </a:gridCol>
                <a:gridCol w="562169">
                  <a:extLst>
                    <a:ext uri="{9D8B030D-6E8A-4147-A177-3AD203B41FA5}">
                      <a16:colId xmlns:a16="http://schemas.microsoft.com/office/drawing/2014/main" val="3906089704"/>
                    </a:ext>
                  </a:extLst>
                </a:gridCol>
                <a:gridCol w="562169">
                  <a:extLst>
                    <a:ext uri="{9D8B030D-6E8A-4147-A177-3AD203B41FA5}">
                      <a16:colId xmlns:a16="http://schemas.microsoft.com/office/drawing/2014/main" val="2720578248"/>
                    </a:ext>
                  </a:extLst>
                </a:gridCol>
                <a:gridCol w="562169">
                  <a:extLst>
                    <a:ext uri="{9D8B030D-6E8A-4147-A177-3AD203B41FA5}">
                      <a16:colId xmlns:a16="http://schemas.microsoft.com/office/drawing/2014/main" val="3748541466"/>
                    </a:ext>
                  </a:extLst>
                </a:gridCol>
                <a:gridCol w="562169">
                  <a:extLst>
                    <a:ext uri="{9D8B030D-6E8A-4147-A177-3AD203B41FA5}">
                      <a16:colId xmlns:a16="http://schemas.microsoft.com/office/drawing/2014/main" val="324090804"/>
                    </a:ext>
                  </a:extLst>
                </a:gridCol>
                <a:gridCol w="562169">
                  <a:extLst>
                    <a:ext uri="{9D8B030D-6E8A-4147-A177-3AD203B41FA5}">
                      <a16:colId xmlns:a16="http://schemas.microsoft.com/office/drawing/2014/main" val="4121045173"/>
                    </a:ext>
                  </a:extLst>
                </a:gridCol>
              </a:tblGrid>
              <a:tr h="370840">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extLst>
                  <a:ext uri="{0D108BD9-81ED-4DB2-BD59-A6C34878D82A}">
                    <a16:rowId xmlns:a16="http://schemas.microsoft.com/office/drawing/2014/main" val="1299414880"/>
                  </a:ext>
                </a:extLst>
              </a:tr>
            </a:tbl>
          </a:graphicData>
        </a:graphic>
      </p:graphicFrame>
      <p:graphicFrame>
        <p:nvGraphicFramePr>
          <p:cNvPr id="23" name="表格 2">
            <a:extLst>
              <a:ext uri="{FF2B5EF4-FFF2-40B4-BE49-F238E27FC236}">
                <a16:creationId xmlns:a16="http://schemas.microsoft.com/office/drawing/2014/main" id="{CCEF9AD2-68DC-2B73-D0EC-FE9848C85194}"/>
              </a:ext>
            </a:extLst>
          </p:cNvPr>
          <p:cNvGraphicFramePr>
            <a:graphicFrameLocks noGrp="1"/>
          </p:cNvGraphicFramePr>
          <p:nvPr>
            <p:extLst>
              <p:ext uri="{D42A27DB-BD31-4B8C-83A1-F6EECF244321}">
                <p14:modId xmlns:p14="http://schemas.microsoft.com/office/powerpoint/2010/main" val="719027706"/>
              </p:ext>
            </p:extLst>
          </p:nvPr>
        </p:nvGraphicFramePr>
        <p:xfrm>
          <a:off x="8008617" y="8147175"/>
          <a:ext cx="4497352" cy="393192"/>
        </p:xfrm>
        <a:graphic>
          <a:graphicData uri="http://schemas.openxmlformats.org/drawingml/2006/table">
            <a:tbl>
              <a:tblPr firstRow="1" bandRow="1">
                <a:tableStyleId>{5940675A-B579-460E-94D1-54222C63F5DA}</a:tableStyleId>
              </a:tblPr>
              <a:tblGrid>
                <a:gridCol w="562169">
                  <a:extLst>
                    <a:ext uri="{9D8B030D-6E8A-4147-A177-3AD203B41FA5}">
                      <a16:colId xmlns:a16="http://schemas.microsoft.com/office/drawing/2014/main" val="3975040653"/>
                    </a:ext>
                  </a:extLst>
                </a:gridCol>
                <a:gridCol w="562169">
                  <a:extLst>
                    <a:ext uri="{9D8B030D-6E8A-4147-A177-3AD203B41FA5}">
                      <a16:colId xmlns:a16="http://schemas.microsoft.com/office/drawing/2014/main" val="2121460928"/>
                    </a:ext>
                  </a:extLst>
                </a:gridCol>
                <a:gridCol w="562169">
                  <a:extLst>
                    <a:ext uri="{9D8B030D-6E8A-4147-A177-3AD203B41FA5}">
                      <a16:colId xmlns:a16="http://schemas.microsoft.com/office/drawing/2014/main" val="3171898027"/>
                    </a:ext>
                  </a:extLst>
                </a:gridCol>
                <a:gridCol w="562169">
                  <a:extLst>
                    <a:ext uri="{9D8B030D-6E8A-4147-A177-3AD203B41FA5}">
                      <a16:colId xmlns:a16="http://schemas.microsoft.com/office/drawing/2014/main" val="3906089704"/>
                    </a:ext>
                  </a:extLst>
                </a:gridCol>
                <a:gridCol w="562169">
                  <a:extLst>
                    <a:ext uri="{9D8B030D-6E8A-4147-A177-3AD203B41FA5}">
                      <a16:colId xmlns:a16="http://schemas.microsoft.com/office/drawing/2014/main" val="2720578248"/>
                    </a:ext>
                  </a:extLst>
                </a:gridCol>
                <a:gridCol w="562169">
                  <a:extLst>
                    <a:ext uri="{9D8B030D-6E8A-4147-A177-3AD203B41FA5}">
                      <a16:colId xmlns:a16="http://schemas.microsoft.com/office/drawing/2014/main" val="3748541466"/>
                    </a:ext>
                  </a:extLst>
                </a:gridCol>
                <a:gridCol w="562169">
                  <a:extLst>
                    <a:ext uri="{9D8B030D-6E8A-4147-A177-3AD203B41FA5}">
                      <a16:colId xmlns:a16="http://schemas.microsoft.com/office/drawing/2014/main" val="324090804"/>
                    </a:ext>
                  </a:extLst>
                </a:gridCol>
                <a:gridCol w="562169">
                  <a:extLst>
                    <a:ext uri="{9D8B030D-6E8A-4147-A177-3AD203B41FA5}">
                      <a16:colId xmlns:a16="http://schemas.microsoft.com/office/drawing/2014/main" val="4121045173"/>
                    </a:ext>
                  </a:extLst>
                </a:gridCol>
              </a:tblGrid>
              <a:tr h="370840">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FF0000"/>
                          </a:solidFill>
                        </a:rPr>
                        <a:t>X</a:t>
                      </a:r>
                      <a:endParaRPr lang="zh-CN" altLang="en-US" dirty="0">
                        <a:solidFill>
                          <a:srgbClr val="FF0000"/>
                        </a:solidFill>
                      </a:endParaRPr>
                    </a:p>
                  </a:txBody>
                  <a:tcPr>
                    <a:solidFill>
                      <a:schemeClr val="accent6">
                        <a:lumMod val="20000"/>
                        <a:lumOff val="80000"/>
                      </a:schemeClr>
                    </a:solidFill>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tc>
                <a:tc>
                  <a:txBody>
                    <a:bodyPr/>
                    <a:lstStyle/>
                    <a:p>
                      <a:r>
                        <a:rPr lang="en-US" altLang="zh-CN" dirty="0">
                          <a:solidFill>
                            <a:srgbClr val="0070C0"/>
                          </a:solidFill>
                        </a:rPr>
                        <a:t>0</a:t>
                      </a:r>
                      <a:endParaRPr lang="zh-CN" altLang="en-US" dirty="0">
                        <a:solidFill>
                          <a:srgbClr val="0070C0"/>
                        </a:solidFill>
                      </a:endParaRPr>
                    </a:p>
                  </a:txBody>
                  <a:tcPr>
                    <a:noFill/>
                  </a:tcPr>
                </a:tc>
                <a:extLst>
                  <a:ext uri="{0D108BD9-81ED-4DB2-BD59-A6C34878D82A}">
                    <a16:rowId xmlns:a16="http://schemas.microsoft.com/office/drawing/2014/main" val="1299414880"/>
                  </a:ext>
                </a:extLst>
              </a:tr>
            </a:tbl>
          </a:graphicData>
        </a:graphic>
      </p:graphicFrame>
      <p:cxnSp>
        <p:nvCxnSpPr>
          <p:cNvPr id="24" name="直接连接符 23">
            <a:extLst>
              <a:ext uri="{FF2B5EF4-FFF2-40B4-BE49-F238E27FC236}">
                <a16:creationId xmlns:a16="http://schemas.microsoft.com/office/drawing/2014/main" id="{87085449-ECAB-620F-0E14-7399A8148E83}"/>
              </a:ext>
            </a:extLst>
          </p:cNvPr>
          <p:cNvCxnSpPr/>
          <p:nvPr/>
        </p:nvCxnSpPr>
        <p:spPr>
          <a:xfrm>
            <a:off x="7506342" y="8343771"/>
            <a:ext cx="334851" cy="0"/>
          </a:xfrm>
          <a:prstGeom prst="line">
            <a:avLst/>
          </a:prstGeom>
          <a:noFill/>
          <a:ln w="25400" cap="flat">
            <a:solidFill>
              <a:srgbClr val="FF0000"/>
            </a:solidFill>
            <a:prstDash val="sysDot"/>
            <a:miter lim="400000"/>
          </a:ln>
          <a:effectLst/>
          <a:sp3d/>
        </p:spPr>
        <p:style>
          <a:lnRef idx="0">
            <a:scrgbClr r="0" g="0" b="0"/>
          </a:lnRef>
          <a:fillRef idx="0">
            <a:scrgbClr r="0" g="0" b="0"/>
          </a:fillRef>
          <a:effectRef idx="0">
            <a:scrgbClr r="0" g="0" b="0"/>
          </a:effectRef>
          <a:fontRef idx="none"/>
        </p:style>
      </p:cxnSp>
      <p:sp>
        <p:nvSpPr>
          <p:cNvPr id="25" name="文本框 24">
            <a:extLst>
              <a:ext uri="{FF2B5EF4-FFF2-40B4-BE49-F238E27FC236}">
                <a16:creationId xmlns:a16="http://schemas.microsoft.com/office/drawing/2014/main" id="{9B4391EE-BA5E-AF8B-C926-8A8879C733E7}"/>
              </a:ext>
            </a:extLst>
          </p:cNvPr>
          <p:cNvSpPr txBox="1"/>
          <p:nvPr/>
        </p:nvSpPr>
        <p:spPr>
          <a:xfrm>
            <a:off x="525463" y="5122175"/>
            <a:ext cx="1215076" cy="619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zh-CN" altLang="en-US" sz="2800" u="none" strike="noStrike" cap="none" spc="0" normalizeH="0" baseline="0" dirty="0">
                <a:ln>
                  <a:noFill/>
                </a:ln>
                <a:solidFill>
                  <a:srgbClr val="00B050"/>
                </a:solidFill>
                <a:effectLst/>
                <a:uFillTx/>
                <a:latin typeface="Consolas" panose="020B0609020204030204" pitchFamily="49" charset="0"/>
                <a:sym typeface="Helvetica Neue"/>
              </a:rPr>
              <a:t>整数 </a:t>
            </a:r>
            <a:r>
              <a:rPr kumimoji="0" lang="en-US" altLang="zh-CN" sz="2800" u="none" strike="noStrike" cap="none" spc="0" normalizeH="0" baseline="0" dirty="0">
                <a:ln>
                  <a:noFill/>
                </a:ln>
                <a:solidFill>
                  <a:srgbClr val="00B050"/>
                </a:solidFill>
                <a:effectLst/>
                <a:uFillTx/>
                <a:latin typeface="Consolas" panose="020B0609020204030204" pitchFamily="49" charset="0"/>
                <a:sym typeface="Helvetica Neue"/>
              </a:rPr>
              <a:t>1</a:t>
            </a:r>
            <a:endParaRPr kumimoji="0" lang="zh-CN" altLang="en-US" sz="2800" u="none" strike="noStrike" cap="none" spc="0" normalizeH="0" baseline="0" dirty="0">
              <a:ln>
                <a:noFill/>
              </a:ln>
              <a:solidFill>
                <a:srgbClr val="00B050"/>
              </a:solidFill>
              <a:effectLst/>
              <a:uFillTx/>
              <a:latin typeface="Consolas" panose="020B0609020204030204" pitchFamily="49" charset="0"/>
              <a:sym typeface="Helvetica Neue"/>
            </a:endParaRPr>
          </a:p>
        </p:txBody>
      </p:sp>
      <p:sp>
        <p:nvSpPr>
          <p:cNvPr id="26" name="文本框 25">
            <a:extLst>
              <a:ext uri="{FF2B5EF4-FFF2-40B4-BE49-F238E27FC236}">
                <a16:creationId xmlns:a16="http://schemas.microsoft.com/office/drawing/2014/main" id="{C2D6B18E-6A36-F0A5-9D67-41A4608468E5}"/>
              </a:ext>
            </a:extLst>
          </p:cNvPr>
          <p:cNvSpPr txBox="1"/>
          <p:nvPr/>
        </p:nvSpPr>
        <p:spPr>
          <a:xfrm>
            <a:off x="525463" y="6166599"/>
            <a:ext cx="891270" cy="619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lang="en-US" altLang="zh-CN" sz="2800" dirty="0">
                <a:solidFill>
                  <a:srgbClr val="00B050"/>
                </a:solidFill>
                <a:latin typeface="Consolas" panose="020B0609020204030204" pitchFamily="49" charset="0"/>
              </a:rPr>
              <a:t>1&lt;&lt;m</a:t>
            </a:r>
            <a:endParaRPr kumimoji="0" lang="zh-CN" altLang="en-US" sz="2800" u="none" strike="noStrike" cap="none" spc="0" normalizeH="0" baseline="0" dirty="0">
              <a:ln>
                <a:noFill/>
              </a:ln>
              <a:solidFill>
                <a:srgbClr val="00B050"/>
              </a:solidFill>
              <a:effectLst/>
              <a:uFillTx/>
              <a:latin typeface="Consolas" panose="020B0609020204030204" pitchFamily="49" charset="0"/>
              <a:sym typeface="Helvetica Neue"/>
            </a:endParaRPr>
          </a:p>
        </p:txBody>
      </p:sp>
      <p:sp>
        <p:nvSpPr>
          <p:cNvPr id="27" name="文本框 26">
            <a:extLst>
              <a:ext uri="{FF2B5EF4-FFF2-40B4-BE49-F238E27FC236}">
                <a16:creationId xmlns:a16="http://schemas.microsoft.com/office/drawing/2014/main" id="{172850E8-314D-800C-3EB4-C84907E1C345}"/>
              </a:ext>
            </a:extLst>
          </p:cNvPr>
          <p:cNvSpPr txBox="1"/>
          <p:nvPr/>
        </p:nvSpPr>
        <p:spPr>
          <a:xfrm>
            <a:off x="525463" y="6846744"/>
            <a:ext cx="299762" cy="619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lang="en-US" altLang="zh-CN" sz="2800" dirty="0" err="1">
                <a:solidFill>
                  <a:srgbClr val="00B050"/>
                </a:solidFill>
                <a:latin typeface="Consolas" panose="020B0609020204030204" pitchFamily="49" charset="0"/>
              </a:rPr>
              <a:t>i</a:t>
            </a:r>
            <a:endParaRPr kumimoji="0" lang="zh-CN" altLang="en-US" sz="2800" u="none" strike="noStrike" cap="none" spc="0" normalizeH="0" baseline="0" dirty="0">
              <a:ln>
                <a:noFill/>
              </a:ln>
              <a:solidFill>
                <a:srgbClr val="00B050"/>
              </a:solidFill>
              <a:effectLst/>
              <a:uFillTx/>
              <a:latin typeface="Consolas" panose="020B0609020204030204" pitchFamily="49" charset="0"/>
              <a:sym typeface="Helvetica Neue"/>
            </a:endParaRPr>
          </a:p>
        </p:txBody>
      </p:sp>
      <p:sp>
        <p:nvSpPr>
          <p:cNvPr id="28" name="文本框 27">
            <a:extLst>
              <a:ext uri="{FF2B5EF4-FFF2-40B4-BE49-F238E27FC236}">
                <a16:creationId xmlns:a16="http://schemas.microsoft.com/office/drawing/2014/main" id="{F2D78D15-70E2-7205-CBA0-B92015760EFF}"/>
              </a:ext>
            </a:extLst>
          </p:cNvPr>
          <p:cNvSpPr txBox="1"/>
          <p:nvPr/>
        </p:nvSpPr>
        <p:spPr>
          <a:xfrm>
            <a:off x="525463" y="8033942"/>
            <a:ext cx="1679947" cy="619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lang="en-US" altLang="zh-CN" sz="2800" dirty="0" err="1">
                <a:solidFill>
                  <a:srgbClr val="00B050"/>
                </a:solidFill>
                <a:highlight>
                  <a:srgbClr val="FFFF00"/>
                </a:highlight>
                <a:latin typeface="Consolas" panose="020B0609020204030204" pitchFamily="49" charset="0"/>
              </a:rPr>
              <a:t>i</a:t>
            </a:r>
            <a:r>
              <a:rPr lang="en-US" altLang="zh-CN" sz="2800" dirty="0">
                <a:solidFill>
                  <a:srgbClr val="00B050"/>
                </a:solidFill>
                <a:highlight>
                  <a:srgbClr val="FFFF00"/>
                </a:highlight>
                <a:latin typeface="Consolas" panose="020B0609020204030204" pitchFamily="49" charset="0"/>
              </a:rPr>
              <a:t>&amp;(1&lt;&lt;m)</a:t>
            </a:r>
            <a:endParaRPr kumimoji="0" lang="zh-CN" altLang="en-US" sz="2800" u="none" strike="noStrike" cap="none" spc="0" normalizeH="0" baseline="0" dirty="0">
              <a:ln>
                <a:noFill/>
              </a:ln>
              <a:solidFill>
                <a:srgbClr val="00B050"/>
              </a:solidFill>
              <a:effectLst/>
              <a:highlight>
                <a:srgbClr val="FFFF00"/>
              </a:highlight>
              <a:uFillTx/>
              <a:latin typeface="Consolas" panose="020B0609020204030204" pitchFamily="49" charset="0"/>
              <a:sym typeface="Helvetica Neue"/>
            </a:endParaRPr>
          </a:p>
        </p:txBody>
      </p:sp>
      <p:cxnSp>
        <p:nvCxnSpPr>
          <p:cNvPr id="30" name="直接箭头连接符 29">
            <a:extLst>
              <a:ext uri="{FF2B5EF4-FFF2-40B4-BE49-F238E27FC236}">
                <a16:creationId xmlns:a16="http://schemas.microsoft.com/office/drawing/2014/main" id="{0F94DDCA-B4D4-B225-7FF2-50DF14231365}"/>
              </a:ext>
            </a:extLst>
          </p:cNvPr>
          <p:cNvCxnSpPr>
            <a:cxnSpLocks/>
            <a:endCxn id="11" idx="1"/>
          </p:cNvCxnSpPr>
          <p:nvPr/>
        </p:nvCxnSpPr>
        <p:spPr>
          <a:xfrm>
            <a:off x="1891154" y="5432003"/>
            <a:ext cx="950412" cy="341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1" name="直接箭头连接符 30">
            <a:extLst>
              <a:ext uri="{FF2B5EF4-FFF2-40B4-BE49-F238E27FC236}">
                <a16:creationId xmlns:a16="http://schemas.microsoft.com/office/drawing/2014/main" id="{9055B130-F155-20EF-5A92-857D03C4C179}"/>
              </a:ext>
            </a:extLst>
          </p:cNvPr>
          <p:cNvCxnSpPr>
            <a:cxnSpLocks/>
            <a:endCxn id="14" idx="1"/>
          </p:cNvCxnSpPr>
          <p:nvPr/>
        </p:nvCxnSpPr>
        <p:spPr>
          <a:xfrm>
            <a:off x="1547311" y="6515659"/>
            <a:ext cx="1294255" cy="390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2" name="直接箭头连接符 31">
            <a:extLst>
              <a:ext uri="{FF2B5EF4-FFF2-40B4-BE49-F238E27FC236}">
                <a16:creationId xmlns:a16="http://schemas.microsoft.com/office/drawing/2014/main" id="{CF1544B9-34FC-8A1A-215A-C3139DD3DAA9}"/>
              </a:ext>
            </a:extLst>
          </p:cNvPr>
          <p:cNvCxnSpPr>
            <a:cxnSpLocks/>
          </p:cNvCxnSpPr>
          <p:nvPr/>
        </p:nvCxnSpPr>
        <p:spPr>
          <a:xfrm flipV="1">
            <a:off x="989036" y="7202723"/>
            <a:ext cx="1851934" cy="679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3" name="直接箭头连接符 32">
            <a:extLst>
              <a:ext uri="{FF2B5EF4-FFF2-40B4-BE49-F238E27FC236}">
                <a16:creationId xmlns:a16="http://schemas.microsoft.com/office/drawing/2014/main" id="{5530A958-DD60-C389-2428-8F05A5783E39}"/>
              </a:ext>
            </a:extLst>
          </p:cNvPr>
          <p:cNvCxnSpPr/>
          <p:nvPr/>
        </p:nvCxnSpPr>
        <p:spPr>
          <a:xfrm>
            <a:off x="2151951" y="8343770"/>
            <a:ext cx="68901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9" name="文本框 38">
            <a:extLst>
              <a:ext uri="{FF2B5EF4-FFF2-40B4-BE49-F238E27FC236}">
                <a16:creationId xmlns:a16="http://schemas.microsoft.com/office/drawing/2014/main" id="{70CEA6B7-5AF2-DD0F-0DAF-49DC76650093}"/>
              </a:ext>
            </a:extLst>
          </p:cNvPr>
          <p:cNvSpPr txBox="1"/>
          <p:nvPr/>
        </p:nvSpPr>
        <p:spPr>
          <a:xfrm>
            <a:off x="8577386" y="8806346"/>
            <a:ext cx="251350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zh-CN" altLang="en-US" sz="2000" u="none" strike="noStrike" cap="none" spc="0" normalizeH="0" baseline="0">
                <a:ln>
                  <a:noFill/>
                </a:ln>
                <a:solidFill>
                  <a:srgbClr val="000000"/>
                </a:solidFill>
                <a:effectLst/>
                <a:uFillTx/>
                <a:latin typeface="Consolas" panose="020B0609020204030204" pitchFamily="49" charset="0"/>
                <a:sym typeface="Helvetica Neue"/>
              </a:rPr>
              <a:t>此处 </a:t>
            </a:r>
            <a:r>
              <a:rPr kumimoji="0" lang="en-US" altLang="zh-CN" sz="2000" u="none" strike="noStrike" cap="none" spc="0" normalizeH="0" baseline="0">
                <a:ln>
                  <a:noFill/>
                </a:ln>
                <a:solidFill>
                  <a:srgbClr val="000000"/>
                </a:solidFill>
                <a:effectLst/>
                <a:uFillTx/>
                <a:latin typeface="Consolas" panose="020B0609020204030204" pitchFamily="49" charset="0"/>
                <a:sym typeface="Helvetica Neue"/>
              </a:rPr>
              <a:t>X</a:t>
            </a:r>
            <a:r>
              <a:rPr lang="en-US" altLang="zh-CN" sz="2000">
                <a:latin typeface="Consolas" panose="020B0609020204030204" pitchFamily="49" charset="0"/>
              </a:rPr>
              <a:t> </a:t>
            </a:r>
            <a:r>
              <a:rPr lang="zh-CN" altLang="en-US" sz="2000">
                <a:latin typeface="Consolas" panose="020B0609020204030204" pitchFamily="49" charset="0"/>
              </a:rPr>
              <a:t>表示</a:t>
            </a:r>
            <a:r>
              <a:rPr kumimoji="0" lang="en-US" altLang="zh-CN" sz="2000" u="none" strike="noStrike" cap="none" spc="0" normalizeH="0" baseline="0">
                <a:ln>
                  <a:noFill/>
                </a:ln>
                <a:solidFill>
                  <a:srgbClr val="000000"/>
                </a:solidFill>
                <a:effectLst/>
                <a:uFillTx/>
                <a:latin typeface="Consolas" panose="020B0609020204030204" pitchFamily="49" charset="0"/>
                <a:sym typeface="Helvetica Neue"/>
              </a:rPr>
              <a:t> 0 </a:t>
            </a:r>
            <a:r>
              <a:rPr lang="zh-CN" altLang="en-US" sz="2000">
                <a:latin typeface="Consolas" panose="020B0609020204030204" pitchFamily="49" charset="0"/>
              </a:rPr>
              <a:t>或</a:t>
            </a:r>
            <a:r>
              <a:rPr kumimoji="0" lang="en-US" altLang="zh-CN" sz="2000" u="none" strike="noStrike" cap="none" spc="0" normalizeH="0" baseline="0">
                <a:ln>
                  <a:noFill/>
                </a:ln>
                <a:solidFill>
                  <a:srgbClr val="000000"/>
                </a:solidFill>
                <a:effectLst/>
                <a:uFillTx/>
                <a:latin typeface="Consolas" panose="020B0609020204030204" pitchFamily="49" charset="0"/>
                <a:sym typeface="Helvetica Neue"/>
              </a:rPr>
              <a:t> </a:t>
            </a:r>
            <a:r>
              <a:rPr kumimoji="0" lang="en-US" altLang="zh-CN" sz="2000" u="none" strike="noStrike" cap="none" spc="0" normalizeH="0" baseline="0" dirty="0">
                <a:ln>
                  <a:noFill/>
                </a:ln>
                <a:solidFill>
                  <a:srgbClr val="000000"/>
                </a:solidFill>
                <a:effectLst/>
                <a:uFillTx/>
                <a:latin typeface="Consolas" panose="020B0609020204030204" pitchFamily="49" charset="0"/>
                <a:sym typeface="Helvetica Neue"/>
              </a:rPr>
              <a:t>1</a:t>
            </a:r>
            <a:endParaRPr kumimoji="0" lang="zh-CN" altLang="en-US" sz="2000" u="none" strike="noStrike" cap="none" spc="0" normalizeH="0" baseline="0" dirty="0">
              <a:ln>
                <a:noFill/>
              </a:ln>
              <a:solidFill>
                <a:srgbClr val="000000"/>
              </a:solidFill>
              <a:effectLst/>
              <a:uFillTx/>
              <a:latin typeface="Consolas" panose="020B0609020204030204" pitchFamily="49" charset="0"/>
              <a:sym typeface="Helvetica Neue"/>
            </a:endParaRPr>
          </a:p>
        </p:txBody>
      </p:sp>
      <p:cxnSp>
        <p:nvCxnSpPr>
          <p:cNvPr id="6" name="直接箭头连接符 5">
            <a:extLst>
              <a:ext uri="{FF2B5EF4-FFF2-40B4-BE49-F238E27FC236}">
                <a16:creationId xmlns:a16="http://schemas.microsoft.com/office/drawing/2014/main" id="{16C29B28-9481-4D51-1FCB-3D6B98C7D287}"/>
              </a:ext>
            </a:extLst>
          </p:cNvPr>
          <p:cNvCxnSpPr/>
          <p:nvPr/>
        </p:nvCxnSpPr>
        <p:spPr>
          <a:xfrm flipH="1">
            <a:off x="8831580" y="6166599"/>
            <a:ext cx="3467100" cy="0"/>
          </a:xfrm>
          <a:prstGeom prst="straightConnector1">
            <a:avLst/>
          </a:prstGeom>
          <a:noFill/>
          <a:ln w="5715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11959964"/>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62</a:t>
            </a:fld>
            <a:endParaRPr/>
          </a:p>
        </p:txBody>
      </p:sp>
      <p:sp>
        <p:nvSpPr>
          <p:cNvPr id="2" name="矩形 1">
            <a:extLst>
              <a:ext uri="{FF2B5EF4-FFF2-40B4-BE49-F238E27FC236}">
                <a16:creationId xmlns:a16="http://schemas.microsoft.com/office/drawing/2014/main" id="{24A1BBD6-7741-4E47-AEE1-84FDE8B02936}"/>
              </a:ext>
            </a:extLst>
          </p:cNvPr>
          <p:cNvSpPr/>
          <p:nvPr/>
        </p:nvSpPr>
        <p:spPr>
          <a:xfrm>
            <a:off x="619759" y="2226608"/>
            <a:ext cx="11768185" cy="7294305"/>
          </a:xfrm>
          <a:prstGeom prst="rect">
            <a:avLst/>
          </a:prstGeom>
        </p:spPr>
        <p:txBody>
          <a:bodyPr wrap="square">
            <a:spAutoFit/>
          </a:bodyPr>
          <a:lstStyle/>
          <a:p>
            <a:pPr algn="l">
              <a:lnSpc>
                <a:spcPct val="120000"/>
              </a:lnSpc>
            </a:pPr>
            <a:r>
              <a:rPr lang="zh-CN" altLang="en-US" sz="2800">
                <a:solidFill>
                  <a:srgbClr val="0070C0"/>
                </a:solidFill>
                <a:latin typeface="Consolas" panose="020B0609020204030204" pitchFamily="49" charset="0"/>
              </a:rPr>
              <a:t>#include &lt;iostream&gt;</a:t>
            </a:r>
          </a:p>
          <a:p>
            <a:pPr algn="l">
              <a:lnSpc>
                <a:spcPct val="120000"/>
              </a:lnSpc>
            </a:pPr>
            <a:r>
              <a:rPr lang="zh-CN" altLang="en-US" sz="2800">
                <a:solidFill>
                  <a:srgbClr val="0070C0"/>
                </a:solidFill>
                <a:latin typeface="Consolas" panose="020B0609020204030204" pitchFamily="49" charset="0"/>
              </a:rPr>
              <a:t>using namespace std;</a:t>
            </a:r>
          </a:p>
          <a:p>
            <a:pPr algn="l">
              <a:lnSpc>
                <a:spcPct val="120000"/>
              </a:lnSpc>
            </a:pPr>
            <a:endParaRPr lang="zh-CN" altLang="en-US" sz="2800">
              <a:solidFill>
                <a:srgbClr val="0070C0"/>
              </a:solidFill>
              <a:latin typeface="Consolas" panose="020B0609020204030204" pitchFamily="49" charset="0"/>
            </a:endParaRPr>
          </a:p>
          <a:p>
            <a:pPr algn="l">
              <a:lnSpc>
                <a:spcPct val="120000"/>
              </a:lnSpc>
            </a:pPr>
            <a:r>
              <a:rPr lang="zh-CN" altLang="en-US" sz="2800">
                <a:solidFill>
                  <a:srgbClr val="0070C0"/>
                </a:solidFill>
                <a:latin typeface="Consolas" panose="020B0609020204030204" pitchFamily="49" charset="0"/>
              </a:rPr>
              <a:t>int main() </a:t>
            </a:r>
          </a:p>
          <a:p>
            <a:pPr algn="l">
              <a:lnSpc>
                <a:spcPct val="120000"/>
              </a:lnSpc>
            </a:pPr>
            <a:r>
              <a:rPr lang="zh-CN" altLang="en-US" sz="2800">
                <a:solidFill>
                  <a:srgbClr val="0070C0"/>
                </a:solidFill>
                <a:latin typeface="Consolas" panose="020B0609020204030204" pitchFamily="49" charset="0"/>
              </a:rPr>
              <a:t>{</a:t>
            </a:r>
          </a:p>
          <a:p>
            <a:pPr algn="l">
              <a:lnSpc>
                <a:spcPct val="120000"/>
              </a:lnSpc>
            </a:pPr>
            <a:r>
              <a:rPr lang="zh-CN" altLang="en-US" sz="2800">
                <a:solidFill>
                  <a:srgbClr val="0070C0"/>
                </a:solidFill>
                <a:latin typeface="Consolas" panose="020B0609020204030204" pitchFamily="49" charset="0"/>
              </a:rPr>
              <a:t>    for (int m=0; m&lt;7; m++)</a:t>
            </a:r>
          </a:p>
          <a:p>
            <a:pPr algn="l">
              <a:lnSpc>
                <a:spcPct val="120000"/>
              </a:lnSpc>
            </a:pPr>
            <a:r>
              <a:rPr lang="zh-CN" altLang="en-US" sz="2800">
                <a:solidFill>
                  <a:srgbClr val="0070C0"/>
                </a:solidFill>
                <a:latin typeface="Consolas" panose="020B0609020204030204" pitchFamily="49" charset="0"/>
              </a:rPr>
              <a:t>    {</a:t>
            </a:r>
          </a:p>
          <a:p>
            <a:pPr algn="l">
              <a:lnSpc>
                <a:spcPct val="120000"/>
              </a:lnSpc>
            </a:pPr>
            <a:r>
              <a:rPr lang="zh-CN" altLang="en-US" sz="2800">
                <a:solidFill>
                  <a:srgbClr val="0070C0"/>
                </a:solidFill>
                <a:latin typeface="Consolas" panose="020B0609020204030204" pitchFamily="49" charset="0"/>
              </a:rPr>
              <a:t>        cout &lt;&lt; "CARD " &lt;&lt; m &lt;&lt; endl;</a:t>
            </a:r>
            <a:r>
              <a:rPr lang="en-US" altLang="zh-CN" sz="2800" b="0">
                <a:solidFill>
                  <a:srgbClr val="00B050"/>
                </a:solidFill>
                <a:latin typeface="Consolas" panose="020B0609020204030204" pitchFamily="49" charset="0"/>
              </a:rPr>
              <a:t>  /// </a:t>
            </a:r>
            <a:r>
              <a:rPr lang="zh-CN" altLang="en-US" sz="2800" b="0">
                <a:solidFill>
                  <a:srgbClr val="00B050"/>
                </a:solidFill>
                <a:latin typeface="Consolas" panose="020B0609020204030204" pitchFamily="49" charset="0"/>
              </a:rPr>
              <a:t>输出卡片编号</a:t>
            </a:r>
            <a:endParaRPr lang="zh-CN" altLang="en-US" sz="2800">
              <a:solidFill>
                <a:srgbClr val="0070C0"/>
              </a:solidFill>
              <a:latin typeface="Consolas" panose="020B0609020204030204" pitchFamily="49" charset="0"/>
            </a:endParaRPr>
          </a:p>
          <a:p>
            <a:pPr algn="l">
              <a:lnSpc>
                <a:spcPct val="120000"/>
              </a:lnSpc>
            </a:pPr>
            <a:r>
              <a:rPr lang="zh-CN" altLang="en-US" sz="2800">
                <a:solidFill>
                  <a:srgbClr val="0070C0"/>
                </a:solidFill>
                <a:latin typeface="Consolas" panose="020B0609020204030204" pitchFamily="49" charset="0"/>
              </a:rPr>
              <a:t>        </a:t>
            </a:r>
            <a:r>
              <a:rPr lang="zh-CN" altLang="en-US" sz="2800">
                <a:solidFill>
                  <a:schemeClr val="accent6">
                    <a:lumMod val="75000"/>
                  </a:schemeClr>
                </a:solidFill>
                <a:latin typeface="Consolas" panose="020B0609020204030204" pitchFamily="49" charset="0"/>
              </a:rPr>
              <a:t>for (int i = 1; i &lt;= 100; i++) </a:t>
            </a:r>
            <a:r>
              <a:rPr lang="en-US" altLang="zh-CN" sz="2800" b="0">
                <a:solidFill>
                  <a:srgbClr val="00B050"/>
                </a:solidFill>
                <a:latin typeface="Consolas" panose="020B0609020204030204" pitchFamily="49" charset="0"/>
              </a:rPr>
              <a:t>/// </a:t>
            </a:r>
            <a:r>
              <a:rPr lang="zh-CN" altLang="en-US" sz="2800" b="0">
                <a:solidFill>
                  <a:srgbClr val="00B050"/>
                </a:solidFill>
                <a:latin typeface="Consolas" panose="020B0609020204030204" pitchFamily="49" charset="0"/>
              </a:rPr>
              <a:t>获得指定位置</a:t>
            </a:r>
            <a:r>
              <a:rPr lang="en-US" altLang="zh-CN" sz="2800" b="0">
                <a:solidFill>
                  <a:srgbClr val="00B050"/>
                </a:solidFill>
                <a:latin typeface="Consolas" panose="020B0609020204030204" pitchFamily="49" charset="0"/>
              </a:rPr>
              <a:t>bit</a:t>
            </a:r>
            <a:r>
              <a:rPr lang="zh-CN" altLang="en-US" sz="2800" b="0">
                <a:solidFill>
                  <a:srgbClr val="00B050"/>
                </a:solidFill>
                <a:latin typeface="Consolas" panose="020B0609020204030204" pitchFamily="49" charset="0"/>
              </a:rPr>
              <a:t>值</a:t>
            </a:r>
            <a:endParaRPr lang="zh-CN" altLang="en-US" sz="2800">
              <a:solidFill>
                <a:schemeClr val="accent6">
                  <a:lumMod val="75000"/>
                </a:schemeClr>
              </a:solidFill>
              <a:latin typeface="Consolas" panose="020B0609020204030204" pitchFamily="49" charset="0"/>
            </a:endParaRPr>
          </a:p>
          <a:p>
            <a:pPr algn="l">
              <a:lnSpc>
                <a:spcPct val="120000"/>
              </a:lnSpc>
            </a:pPr>
            <a:r>
              <a:rPr lang="zh-CN" altLang="en-US" sz="2800">
                <a:solidFill>
                  <a:schemeClr val="accent6">
                    <a:lumMod val="75000"/>
                  </a:schemeClr>
                </a:solidFill>
                <a:latin typeface="Consolas" panose="020B0609020204030204" pitchFamily="49" charset="0"/>
              </a:rPr>
              <a:t>            </a:t>
            </a:r>
            <a:r>
              <a:rPr lang="zh-CN" altLang="en-US" sz="2800">
                <a:solidFill>
                  <a:schemeClr val="accent6">
                    <a:lumMod val="75000"/>
                  </a:schemeClr>
                </a:solidFill>
                <a:highlight>
                  <a:srgbClr val="FFFF00"/>
                </a:highlight>
                <a:latin typeface="Consolas" panose="020B0609020204030204" pitchFamily="49" charset="0"/>
              </a:rPr>
              <a:t>if (i &amp; (1 &lt;&lt; m)) cout &lt;&lt; i &lt;&lt; ' ';</a:t>
            </a:r>
          </a:p>
          <a:p>
            <a:pPr algn="l">
              <a:lnSpc>
                <a:spcPct val="120000"/>
              </a:lnSpc>
            </a:pPr>
            <a:r>
              <a:rPr lang="zh-CN" altLang="en-US" sz="2800">
                <a:solidFill>
                  <a:srgbClr val="0070C0"/>
                </a:solidFill>
                <a:latin typeface="Consolas" panose="020B0609020204030204" pitchFamily="49" charset="0"/>
              </a:rPr>
              <a:t>        cout &lt;&lt; endl &lt;&lt; endl; </a:t>
            </a:r>
            <a:r>
              <a:rPr lang="en-US" altLang="zh-CN" sz="2800" b="0">
                <a:solidFill>
                  <a:srgbClr val="00B050"/>
                </a:solidFill>
                <a:latin typeface="Consolas" panose="020B0609020204030204" pitchFamily="49" charset="0"/>
              </a:rPr>
              <a:t>/// </a:t>
            </a:r>
            <a:r>
              <a:rPr lang="zh-CN" altLang="en-US" sz="2800" b="0">
                <a:solidFill>
                  <a:srgbClr val="00B050"/>
                </a:solidFill>
                <a:latin typeface="Consolas" panose="020B0609020204030204" pitchFamily="49" charset="0"/>
              </a:rPr>
              <a:t>每张卡片输出之间空一行</a:t>
            </a:r>
          </a:p>
          <a:p>
            <a:pPr algn="l">
              <a:lnSpc>
                <a:spcPct val="120000"/>
              </a:lnSpc>
            </a:pPr>
            <a:r>
              <a:rPr lang="zh-CN" altLang="en-US" sz="2800">
                <a:solidFill>
                  <a:srgbClr val="0070C0"/>
                </a:solidFill>
                <a:latin typeface="Consolas" panose="020B0609020204030204" pitchFamily="49" charset="0"/>
              </a:rPr>
              <a:t>    }</a:t>
            </a:r>
          </a:p>
          <a:p>
            <a:pPr algn="l">
              <a:lnSpc>
                <a:spcPct val="120000"/>
              </a:lnSpc>
            </a:pPr>
            <a:r>
              <a:rPr lang="zh-CN" altLang="en-US" sz="2800">
                <a:solidFill>
                  <a:srgbClr val="0070C0"/>
                </a:solidFill>
                <a:latin typeface="Consolas" panose="020B0609020204030204" pitchFamily="49" charset="0"/>
              </a:rPr>
              <a:t>    return 0;</a:t>
            </a:r>
          </a:p>
          <a:p>
            <a:pPr algn="l">
              <a:lnSpc>
                <a:spcPct val="120000"/>
              </a:lnSpc>
            </a:pPr>
            <a:r>
              <a:rPr lang="zh-CN" altLang="en-US" sz="2800">
                <a:solidFill>
                  <a:srgbClr val="0070C0"/>
                </a:solidFill>
                <a:latin typeface="Consolas" panose="020B0609020204030204" pitchFamily="49" charset="0"/>
              </a:rPr>
              <a:t>} </a:t>
            </a:r>
            <a:r>
              <a:rPr lang="en-US" altLang="zh-CN" sz="2800">
                <a:solidFill>
                  <a:srgbClr val="00B050"/>
                </a:solidFill>
                <a:latin typeface="Consolas" panose="020B0609020204030204" pitchFamily="49" charset="0"/>
              </a:rPr>
              <a:t>// L03-05.cpp</a:t>
            </a:r>
            <a:endParaRPr lang="zh-CN" altLang="en-US" sz="2800">
              <a:solidFill>
                <a:srgbClr val="00B050"/>
              </a:solidFill>
              <a:latin typeface="Consolas" panose="020B0609020204030204" pitchFamily="49" charset="0"/>
            </a:endParaRPr>
          </a:p>
        </p:txBody>
      </p:sp>
      <p:sp>
        <p:nvSpPr>
          <p:cNvPr id="8" name="【任务3.2】谁做的坏事？">
            <a:extLst>
              <a:ext uri="{FF2B5EF4-FFF2-40B4-BE49-F238E27FC236}">
                <a16:creationId xmlns:a16="http://schemas.microsoft.com/office/drawing/2014/main" id="{D490827D-7E57-4FE5-B62D-70E5D039FEA8}"/>
              </a:ext>
            </a:extLst>
          </p:cNvPr>
          <p:cNvSpPr>
            <a:spLocks noGrp="1"/>
          </p:cNvSpPr>
          <p:nvPr>
            <p:ph type="title"/>
          </p:nvPr>
        </p:nvSpPr>
        <p:spPr>
          <a:xfrm>
            <a:off x="547200" y="354125"/>
            <a:ext cx="10255993" cy="1152045"/>
          </a:xfrm>
          <a:prstGeom prst="rect">
            <a:avLst/>
          </a:prstGeom>
        </p:spPr>
        <p:txBody>
          <a:bodyPr/>
          <a:lstStyle/>
          <a:p>
            <a:r>
              <a:rPr lang="zh-CN" altLang="en-US"/>
              <a:t>程序设计策略：自顶向下，逐步求精</a:t>
            </a:r>
            <a:endParaRPr/>
          </a:p>
        </p:txBody>
      </p:sp>
      <p:sp>
        <p:nvSpPr>
          <p:cNvPr id="6" name="【任务3.2】谁做的坏事？">
            <a:extLst>
              <a:ext uri="{FF2B5EF4-FFF2-40B4-BE49-F238E27FC236}">
                <a16:creationId xmlns:a16="http://schemas.microsoft.com/office/drawing/2014/main" id="{41149763-48C4-4B56-A9F2-1721AF9690F1}"/>
              </a:ext>
            </a:extLst>
          </p:cNvPr>
          <p:cNvSpPr txBox="1">
            <a:spLocks/>
          </p:cNvSpPr>
          <p:nvPr/>
        </p:nvSpPr>
        <p:spPr>
          <a:xfrm>
            <a:off x="5675196" y="2032000"/>
            <a:ext cx="5370060" cy="2133918"/>
          </a:xfrm>
          <a:prstGeom prst="rect">
            <a:avLst/>
          </a:prstGeom>
          <a:noFill/>
          <a:ln w="12700" cap="flat">
            <a:noFill/>
            <a:miter lim="400000"/>
          </a:ln>
          <a:effectLst>
            <a:outerShdw blurRad="50800" dist="38100" dir="2700000" algn="tl" rotWithShape="0">
              <a:prstClr val="black">
                <a:alpha val="40000"/>
              </a:prstClr>
            </a:outerShdw>
          </a:effectLst>
          <a:sp3d/>
          <a:extLst>
            <a:ext uri="{C572A759-6A51-4108-AA02-DFA0A04FC94B}">
              <ma14:wrappingTextBoxFlag xmlns:ma14="http://schemas.microsoft.com/office/mac/drawingml/2011/main" xmlns:a14="http://schemas.microsoft.com/office/drawing/2010/main" xmlns:m="http://schemas.openxmlformats.org/officeDocument/2006/math" xmlns="" val="1"/>
            </a:ext>
          </a:ex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4400"/>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l">
              <a:lnSpc>
                <a:spcPct val="150000"/>
              </a:lnSpc>
            </a:pPr>
            <a:r>
              <a:rPr lang="zh-CN" altLang="en-US"/>
              <a:t>逐步求精：</a:t>
            </a:r>
            <a:endParaRPr lang="en-US" altLang="zh-CN"/>
          </a:p>
          <a:p>
            <a:pPr algn="l">
              <a:lnSpc>
                <a:spcPct val="150000"/>
              </a:lnSpc>
            </a:pPr>
            <a:r>
              <a:rPr lang="en-US" altLang="zh-CN"/>
              <a:t>6. </a:t>
            </a:r>
            <a:r>
              <a:rPr lang="zh-CN" altLang="en-US"/>
              <a:t>获得指定位置</a:t>
            </a:r>
            <a:r>
              <a:rPr lang="en-US" altLang="zh-CN"/>
              <a:t>bit</a:t>
            </a:r>
            <a:r>
              <a:rPr lang="zh-CN" altLang="en-US"/>
              <a:t>值</a:t>
            </a:r>
          </a:p>
        </p:txBody>
      </p:sp>
    </p:spTree>
    <p:extLst>
      <p:ext uri="{BB962C8B-B14F-4D97-AF65-F5344CB8AC3E}">
        <p14:creationId xmlns:p14="http://schemas.microsoft.com/office/powerpoint/2010/main" val="4131092280"/>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F57EF81-27FD-4914-B943-7992307E532F}"/>
              </a:ext>
            </a:extLst>
          </p:cNvPr>
          <p:cNvSpPr/>
          <p:nvPr/>
        </p:nvSpPr>
        <p:spPr>
          <a:xfrm>
            <a:off x="785446" y="1558788"/>
            <a:ext cx="11433908" cy="7848302"/>
          </a:xfrm>
          <a:prstGeom prst="rect">
            <a:avLst/>
          </a:prstGeom>
        </p:spPr>
        <p:txBody>
          <a:bodyPr wrap="square">
            <a:spAutoFit/>
          </a:bodyPr>
          <a:lstStyle/>
          <a:p>
            <a:pPr algn="just"/>
            <a:r>
              <a:rPr lang="zh-CN" altLang="en-US" sz="1800">
                <a:solidFill>
                  <a:srgbClr val="002060"/>
                </a:solidFill>
                <a:latin typeface="Consolas" panose="020B0609020204030204" pitchFamily="49" charset="0"/>
              </a:rPr>
              <a:t>CARD 0</a:t>
            </a:r>
          </a:p>
          <a:p>
            <a:pPr algn="just"/>
            <a:r>
              <a:rPr lang="zh-CN" altLang="en-US" sz="1800">
                <a:solidFill>
                  <a:srgbClr val="002060"/>
                </a:solidFill>
                <a:latin typeface="Consolas" panose="020B0609020204030204" pitchFamily="49" charset="0"/>
              </a:rPr>
              <a:t>1 3 5 7 9 11 13 15 17 19 21 23 25 27 29 31 33 35 37 39 41 43 45 47 49 51 53 55 57 59 61 63 65 67 69 71 73 75 77 79 81 83 85 87 89 91 93 95 97 99</a:t>
            </a:r>
          </a:p>
          <a:p>
            <a:pPr algn="just"/>
            <a:endParaRPr lang="zh-CN" altLang="en-US" sz="1800">
              <a:solidFill>
                <a:srgbClr val="002060"/>
              </a:solidFill>
              <a:latin typeface="Consolas" panose="020B0609020204030204" pitchFamily="49" charset="0"/>
            </a:endParaRPr>
          </a:p>
          <a:p>
            <a:pPr algn="just"/>
            <a:r>
              <a:rPr lang="zh-CN" altLang="en-US" sz="1800">
                <a:solidFill>
                  <a:srgbClr val="002060"/>
                </a:solidFill>
                <a:latin typeface="Consolas" panose="020B0609020204030204" pitchFamily="49" charset="0"/>
              </a:rPr>
              <a:t>CARD 1</a:t>
            </a:r>
          </a:p>
          <a:p>
            <a:pPr algn="just"/>
            <a:r>
              <a:rPr lang="zh-CN" altLang="en-US" sz="1800">
                <a:solidFill>
                  <a:srgbClr val="002060"/>
                </a:solidFill>
                <a:latin typeface="Consolas" panose="020B0609020204030204" pitchFamily="49" charset="0"/>
              </a:rPr>
              <a:t>2 3 6 7 10 11 14 15 18 19 22 23 26 27 30 31 34 35 38 39 42 43 46 47 50 51 54 55 58 59 62 63 66 67 70 71 74 75 78 79 82 83 86 87 90 91 94 95 98 99</a:t>
            </a:r>
          </a:p>
          <a:p>
            <a:pPr algn="just"/>
            <a:endParaRPr lang="zh-CN" altLang="en-US" sz="1800">
              <a:solidFill>
                <a:srgbClr val="002060"/>
              </a:solidFill>
              <a:latin typeface="Consolas" panose="020B0609020204030204" pitchFamily="49" charset="0"/>
            </a:endParaRPr>
          </a:p>
          <a:p>
            <a:pPr algn="just"/>
            <a:r>
              <a:rPr lang="zh-CN" altLang="en-US" sz="1800">
                <a:solidFill>
                  <a:srgbClr val="002060"/>
                </a:solidFill>
                <a:latin typeface="Consolas" panose="020B0609020204030204" pitchFamily="49" charset="0"/>
              </a:rPr>
              <a:t>CARD 2</a:t>
            </a:r>
          </a:p>
          <a:p>
            <a:pPr algn="just"/>
            <a:r>
              <a:rPr lang="zh-CN" altLang="en-US" sz="1800">
                <a:solidFill>
                  <a:srgbClr val="002060"/>
                </a:solidFill>
                <a:latin typeface="Consolas" panose="020B0609020204030204" pitchFamily="49" charset="0"/>
              </a:rPr>
              <a:t>4 5 6 7 12 13 14 15 20 21 22 23 28 29 30 31 36 37 38 39 44 45 46 47 52 53 54 55 60 61 62 63 68 69 70 71 76 77 78 79 84 85 86 87 92 93 94 95 100</a:t>
            </a:r>
          </a:p>
          <a:p>
            <a:pPr algn="just"/>
            <a:endParaRPr lang="zh-CN" altLang="en-US" sz="1800">
              <a:solidFill>
                <a:srgbClr val="002060"/>
              </a:solidFill>
              <a:latin typeface="Consolas" panose="020B0609020204030204" pitchFamily="49" charset="0"/>
            </a:endParaRPr>
          </a:p>
          <a:p>
            <a:pPr algn="just"/>
            <a:r>
              <a:rPr lang="zh-CN" altLang="en-US" sz="1800">
                <a:solidFill>
                  <a:srgbClr val="002060"/>
                </a:solidFill>
                <a:latin typeface="Consolas" panose="020B0609020204030204" pitchFamily="49" charset="0"/>
              </a:rPr>
              <a:t>CARD 3</a:t>
            </a:r>
          </a:p>
          <a:p>
            <a:pPr algn="just"/>
            <a:r>
              <a:rPr lang="zh-CN" altLang="en-US" sz="1800">
                <a:solidFill>
                  <a:srgbClr val="002060"/>
                </a:solidFill>
                <a:latin typeface="Consolas" panose="020B0609020204030204" pitchFamily="49" charset="0"/>
              </a:rPr>
              <a:t>8 9 10 11 12 13 14 15 24 25 26 27 28 29 30 31 40 41 42 43 44 45 46 47 56 57 58 59 60 61 62 63 72 73 74 75 76 77 78 79 88 89 90 91 92 93 94 95</a:t>
            </a:r>
          </a:p>
          <a:p>
            <a:pPr algn="just"/>
            <a:endParaRPr lang="zh-CN" altLang="en-US" sz="1800">
              <a:solidFill>
                <a:srgbClr val="002060"/>
              </a:solidFill>
              <a:latin typeface="Consolas" panose="020B0609020204030204" pitchFamily="49" charset="0"/>
            </a:endParaRPr>
          </a:p>
          <a:p>
            <a:pPr algn="just"/>
            <a:r>
              <a:rPr lang="zh-CN" altLang="en-US" sz="1800">
                <a:solidFill>
                  <a:srgbClr val="002060"/>
                </a:solidFill>
                <a:latin typeface="Consolas" panose="020B0609020204030204" pitchFamily="49" charset="0"/>
              </a:rPr>
              <a:t>CARD 4</a:t>
            </a:r>
          </a:p>
          <a:p>
            <a:pPr algn="just"/>
            <a:r>
              <a:rPr lang="zh-CN" altLang="en-US" sz="1800">
                <a:solidFill>
                  <a:srgbClr val="002060"/>
                </a:solidFill>
                <a:latin typeface="Consolas" panose="020B0609020204030204" pitchFamily="49" charset="0"/>
              </a:rPr>
              <a:t>16 17 18 19 20 21 22 23 24 25 26 27 28 29 30 31 48 49 50 51 52 53 54 55 56 57 58 59 60 61 62 63 80 81 82 83 84 85 86 87 88 89 90 91 92 93 94 95</a:t>
            </a:r>
          </a:p>
          <a:p>
            <a:pPr algn="just"/>
            <a:endParaRPr lang="zh-CN" altLang="en-US" sz="1800">
              <a:solidFill>
                <a:srgbClr val="002060"/>
              </a:solidFill>
              <a:latin typeface="Consolas" panose="020B0609020204030204" pitchFamily="49" charset="0"/>
            </a:endParaRPr>
          </a:p>
          <a:p>
            <a:pPr algn="just"/>
            <a:r>
              <a:rPr lang="zh-CN" altLang="en-US" sz="1800">
                <a:solidFill>
                  <a:srgbClr val="002060"/>
                </a:solidFill>
                <a:latin typeface="Consolas" panose="020B0609020204030204" pitchFamily="49" charset="0"/>
              </a:rPr>
              <a:t>CARD 5</a:t>
            </a:r>
          </a:p>
          <a:p>
            <a:pPr algn="just"/>
            <a:r>
              <a:rPr lang="zh-CN" altLang="en-US" sz="1800">
                <a:solidFill>
                  <a:srgbClr val="002060"/>
                </a:solidFill>
                <a:latin typeface="Consolas" panose="020B0609020204030204" pitchFamily="49" charset="0"/>
              </a:rPr>
              <a:t>32 33 34 35 36 37 38 39 40 41 42 43 44 45 46 47 48 49 50 51 52 53 54 55 56 57 58 59 60 61 62 63 96 97 98 99 100</a:t>
            </a:r>
          </a:p>
          <a:p>
            <a:pPr algn="just"/>
            <a:endParaRPr lang="zh-CN" altLang="en-US" sz="1800">
              <a:solidFill>
                <a:srgbClr val="002060"/>
              </a:solidFill>
              <a:latin typeface="Consolas" panose="020B0609020204030204" pitchFamily="49" charset="0"/>
            </a:endParaRPr>
          </a:p>
          <a:p>
            <a:pPr algn="just"/>
            <a:r>
              <a:rPr lang="zh-CN" altLang="en-US" sz="1800">
                <a:solidFill>
                  <a:srgbClr val="002060"/>
                </a:solidFill>
                <a:latin typeface="Consolas" panose="020B0609020204030204" pitchFamily="49" charset="0"/>
              </a:rPr>
              <a:t>CARD 6</a:t>
            </a:r>
          </a:p>
          <a:p>
            <a:pPr algn="just"/>
            <a:r>
              <a:rPr lang="zh-CN" altLang="en-US" sz="1800">
                <a:solidFill>
                  <a:srgbClr val="002060"/>
                </a:solidFill>
                <a:latin typeface="Consolas" panose="020B0609020204030204" pitchFamily="49" charset="0"/>
              </a:rPr>
              <a:t>64 65 66 67 68 69 70 71 72 73 74 75 76 77 78 79 80 81 82 83 84 85 86 87 88 89 90 91 92 93 94 95 96 97 98 99 100</a:t>
            </a:r>
          </a:p>
        </p:txBody>
      </p:sp>
      <p:sp>
        <p:nvSpPr>
          <p:cNvPr id="3" name="文本框 2">
            <a:extLst>
              <a:ext uri="{FF2B5EF4-FFF2-40B4-BE49-F238E27FC236}">
                <a16:creationId xmlns:a16="http://schemas.microsoft.com/office/drawing/2014/main" id="{AC76DC97-B8A9-4D7E-9D33-1253C14071C0}"/>
              </a:ext>
            </a:extLst>
          </p:cNvPr>
          <p:cNvSpPr txBox="1"/>
          <p:nvPr/>
        </p:nvSpPr>
        <p:spPr>
          <a:xfrm>
            <a:off x="785446" y="527491"/>
            <a:ext cx="4257576"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3600" b="1" i="0" u="none" strike="noStrike" cap="none" spc="0" normalizeH="0" baseline="0">
                <a:ln>
                  <a:noFill/>
                </a:ln>
                <a:solidFill>
                  <a:srgbClr val="000000"/>
                </a:solidFill>
                <a:effectLst/>
                <a:uFillTx/>
                <a:latin typeface="Helvetica Neue"/>
                <a:ea typeface="Helvetica Neue"/>
                <a:cs typeface="Helvetica Neue"/>
                <a:sym typeface="Helvetica Neue"/>
              </a:rPr>
              <a:t>程序运行的输出结果</a:t>
            </a:r>
          </a:p>
        </p:txBody>
      </p:sp>
      <p:sp>
        <p:nvSpPr>
          <p:cNvPr id="4" name="灯片编号占位符 1">
            <a:extLst>
              <a:ext uri="{FF2B5EF4-FFF2-40B4-BE49-F238E27FC236}">
                <a16:creationId xmlns:a16="http://schemas.microsoft.com/office/drawing/2014/main" id="{DB5BF019-1848-4FA8-B51E-676797DE514C}"/>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63</a:t>
            </a:fld>
            <a:endParaRPr/>
          </a:p>
        </p:txBody>
      </p:sp>
      <p:sp>
        <p:nvSpPr>
          <p:cNvPr id="5" name="直角三角形 4">
            <a:extLst>
              <a:ext uri="{FF2B5EF4-FFF2-40B4-BE49-F238E27FC236}">
                <a16:creationId xmlns:a16="http://schemas.microsoft.com/office/drawing/2014/main" id="{7E9BDAC9-7CA9-CFEC-4FC8-16BE1BA7B208}"/>
              </a:ext>
            </a:extLst>
          </p:cNvPr>
          <p:cNvSpPr/>
          <p:nvPr/>
        </p:nvSpPr>
        <p:spPr>
          <a:xfrm>
            <a:off x="0" y="9080390"/>
            <a:ext cx="699715" cy="673210"/>
          </a:xfrm>
          <a:prstGeom prst="rtTriangle">
            <a:avLst/>
          </a:prstGeom>
          <a:solidFill>
            <a:schemeClr val="accent3">
              <a:lumMod val="20000"/>
              <a:lumOff val="80000"/>
            </a:schemeClr>
          </a:solidFill>
          <a:ln w="19050">
            <a:noFill/>
          </a:ln>
        </p:spPr>
        <p:txBody>
          <a:bodyPr rtlCol="0" anchor="ctr">
            <a:spAutoFit/>
          </a:bodyPr>
          <a:lstStyle/>
          <a:p>
            <a:pPr algn="l"/>
            <a:endParaRPr lang="zh-CN" altLang="en-US">
              <a:solidFill>
                <a:srgbClr val="0070C0"/>
              </a:solidFill>
              <a:latin typeface="Consolas" panose="020B0609020204030204" pitchFamily="49" charset="0"/>
            </a:endParaRPr>
          </a:p>
        </p:txBody>
      </p:sp>
    </p:spTree>
    <p:extLst>
      <p:ext uri="{BB962C8B-B14F-4D97-AF65-F5344CB8AC3E}">
        <p14:creationId xmlns:p14="http://schemas.microsoft.com/office/powerpoint/2010/main" val="2039720756"/>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64</a:t>
            </a:fld>
            <a:endParaRPr/>
          </a:p>
        </p:txBody>
      </p:sp>
      <p:sp>
        <p:nvSpPr>
          <p:cNvPr id="203" name="【任务3.2】谁做的坏事？"/>
          <p:cNvSpPr>
            <a:spLocks noGrp="1"/>
          </p:cNvSpPr>
          <p:nvPr>
            <p:ph type="title"/>
          </p:nvPr>
        </p:nvSpPr>
        <p:spPr>
          <a:xfrm>
            <a:off x="547201" y="354125"/>
            <a:ext cx="7037965" cy="1152045"/>
          </a:xfrm>
          <a:prstGeom prst="rect">
            <a:avLst/>
          </a:prstGeom>
        </p:spPr>
        <p:txBody>
          <a:bodyPr/>
          <a:lstStyle/>
          <a:p>
            <a:r>
              <a:t>【任务3.</a:t>
            </a:r>
            <a:r>
              <a:rPr lang="en-US" altLang="zh-CN"/>
              <a:t>3</a:t>
            </a:r>
            <a:r>
              <a:t>】谁做的坏事？</a:t>
            </a:r>
          </a:p>
        </p:txBody>
      </p:sp>
      <p:sp>
        <p:nvSpPr>
          <p:cNvPr id="204" name="某地刑侦大队对涉及六个嫌疑人的一桩疑案进行分析，以下内容叙述的是刑侦队搜集到的线索和情报：…"/>
          <p:cNvSpPr txBox="1"/>
          <p:nvPr/>
        </p:nvSpPr>
        <p:spPr>
          <a:xfrm>
            <a:off x="530720" y="2529138"/>
            <a:ext cx="12265412" cy="63303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lnSpc>
                <a:spcPct val="120000"/>
              </a:lnSpc>
              <a:defRPr sz="3200"/>
            </a:pPr>
            <a:r>
              <a:rPr lang="en-US" altLang="zh-CN" b="0"/>
              <a:t>       </a:t>
            </a:r>
            <a:r>
              <a:rPr b="0" err="1"/>
              <a:t>某地刑侦大队对涉及六个嫌疑人的一桩疑案进行分析，以下内容叙述的是刑侦队搜集到的线索和情报</a:t>
            </a:r>
            <a:r>
              <a:rPr b="0"/>
              <a:t>：</a:t>
            </a:r>
            <a:br>
              <a:rPr b="0"/>
            </a:br>
            <a:endParaRPr b="0"/>
          </a:p>
          <a:p>
            <a:pPr marL="1254125" lvl="4" indent="-415925" algn="l" defTabSz="627063">
              <a:lnSpc>
                <a:spcPct val="120000"/>
              </a:lnSpc>
              <a:buSzPct val="145000"/>
              <a:buChar char="•"/>
              <a:defRPr sz="3000">
                <a:solidFill>
                  <a:schemeClr val="accent1">
                    <a:lumOff val="-13575"/>
                  </a:schemeClr>
                </a:solidFill>
              </a:defRPr>
            </a:pPr>
            <a:r>
              <a:rPr b="0"/>
              <a:t>A、B </a:t>
            </a:r>
            <a:r>
              <a:rPr b="0" err="1"/>
              <a:t>至少有一人作案</a:t>
            </a:r>
            <a:r>
              <a:rPr b="0"/>
              <a:t>；</a:t>
            </a:r>
          </a:p>
          <a:p>
            <a:pPr marL="1254125" lvl="2" indent="-415925" algn="l" defTabSz="627063">
              <a:lnSpc>
                <a:spcPct val="120000"/>
              </a:lnSpc>
              <a:buSzPct val="145000"/>
              <a:buChar char="•"/>
              <a:defRPr sz="3000">
                <a:solidFill>
                  <a:schemeClr val="accent1">
                    <a:lumOff val="-13575"/>
                  </a:schemeClr>
                </a:solidFill>
              </a:defRPr>
            </a:pPr>
            <a:r>
              <a:rPr b="0"/>
              <a:t>A、E、F </a:t>
            </a:r>
            <a:r>
              <a:rPr b="0" err="1"/>
              <a:t>三人中至少有两人参与作案</a:t>
            </a:r>
            <a:r>
              <a:rPr b="0"/>
              <a:t>；</a:t>
            </a:r>
          </a:p>
          <a:p>
            <a:pPr marL="1254125" lvl="2" indent="-415925" algn="l" defTabSz="627063">
              <a:lnSpc>
                <a:spcPct val="120000"/>
              </a:lnSpc>
              <a:buSzPct val="145000"/>
              <a:buChar char="•"/>
              <a:defRPr sz="3000">
                <a:solidFill>
                  <a:schemeClr val="accent1">
                    <a:lumOff val="-13575"/>
                  </a:schemeClr>
                </a:solidFill>
              </a:defRPr>
            </a:pPr>
            <a:r>
              <a:rPr b="0"/>
              <a:t>A、D </a:t>
            </a:r>
            <a:r>
              <a:rPr b="0" err="1"/>
              <a:t>不可能是同案犯</a:t>
            </a:r>
            <a:r>
              <a:rPr b="0"/>
              <a:t>；</a:t>
            </a:r>
          </a:p>
          <a:p>
            <a:pPr marL="1254125" lvl="2" indent="-415925" algn="l" defTabSz="627063">
              <a:lnSpc>
                <a:spcPct val="120000"/>
              </a:lnSpc>
              <a:buSzPct val="145000"/>
              <a:buChar char="•"/>
              <a:defRPr sz="3000">
                <a:solidFill>
                  <a:schemeClr val="accent1">
                    <a:lumOff val="-13575"/>
                  </a:schemeClr>
                </a:solidFill>
              </a:defRPr>
            </a:pPr>
            <a:r>
              <a:rPr b="0"/>
              <a:t>B、C </a:t>
            </a:r>
            <a:r>
              <a:rPr b="0" err="1"/>
              <a:t>或同时作案，或与本案无关</a:t>
            </a:r>
            <a:r>
              <a:rPr b="0"/>
              <a:t>；</a:t>
            </a:r>
          </a:p>
          <a:p>
            <a:pPr marL="1254125" lvl="2" indent="-415925" algn="l" defTabSz="627063">
              <a:lnSpc>
                <a:spcPct val="120000"/>
              </a:lnSpc>
              <a:buSzPct val="145000"/>
              <a:buChar char="•"/>
              <a:defRPr sz="3000">
                <a:solidFill>
                  <a:schemeClr val="accent1">
                    <a:lumOff val="-13575"/>
                  </a:schemeClr>
                </a:solidFill>
              </a:defRPr>
            </a:pPr>
            <a:r>
              <a:rPr b="0"/>
              <a:t>C、D </a:t>
            </a:r>
            <a:r>
              <a:rPr b="0" err="1"/>
              <a:t>中有且仅有一人作案</a:t>
            </a:r>
            <a:r>
              <a:rPr b="0"/>
              <a:t>；</a:t>
            </a:r>
          </a:p>
          <a:p>
            <a:pPr marL="1254125" lvl="2" indent="-415925" algn="l" defTabSz="627063">
              <a:lnSpc>
                <a:spcPct val="120000"/>
              </a:lnSpc>
              <a:buSzPct val="145000"/>
              <a:buChar char="•"/>
              <a:defRPr sz="3200">
                <a:solidFill>
                  <a:schemeClr val="accent1">
                    <a:lumOff val="-13575"/>
                  </a:schemeClr>
                </a:solidFill>
              </a:defRPr>
            </a:pPr>
            <a:r>
              <a:rPr sz="3000" b="0" err="1"/>
              <a:t>如果</a:t>
            </a:r>
            <a:r>
              <a:rPr sz="3000" b="0"/>
              <a:t> D </a:t>
            </a:r>
            <a:r>
              <a:rPr sz="3000" b="0" err="1"/>
              <a:t>没有参与作案，则</a:t>
            </a:r>
            <a:r>
              <a:rPr sz="3000" b="0"/>
              <a:t> E </a:t>
            </a:r>
            <a:r>
              <a:rPr sz="3000" b="0" err="1"/>
              <a:t>也不可能参与作案</a:t>
            </a:r>
            <a:r>
              <a:rPr sz="3000" b="0"/>
              <a:t>。</a:t>
            </a:r>
            <a:br>
              <a:rPr b="0"/>
            </a:br>
            <a:endParaRPr b="0"/>
          </a:p>
          <a:p>
            <a:pPr algn="l">
              <a:lnSpc>
                <a:spcPct val="120000"/>
              </a:lnSpc>
              <a:defRPr sz="3200"/>
            </a:pPr>
            <a:r>
              <a:rPr b="0" err="1"/>
              <a:t>请你编写程序，将作案人找出来</a:t>
            </a:r>
            <a:r>
              <a:rPr b="0"/>
              <a:t>。</a:t>
            </a:r>
          </a:p>
        </p:txBody>
      </p:sp>
    </p:spTree>
    <p:extLst>
      <p:ext uri="{BB962C8B-B14F-4D97-AF65-F5344CB8AC3E}">
        <p14:creationId xmlns:p14="http://schemas.microsoft.com/office/powerpoint/2010/main" val="1194946255"/>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48"/>
          <p:cNvSpPr txBox="1"/>
          <p:nvPr/>
        </p:nvSpPr>
        <p:spPr>
          <a:xfrm>
            <a:off x="492047" y="2660677"/>
            <a:ext cx="11463668" cy="58598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5022" tIns="65022" rIns="65022" bIns="65022">
            <a:spAutoFit/>
          </a:bodyPr>
          <a:lstStyle/>
          <a:p>
            <a:pPr marL="126942" algn="l" defTabSz="1300480">
              <a:lnSpc>
                <a:spcPct val="150000"/>
              </a:lnSpc>
              <a:defRPr sz="3600" b="0">
                <a:latin typeface="冬青黑体简体中文 W3"/>
                <a:ea typeface="冬青黑体简体中文 W3"/>
                <a:cs typeface="冬青黑体简体中文 W3"/>
                <a:sym typeface="冬青黑体简体中文 W3"/>
              </a:defRPr>
            </a:pPr>
            <a:r>
              <a:rPr lang="en-US" altLang="zh-CN"/>
              <a:t>         </a:t>
            </a:r>
            <a:r>
              <a:t>这</a:t>
            </a:r>
            <a:r>
              <a:rPr lang="zh-CN" altLang="en-US"/>
              <a:t>是另一</a:t>
            </a:r>
            <a:r>
              <a:rPr err="1"/>
              <a:t>类逻辑推理问题</a:t>
            </a:r>
            <a:r>
              <a:t>。</a:t>
            </a:r>
            <a:r>
              <a:rPr lang="zh-CN" altLang="en-US"/>
              <a:t>难点和关键还是如何用计算机编程语言来表达自然语言的语义和关系。</a:t>
            </a:r>
            <a:endParaRPr lang="en-US" altLang="zh-CN"/>
          </a:p>
          <a:p>
            <a:pPr marL="126942" algn="l" defTabSz="1300480">
              <a:lnSpc>
                <a:spcPct val="150000"/>
              </a:lnSpc>
              <a:defRPr sz="3600" b="0">
                <a:latin typeface="冬青黑体简体中文 W3"/>
                <a:ea typeface="冬青黑体简体中文 W3"/>
                <a:cs typeface="冬青黑体简体中文 W3"/>
                <a:sym typeface="冬青黑体简体中文 W3"/>
              </a:defRPr>
            </a:pPr>
            <a:endParaRPr lang="en-US" altLang="zh-CN"/>
          </a:p>
          <a:p>
            <a:pPr marL="126942" algn="l" defTabSz="1300480">
              <a:lnSpc>
                <a:spcPct val="150000"/>
              </a:lnSpc>
              <a:defRPr sz="3600" b="0">
                <a:latin typeface="冬青黑体简体中文 W3"/>
                <a:ea typeface="冬青黑体简体中文 W3"/>
                <a:cs typeface="冬青黑体简体中文 W3"/>
                <a:sym typeface="冬青黑体简体中文 W3"/>
              </a:defRPr>
            </a:pPr>
            <a:r>
              <a:rPr lang="en-US" altLang="zh-CN"/>
              <a:t>         </a:t>
            </a:r>
            <a:r>
              <a:t>为</a:t>
            </a:r>
            <a:r>
              <a:rPr lang="zh-CN" altLang="en-US"/>
              <a:t>了用计算机编程来求</a:t>
            </a:r>
            <a:r>
              <a:rPr err="1"/>
              <a:t>解此类题目，需要学习掌握如下一些程序设计的基本技巧</a:t>
            </a:r>
            <a:r>
              <a:t>：</a:t>
            </a:r>
          </a:p>
          <a:p>
            <a:pPr marL="812800" indent="-812800" algn="l" defTabSz="1300480">
              <a:lnSpc>
                <a:spcPct val="150000"/>
              </a:lnSpc>
              <a:defRPr sz="3600" b="0">
                <a:latin typeface="冬青黑体简体中文 W3"/>
                <a:ea typeface="冬青黑体简体中文 W3"/>
                <a:cs typeface="冬青黑体简体中文 W3"/>
                <a:sym typeface="冬青黑体简体中文 W3"/>
              </a:defRPr>
            </a:pPr>
            <a:r>
              <a:rPr lang="en-US" altLang="zh-CN"/>
              <a:t>       </a:t>
            </a:r>
            <a:r>
              <a:t>（1）逻辑运算符</a:t>
            </a:r>
          </a:p>
          <a:p>
            <a:pPr marL="812800" indent="-812800" algn="l" defTabSz="1300480">
              <a:lnSpc>
                <a:spcPct val="150000"/>
              </a:lnSpc>
              <a:defRPr sz="3600" b="0">
                <a:latin typeface="冬青黑体简体中文 W3"/>
                <a:ea typeface="冬青黑体简体中文 W3"/>
                <a:cs typeface="冬青黑体简体中文 W3"/>
                <a:sym typeface="冬青黑体简体中文 W3"/>
              </a:defRPr>
            </a:pPr>
            <a:r>
              <a:rPr lang="en-US" altLang="zh-CN"/>
              <a:t>       </a:t>
            </a:r>
            <a:r>
              <a:t>（2）逻辑表达式</a:t>
            </a:r>
          </a:p>
        </p:txBody>
      </p:sp>
      <p:sp>
        <p:nvSpPr>
          <p:cNvPr id="207"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65</a:t>
            </a:fld>
            <a:endParaRPr/>
          </a:p>
        </p:txBody>
      </p:sp>
      <p:sp>
        <p:nvSpPr>
          <p:cNvPr id="208" name="如何解决此类问题？"/>
          <p:cNvSpPr txBox="1">
            <a:spLocks noGrp="1"/>
          </p:cNvSpPr>
          <p:nvPr>
            <p:ph type="title"/>
          </p:nvPr>
        </p:nvSpPr>
        <p:spPr>
          <a:xfrm>
            <a:off x="547201" y="354125"/>
            <a:ext cx="5696845" cy="1152045"/>
          </a:xfrm>
          <a:prstGeom prst="rect">
            <a:avLst/>
          </a:prstGeom>
        </p:spPr>
        <p:txBody>
          <a:bodyPr/>
          <a:lstStyle/>
          <a:p>
            <a:pPr algn="r"/>
            <a:r>
              <a:t>如何解决此类问题？</a:t>
            </a: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66</a:t>
            </a:fld>
            <a:endParaRPr/>
          </a:p>
        </p:txBody>
      </p:sp>
      <p:sp>
        <p:nvSpPr>
          <p:cNvPr id="211" name="逻辑与运算&amp;&amp;、逻辑或运算 ||"/>
          <p:cNvSpPr txBox="1">
            <a:spLocks noGrp="1"/>
          </p:cNvSpPr>
          <p:nvPr>
            <p:ph type="title"/>
          </p:nvPr>
        </p:nvSpPr>
        <p:spPr>
          <a:xfrm>
            <a:off x="547200" y="354125"/>
            <a:ext cx="8751658" cy="1152045"/>
          </a:xfrm>
          <a:prstGeom prst="rect">
            <a:avLst/>
          </a:prstGeom>
        </p:spPr>
        <p:txBody>
          <a:bodyPr/>
          <a:lstStyle/>
          <a:p>
            <a:r>
              <a:rPr err="1">
                <a:latin typeface="Lucida Console" panose="020B0609040504020204" pitchFamily="49" charset="0"/>
              </a:rPr>
              <a:t>逻辑与运算</a:t>
            </a:r>
            <a:r>
              <a:rPr>
                <a:latin typeface="Lucida Console" panose="020B0609040504020204" pitchFamily="49" charset="0"/>
              </a:rPr>
              <a:t>&amp;&amp;、</a:t>
            </a:r>
            <a:r>
              <a:rPr err="1">
                <a:latin typeface="Lucida Console" panose="020B0609040504020204" pitchFamily="49" charset="0"/>
              </a:rPr>
              <a:t>逻辑或运算</a:t>
            </a:r>
            <a:r>
              <a:rPr>
                <a:latin typeface="Lucida Console" panose="020B0609040504020204" pitchFamily="49" charset="0"/>
              </a:rPr>
              <a:t>||</a:t>
            </a:r>
          </a:p>
        </p:txBody>
      </p:sp>
      <p:pic>
        <p:nvPicPr>
          <p:cNvPr id="212" name="image.pdf" descr="image.pdf"/>
          <p:cNvPicPr>
            <a:picLocks/>
          </p:cNvPicPr>
          <p:nvPr/>
        </p:nvPicPr>
        <p:blipFill>
          <a:blip r:embed="rId2"/>
          <a:stretch>
            <a:fillRect/>
          </a:stretch>
        </p:blipFill>
        <p:spPr>
          <a:xfrm>
            <a:off x="752011" y="7248458"/>
            <a:ext cx="4632960" cy="2151017"/>
          </a:xfrm>
          <a:prstGeom prst="rect">
            <a:avLst/>
          </a:prstGeom>
          <a:ln w="12700">
            <a:miter lim="400000"/>
          </a:ln>
        </p:spPr>
      </p:pic>
      <p:pic>
        <p:nvPicPr>
          <p:cNvPr id="213" name="image.pdf" descr="image.pdf"/>
          <p:cNvPicPr>
            <a:picLocks/>
          </p:cNvPicPr>
          <p:nvPr/>
        </p:nvPicPr>
        <p:blipFill>
          <a:blip r:embed="rId3"/>
          <a:stretch>
            <a:fillRect/>
          </a:stretch>
        </p:blipFill>
        <p:spPr>
          <a:xfrm>
            <a:off x="547200" y="3699686"/>
            <a:ext cx="4399502" cy="2838065"/>
          </a:xfrm>
          <a:prstGeom prst="rect">
            <a:avLst/>
          </a:prstGeom>
          <a:ln w="12700">
            <a:miter lim="400000"/>
          </a:ln>
        </p:spPr>
      </p:pic>
      <p:sp>
        <p:nvSpPr>
          <p:cNvPr id="214" name="Shape 52"/>
          <p:cNvSpPr txBox="1"/>
          <p:nvPr/>
        </p:nvSpPr>
        <p:spPr>
          <a:xfrm>
            <a:off x="5479026" y="4409579"/>
            <a:ext cx="7444658" cy="1732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5022" tIns="65022" rIns="65022" bIns="65022">
            <a:spAutoFit/>
          </a:bodyPr>
          <a:lstStyle/>
          <a:p>
            <a:pPr marL="1083733" indent="-1083733" algn="l" defTabSz="1300480">
              <a:lnSpc>
                <a:spcPct val="200000"/>
              </a:lnSpc>
              <a:defRPr sz="3000" b="0">
                <a:latin typeface="冬青黑体简体中文 W3"/>
                <a:ea typeface="冬青黑体简体中文 W3"/>
                <a:cs typeface="冬青黑体简体中文 W3"/>
                <a:sym typeface="冬青黑体简体中文 W3"/>
              </a:defRPr>
            </a:pPr>
            <a:r>
              <a:rPr sz="2800" err="1"/>
              <a:t>逻辑运算式</a:t>
            </a:r>
            <a:r>
              <a:rPr sz="2800"/>
              <a:t> A&amp;&amp;B </a:t>
            </a:r>
            <a:r>
              <a:rPr sz="2800" err="1"/>
              <a:t>表示</a:t>
            </a:r>
            <a:r>
              <a:rPr lang="en-US" altLang="zh-CN" sz="2800"/>
              <a:t> </a:t>
            </a:r>
            <a:r>
              <a:rPr sz="2800" err="1">
                <a:highlight>
                  <a:srgbClr val="FFFF00"/>
                </a:highlight>
              </a:rPr>
              <a:t>灯是否点亮</a:t>
            </a:r>
            <a:r>
              <a:rPr sz="2800"/>
              <a:t>；</a:t>
            </a:r>
          </a:p>
          <a:p>
            <a:pPr marL="1083733" indent="-1083733" algn="l" defTabSz="1300480">
              <a:lnSpc>
                <a:spcPct val="200000"/>
              </a:lnSpc>
              <a:defRPr sz="3000" b="0">
                <a:latin typeface="冬青黑体简体中文 W3"/>
                <a:ea typeface="冬青黑体简体中文 W3"/>
                <a:cs typeface="冬青黑体简体中文 W3"/>
                <a:sym typeface="冬青黑体简体中文 W3"/>
              </a:defRPr>
            </a:pPr>
            <a:r>
              <a:rPr sz="2800"/>
              <a:t>结果为0：灯</a:t>
            </a:r>
            <a:r>
              <a:rPr lang="zh-CN" altLang="en-US" sz="2800"/>
              <a:t>是</a:t>
            </a:r>
            <a:r>
              <a:rPr sz="2800"/>
              <a:t>熄</a:t>
            </a:r>
            <a:r>
              <a:rPr lang="zh-CN" altLang="en-US" sz="2800"/>
              <a:t>的</a:t>
            </a:r>
            <a:r>
              <a:rPr sz="2800"/>
              <a:t>；结果为1：灯</a:t>
            </a:r>
            <a:r>
              <a:rPr lang="zh-CN" altLang="en-US" sz="2800"/>
              <a:t>是</a:t>
            </a:r>
            <a:r>
              <a:rPr sz="2800"/>
              <a:t>亮</a:t>
            </a:r>
            <a:r>
              <a:rPr lang="zh-CN" altLang="en-US" sz="2800"/>
              <a:t>的</a:t>
            </a:r>
            <a:r>
              <a:rPr sz="2800"/>
              <a:t>。</a:t>
            </a:r>
          </a:p>
        </p:txBody>
      </p:sp>
      <p:sp>
        <p:nvSpPr>
          <p:cNvPr id="215" name="Shape 55"/>
          <p:cNvSpPr txBox="1"/>
          <p:nvPr/>
        </p:nvSpPr>
        <p:spPr>
          <a:xfrm>
            <a:off x="5479026" y="7054389"/>
            <a:ext cx="7386999" cy="1732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5022" tIns="65022" rIns="65022" bIns="65022">
            <a:spAutoFit/>
          </a:bodyPr>
          <a:lstStyle/>
          <a:p>
            <a:pPr marL="487680" indent="-487680" algn="l" defTabSz="1300480">
              <a:lnSpc>
                <a:spcPct val="200000"/>
              </a:lnSpc>
              <a:defRPr sz="3000" b="0">
                <a:latin typeface="冬青黑体简体中文 W3"/>
                <a:ea typeface="冬青黑体简体中文 W3"/>
                <a:cs typeface="冬青黑体简体中文 W3"/>
                <a:sym typeface="冬青黑体简体中文 W3"/>
              </a:defRPr>
            </a:pPr>
            <a:r>
              <a:rPr sz="2800" err="1"/>
              <a:t>逻辑运算式A</a:t>
            </a:r>
            <a:r>
              <a:rPr sz="2800"/>
              <a:t>||B </a:t>
            </a:r>
            <a:r>
              <a:rPr sz="2800" err="1"/>
              <a:t>表示</a:t>
            </a:r>
            <a:r>
              <a:rPr lang="en-US" altLang="zh-CN" sz="2800"/>
              <a:t> </a:t>
            </a:r>
            <a:r>
              <a:rPr sz="2800" err="1">
                <a:highlight>
                  <a:srgbClr val="FFFF00"/>
                </a:highlight>
              </a:rPr>
              <a:t>灯是否点亮</a:t>
            </a:r>
            <a:r>
              <a:rPr sz="2800"/>
              <a:t>；</a:t>
            </a:r>
          </a:p>
          <a:p>
            <a:pPr marL="487680" indent="-487680" algn="l" defTabSz="1300480">
              <a:lnSpc>
                <a:spcPct val="200000"/>
              </a:lnSpc>
              <a:defRPr sz="3000" b="0">
                <a:latin typeface="冬青黑体简体中文 W3"/>
                <a:ea typeface="冬青黑体简体中文 W3"/>
                <a:cs typeface="冬青黑体简体中文 W3"/>
                <a:sym typeface="冬青黑体简体中文 W3"/>
              </a:defRPr>
            </a:pPr>
            <a:r>
              <a:rPr sz="2800"/>
              <a:t>结果为0：灯</a:t>
            </a:r>
            <a:r>
              <a:rPr lang="zh-CN" altLang="en-US" sz="2800"/>
              <a:t>是</a:t>
            </a:r>
            <a:r>
              <a:rPr sz="2800"/>
              <a:t>灭</a:t>
            </a:r>
            <a:r>
              <a:rPr lang="zh-CN" altLang="en-US" sz="2800"/>
              <a:t>的</a:t>
            </a:r>
            <a:r>
              <a:rPr sz="2800"/>
              <a:t>；结果为1：灯</a:t>
            </a:r>
            <a:r>
              <a:rPr lang="zh-CN" altLang="en-US" sz="2800"/>
              <a:t>是</a:t>
            </a:r>
            <a:r>
              <a:rPr sz="2800"/>
              <a:t>亮</a:t>
            </a:r>
            <a:r>
              <a:rPr lang="zh-CN" altLang="en-US" sz="2800"/>
              <a:t>的</a:t>
            </a:r>
            <a:r>
              <a:rPr sz="2800"/>
              <a:t>。</a:t>
            </a:r>
          </a:p>
        </p:txBody>
      </p:sp>
      <p:sp>
        <p:nvSpPr>
          <p:cNvPr id="216" name="Shape 55"/>
          <p:cNvSpPr txBox="1"/>
          <p:nvPr/>
        </p:nvSpPr>
        <p:spPr>
          <a:xfrm>
            <a:off x="657814" y="2025278"/>
            <a:ext cx="12033174" cy="1347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5022" tIns="65022" rIns="65022" bIns="65022">
            <a:spAutoFit/>
          </a:bodyPr>
          <a:lstStyle/>
          <a:p>
            <a:pPr algn="l" defTabSz="1300480">
              <a:lnSpc>
                <a:spcPct val="150000"/>
              </a:lnSpc>
              <a:defRPr sz="3200" b="0">
                <a:latin typeface="冬青黑体简体中文 W3"/>
                <a:ea typeface="冬青黑体简体中文 W3"/>
                <a:cs typeface="冬青黑体简体中文 W3"/>
                <a:sym typeface="冬青黑体简体中文 W3"/>
              </a:defRPr>
            </a:pPr>
            <a:r>
              <a:rPr lang="zh-CN" altLang="en-US" sz="2800">
                <a:solidFill>
                  <a:srgbClr val="0070C0"/>
                </a:solidFill>
                <a:latin typeface="微软雅黑" panose="020B0503020204020204" pitchFamily="34" charset="-122"/>
                <a:ea typeface="微软雅黑" panose="020B0503020204020204" pitchFamily="34" charset="-122"/>
              </a:rPr>
              <a:t>      布尔</a:t>
            </a:r>
            <a:r>
              <a:rPr sz="2800" err="1">
                <a:solidFill>
                  <a:srgbClr val="0070C0"/>
                </a:solidFill>
                <a:latin typeface="微软雅黑" panose="020B0503020204020204" pitchFamily="34" charset="-122"/>
                <a:ea typeface="微软雅黑" panose="020B0503020204020204" pitchFamily="34" charset="-122"/>
              </a:rPr>
              <a:t>变量A表示开关A的开合状态</a:t>
            </a:r>
            <a:r>
              <a:rPr sz="2800">
                <a:solidFill>
                  <a:srgbClr val="0070C0"/>
                </a:solidFill>
                <a:latin typeface="微软雅黑" panose="020B0503020204020204" pitchFamily="34" charset="-122"/>
                <a:ea typeface="微软雅黑" panose="020B0503020204020204" pitchFamily="34" charset="-122"/>
              </a:rPr>
              <a:t>；</a:t>
            </a:r>
            <a:r>
              <a:rPr lang="zh-CN" altLang="en-US" sz="2800">
                <a:solidFill>
                  <a:srgbClr val="0070C0"/>
                </a:solidFill>
                <a:latin typeface="微软雅黑" panose="020B0503020204020204" pitchFamily="34" charset="-122"/>
                <a:ea typeface="微软雅黑" panose="020B0503020204020204" pitchFamily="34" charset="-122"/>
              </a:rPr>
              <a:t>布尔</a:t>
            </a:r>
            <a:r>
              <a:rPr sz="2800" err="1">
                <a:solidFill>
                  <a:srgbClr val="0070C0"/>
                </a:solidFill>
                <a:latin typeface="微软雅黑" panose="020B0503020204020204" pitchFamily="34" charset="-122"/>
                <a:ea typeface="微软雅黑" panose="020B0503020204020204" pitchFamily="34" charset="-122"/>
              </a:rPr>
              <a:t>变量B表示开关B的开合状态</a:t>
            </a:r>
            <a:r>
              <a:rPr lang="zh-CN" altLang="en-US" sz="2800">
                <a:solidFill>
                  <a:srgbClr val="0070C0"/>
                </a:solidFill>
                <a:latin typeface="微软雅黑" panose="020B0503020204020204" pitchFamily="34" charset="-122"/>
                <a:ea typeface="微软雅黑" panose="020B0503020204020204" pitchFamily="34" charset="-122"/>
              </a:rPr>
              <a:t>。当</a:t>
            </a:r>
            <a:r>
              <a:rPr lang="en-US" altLang="zh-CN" sz="2800">
                <a:solidFill>
                  <a:srgbClr val="0070C0"/>
                </a:solidFill>
                <a:latin typeface="微软雅黑" panose="020B0503020204020204" pitchFamily="34" charset="-122"/>
                <a:ea typeface="微软雅黑" panose="020B0503020204020204" pitchFamily="34" charset="-122"/>
              </a:rPr>
              <a:t>A</a:t>
            </a:r>
            <a:r>
              <a:rPr sz="2800">
                <a:solidFill>
                  <a:srgbClr val="0070C0"/>
                </a:solidFill>
                <a:latin typeface="微软雅黑" panose="020B0503020204020204" pitchFamily="34" charset="-122"/>
                <a:ea typeface="微软雅黑" panose="020B0503020204020204" pitchFamily="34" charset="-122"/>
              </a:rPr>
              <a:t>取值为0</a:t>
            </a:r>
            <a:r>
              <a:rPr lang="zh-CN" altLang="en-US" sz="2800">
                <a:solidFill>
                  <a:srgbClr val="0070C0"/>
                </a:solidFill>
                <a:latin typeface="微软雅黑" panose="020B0503020204020204" pitchFamily="34" charset="-122"/>
                <a:ea typeface="微软雅黑" panose="020B0503020204020204" pitchFamily="34" charset="-122"/>
              </a:rPr>
              <a:t>（假）时，表示</a:t>
            </a:r>
            <a:r>
              <a:rPr sz="2800">
                <a:solidFill>
                  <a:srgbClr val="0070C0"/>
                </a:solidFill>
                <a:latin typeface="微软雅黑" panose="020B0503020204020204" pitchFamily="34" charset="-122"/>
                <a:ea typeface="微软雅黑" panose="020B0503020204020204" pitchFamily="34" charset="-122"/>
              </a:rPr>
              <a:t>开关断开；取值为1</a:t>
            </a:r>
            <a:r>
              <a:rPr lang="zh-CN" altLang="en-US" sz="2800">
                <a:solidFill>
                  <a:srgbClr val="0070C0"/>
                </a:solidFill>
                <a:latin typeface="微软雅黑" panose="020B0503020204020204" pitchFamily="34" charset="-122"/>
                <a:ea typeface="微软雅黑" panose="020B0503020204020204" pitchFamily="34" charset="-122"/>
              </a:rPr>
              <a:t>（真）时，表示</a:t>
            </a:r>
            <a:r>
              <a:rPr sz="2800" err="1">
                <a:solidFill>
                  <a:srgbClr val="0070C0"/>
                </a:solidFill>
                <a:latin typeface="微软雅黑" panose="020B0503020204020204" pitchFamily="34" charset="-122"/>
                <a:ea typeface="微软雅黑" panose="020B0503020204020204" pitchFamily="34" charset="-122"/>
              </a:rPr>
              <a:t>开关合上</a:t>
            </a:r>
            <a:r>
              <a:rPr sz="2800">
                <a:solidFill>
                  <a:srgbClr val="0070C0"/>
                </a:solidFill>
                <a:latin typeface="微软雅黑" panose="020B0503020204020204" pitchFamily="34" charset="-122"/>
                <a:ea typeface="微软雅黑" panose="020B0503020204020204" pitchFamily="34" charset="-122"/>
              </a:rPr>
              <a:t>。</a:t>
            </a: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F7E169DB-E7D9-4637-8791-F8C5CC983B28}"/>
              </a:ext>
            </a:extLst>
          </p:cNvPr>
          <p:cNvSpPr txBox="1"/>
          <p:nvPr/>
        </p:nvSpPr>
        <p:spPr>
          <a:xfrm>
            <a:off x="547201" y="2541885"/>
            <a:ext cx="7659076" cy="6555641"/>
          </a:xfrm>
          <a:prstGeom prst="rect">
            <a:avLst/>
          </a:prstGeom>
          <a:solidFill>
            <a:schemeClr val="bg1">
              <a:lumMod val="95000"/>
            </a:schemeClr>
          </a:solid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2000" b="0">
                <a:solidFill>
                  <a:srgbClr val="0000FF"/>
                </a:solidFill>
                <a:effectLst/>
                <a:latin typeface="Consolas" panose="020B0609020204030204" pitchFamily="49" charset="0"/>
                <a:ea typeface="Iosevka Fixed" panose="02000509030000000004" pitchFamily="49" charset="0"/>
                <a:cs typeface="Iosevka Fixed" panose="02000509030000000004" pitchFamily="49" charset="0"/>
              </a:rPr>
              <a:t>int</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main()</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r>
              <a:rPr lang="en-US" altLang="zh-CN" sz="2000" b="0">
                <a:solidFill>
                  <a:srgbClr val="0000FF"/>
                </a:solidFill>
                <a:effectLst/>
                <a:latin typeface="Consolas" panose="020B0609020204030204" pitchFamily="49" charset="0"/>
                <a:ea typeface="Iosevka Fixed" panose="02000509030000000004" pitchFamily="49" charset="0"/>
                <a:cs typeface="Iosevka Fixed" panose="02000509030000000004" pitchFamily="49" charset="0"/>
              </a:rPr>
              <a:t>double</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sum = </a:t>
            </a:r>
            <a:r>
              <a:rPr lang="en-US" altLang="zh-CN" sz="2000" b="0">
                <a:solidFill>
                  <a:srgbClr val="098658"/>
                </a:solidFill>
                <a:effectLst/>
                <a:latin typeface="Consolas" panose="020B0609020204030204" pitchFamily="49" charset="0"/>
                <a:ea typeface="Iosevka Fixed" panose="02000509030000000004" pitchFamily="49" charset="0"/>
                <a:cs typeface="Iosevka Fixed" panose="02000509030000000004" pitchFamily="49" charset="0"/>
              </a:rPr>
              <a:t>0</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r>
              <a:rPr lang="en-US" altLang="zh-CN" sz="2000" b="0">
                <a:solidFill>
                  <a:srgbClr val="0000FF"/>
                </a:solidFill>
                <a:effectLst/>
                <a:latin typeface="Consolas" panose="020B0609020204030204" pitchFamily="49" charset="0"/>
                <a:ea typeface="Iosevka Fixed" panose="02000509030000000004" pitchFamily="49" charset="0"/>
                <a:cs typeface="Iosevka Fixed" panose="02000509030000000004" pitchFamily="49" charset="0"/>
              </a:rPr>
              <a:t>int</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cnt = </a:t>
            </a:r>
            <a:r>
              <a:rPr lang="en-US" altLang="zh-CN" sz="2000" b="0">
                <a:solidFill>
                  <a:srgbClr val="098658"/>
                </a:solidFill>
                <a:effectLst/>
                <a:latin typeface="Consolas" panose="020B0609020204030204" pitchFamily="49" charset="0"/>
                <a:ea typeface="Iosevka Fixed" panose="02000509030000000004" pitchFamily="49" charset="0"/>
                <a:cs typeface="Iosevka Fixed" panose="02000509030000000004" pitchFamily="49" charset="0"/>
              </a:rPr>
              <a:t>0</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tmp;</a:t>
            </a:r>
          </a:p>
          <a:p>
            <a:pPr algn="l"/>
            <a:b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b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r>
              <a:rPr lang="en-US" altLang="zh-CN" sz="2000" b="0">
                <a:solidFill>
                  <a:srgbClr val="0000FF"/>
                </a:solidFill>
                <a:effectLst/>
                <a:latin typeface="Consolas" panose="020B0609020204030204" pitchFamily="49" charset="0"/>
                <a:ea typeface="Iosevka Fixed" panose="02000509030000000004" pitchFamily="49" charset="0"/>
                <a:cs typeface="Iosevka Fixed" panose="02000509030000000004" pitchFamily="49" charset="0"/>
              </a:rPr>
              <a:t>for</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r>
              <a:rPr lang="en-US" altLang="zh-CN" sz="2000" b="0">
                <a:solidFill>
                  <a:srgbClr val="0000FF"/>
                </a:solidFill>
                <a:effectLst/>
                <a:latin typeface="Consolas" panose="020B0609020204030204" pitchFamily="49" charset="0"/>
                <a:ea typeface="Iosevka Fixed" panose="02000509030000000004" pitchFamily="49" charset="0"/>
                <a:cs typeface="Iosevka Fixed" panose="02000509030000000004" pitchFamily="49" charset="0"/>
              </a:rPr>
              <a:t>int</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i=</a:t>
            </a:r>
            <a:r>
              <a:rPr lang="en-US" altLang="zh-CN" sz="2000" b="0">
                <a:solidFill>
                  <a:srgbClr val="098658"/>
                </a:solidFill>
                <a:effectLst/>
                <a:latin typeface="Consolas" panose="020B0609020204030204" pitchFamily="49" charset="0"/>
                <a:ea typeface="Iosevka Fixed" panose="02000509030000000004" pitchFamily="49" charset="0"/>
                <a:cs typeface="Iosevka Fixed" panose="02000509030000000004" pitchFamily="49" charset="0"/>
              </a:rPr>
              <a:t>0</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i&lt;</a:t>
            </a:r>
            <a:r>
              <a:rPr lang="en-US" altLang="zh-CN" sz="2000" b="0">
                <a:solidFill>
                  <a:srgbClr val="098658"/>
                </a:solidFill>
                <a:effectLst/>
                <a:latin typeface="Consolas" panose="020B0609020204030204" pitchFamily="49" charset="0"/>
                <a:ea typeface="Iosevka Fixed" panose="02000509030000000004" pitchFamily="49" charset="0"/>
                <a:cs typeface="Iosevka Fixed" panose="02000509030000000004" pitchFamily="49" charset="0"/>
              </a:rPr>
              <a:t>6</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i++)</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cin &gt;&gt; tmp;</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r>
              <a:rPr lang="en-US" altLang="zh-CN" sz="2000">
                <a:solidFill>
                  <a:srgbClr val="0000FF"/>
                </a:solidFill>
                <a:effectLst/>
                <a:highlight>
                  <a:srgbClr val="FFFF00"/>
                </a:highlight>
                <a:latin typeface="Consolas" panose="020B0609020204030204" pitchFamily="49" charset="0"/>
                <a:ea typeface="Iosevka Fixed" panose="02000509030000000004" pitchFamily="49" charset="0"/>
                <a:cs typeface="Iosevka Fixed" panose="02000509030000000004" pitchFamily="49" charset="0"/>
              </a:rPr>
              <a:t>if</a:t>
            </a:r>
            <a:r>
              <a:rPr lang="en-US" altLang="zh-CN" sz="2000">
                <a:solidFill>
                  <a:srgbClr val="000000"/>
                </a:solidFill>
                <a:effectLst/>
                <a:highlight>
                  <a:srgbClr val="FFFF00"/>
                </a:highlight>
                <a:latin typeface="Consolas" panose="020B0609020204030204" pitchFamily="49" charset="0"/>
                <a:ea typeface="Iosevka Fixed" panose="02000509030000000004" pitchFamily="49" charset="0"/>
                <a:cs typeface="Iosevka Fixed" panose="02000509030000000004" pitchFamily="49" charset="0"/>
              </a:rPr>
              <a:t> (tmp % </a:t>
            </a:r>
            <a:r>
              <a:rPr lang="en-US" altLang="zh-CN" sz="2000">
                <a:solidFill>
                  <a:srgbClr val="098658"/>
                </a:solidFill>
                <a:effectLst/>
                <a:highlight>
                  <a:srgbClr val="FFFF00"/>
                </a:highlight>
                <a:latin typeface="Consolas" panose="020B0609020204030204" pitchFamily="49" charset="0"/>
                <a:ea typeface="Iosevka Fixed" panose="02000509030000000004" pitchFamily="49" charset="0"/>
                <a:cs typeface="Iosevka Fixed" panose="02000509030000000004" pitchFamily="49" charset="0"/>
              </a:rPr>
              <a:t>2</a:t>
            </a:r>
            <a:r>
              <a:rPr lang="en-US" altLang="zh-CN" sz="2000">
                <a:solidFill>
                  <a:srgbClr val="000000"/>
                </a:solidFill>
                <a:effectLst/>
                <a:highlight>
                  <a:srgbClr val="FFFF00"/>
                </a:highlight>
                <a:latin typeface="Consolas" panose="020B0609020204030204" pitchFamily="49" charset="0"/>
                <a:ea typeface="Iosevka Fixed" panose="02000509030000000004" pitchFamily="49" charset="0"/>
                <a:cs typeface="Iosevka Fixed" panose="02000509030000000004" pitchFamily="49" charset="0"/>
              </a:rPr>
              <a:t> == </a:t>
            </a:r>
            <a:r>
              <a:rPr lang="en-US" altLang="zh-CN" sz="2000">
                <a:solidFill>
                  <a:srgbClr val="098658"/>
                </a:solidFill>
                <a:effectLst/>
                <a:highlight>
                  <a:srgbClr val="FFFF00"/>
                </a:highlight>
                <a:latin typeface="Consolas" panose="020B0609020204030204" pitchFamily="49" charset="0"/>
                <a:ea typeface="Iosevka Fixed" panose="02000509030000000004" pitchFamily="49" charset="0"/>
                <a:cs typeface="Iosevka Fixed" panose="02000509030000000004" pitchFamily="49" charset="0"/>
              </a:rPr>
              <a:t>1</a:t>
            </a:r>
            <a:r>
              <a:rPr lang="en-US" altLang="zh-CN" sz="2000">
                <a:solidFill>
                  <a:srgbClr val="000000"/>
                </a:solidFill>
                <a:effectLst/>
                <a:highlight>
                  <a:srgbClr val="FFFF00"/>
                </a:highlight>
                <a:latin typeface="Consolas" panose="020B0609020204030204" pitchFamily="49" charset="0"/>
                <a:ea typeface="Iosevka Fixed" panose="02000509030000000004" pitchFamily="49" charset="0"/>
                <a:cs typeface="Iosevka Fixed" panose="02000509030000000004" pitchFamily="49" charset="0"/>
              </a:rPr>
              <a:t> &amp;&amp; tmp % </a:t>
            </a:r>
            <a:r>
              <a:rPr lang="en-US" altLang="zh-CN" sz="2000">
                <a:solidFill>
                  <a:srgbClr val="098658"/>
                </a:solidFill>
                <a:effectLst/>
                <a:highlight>
                  <a:srgbClr val="FFFF00"/>
                </a:highlight>
                <a:latin typeface="Consolas" panose="020B0609020204030204" pitchFamily="49" charset="0"/>
                <a:ea typeface="Iosevka Fixed" panose="02000509030000000004" pitchFamily="49" charset="0"/>
                <a:cs typeface="Iosevka Fixed" panose="02000509030000000004" pitchFamily="49" charset="0"/>
              </a:rPr>
              <a:t>3</a:t>
            </a:r>
            <a:r>
              <a:rPr lang="en-US" altLang="zh-CN" sz="2000">
                <a:solidFill>
                  <a:srgbClr val="000000"/>
                </a:solidFill>
                <a:effectLst/>
                <a:highlight>
                  <a:srgbClr val="FFFF00"/>
                </a:highlight>
                <a:latin typeface="Consolas" panose="020B0609020204030204" pitchFamily="49" charset="0"/>
                <a:ea typeface="Iosevka Fixed" panose="02000509030000000004" pitchFamily="49" charset="0"/>
                <a:cs typeface="Iosevka Fixed" panose="02000509030000000004" pitchFamily="49" charset="0"/>
              </a:rPr>
              <a:t> == </a:t>
            </a:r>
            <a:r>
              <a:rPr lang="en-US" altLang="zh-CN" sz="2000">
                <a:solidFill>
                  <a:srgbClr val="098658"/>
                </a:solidFill>
                <a:effectLst/>
                <a:highlight>
                  <a:srgbClr val="FFFF00"/>
                </a:highlight>
                <a:latin typeface="Consolas" panose="020B0609020204030204" pitchFamily="49" charset="0"/>
                <a:ea typeface="Iosevka Fixed" panose="02000509030000000004" pitchFamily="49" charset="0"/>
                <a:cs typeface="Iosevka Fixed" panose="02000509030000000004" pitchFamily="49" charset="0"/>
              </a:rPr>
              <a:t>0</a:t>
            </a:r>
            <a:r>
              <a:rPr lang="en-US" altLang="zh-CN" sz="2000">
                <a:solidFill>
                  <a:srgbClr val="000000"/>
                </a:solidFill>
                <a:effectLst/>
                <a:highlight>
                  <a:srgbClr val="FFFF00"/>
                </a:highlight>
                <a:latin typeface="Consolas" panose="020B0609020204030204" pitchFamily="49" charset="0"/>
                <a:ea typeface="Iosevka Fixed" panose="02000509030000000004" pitchFamily="49" charset="0"/>
                <a:cs typeface="Iosevka Fixed" panose="02000509030000000004" pitchFamily="49" charset="0"/>
              </a:rPr>
              <a:t>)</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sum += tmp;</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cnt ++;</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r>
              <a:rPr lang="en-US" altLang="zh-CN" sz="2000" b="0">
                <a:solidFill>
                  <a:srgbClr val="0000FF"/>
                </a:solidFill>
                <a:effectLst/>
                <a:latin typeface="Consolas" panose="020B0609020204030204" pitchFamily="49" charset="0"/>
                <a:ea typeface="Iosevka Fixed" panose="02000509030000000004" pitchFamily="49" charset="0"/>
                <a:cs typeface="Iosevka Fixed" panose="02000509030000000004" pitchFamily="49" charset="0"/>
              </a:rPr>
              <a:t>if</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(sum &gt; </a:t>
            </a:r>
            <a:r>
              <a:rPr lang="en-US" altLang="zh-CN" sz="2000" b="0">
                <a:solidFill>
                  <a:srgbClr val="098658"/>
                </a:solidFill>
                <a:effectLst/>
                <a:latin typeface="Consolas" panose="020B0609020204030204" pitchFamily="49" charset="0"/>
                <a:ea typeface="Iosevka Fixed" panose="02000509030000000004" pitchFamily="49" charset="0"/>
                <a:cs typeface="Iosevka Fixed" panose="02000509030000000004" pitchFamily="49" charset="0"/>
              </a:rPr>
              <a:t>0.0</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sum /= cnt;</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cout &lt;&lt; fixed &lt;&lt; setprecision(</a:t>
            </a:r>
            <a:r>
              <a:rPr lang="en-US" altLang="zh-CN" sz="2000" b="0">
                <a:solidFill>
                  <a:srgbClr val="098658"/>
                </a:solidFill>
                <a:effectLst/>
                <a:latin typeface="Consolas" panose="020B0609020204030204" pitchFamily="49" charset="0"/>
                <a:ea typeface="Iosevka Fixed" panose="02000509030000000004" pitchFamily="49" charset="0"/>
                <a:cs typeface="Iosevka Fixed" panose="02000509030000000004" pitchFamily="49" charset="0"/>
              </a:rPr>
              <a:t>4</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&lt;&lt; sum &lt;&lt; endl;</a:t>
            </a:r>
          </a:p>
          <a:p>
            <a:pPr algn="l"/>
            <a:b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b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r>
              <a:rPr lang="en-US" altLang="zh-CN" sz="2000" b="0">
                <a:solidFill>
                  <a:srgbClr val="0000FF"/>
                </a:solidFill>
                <a:effectLst/>
                <a:latin typeface="Consolas" panose="020B0609020204030204" pitchFamily="49" charset="0"/>
                <a:ea typeface="Iosevka Fixed" panose="02000509030000000004" pitchFamily="49" charset="0"/>
                <a:cs typeface="Iosevka Fixed" panose="02000509030000000004" pitchFamily="49" charset="0"/>
              </a:rPr>
              <a:t>return</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 </a:t>
            </a:r>
            <a:r>
              <a:rPr lang="en-US" altLang="zh-CN" sz="2000" b="0">
                <a:solidFill>
                  <a:srgbClr val="098658"/>
                </a:solidFill>
                <a:effectLst/>
                <a:latin typeface="Consolas" panose="020B0609020204030204" pitchFamily="49" charset="0"/>
                <a:ea typeface="Iosevka Fixed" panose="02000509030000000004" pitchFamily="49" charset="0"/>
                <a:cs typeface="Iosevka Fixed" panose="02000509030000000004" pitchFamily="49" charset="0"/>
              </a:rPr>
              <a:t>0</a:t>
            </a:r>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a:t>
            </a:r>
          </a:p>
          <a:p>
            <a:pPr algn="l"/>
            <a:r>
              <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rPr>
              <a:t>}</a:t>
            </a:r>
            <a:r>
              <a:rPr lang="en-US" altLang="zh-CN" sz="2000" b="0">
                <a:solidFill>
                  <a:srgbClr val="008000"/>
                </a:solidFill>
                <a:effectLst/>
                <a:latin typeface="Consolas" panose="020B0609020204030204" pitchFamily="49" charset="0"/>
                <a:ea typeface="Iosevka Fixed" panose="02000509030000000004" pitchFamily="49" charset="0"/>
                <a:cs typeface="Iosevka Fixed" panose="02000509030000000004" pitchFamily="49" charset="0"/>
              </a:rPr>
              <a:t> // OJ02-02D.cpp</a:t>
            </a:r>
            <a:endParaRPr lang="en-US" altLang="zh-CN" sz="2000" b="0">
              <a:solidFill>
                <a:srgbClr val="000000"/>
              </a:solidFill>
              <a:effectLst/>
              <a:latin typeface="Consolas" panose="020B0609020204030204" pitchFamily="49" charset="0"/>
              <a:ea typeface="Iosevka Fixed" panose="02000509030000000004" pitchFamily="49" charset="0"/>
              <a:cs typeface="Iosevka Fixed" panose="02000509030000000004" pitchFamily="49" charset="0"/>
            </a:endParaRPr>
          </a:p>
        </p:txBody>
      </p:sp>
      <p:sp>
        <p:nvSpPr>
          <p:cNvPr id="8" name="标题 1">
            <a:extLst>
              <a:ext uri="{FF2B5EF4-FFF2-40B4-BE49-F238E27FC236}">
                <a16:creationId xmlns:a16="http://schemas.microsoft.com/office/drawing/2014/main" id="{2234202D-2CD9-47F9-AE3D-18D436BAE0B6}"/>
              </a:ext>
            </a:extLst>
          </p:cNvPr>
          <p:cNvSpPr>
            <a:spLocks noGrp="1"/>
          </p:cNvSpPr>
          <p:nvPr>
            <p:ph type="title"/>
          </p:nvPr>
        </p:nvSpPr>
        <p:spPr>
          <a:xfrm>
            <a:off x="547201" y="410841"/>
            <a:ext cx="9498499" cy="927598"/>
          </a:xfrm>
          <a:solidFill>
            <a:schemeClr val="accent1">
              <a:lumMod val="75000"/>
            </a:schemeClr>
          </a:solidFill>
        </p:spPr>
        <p:txBody>
          <a:bodyPr/>
          <a:lstStyle/>
          <a:p>
            <a:r>
              <a:rPr lang="zh-CN" altLang="en-US" dirty="0"/>
              <a:t>作业“回头再看” </a:t>
            </a:r>
            <a:r>
              <a:rPr lang="en-US" altLang="zh-CN" dirty="0"/>
              <a:t>—— </a:t>
            </a:r>
            <a:r>
              <a:rPr lang="zh-CN" altLang="en-US" dirty="0"/>
              <a:t>奇数</a:t>
            </a:r>
            <a:r>
              <a:rPr lang="zh-CN" altLang="en-US" b="1" dirty="0">
                <a:solidFill>
                  <a:srgbClr val="FFFF00"/>
                </a:solidFill>
              </a:rPr>
              <a:t>且</a:t>
            </a:r>
            <a:r>
              <a:rPr lang="en-US" altLang="zh-CN" dirty="0"/>
              <a:t>3</a:t>
            </a:r>
            <a:r>
              <a:rPr lang="zh-CN" altLang="en-US" dirty="0"/>
              <a:t>倍数</a:t>
            </a:r>
          </a:p>
        </p:txBody>
      </p:sp>
      <p:sp>
        <p:nvSpPr>
          <p:cNvPr id="9" name="灯片编号占位符 1">
            <a:extLst>
              <a:ext uri="{FF2B5EF4-FFF2-40B4-BE49-F238E27FC236}">
                <a16:creationId xmlns:a16="http://schemas.microsoft.com/office/drawing/2014/main" id="{0FD6810B-E7DD-421F-A6E9-45036093AF34}"/>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67</a:t>
            </a:fld>
            <a:endParaRPr/>
          </a:p>
        </p:txBody>
      </p:sp>
    </p:spTree>
    <p:extLst>
      <p:ext uri="{BB962C8B-B14F-4D97-AF65-F5344CB8AC3E}">
        <p14:creationId xmlns:p14="http://schemas.microsoft.com/office/powerpoint/2010/main" val="2105196348"/>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2234202D-2CD9-47F9-AE3D-18D436BAE0B6}"/>
              </a:ext>
            </a:extLst>
          </p:cNvPr>
          <p:cNvSpPr>
            <a:spLocks noGrp="1"/>
          </p:cNvSpPr>
          <p:nvPr>
            <p:ph type="title"/>
          </p:nvPr>
        </p:nvSpPr>
        <p:spPr>
          <a:xfrm>
            <a:off x="547201" y="410841"/>
            <a:ext cx="8507899" cy="927598"/>
          </a:xfrm>
          <a:solidFill>
            <a:schemeClr val="accent1">
              <a:lumMod val="75000"/>
            </a:schemeClr>
          </a:solidFill>
        </p:spPr>
        <p:txBody>
          <a:bodyPr/>
          <a:lstStyle/>
          <a:p>
            <a:r>
              <a:rPr lang="zh-CN" altLang="en-US" dirty="0"/>
              <a:t>作业“回头再看” </a:t>
            </a:r>
            <a:r>
              <a:rPr lang="en-US" altLang="zh-CN" dirty="0"/>
              <a:t>—— </a:t>
            </a:r>
            <a:r>
              <a:rPr lang="zh-CN" altLang="en-US" dirty="0"/>
              <a:t>判断闰年</a:t>
            </a:r>
          </a:p>
        </p:txBody>
      </p:sp>
      <p:sp>
        <p:nvSpPr>
          <p:cNvPr id="4" name="文本框 3">
            <a:extLst>
              <a:ext uri="{FF2B5EF4-FFF2-40B4-BE49-F238E27FC236}">
                <a16:creationId xmlns:a16="http://schemas.microsoft.com/office/drawing/2014/main" id="{8DE32446-E401-46CC-BA41-A31F173D6EE1}"/>
              </a:ext>
            </a:extLst>
          </p:cNvPr>
          <p:cNvSpPr txBox="1"/>
          <p:nvPr/>
        </p:nvSpPr>
        <p:spPr>
          <a:xfrm>
            <a:off x="609724" y="2393373"/>
            <a:ext cx="3790337" cy="6863417"/>
          </a:xfrm>
          <a:prstGeom prst="rect">
            <a:avLst/>
          </a:prstGeom>
          <a:noFill/>
          <a:ln w="12700" cap="flat">
            <a:solidFill>
              <a:schemeClr val="accent1"/>
            </a:solidFill>
            <a:prstDash val="dash"/>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2000">
                <a:solidFill>
                  <a:srgbClr val="0000FF"/>
                </a:solidFill>
                <a:effectLst/>
                <a:latin typeface="Consolas" panose="020B0609020204030204" pitchFamily="49" charset="0"/>
              </a:rPr>
              <a:t>int</a:t>
            </a:r>
            <a:r>
              <a:rPr lang="en-US" altLang="zh-CN" sz="2000">
                <a:solidFill>
                  <a:srgbClr val="000000"/>
                </a:solidFill>
                <a:effectLst/>
                <a:latin typeface="Consolas" panose="020B0609020204030204" pitchFamily="49" charset="0"/>
              </a:rPr>
              <a:t> main()</a:t>
            </a:r>
          </a:p>
          <a:p>
            <a:pPr algn="l"/>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int</a:t>
            </a:r>
            <a:r>
              <a:rPr lang="en-US" altLang="zh-CN" sz="2000">
                <a:solidFill>
                  <a:srgbClr val="000000"/>
                </a:solidFill>
                <a:effectLst/>
                <a:latin typeface="Consolas" panose="020B0609020204030204" pitchFamily="49" charset="0"/>
              </a:rPr>
              <a:t> y;</a:t>
            </a:r>
          </a:p>
          <a:p>
            <a:pPr algn="l"/>
            <a:r>
              <a:rPr lang="en-US" altLang="zh-CN" sz="2000">
                <a:solidFill>
                  <a:srgbClr val="000000"/>
                </a:solidFill>
                <a:effectLst/>
                <a:latin typeface="Consolas" panose="020B0609020204030204" pitchFamily="49" charset="0"/>
              </a:rPr>
              <a:t>    cin &gt;&gt; y;</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if</a:t>
            </a:r>
            <a:r>
              <a:rPr lang="en-US" altLang="zh-CN" sz="2000">
                <a:solidFill>
                  <a:srgbClr val="000000"/>
                </a:solidFill>
                <a:effectLst/>
                <a:latin typeface="Consolas" panose="020B0609020204030204" pitchFamily="49" charset="0"/>
              </a:rPr>
              <a:t> (y % </a:t>
            </a:r>
            <a:r>
              <a:rPr lang="en-US" altLang="zh-CN" sz="2000">
                <a:solidFill>
                  <a:srgbClr val="098658"/>
                </a:solidFill>
                <a:effectLst/>
                <a:latin typeface="Consolas" panose="020B0609020204030204" pitchFamily="49" charset="0"/>
              </a:rPr>
              <a:t>4</a:t>
            </a:r>
            <a:r>
              <a:rPr lang="en-US" altLang="zh-CN" sz="2000">
                <a:solidFill>
                  <a:srgbClr val="000000"/>
                </a:solidFill>
                <a:effectLst/>
                <a:latin typeface="Consolas" panose="020B0609020204030204" pitchFamily="49" charset="0"/>
              </a:rPr>
              <a:t> &gt;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p>
          <a:p>
            <a:pPr algn="l"/>
            <a:r>
              <a:rPr lang="en-US" altLang="zh-CN" sz="2000">
                <a:solidFill>
                  <a:srgbClr val="000000"/>
                </a:solidFill>
                <a:effectLst/>
                <a:latin typeface="Consolas" panose="020B0609020204030204" pitchFamily="49" charset="0"/>
              </a:rPr>
              <a:t>        cout &lt;&lt; </a:t>
            </a:r>
            <a:r>
              <a:rPr lang="en-US" altLang="zh-CN" sz="2000">
                <a:solidFill>
                  <a:srgbClr val="A31515"/>
                </a:solidFill>
                <a:effectLst/>
                <a:latin typeface="Consolas" panose="020B0609020204030204" pitchFamily="49" charset="0"/>
              </a:rPr>
              <a:t>"NO"</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return</a:t>
            </a:r>
            <a:r>
              <a:rPr lang="en-US" altLang="zh-CN" sz="2000">
                <a:solidFill>
                  <a:srgbClr val="000000"/>
                </a:solidFill>
                <a:effectLst/>
                <a:latin typeface="Consolas" panose="020B0609020204030204" pitchFamily="49" charset="0"/>
              </a:rPr>
              <a: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if</a:t>
            </a:r>
            <a:r>
              <a:rPr lang="en-US" altLang="zh-CN" sz="2000">
                <a:solidFill>
                  <a:srgbClr val="000000"/>
                </a:solidFill>
                <a:effectLst/>
                <a:latin typeface="Consolas" panose="020B0609020204030204" pitchFamily="49" charset="0"/>
              </a:rPr>
              <a:t> (y % </a:t>
            </a:r>
            <a:r>
              <a:rPr lang="en-US" altLang="zh-CN" sz="2000">
                <a:solidFill>
                  <a:srgbClr val="098658"/>
                </a:solidFill>
                <a:effectLst/>
                <a:latin typeface="Consolas" panose="020B0609020204030204" pitchFamily="49" charset="0"/>
              </a:rPr>
              <a:t>100</a:t>
            </a:r>
            <a:r>
              <a:rPr lang="en-US" altLang="zh-CN" sz="2000">
                <a:solidFill>
                  <a:srgbClr val="000000"/>
                </a:solidFill>
                <a:effectLst/>
                <a:latin typeface="Consolas" panose="020B0609020204030204" pitchFamily="49" charset="0"/>
              </a:rPr>
              <a:t> &gt;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p>
          <a:p>
            <a:pPr algn="l"/>
            <a:r>
              <a:rPr lang="en-US" altLang="zh-CN" sz="2000">
                <a:solidFill>
                  <a:srgbClr val="000000"/>
                </a:solidFill>
                <a:effectLst/>
                <a:latin typeface="Consolas" panose="020B0609020204030204" pitchFamily="49" charset="0"/>
              </a:rPr>
              <a:t>        cout &lt;&lt; </a:t>
            </a:r>
            <a:r>
              <a:rPr lang="en-US" altLang="zh-CN" sz="2000">
                <a:solidFill>
                  <a:srgbClr val="A31515"/>
                </a:solidFill>
                <a:effectLst/>
                <a:latin typeface="Consolas" panose="020B0609020204030204" pitchFamily="49" charset="0"/>
              </a:rPr>
              <a:t>"YES"</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return</a:t>
            </a:r>
            <a:r>
              <a:rPr lang="en-US" altLang="zh-CN" sz="2000">
                <a:solidFill>
                  <a:srgbClr val="000000"/>
                </a:solidFill>
                <a:effectLst/>
                <a:latin typeface="Consolas" panose="020B0609020204030204" pitchFamily="49" charset="0"/>
              </a:rPr>
              <a: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if</a:t>
            </a:r>
            <a:r>
              <a:rPr lang="en-US" altLang="zh-CN" sz="2000">
                <a:solidFill>
                  <a:srgbClr val="000000"/>
                </a:solidFill>
                <a:effectLst/>
                <a:latin typeface="Consolas" panose="020B0609020204030204" pitchFamily="49" charset="0"/>
              </a:rPr>
              <a:t> (y % </a:t>
            </a:r>
            <a:r>
              <a:rPr lang="en-US" altLang="zh-CN" sz="2000">
                <a:solidFill>
                  <a:srgbClr val="098658"/>
                </a:solidFill>
                <a:effectLst/>
                <a:latin typeface="Consolas" panose="020B0609020204030204" pitchFamily="49" charset="0"/>
              </a:rPr>
              <a:t>400</a:t>
            </a:r>
            <a:r>
              <a:rPr lang="en-US" altLang="zh-CN" sz="2000">
                <a:solidFill>
                  <a:srgbClr val="000000"/>
                </a:solidFill>
                <a:effectLst/>
                <a:latin typeface="Consolas" panose="020B0609020204030204" pitchFamily="49" charset="0"/>
              </a:rPr>
              <a:t> &gt;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p>
          <a:p>
            <a:pPr algn="l"/>
            <a:r>
              <a:rPr lang="en-US" altLang="zh-CN" sz="2000">
                <a:solidFill>
                  <a:srgbClr val="000000"/>
                </a:solidFill>
                <a:effectLst/>
                <a:latin typeface="Consolas" panose="020B0609020204030204" pitchFamily="49" charset="0"/>
              </a:rPr>
              <a:t>        cout &lt;&lt; </a:t>
            </a:r>
            <a:r>
              <a:rPr lang="en-US" altLang="zh-CN" sz="2000">
                <a:solidFill>
                  <a:srgbClr val="A31515"/>
                </a:solidFill>
                <a:effectLst/>
                <a:latin typeface="Consolas" panose="020B0609020204030204" pitchFamily="49" charset="0"/>
              </a:rPr>
              <a:t>"NO"</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return</a:t>
            </a:r>
            <a:r>
              <a:rPr lang="en-US" altLang="zh-CN" sz="2000">
                <a:solidFill>
                  <a:srgbClr val="000000"/>
                </a:solidFill>
                <a:effectLst/>
                <a:latin typeface="Consolas" panose="020B0609020204030204" pitchFamily="49" charset="0"/>
              </a:rPr>
              <a: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br>
              <a:rPr lang="en-US" altLang="zh-CN" sz="2000">
                <a:solidFill>
                  <a:srgbClr val="000000"/>
                </a:solidFill>
                <a:effectLst/>
                <a:latin typeface="Consolas" panose="020B0609020204030204" pitchFamily="49" charset="0"/>
              </a:rPr>
            </a:br>
            <a:r>
              <a:rPr lang="en-US" altLang="zh-CN" sz="2000">
                <a:solidFill>
                  <a:srgbClr val="000000"/>
                </a:solidFill>
                <a:effectLst/>
                <a:latin typeface="Consolas" panose="020B0609020204030204" pitchFamily="49" charset="0"/>
              </a:rPr>
              <a:t>    cout &lt;&lt; </a:t>
            </a:r>
            <a:r>
              <a:rPr lang="en-US" altLang="zh-CN" sz="2000">
                <a:solidFill>
                  <a:srgbClr val="A31515"/>
                </a:solidFill>
                <a:effectLst/>
                <a:latin typeface="Consolas" panose="020B0609020204030204" pitchFamily="49" charset="0"/>
              </a:rPr>
              <a:t>"YES"</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    </a:t>
            </a:r>
            <a:r>
              <a:rPr lang="en-US" altLang="zh-CN" sz="2000">
                <a:solidFill>
                  <a:srgbClr val="0000FF"/>
                </a:solidFill>
                <a:effectLst/>
                <a:latin typeface="Consolas" panose="020B0609020204030204" pitchFamily="49" charset="0"/>
              </a:rPr>
              <a:t>return</a:t>
            </a:r>
            <a:r>
              <a:rPr lang="en-US" altLang="zh-CN" sz="2000">
                <a:solidFill>
                  <a:srgbClr val="000000"/>
                </a:solidFill>
                <a:effectLst/>
                <a:latin typeface="Consolas" panose="020B0609020204030204" pitchFamily="49" charset="0"/>
              </a:rPr>
              <a:t> </a:t>
            </a:r>
            <a:r>
              <a:rPr lang="en-US" altLang="zh-CN" sz="2000">
                <a:solidFill>
                  <a:srgbClr val="098658"/>
                </a:solidFill>
                <a:effectLst/>
                <a:latin typeface="Consolas" panose="020B0609020204030204" pitchFamily="49" charset="0"/>
              </a:rPr>
              <a:t>0</a:t>
            </a:r>
            <a:r>
              <a:rPr lang="en-US" altLang="zh-CN" sz="2000">
                <a:solidFill>
                  <a:srgbClr val="000000"/>
                </a:solidFill>
                <a:effectLst/>
                <a:latin typeface="Consolas" panose="020B0609020204030204" pitchFamily="49" charset="0"/>
              </a:rPr>
              <a:t>;</a:t>
            </a:r>
          </a:p>
          <a:p>
            <a:pPr algn="l"/>
            <a:r>
              <a:rPr lang="en-US" altLang="zh-CN" sz="2000">
                <a:solidFill>
                  <a:srgbClr val="000000"/>
                </a:solidFill>
                <a:effectLst/>
                <a:latin typeface="Consolas" panose="020B0609020204030204" pitchFamily="49" charset="0"/>
              </a:rPr>
              <a:t>}</a:t>
            </a:r>
          </a:p>
        </p:txBody>
      </p:sp>
      <p:sp>
        <p:nvSpPr>
          <p:cNvPr id="2" name="箭头: 右 1">
            <a:extLst>
              <a:ext uri="{FF2B5EF4-FFF2-40B4-BE49-F238E27FC236}">
                <a16:creationId xmlns:a16="http://schemas.microsoft.com/office/drawing/2014/main" id="{56897D3A-A20B-4CBB-9B1C-395AC1F1F4B9}"/>
              </a:ext>
            </a:extLst>
          </p:cNvPr>
          <p:cNvSpPr/>
          <p:nvPr/>
        </p:nvSpPr>
        <p:spPr>
          <a:xfrm>
            <a:off x="4974713" y="5278632"/>
            <a:ext cx="2024185" cy="927598"/>
          </a:xfrm>
          <a:prstGeom prst="rightArrow">
            <a:avLst/>
          </a:prstGeom>
          <a:noFill/>
          <a:ln w="28575">
            <a:solidFill>
              <a:schemeClr val="accent5">
                <a:lumMod val="75000"/>
              </a:schemeClr>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7" name="灯片编号占位符 1">
            <a:extLst>
              <a:ext uri="{FF2B5EF4-FFF2-40B4-BE49-F238E27FC236}">
                <a16:creationId xmlns:a16="http://schemas.microsoft.com/office/drawing/2014/main" id="{F411EE04-1C92-45A4-BA52-32EC1706229F}"/>
              </a:ext>
            </a:extLst>
          </p:cNvPr>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68</a:t>
            </a:fld>
            <a:endParaRPr/>
          </a:p>
        </p:txBody>
      </p:sp>
      <p:sp>
        <p:nvSpPr>
          <p:cNvPr id="3" name="文本框 2">
            <a:extLst>
              <a:ext uri="{FF2B5EF4-FFF2-40B4-BE49-F238E27FC236}">
                <a16:creationId xmlns:a16="http://schemas.microsoft.com/office/drawing/2014/main" id="{5B7EA2A8-DEDF-0840-6A4D-77379C0DDB6F}"/>
              </a:ext>
            </a:extLst>
          </p:cNvPr>
          <p:cNvSpPr txBox="1"/>
          <p:nvPr/>
        </p:nvSpPr>
        <p:spPr>
          <a:xfrm>
            <a:off x="7159402" y="5395669"/>
            <a:ext cx="5437386" cy="6935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20000"/>
              </a:lnSpc>
              <a:spcBef>
                <a:spcPts val="0"/>
              </a:spcBef>
              <a:spcAft>
                <a:spcPts val="0"/>
              </a:spcAft>
              <a:buClrTx/>
              <a:buSzTx/>
              <a:buFontTx/>
              <a:buNone/>
              <a:tabLst/>
            </a:pPr>
            <a:r>
              <a:rPr kumimoji="0" lang="zh-CN" altLang="en-US" sz="3200" u="none" strike="noStrike" cap="none" spc="0" normalizeH="0" baseline="0" dirty="0">
                <a:ln>
                  <a:noFill/>
                </a:ln>
                <a:solidFill>
                  <a:srgbClr val="000000"/>
                </a:solidFill>
                <a:effectLst/>
                <a:uFillTx/>
                <a:latin typeface="Consolas" panose="020B0609020204030204" pitchFamily="49" charset="0"/>
                <a:sym typeface="Helvetica Neue"/>
              </a:rPr>
              <a:t>请在课后自行</a:t>
            </a:r>
            <a:r>
              <a:rPr lang="zh-CN" altLang="en-US" sz="3200" dirty="0">
                <a:latin typeface="Consolas" panose="020B0609020204030204" pitchFamily="49" charset="0"/>
              </a:rPr>
              <a:t>练习“</a:t>
            </a:r>
            <a:r>
              <a:rPr lang="zh-CN" altLang="en-US" sz="3200" dirty="0">
                <a:highlight>
                  <a:srgbClr val="FFFF00"/>
                </a:highlight>
                <a:latin typeface="Consolas" panose="020B0609020204030204" pitchFamily="49" charset="0"/>
              </a:rPr>
              <a:t>代码</a:t>
            </a:r>
            <a:r>
              <a:rPr kumimoji="0" lang="zh-CN" altLang="en-US" sz="3200" u="none" strike="noStrike" cap="none" spc="0" normalizeH="0" baseline="0" dirty="0">
                <a:ln>
                  <a:noFill/>
                </a:ln>
                <a:solidFill>
                  <a:srgbClr val="000000"/>
                </a:solidFill>
                <a:effectLst/>
                <a:highlight>
                  <a:srgbClr val="FFFF00"/>
                </a:highlight>
                <a:uFillTx/>
                <a:latin typeface="Consolas" panose="020B0609020204030204" pitchFamily="49" charset="0"/>
                <a:sym typeface="Helvetica Neue"/>
              </a:rPr>
              <a:t>重构”</a:t>
            </a:r>
          </a:p>
        </p:txBody>
      </p:sp>
    </p:spTree>
    <p:extLst>
      <p:ext uri="{BB962C8B-B14F-4D97-AF65-F5344CB8AC3E}">
        <p14:creationId xmlns:p14="http://schemas.microsoft.com/office/powerpoint/2010/main" val="4289321785"/>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69</a:t>
            </a:fld>
            <a:endParaRPr/>
          </a:p>
        </p:txBody>
      </p:sp>
      <p:sp>
        <p:nvSpPr>
          <p:cNvPr id="219" name="逻辑非运算！"/>
          <p:cNvSpPr txBox="1">
            <a:spLocks noGrp="1"/>
          </p:cNvSpPr>
          <p:nvPr>
            <p:ph type="title"/>
          </p:nvPr>
        </p:nvSpPr>
        <p:spPr>
          <a:xfrm>
            <a:off x="547201" y="354125"/>
            <a:ext cx="3989965" cy="1152045"/>
          </a:xfrm>
          <a:prstGeom prst="rect">
            <a:avLst/>
          </a:prstGeom>
        </p:spPr>
        <p:txBody>
          <a:bodyPr/>
          <a:lstStyle/>
          <a:p>
            <a:pPr algn="r"/>
            <a:r>
              <a:t>逻辑非运算！</a:t>
            </a:r>
          </a:p>
        </p:txBody>
      </p:sp>
      <p:sp>
        <p:nvSpPr>
          <p:cNvPr id="2" name="文本框 1">
            <a:extLst>
              <a:ext uri="{FF2B5EF4-FFF2-40B4-BE49-F238E27FC236}">
                <a16:creationId xmlns:a16="http://schemas.microsoft.com/office/drawing/2014/main" id="{8FE8C97D-60D9-4E3E-9EB3-90EF9B6C7ECF}"/>
              </a:ext>
            </a:extLst>
          </p:cNvPr>
          <p:cNvSpPr txBox="1"/>
          <p:nvPr/>
        </p:nvSpPr>
        <p:spPr>
          <a:xfrm>
            <a:off x="547201" y="2193945"/>
            <a:ext cx="11840744" cy="72122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defTabSz="1287475">
              <a:lnSpc>
                <a:spcPct val="150000"/>
              </a:lnSpc>
              <a:buClr>
                <a:srgbClr val="FFFF00"/>
              </a:buClr>
              <a:defRPr sz="3564">
                <a:latin typeface="冬青黑体简体中文 W3"/>
                <a:ea typeface="冬青黑体简体中文 W3"/>
                <a:cs typeface="冬青黑体简体中文 W3"/>
                <a:sym typeface="冬青黑体简体中文 W3"/>
              </a:defRPr>
            </a:pPr>
            <a:r>
              <a:rPr lang="zh-CN" altLang="en-US" sz="2800"/>
              <a:t>下面以两支队比赛篮球来说明</a:t>
            </a:r>
            <a:r>
              <a:rPr lang="zh-CN" altLang="en-US" sz="2800">
                <a:highlight>
                  <a:srgbClr val="FFFF00"/>
                </a:highlight>
              </a:rPr>
              <a:t>逻辑运算（与、或、非）</a:t>
            </a:r>
            <a:r>
              <a:rPr lang="zh-CN" altLang="en-US" sz="2800"/>
              <a:t>的语义。</a:t>
            </a:r>
            <a:endParaRPr lang="en-US" altLang="zh-CN" sz="2800"/>
          </a:p>
          <a:p>
            <a:pPr algn="just" defTabSz="1287475">
              <a:lnSpc>
                <a:spcPct val="150000"/>
              </a:lnSpc>
              <a:buClr>
                <a:srgbClr val="FFFF00"/>
              </a:buClr>
              <a:defRPr sz="3564">
                <a:latin typeface="冬青黑体简体中文 W3"/>
                <a:ea typeface="冬青黑体简体中文 W3"/>
                <a:cs typeface="冬青黑体简体中文 W3"/>
                <a:sym typeface="冬青黑体简体中文 W3"/>
              </a:defRPr>
            </a:pPr>
            <a:endParaRPr lang="en-US" altLang="zh-CN" sz="2800"/>
          </a:p>
          <a:p>
            <a:pPr algn="just" defTabSz="1287475">
              <a:lnSpc>
                <a:spcPct val="150000"/>
              </a:lnSpc>
              <a:buClr>
                <a:srgbClr val="FFFF00"/>
              </a:buClr>
              <a:defRPr sz="3564">
                <a:latin typeface="冬青黑体简体中文 W3"/>
                <a:ea typeface="冬青黑体简体中文 W3"/>
                <a:cs typeface="冬青黑体简体中文 W3"/>
                <a:sym typeface="冬青黑体简体中文 W3"/>
              </a:defRPr>
            </a:pPr>
            <a:r>
              <a:rPr lang="zh-CN" altLang="en-US" sz="2800"/>
              <a:t>若以变量 </a:t>
            </a:r>
            <a:r>
              <a:rPr lang="en-US" altLang="zh-CN" sz="2800"/>
              <a:t>A </a:t>
            </a:r>
            <a:r>
              <a:rPr lang="zh-CN" altLang="en-US" sz="2800"/>
              <a:t>表示 “</a:t>
            </a:r>
            <a:r>
              <a:rPr lang="en-US" altLang="zh-CN" sz="2800"/>
              <a:t>A </a:t>
            </a:r>
            <a:r>
              <a:rPr lang="zh-CN" altLang="en-US" sz="2800"/>
              <a:t>队到场”这个命题（即：</a:t>
            </a:r>
            <a:r>
              <a:rPr lang="zh-CN" altLang="en-US" sz="2800">
                <a:solidFill>
                  <a:srgbClr val="0070C0"/>
                </a:solidFill>
              </a:rPr>
              <a:t>若</a:t>
            </a:r>
            <a:r>
              <a:rPr lang="en-US" altLang="zh-CN" sz="2800">
                <a:solidFill>
                  <a:srgbClr val="0070C0"/>
                </a:solidFill>
              </a:rPr>
              <a:t>A</a:t>
            </a:r>
            <a:r>
              <a:rPr lang="zh-CN" altLang="en-US" sz="2800">
                <a:solidFill>
                  <a:srgbClr val="0070C0"/>
                </a:solidFill>
              </a:rPr>
              <a:t>为真，则‘</a:t>
            </a:r>
            <a:r>
              <a:rPr lang="en-US" altLang="zh-CN" sz="2800">
                <a:solidFill>
                  <a:srgbClr val="0070C0"/>
                </a:solidFill>
              </a:rPr>
              <a:t>A’</a:t>
            </a:r>
            <a:r>
              <a:rPr lang="zh-CN" altLang="en-US" sz="2800">
                <a:solidFill>
                  <a:srgbClr val="0070C0"/>
                </a:solidFill>
              </a:rPr>
              <a:t>队到场是事实；若</a:t>
            </a:r>
            <a:r>
              <a:rPr lang="en-US" altLang="zh-CN" sz="2800">
                <a:solidFill>
                  <a:srgbClr val="0070C0"/>
                </a:solidFill>
              </a:rPr>
              <a:t>A</a:t>
            </a:r>
            <a:r>
              <a:rPr lang="zh-CN" altLang="en-US" sz="2800">
                <a:solidFill>
                  <a:srgbClr val="0070C0"/>
                </a:solidFill>
              </a:rPr>
              <a:t>为假，则‘</a:t>
            </a:r>
            <a:r>
              <a:rPr lang="en-US" altLang="zh-CN" sz="2800">
                <a:solidFill>
                  <a:srgbClr val="0070C0"/>
                </a:solidFill>
              </a:rPr>
              <a:t>A’</a:t>
            </a:r>
            <a:r>
              <a:rPr lang="zh-CN" altLang="en-US" sz="2800">
                <a:solidFill>
                  <a:srgbClr val="0070C0"/>
                </a:solidFill>
              </a:rPr>
              <a:t>队未到场是事实</a:t>
            </a:r>
            <a:r>
              <a:rPr lang="zh-CN" altLang="en-US" sz="2800"/>
              <a:t>），变量 </a:t>
            </a:r>
            <a:r>
              <a:rPr lang="en-US" altLang="zh-CN" sz="2800"/>
              <a:t>B </a:t>
            </a:r>
            <a:r>
              <a:rPr lang="zh-CN" altLang="en-US" sz="2800"/>
              <a:t>表示“</a:t>
            </a:r>
            <a:r>
              <a:rPr lang="en-US" altLang="zh-CN" sz="2800"/>
              <a:t>B </a:t>
            </a:r>
            <a:r>
              <a:rPr lang="zh-CN" altLang="en-US" sz="2800"/>
              <a:t>队到场”这个命题，则：表达式 </a:t>
            </a:r>
            <a:r>
              <a:rPr lang="en-US" altLang="zh-CN" sz="2800"/>
              <a:t>!A </a:t>
            </a:r>
            <a:r>
              <a:rPr lang="zh-CN" altLang="en-US" sz="2800"/>
              <a:t>表示 ‘</a:t>
            </a:r>
            <a:r>
              <a:rPr lang="en-US" altLang="zh-CN" sz="2800"/>
              <a:t>A</a:t>
            </a:r>
            <a:r>
              <a:rPr lang="zh-CN" altLang="en-US" sz="2800"/>
              <a:t>’</a:t>
            </a:r>
            <a:r>
              <a:rPr lang="en-US" altLang="zh-CN" sz="2800"/>
              <a:t> </a:t>
            </a:r>
            <a:r>
              <a:rPr lang="zh-CN" altLang="en-US" sz="2800"/>
              <a:t>队不到场命题，表达式 </a:t>
            </a:r>
            <a:r>
              <a:rPr lang="en-US" altLang="zh-CN" sz="2800"/>
              <a:t>!B </a:t>
            </a:r>
            <a:r>
              <a:rPr lang="zh-CN" altLang="en-US" sz="2800"/>
              <a:t>表示‘ </a:t>
            </a:r>
            <a:r>
              <a:rPr lang="en-US" altLang="zh-CN" sz="2800"/>
              <a:t>B</a:t>
            </a:r>
            <a:r>
              <a:rPr lang="zh-CN" altLang="en-US" sz="2800"/>
              <a:t>’</a:t>
            </a:r>
            <a:r>
              <a:rPr lang="en-US" altLang="zh-CN" sz="2800"/>
              <a:t> </a:t>
            </a:r>
            <a:r>
              <a:rPr lang="zh-CN" altLang="en-US" sz="2800"/>
              <a:t>队不到场命题。</a:t>
            </a:r>
            <a:endParaRPr lang="en-US" altLang="zh-CN" sz="2800"/>
          </a:p>
          <a:p>
            <a:pPr algn="just" defTabSz="1287475">
              <a:lnSpc>
                <a:spcPct val="150000"/>
              </a:lnSpc>
              <a:buClr>
                <a:srgbClr val="FFFF00"/>
              </a:buClr>
              <a:defRPr sz="3564">
                <a:latin typeface="冬青黑体简体中文 W3"/>
                <a:ea typeface="冬青黑体简体中文 W3"/>
                <a:cs typeface="冬青黑体简体中文 W3"/>
                <a:sym typeface="冬青黑体简体中文 W3"/>
              </a:defRPr>
            </a:pPr>
            <a:endParaRPr lang="zh-CN" altLang="en-US" sz="2800"/>
          </a:p>
          <a:p>
            <a:pPr algn="just" defTabSz="1287475">
              <a:lnSpc>
                <a:spcPct val="150000"/>
              </a:lnSpc>
              <a:defRPr sz="3564">
                <a:latin typeface="冬青黑体简体中文 W3"/>
                <a:ea typeface="冬青黑体简体中文 W3"/>
                <a:cs typeface="冬青黑体简体中文 W3"/>
                <a:sym typeface="冬青黑体简体中文 W3"/>
              </a:defRPr>
            </a:pPr>
            <a:r>
              <a:rPr lang="zh-CN" altLang="en-US" sz="2800"/>
              <a:t>若要球赛能赛成，则显然两队都得到场。</a:t>
            </a:r>
            <a:endParaRPr lang="en-US" altLang="zh-CN" sz="2800"/>
          </a:p>
          <a:p>
            <a:pPr algn="just" defTabSz="1287475">
              <a:lnSpc>
                <a:spcPct val="150000"/>
              </a:lnSpc>
              <a:defRPr sz="3564">
                <a:latin typeface="冬青黑体简体中文 W3"/>
                <a:ea typeface="冬青黑体简体中文 W3"/>
                <a:cs typeface="冬青黑体简体中文 W3"/>
                <a:sym typeface="冬青黑体简体中文 W3"/>
              </a:defRPr>
            </a:pPr>
            <a:endParaRPr lang="zh-CN" altLang="en-US" sz="2800"/>
          </a:p>
          <a:p>
            <a:pPr lvl="1" indent="0" algn="just" defTabSz="1287475">
              <a:lnSpc>
                <a:spcPct val="150000"/>
              </a:lnSpc>
              <a:defRPr sz="3564">
                <a:solidFill>
                  <a:schemeClr val="accent1">
                    <a:hueOff val="114395"/>
                    <a:lumOff val="-24975"/>
                  </a:schemeClr>
                </a:solidFill>
                <a:latin typeface="冬青黑体简体中文 W3"/>
                <a:ea typeface="冬青黑体简体中文 W3"/>
                <a:cs typeface="冬青黑体简体中文 W3"/>
                <a:sym typeface="冬青黑体简体中文 W3"/>
              </a:defRPr>
            </a:pPr>
            <a:r>
              <a:rPr lang="zh-CN" altLang="en-US" sz="2800">
                <a:solidFill>
                  <a:srgbClr val="0070C0"/>
                </a:solidFill>
              </a:rPr>
              <a:t>若变量</a:t>
            </a:r>
            <a:r>
              <a:rPr lang="en-US" altLang="zh-CN" sz="2800">
                <a:solidFill>
                  <a:srgbClr val="0070C0"/>
                </a:solidFill>
              </a:rPr>
              <a:t>C</a:t>
            </a:r>
            <a:r>
              <a:rPr lang="zh-CN" altLang="en-US" sz="2800">
                <a:solidFill>
                  <a:srgbClr val="0070C0"/>
                </a:solidFill>
              </a:rPr>
              <a:t>表示“两队能赛成”这个命题，则 </a:t>
            </a:r>
            <a:r>
              <a:rPr lang="en-US" altLang="zh-CN" sz="2800">
                <a:solidFill>
                  <a:srgbClr val="0070C0"/>
                </a:solidFill>
              </a:rPr>
              <a:t>C = A &amp;&amp; B</a:t>
            </a:r>
            <a:r>
              <a:rPr lang="zh-CN" altLang="en-US" sz="2800">
                <a:solidFill>
                  <a:srgbClr val="0070C0"/>
                </a:solidFill>
              </a:rPr>
              <a:t>。</a:t>
            </a:r>
          </a:p>
          <a:p>
            <a:pPr lvl="1" indent="0" algn="just" defTabSz="1287475">
              <a:lnSpc>
                <a:spcPct val="150000"/>
              </a:lnSpc>
              <a:defRPr sz="3564">
                <a:solidFill>
                  <a:schemeClr val="accent1">
                    <a:hueOff val="114395"/>
                    <a:lumOff val="-24975"/>
                  </a:schemeClr>
                </a:solidFill>
                <a:latin typeface="冬青黑体简体中文 W3"/>
                <a:ea typeface="冬青黑体简体中文 W3"/>
                <a:cs typeface="冬青黑体简体中文 W3"/>
                <a:sym typeface="冬青黑体简体中文 W3"/>
              </a:defRPr>
            </a:pPr>
            <a:r>
              <a:rPr lang="zh-CN" altLang="en-US" sz="2800">
                <a:solidFill>
                  <a:srgbClr val="0070C0"/>
                </a:solidFill>
              </a:rPr>
              <a:t>若变量</a:t>
            </a:r>
            <a:r>
              <a:rPr lang="en-US" altLang="zh-CN" sz="2800">
                <a:solidFill>
                  <a:srgbClr val="0070C0"/>
                </a:solidFill>
              </a:rPr>
              <a:t>D</a:t>
            </a:r>
            <a:r>
              <a:rPr lang="zh-CN" altLang="en-US" sz="2800">
                <a:solidFill>
                  <a:srgbClr val="0070C0"/>
                </a:solidFill>
              </a:rPr>
              <a:t>表示“两队赛不成”这个命题，则 </a:t>
            </a:r>
            <a:r>
              <a:rPr lang="en-US" altLang="zh-CN" sz="2800">
                <a:solidFill>
                  <a:srgbClr val="0070C0"/>
                </a:solidFill>
              </a:rPr>
              <a:t>D = !C</a:t>
            </a:r>
            <a:r>
              <a:rPr lang="zh-CN" altLang="en-US" sz="2800">
                <a:solidFill>
                  <a:srgbClr val="0070C0"/>
                </a:solidFill>
              </a:rPr>
              <a:t>；</a:t>
            </a:r>
          </a:p>
          <a:p>
            <a:pPr algn="just" defTabSz="1287475">
              <a:lnSpc>
                <a:spcPct val="150000"/>
              </a:lnSpc>
              <a:defRPr sz="3564">
                <a:solidFill>
                  <a:schemeClr val="accent1">
                    <a:hueOff val="114395"/>
                    <a:lumOff val="-24975"/>
                  </a:schemeClr>
                </a:solidFill>
                <a:latin typeface="冬青黑体简体中文 W3"/>
                <a:ea typeface="冬青黑体简体中文 W3"/>
                <a:cs typeface="冬青黑体简体中文 W3"/>
                <a:sym typeface="冬青黑体简体中文 W3"/>
              </a:defRPr>
            </a:pPr>
            <a:r>
              <a:rPr lang="zh-CN" altLang="en-US" sz="2800">
                <a:solidFill>
                  <a:srgbClr val="0070C0"/>
                </a:solidFill>
              </a:rPr>
              <a:t>       或者 </a:t>
            </a:r>
            <a:r>
              <a:rPr lang="en-US" altLang="zh-CN" sz="2800">
                <a:solidFill>
                  <a:srgbClr val="0070C0"/>
                </a:solidFill>
              </a:rPr>
              <a:t>D = !A || !B </a:t>
            </a:r>
            <a:r>
              <a:rPr lang="zh-CN" altLang="en-US" sz="2800">
                <a:solidFill>
                  <a:srgbClr val="0070C0"/>
                </a:solidFill>
              </a:rPr>
              <a:t>，即‘</a:t>
            </a:r>
            <a:r>
              <a:rPr lang="en-US" altLang="zh-CN" sz="2800">
                <a:solidFill>
                  <a:srgbClr val="0070C0"/>
                </a:solidFill>
              </a:rPr>
              <a:t>A</a:t>
            </a:r>
            <a:r>
              <a:rPr lang="zh-CN" altLang="en-US" sz="2800">
                <a:solidFill>
                  <a:srgbClr val="0070C0"/>
                </a:solidFill>
              </a:rPr>
              <a:t>’队不到场或‘</a:t>
            </a:r>
            <a:r>
              <a:rPr lang="en-US" altLang="zh-CN" sz="2800">
                <a:solidFill>
                  <a:srgbClr val="0070C0"/>
                </a:solidFill>
              </a:rPr>
              <a:t>B</a:t>
            </a:r>
            <a:r>
              <a:rPr lang="zh-CN" altLang="en-US" sz="2800">
                <a:solidFill>
                  <a:srgbClr val="0070C0"/>
                </a:solidFill>
              </a:rPr>
              <a:t>’队不到场。</a:t>
            </a: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21C30CB-632C-415B-B1C1-8EAFFA93BC87}"/>
              </a:ext>
            </a:extLst>
          </p:cNvPr>
          <p:cNvSpPr txBox="1"/>
          <p:nvPr>
            <p:custDataLst>
              <p:tags r:id="rId2"/>
            </p:custDataLst>
          </p:nvPr>
        </p:nvSpPr>
        <p:spPr>
          <a:xfrm>
            <a:off x="1300480" y="635000"/>
            <a:ext cx="10403840" cy="3048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以下哪些说法是正确的？</a:t>
            </a:r>
          </a:p>
        </p:txBody>
      </p:sp>
      <p:sp>
        <p:nvSpPr>
          <p:cNvPr id="6" name="文本框 5">
            <a:extLst>
              <a:ext uri="{FF2B5EF4-FFF2-40B4-BE49-F238E27FC236}">
                <a16:creationId xmlns:a16="http://schemas.microsoft.com/office/drawing/2014/main" id="{D89224D0-401A-479A-94D8-4E3ADA154E85}"/>
              </a:ext>
            </a:extLst>
          </p:cNvPr>
          <p:cNvSpPr txBox="1"/>
          <p:nvPr>
            <p:custDataLst>
              <p:tags r:id="rId3"/>
            </p:custDataLst>
          </p:nvPr>
        </p:nvSpPr>
        <p:spPr>
          <a:xfrm>
            <a:off x="2460625" y="3261360"/>
            <a:ext cx="9103360" cy="9144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如果</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变量</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表示</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在现场，则</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表示</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不在现场</a:t>
            </a:r>
            <a:endPar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endParaRPr>
          </a:p>
        </p:txBody>
      </p:sp>
      <p:sp>
        <p:nvSpPr>
          <p:cNvPr id="7" name="文本框 6">
            <a:extLst>
              <a:ext uri="{FF2B5EF4-FFF2-40B4-BE49-F238E27FC236}">
                <a16:creationId xmlns:a16="http://schemas.microsoft.com/office/drawing/2014/main" id="{963FA961-7BC5-4DBB-A5B9-CEB700B7405D}"/>
              </a:ext>
            </a:extLst>
          </p:cNvPr>
          <p:cNvSpPr txBox="1"/>
          <p:nvPr>
            <p:custDataLst>
              <p:tags r:id="rId4"/>
            </p:custDataLst>
          </p:nvPr>
        </p:nvSpPr>
        <p:spPr>
          <a:xfrm>
            <a:off x="2460625" y="4480560"/>
            <a:ext cx="9103360" cy="9144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变量</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表示</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是否在现场，若其值为</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true</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，则表示</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在现场</a:t>
            </a:r>
          </a:p>
        </p:txBody>
      </p:sp>
      <p:sp>
        <p:nvSpPr>
          <p:cNvPr id="8" name="文本框 7">
            <a:extLst>
              <a:ext uri="{FF2B5EF4-FFF2-40B4-BE49-F238E27FC236}">
                <a16:creationId xmlns:a16="http://schemas.microsoft.com/office/drawing/2014/main" id="{65B590EB-1BCA-4CCD-A11E-7225EFFB3281}"/>
              </a:ext>
            </a:extLst>
          </p:cNvPr>
          <p:cNvSpPr txBox="1"/>
          <p:nvPr>
            <p:custDataLst>
              <p:tags r:id="rId5"/>
            </p:custDataLst>
          </p:nvPr>
        </p:nvSpPr>
        <p:spPr>
          <a:xfrm>
            <a:off x="2460625" y="5699760"/>
            <a:ext cx="9103360" cy="9144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若变量</a:t>
            </a:r>
            <a:r>
              <a:rPr kumimoji="0" lang="en-US" altLang="zh-CN"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A</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表示</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不在现场，则</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表示</a:t>
            </a:r>
            <a:r>
              <a:rPr lang="en-US" altLang="zh-CN" sz="2600">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在现场</a:t>
            </a:r>
            <a:endPar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endParaRPr>
          </a:p>
        </p:txBody>
      </p:sp>
      <p:sp>
        <p:nvSpPr>
          <p:cNvPr id="9" name="文本框 8">
            <a:extLst>
              <a:ext uri="{FF2B5EF4-FFF2-40B4-BE49-F238E27FC236}">
                <a16:creationId xmlns:a16="http://schemas.microsoft.com/office/drawing/2014/main" id="{1E7BDC5E-71E4-41FC-9790-39E927993377}"/>
              </a:ext>
            </a:extLst>
          </p:cNvPr>
          <p:cNvSpPr txBox="1"/>
          <p:nvPr>
            <p:custDataLst>
              <p:tags r:id="rId6"/>
            </p:custDataLst>
          </p:nvPr>
        </p:nvSpPr>
        <p:spPr>
          <a:xfrm>
            <a:off x="2460625" y="6918960"/>
            <a:ext cx="9103360" cy="9144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若</a:t>
            </a:r>
            <a:r>
              <a:rPr kumimoji="0" lang="en-US" altLang="zh-CN"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true</a:t>
            </a:r>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表示在现场，</a:t>
            </a:r>
            <a:r>
              <a:rPr kumimoji="0" lang="en-US" altLang="zh-CN"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false</a:t>
            </a:r>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表示不在现场，则根据变量</a:t>
            </a:r>
            <a:r>
              <a:rPr kumimoji="0" lang="en-US" altLang="zh-CN"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A</a:t>
            </a:r>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的值，可以知道</a:t>
            </a:r>
            <a:r>
              <a:rPr kumimoji="0" lang="en-US" altLang="zh-CN"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'A'</a:t>
            </a:r>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是否在现场</a:t>
            </a:r>
          </a:p>
        </p:txBody>
      </p:sp>
      <p:sp>
        <p:nvSpPr>
          <p:cNvPr id="10" name="矩形 9">
            <a:extLst>
              <a:ext uri="{FF2B5EF4-FFF2-40B4-BE49-F238E27FC236}">
                <a16:creationId xmlns:a16="http://schemas.microsoft.com/office/drawing/2014/main" id="{F4036A7D-D8C7-4BD7-A268-A1FDC1AA13BA}"/>
              </a:ext>
            </a:extLst>
          </p:cNvPr>
          <p:cNvSpPr>
            <a:spLocks noChangeAspect="1"/>
          </p:cNvSpPr>
          <p:nvPr>
            <p:custDataLst>
              <p:tags r:id="rId7"/>
            </p:custDataLst>
          </p:nvPr>
        </p:nvSpPr>
        <p:spPr>
          <a:xfrm>
            <a:off x="1444625" y="3352800"/>
            <a:ext cx="731520" cy="731520"/>
          </a:xfrm>
          <a:prstGeom prst="rect">
            <a:avLst/>
          </a:prstGeom>
          <a:solidFill>
            <a:srgbClr val="00FF00"/>
          </a:solidFill>
          <a:ln w="25400" cmpd="sng">
            <a:solidFill>
              <a:srgbClr val="000000"/>
            </a:solidFill>
            <a:prstDash val="solid"/>
          </a:ln>
        </p:spPr>
        <p:txBody>
          <a:bodyPr vert="horz" rtlCol="0" anchor="ctr" anchorCtr="1">
            <a:noAutofit/>
          </a:bodyPr>
          <a:lstStyle/>
          <a:p>
            <a:pPr algn="l"/>
            <a:r>
              <a:rPr lang="af-ZA"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D38CC8B0-D79F-4BBB-8DD3-6C2813C394EA}"/>
              </a:ext>
            </a:extLst>
          </p:cNvPr>
          <p:cNvSpPr>
            <a:spLocks noChangeAspect="1"/>
          </p:cNvSpPr>
          <p:nvPr>
            <p:custDataLst>
              <p:tags r:id="rId8"/>
            </p:custDataLst>
          </p:nvPr>
        </p:nvSpPr>
        <p:spPr>
          <a:xfrm>
            <a:off x="1444625" y="4572000"/>
            <a:ext cx="731520" cy="731520"/>
          </a:xfrm>
          <a:prstGeom prst="rect">
            <a:avLst/>
          </a:prstGeom>
          <a:solidFill>
            <a:srgbClr val="00FF00"/>
          </a:solidFill>
          <a:ln w="25400" cmpd="sng">
            <a:solidFill>
              <a:srgbClr val="000000"/>
            </a:solidFill>
            <a:prstDash val="solid"/>
          </a:ln>
        </p:spPr>
        <p:txBody>
          <a:bodyPr vert="horz" rtlCol="0" anchor="ctr" anchorCtr="1">
            <a:noAutofit/>
          </a:bodyPr>
          <a:lstStyle/>
          <a:p>
            <a:pPr algn="l"/>
            <a:r>
              <a:rPr lang="af-ZA"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E9267354-673D-4C9B-BB23-6EB9732CC1B6}"/>
              </a:ext>
            </a:extLst>
          </p:cNvPr>
          <p:cNvSpPr>
            <a:spLocks noChangeAspect="1"/>
          </p:cNvSpPr>
          <p:nvPr>
            <p:custDataLst>
              <p:tags r:id="rId9"/>
            </p:custDataLst>
          </p:nvPr>
        </p:nvSpPr>
        <p:spPr>
          <a:xfrm>
            <a:off x="1444625" y="5791200"/>
            <a:ext cx="731520" cy="731520"/>
          </a:xfrm>
          <a:prstGeom prst="rect">
            <a:avLst/>
          </a:prstGeom>
          <a:solidFill>
            <a:srgbClr val="00FF00"/>
          </a:solidFill>
          <a:ln w="25400" cmpd="sng">
            <a:solidFill>
              <a:srgbClr val="000000"/>
            </a:solidFill>
            <a:prstDash val="solid"/>
          </a:ln>
        </p:spPr>
        <p:txBody>
          <a:bodyPr vert="horz" rtlCol="0" anchor="ctr" anchorCtr="1">
            <a:noAutofit/>
          </a:bodyPr>
          <a:lstStyle/>
          <a:p>
            <a:pPr algn="l"/>
            <a:r>
              <a:rPr lang="af-ZA"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a:extLst>
              <a:ext uri="{FF2B5EF4-FFF2-40B4-BE49-F238E27FC236}">
                <a16:creationId xmlns:a16="http://schemas.microsoft.com/office/drawing/2014/main" id="{61E95E32-4C04-4AA0-B95F-DB7149FF29EE}"/>
              </a:ext>
            </a:extLst>
          </p:cNvPr>
          <p:cNvSpPr>
            <a:spLocks noChangeAspect="1"/>
          </p:cNvSpPr>
          <p:nvPr>
            <p:custDataLst>
              <p:tags r:id="rId10"/>
            </p:custDataLst>
          </p:nvPr>
        </p:nvSpPr>
        <p:spPr>
          <a:xfrm>
            <a:off x="1444625" y="7010400"/>
            <a:ext cx="731520" cy="731520"/>
          </a:xfrm>
          <a:prstGeom prst="rect">
            <a:avLst/>
          </a:prstGeom>
          <a:solidFill>
            <a:srgbClr val="00FF00"/>
          </a:solidFill>
          <a:ln w="25400" cmpd="sng">
            <a:solidFill>
              <a:srgbClr val="000000"/>
            </a:solidFill>
            <a:prstDash val="solid"/>
          </a:ln>
        </p:spPr>
        <p:txBody>
          <a:bodyPr vert="horz" rtlCol="0" anchor="ctr" anchorCtr="1">
            <a:noAutofit/>
          </a:bodyPr>
          <a:lstStyle/>
          <a:p>
            <a:pPr algn="l"/>
            <a:r>
              <a:rPr lang="af-ZA"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39A2678F-0488-464D-9149-6166F6087D54}"/>
              </a:ext>
            </a:extLst>
          </p:cNvPr>
          <p:cNvSpPr/>
          <p:nvPr>
            <p:custDataLst>
              <p:tags r:id="rId11"/>
            </p:custDataLst>
          </p:nvPr>
        </p:nvSpPr>
        <p:spPr>
          <a:xfrm>
            <a:off x="8778240" y="8839200"/>
            <a:ext cx="2194560" cy="585216"/>
          </a:xfrm>
          <a:prstGeom prst="roundRect">
            <a:avLst/>
          </a:prstGeom>
          <a:solidFill>
            <a:srgbClr val="808080"/>
          </a:solidFill>
          <a:ln w="38100" cmpd="sng">
            <a:solidFill>
              <a:srgbClr val="000000"/>
            </a:solidFill>
            <a:prstDash val="solid"/>
          </a:ln>
        </p:spPr>
        <p:txBody>
          <a:bodyPr vert="horz" rtlCol="0" anchor="ctr" anchorCtr="1">
            <a:noAutofit/>
          </a:bodyPr>
          <a:lstStyle/>
          <a:p>
            <a:pPr algn="l"/>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A566B101-0C40-4DE9-8ED3-C3CDCE85E85D}"/>
              </a:ext>
            </a:extLst>
          </p:cNvPr>
          <p:cNvGrpSpPr/>
          <p:nvPr>
            <p:custDataLst>
              <p:tags r:id="rId12"/>
            </p:custDataLst>
          </p:nvPr>
        </p:nvGrpSpPr>
        <p:grpSpPr>
          <a:xfrm>
            <a:off x="0" y="0"/>
            <a:ext cx="13004800" cy="635000"/>
            <a:chOff x="0" y="0"/>
            <a:chExt cx="13004800" cy="635000"/>
          </a:xfrm>
        </p:grpSpPr>
        <p:sp>
          <p:nvSpPr>
            <p:cNvPr id="15" name="TitleBackground">
              <a:extLst>
                <a:ext uri="{FF2B5EF4-FFF2-40B4-BE49-F238E27FC236}">
                  <a16:creationId xmlns:a16="http://schemas.microsoft.com/office/drawing/2014/main" id="{AE28F027-87CD-4545-89DA-A4F7821A796C}"/>
                </a:ext>
              </a:extLst>
            </p:cNvPr>
            <p:cNvSpPr/>
            <p:nvPr>
              <p:custDataLst>
                <p:tags r:id="rId14"/>
              </p:custDataLst>
            </p:nvPr>
          </p:nvSpPr>
          <p:spPr>
            <a:xfrm>
              <a:off x="0" y="0"/>
              <a:ext cx="13004800" cy="635000"/>
            </a:xfrm>
            <a:prstGeom prst="rect">
              <a:avLst/>
            </a:prstGeom>
            <a:solidFill>
              <a:srgbClr val="F6F7F8"/>
            </a:solidFill>
          </p:spPr>
          <p:txBody>
            <a:bodyPr rtlCol="0" anchor="ctr">
              <a:spAutoFit/>
            </a:bodyPr>
            <a:lstStyle/>
            <a:p>
              <a:pPr algn="l"/>
              <a:endParaRPr lang="zh-CN" altLang="en-US">
                <a:latin typeface="Consolas" panose="020B0609020204030204" pitchFamily="49" charset="0"/>
              </a:endParaRPr>
            </a:p>
          </p:txBody>
        </p:sp>
        <p:sp>
          <p:nvSpPr>
            <p:cNvPr id="16" name="ColorBlock">
              <a:extLst>
                <a:ext uri="{FF2B5EF4-FFF2-40B4-BE49-F238E27FC236}">
                  <a16:creationId xmlns:a16="http://schemas.microsoft.com/office/drawing/2014/main" id="{6409315A-4B54-4D3B-9D86-1DB154E17DD9}"/>
                </a:ext>
              </a:extLst>
            </p:cNvPr>
            <p:cNvSpPr/>
            <p:nvPr>
              <p:custDataLst>
                <p:tags r:id="rId15"/>
              </p:custDataLst>
            </p:nvPr>
          </p:nvSpPr>
          <p:spPr>
            <a:xfrm>
              <a:off x="0" y="0"/>
              <a:ext cx="190500" cy="635000"/>
            </a:xfrm>
            <a:prstGeom prst="rect">
              <a:avLst/>
            </a:prstGeom>
            <a:solidFill>
              <a:srgbClr val="639EF4"/>
            </a:solidFill>
          </p:spPr>
          <p:txBody>
            <a:bodyPr rtlCol="0" anchor="ctr">
              <a:spAutoFit/>
            </a:bodyPr>
            <a:lstStyle/>
            <a:p>
              <a:pPr algn="l"/>
              <a:endParaRPr lang="zh-CN" altLang="en-US">
                <a:latin typeface="Consolas" panose="020B0609020204030204" pitchFamily="49" charset="0"/>
              </a:endParaRPr>
            </a:p>
          </p:txBody>
        </p:sp>
        <p:sp>
          <p:nvSpPr>
            <p:cNvPr id="17" name="TypeText">
              <a:extLst>
                <a:ext uri="{FF2B5EF4-FFF2-40B4-BE49-F238E27FC236}">
                  <a16:creationId xmlns:a16="http://schemas.microsoft.com/office/drawing/2014/main" id="{7F7A7AE4-585E-416E-A079-85EB6C734AA3}"/>
                </a:ext>
              </a:extLst>
            </p:cNvPr>
            <p:cNvSpPr txBox="1"/>
            <p:nvPr>
              <p:custDataLst>
                <p:tags r:id="rId16"/>
              </p:custDataLst>
            </p:nvPr>
          </p:nvSpPr>
          <p:spPr>
            <a:xfrm>
              <a:off x="254000" y="0"/>
              <a:ext cx="1905000" cy="635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a:r>
                <a:rPr kumimoji="0" lang="zh-CN" altLang="en-US" sz="2600" b="1" i="0" u="none" strike="noStrike" cap="none" spc="0" normalizeH="0" baseline="0">
                  <a:ln>
                    <a:noFill/>
                  </a:ln>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多选题</a:t>
              </a:r>
            </a:p>
          </p:txBody>
        </p:sp>
        <p:sp>
          <p:nvSpPr>
            <p:cNvPr id="18" name="TipText">
              <a:extLst>
                <a:ext uri="{FF2B5EF4-FFF2-40B4-BE49-F238E27FC236}">
                  <a16:creationId xmlns:a16="http://schemas.microsoft.com/office/drawing/2014/main" id="{367A5544-A57D-4F3B-BDE9-2F5A93017ACE}"/>
                </a:ext>
              </a:extLst>
            </p:cNvPr>
            <p:cNvSpPr txBox="1"/>
            <p:nvPr>
              <p:custDataLst>
                <p:tags r:id="rId17"/>
              </p:custDataLst>
            </p:nvPr>
          </p:nvSpPr>
          <p:spPr>
            <a:xfrm>
              <a:off x="1444625" y="109220"/>
              <a:ext cx="2286000" cy="508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a:r>
                <a:rPr kumimoji="0" lang="en-US" altLang="zh-CN" sz="2000" b="1"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1</a:t>
              </a:r>
              <a:r>
                <a:rPr kumimoji="0" lang="zh-CN" altLang="en-US" sz="2000" b="1"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Helvetica Neue"/>
                  <a:sym typeface="Microsoft Yahei" panose="020B0503020204020204" pitchFamily="34" charset="-122"/>
                </a:rPr>
                <a:t>分</a:t>
              </a:r>
            </a:p>
          </p:txBody>
        </p:sp>
      </p:grpSp>
      <p:pic>
        <p:nvPicPr>
          <p:cNvPr id="4" name="图片 3">
            <a:extLst>
              <a:ext uri="{FF2B5EF4-FFF2-40B4-BE49-F238E27FC236}">
                <a16:creationId xmlns:a16="http://schemas.microsoft.com/office/drawing/2014/main" id="{67992336-17EE-42AC-9F04-1A7A11CC7573}"/>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1455400" y="63500"/>
            <a:ext cx="1422400" cy="508000"/>
          </a:xfrm>
          <a:prstGeom prst="rect">
            <a:avLst/>
          </a:prstGeom>
        </p:spPr>
      </p:pic>
    </p:spTree>
    <p:custDataLst>
      <p:tags r:id="rId1"/>
    </p:custDataLst>
    <p:extLst>
      <p:ext uri="{BB962C8B-B14F-4D97-AF65-F5344CB8AC3E}">
        <p14:creationId xmlns:p14="http://schemas.microsoft.com/office/powerpoint/2010/main" val="3683203493"/>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71</a:t>
            </a:fld>
            <a:endParaRPr/>
          </a:p>
        </p:txBody>
      </p:sp>
      <p:sp>
        <p:nvSpPr>
          <p:cNvPr id="223" name="任务3.2解题思路：案情分析"/>
          <p:cNvSpPr txBox="1">
            <a:spLocks noGrp="1"/>
          </p:cNvSpPr>
          <p:nvPr>
            <p:ph type="title"/>
          </p:nvPr>
        </p:nvSpPr>
        <p:spPr>
          <a:prstGeom prst="rect">
            <a:avLst/>
          </a:prstGeom>
        </p:spPr>
        <p:txBody>
          <a:bodyPr/>
          <a:lstStyle/>
          <a:p>
            <a:r>
              <a:t>任务3.</a:t>
            </a:r>
            <a:r>
              <a:rPr lang="en-US" altLang="zh-CN"/>
              <a:t>3</a:t>
            </a:r>
            <a:r>
              <a:t>解题思路：案情分析</a:t>
            </a:r>
          </a:p>
        </p:txBody>
      </p:sp>
      <p:sp>
        <p:nvSpPr>
          <p:cNvPr id="224" name="Shape 63"/>
          <p:cNvSpPr txBox="1"/>
          <p:nvPr/>
        </p:nvSpPr>
        <p:spPr>
          <a:xfrm>
            <a:off x="795815" y="2571069"/>
            <a:ext cx="11898422" cy="63264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spAutoFit/>
          </a:bodyPr>
          <a:lstStyle/>
          <a:p>
            <a:pPr marL="39161" algn="l" defTabSz="1300480">
              <a:lnSpc>
                <a:spcPct val="150000"/>
              </a:lnSpc>
              <a:defRPr sz="3400" b="0">
                <a:latin typeface="冬青黑体简体中文 W3"/>
                <a:ea typeface="冬青黑体简体中文 W3"/>
                <a:cs typeface="冬青黑体简体中文 W3"/>
                <a:sym typeface="冬青黑体简体中文 W3"/>
              </a:defRPr>
            </a:pPr>
            <a:r>
              <a:rPr err="1"/>
              <a:t>将叙述案情的每一条线索</a:t>
            </a:r>
            <a:r>
              <a:rPr lang="zh-CN" altLang="en-US"/>
              <a:t>视为一个“命题”，</a:t>
            </a:r>
            <a:r>
              <a:rPr err="1"/>
              <a:t>用一个</a:t>
            </a:r>
            <a:r>
              <a:rPr err="1">
                <a:solidFill>
                  <a:schemeClr val="accent5">
                    <a:hueOff val="-82419"/>
                    <a:satOff val="-9513"/>
                    <a:lumOff val="-16343"/>
                  </a:schemeClr>
                </a:solidFill>
              </a:rPr>
              <a:t>逻辑变量</a:t>
            </a:r>
            <a:r>
              <a:rPr err="1"/>
              <a:t>表示，将线索的内容以</a:t>
            </a:r>
            <a:r>
              <a:rPr err="1">
                <a:solidFill>
                  <a:schemeClr val="accent5">
                    <a:hueOff val="-82419"/>
                    <a:satOff val="-9513"/>
                    <a:lumOff val="-16343"/>
                  </a:schemeClr>
                </a:solidFill>
              </a:rPr>
              <a:t>逻辑表达式</a:t>
            </a:r>
            <a:r>
              <a:rPr err="1"/>
              <a:t>来表示，即</a:t>
            </a:r>
            <a:r>
              <a:t>：</a:t>
            </a:r>
          </a:p>
          <a:p>
            <a:pPr marL="719224" indent="-500062" algn="l" defTabSz="1300480">
              <a:lnSpc>
                <a:spcPct val="150000"/>
              </a:lnSpc>
              <a:buSzPct val="145000"/>
              <a:buChar char="•"/>
              <a:defRPr sz="3400" b="0">
                <a:latin typeface="冬青黑体简体中文 W3"/>
                <a:ea typeface="冬青黑体简体中文 W3"/>
                <a:cs typeface="冬青黑体简体中文 W3"/>
                <a:sym typeface="冬青黑体简体中文 W3"/>
              </a:defRPr>
            </a:pPr>
            <a:r>
              <a:rPr err="1"/>
              <a:t>第一条线索用</a:t>
            </a:r>
            <a:r>
              <a:t> CC1 </a:t>
            </a:r>
            <a:r>
              <a:rPr err="1"/>
              <a:t>表示</a:t>
            </a:r>
            <a:endParaRPr/>
          </a:p>
          <a:p>
            <a:pPr marL="719224" indent="-500062" algn="l" defTabSz="1300480">
              <a:lnSpc>
                <a:spcPct val="150000"/>
              </a:lnSpc>
              <a:buSzPct val="145000"/>
              <a:buChar char="•"/>
              <a:defRPr sz="3400" b="0">
                <a:latin typeface="冬青黑体简体中文 W3"/>
                <a:ea typeface="冬青黑体简体中文 W3"/>
                <a:cs typeface="冬青黑体简体中文 W3"/>
                <a:sym typeface="冬青黑体简体中文 W3"/>
              </a:defRPr>
            </a:pPr>
            <a:r>
              <a:rPr err="1"/>
              <a:t>第二条线索用</a:t>
            </a:r>
            <a:r>
              <a:t> CC2 </a:t>
            </a:r>
            <a:r>
              <a:rPr err="1"/>
              <a:t>表示</a:t>
            </a:r>
            <a:endParaRPr/>
          </a:p>
          <a:p>
            <a:pPr marL="719224" indent="-500062" algn="l" defTabSz="1300480">
              <a:lnSpc>
                <a:spcPct val="150000"/>
              </a:lnSpc>
              <a:buSzPct val="145000"/>
              <a:buChar char="•"/>
              <a:defRPr sz="3400" b="0">
                <a:latin typeface="冬青黑体简体中文 W3"/>
                <a:ea typeface="冬青黑体简体中文 W3"/>
                <a:cs typeface="冬青黑体简体中文 W3"/>
                <a:sym typeface="冬青黑体简体中文 W3"/>
              </a:defRPr>
            </a:pPr>
            <a:r>
              <a:t>......</a:t>
            </a:r>
          </a:p>
          <a:p>
            <a:pPr marL="719224" indent="-500062" algn="l" defTabSz="1300480">
              <a:lnSpc>
                <a:spcPct val="150000"/>
              </a:lnSpc>
              <a:buSzPct val="145000"/>
              <a:buChar char="•"/>
              <a:defRPr sz="3400" b="0">
                <a:latin typeface="冬青黑体简体中文 W3"/>
                <a:ea typeface="冬青黑体简体中文 W3"/>
                <a:cs typeface="冬青黑体简体中文 W3"/>
                <a:sym typeface="冬青黑体简体中文 W3"/>
              </a:defRPr>
            </a:pPr>
            <a:r>
              <a:rPr err="1"/>
              <a:t>第六条线索用</a:t>
            </a:r>
            <a:r>
              <a:t> CC6 </a:t>
            </a:r>
            <a:r>
              <a:rPr err="1"/>
              <a:t>表示</a:t>
            </a:r>
            <a:endParaRPr/>
          </a:p>
          <a:p>
            <a:pPr marL="219161" algn="l" defTabSz="1300480">
              <a:lnSpc>
                <a:spcPct val="150000"/>
              </a:lnSpc>
              <a:defRPr sz="3400" b="0">
                <a:latin typeface="冬青黑体简体中文 W3"/>
                <a:ea typeface="冬青黑体简体中文 W3"/>
                <a:cs typeface="冬青黑体简体中文 W3"/>
                <a:sym typeface="冬青黑体简体中文 W3"/>
              </a:defRPr>
            </a:pPr>
            <a:endParaRPr/>
          </a:p>
          <a:p>
            <a:pPr marL="487680" indent="-448518" algn="l" defTabSz="1300480">
              <a:lnSpc>
                <a:spcPct val="150000"/>
              </a:lnSpc>
              <a:defRPr sz="3400" b="0">
                <a:latin typeface="冬青黑体简体中文 W3"/>
                <a:ea typeface="冬青黑体简体中文 W3"/>
                <a:cs typeface="冬青黑体简体中文 W3"/>
                <a:sym typeface="冬青黑体简体中文 W3"/>
              </a:defRPr>
            </a:pPr>
            <a:r>
              <a:rPr err="1"/>
              <a:t>接下来将讲解如何</a:t>
            </a:r>
            <a:r>
              <a:rPr err="1">
                <a:solidFill>
                  <a:schemeClr val="accent5">
                    <a:hueOff val="-82419"/>
                    <a:satOff val="-9513"/>
                    <a:lumOff val="-16343"/>
                  </a:schemeClr>
                </a:solidFill>
              </a:rPr>
              <a:t>将“线索内容”转为“逻辑表示式</a:t>
            </a:r>
            <a:r>
              <a:rPr>
                <a:solidFill>
                  <a:schemeClr val="accent5">
                    <a:hueOff val="-82419"/>
                    <a:satOff val="-9513"/>
                    <a:lumOff val="-16343"/>
                  </a:schemeClr>
                </a:solidFill>
              </a:rPr>
              <a:t>”</a:t>
            </a:r>
            <a:r>
              <a:t>！</a:t>
            </a: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6" name="表格"/>
          <p:cNvGraphicFramePr/>
          <p:nvPr>
            <p:extLst>
              <p:ext uri="{D42A27DB-BD31-4B8C-83A1-F6EECF244321}">
                <p14:modId xmlns:p14="http://schemas.microsoft.com/office/powerpoint/2010/main" val="1923308537"/>
              </p:ext>
            </p:extLst>
          </p:nvPr>
        </p:nvGraphicFramePr>
        <p:xfrm>
          <a:off x="2012540" y="4094081"/>
          <a:ext cx="9173455" cy="5204145"/>
        </p:xfrm>
        <a:graphic>
          <a:graphicData uri="http://schemas.openxmlformats.org/drawingml/2006/table">
            <a:tbl>
              <a:tblPr>
                <a:tableStyleId>{33BA23B1-9221-436E-865A-0063620EA4FD}</a:tableStyleId>
              </a:tblPr>
              <a:tblGrid>
                <a:gridCol w="1714644">
                  <a:extLst>
                    <a:ext uri="{9D8B030D-6E8A-4147-A177-3AD203B41FA5}">
                      <a16:colId xmlns:a16="http://schemas.microsoft.com/office/drawing/2014/main" val="20000"/>
                    </a:ext>
                  </a:extLst>
                </a:gridCol>
                <a:gridCol w="1706681">
                  <a:extLst>
                    <a:ext uri="{9D8B030D-6E8A-4147-A177-3AD203B41FA5}">
                      <a16:colId xmlns:a16="http://schemas.microsoft.com/office/drawing/2014/main" val="20001"/>
                    </a:ext>
                  </a:extLst>
                </a:gridCol>
                <a:gridCol w="1661559">
                  <a:extLst>
                    <a:ext uri="{9D8B030D-6E8A-4147-A177-3AD203B41FA5}">
                      <a16:colId xmlns:a16="http://schemas.microsoft.com/office/drawing/2014/main" val="20002"/>
                    </a:ext>
                  </a:extLst>
                </a:gridCol>
                <a:gridCol w="2199522">
                  <a:extLst>
                    <a:ext uri="{9D8B030D-6E8A-4147-A177-3AD203B41FA5}">
                      <a16:colId xmlns:a16="http://schemas.microsoft.com/office/drawing/2014/main" val="20003"/>
                    </a:ext>
                  </a:extLst>
                </a:gridCol>
                <a:gridCol w="1891049">
                  <a:extLst>
                    <a:ext uri="{9D8B030D-6E8A-4147-A177-3AD203B41FA5}">
                      <a16:colId xmlns:a16="http://schemas.microsoft.com/office/drawing/2014/main" val="20004"/>
                    </a:ext>
                  </a:extLst>
                </a:gridCol>
              </a:tblGrid>
              <a:tr h="724090">
                <a:tc>
                  <a:txBody>
                    <a:bodyPr/>
                    <a:lstStyle/>
                    <a:p>
                      <a:pPr defTabSz="457200">
                        <a:lnSpc>
                          <a:spcPts val="8700"/>
                        </a:lnSpc>
                        <a:defRPr sz="1800"/>
                      </a:pPr>
                      <a:r>
                        <a:rPr sz="3600" dirty="0">
                          <a:latin typeface="冬青黑体简体中文 W3"/>
                          <a:ea typeface="冬青黑体简体中文 W3"/>
                          <a:cs typeface="冬青黑体简体中文 W3"/>
                          <a:sym typeface="冬青黑体简体中文 W3"/>
                        </a:rPr>
                        <a:t>A || B</a:t>
                      </a:r>
                    </a:p>
                  </a:txBody>
                  <a:tcPr anchor="ctr" horzOverflow="overflow">
                    <a:lnR w="38100">
                      <a:solidFill>
                        <a:srgbClr val="FFFFFF"/>
                      </a:solidFill>
                      <a:miter lim="400000"/>
                    </a:lnR>
                    <a:lnT w="38100">
                      <a:solidFill>
                        <a:srgbClr val="FFFFFF"/>
                      </a:solidFill>
                      <a:miter lim="400000"/>
                    </a:lnT>
                    <a:solidFill>
                      <a:schemeClr val="accent3"/>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A</a:t>
                      </a:r>
                    </a:p>
                  </a:txBody>
                  <a:tcPr anchor="ctr" horzOverflow="overflow">
                    <a:lnL w="38100">
                      <a:solidFill>
                        <a:srgbClr val="FFFFFF"/>
                      </a:solidFill>
                      <a:miter lim="400000"/>
                    </a:lnL>
                    <a:lnT w="38100">
                      <a:solidFill>
                        <a:srgbClr val="FFFFFF"/>
                      </a:solidFill>
                      <a:miter lim="400000"/>
                    </a:lnT>
                    <a:solidFill>
                      <a:srgbClr val="BBE7E7"/>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B</a:t>
                      </a:r>
                    </a:p>
                  </a:txBody>
                  <a:tcPr anchor="ctr" horzOverflow="overflow">
                    <a:lnT w="38100">
                      <a:solidFill>
                        <a:srgbClr val="FFFFFF"/>
                      </a:solidFill>
                      <a:miter lim="400000"/>
                    </a:lnT>
                    <a:solidFill>
                      <a:srgbClr val="BBE7E7"/>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含义</a:t>
                      </a:r>
                    </a:p>
                  </a:txBody>
                  <a:tcPr anchor="ctr" horzOverflow="overflow">
                    <a:lnT w="38100">
                      <a:solidFill>
                        <a:srgbClr val="FFFFFF"/>
                      </a:solidFill>
                      <a:miter lim="400000"/>
                    </a:lnT>
                    <a:solidFill>
                      <a:schemeClr val="accent5">
                        <a:hueOff val="-152896"/>
                        <a:lumOff val="12368"/>
                      </a:schemeClr>
                    </a:solidFill>
                  </a:tcPr>
                </a:tc>
                <a:tc>
                  <a:txBody>
                    <a:bodyPr/>
                    <a:lstStyle/>
                    <a:p>
                      <a:pPr defTabSz="457200">
                        <a:lnSpc>
                          <a:spcPts val="8700"/>
                        </a:lnSpc>
                        <a:defRPr sz="1800"/>
                      </a:pPr>
                      <a:r>
                        <a:rPr sz="3600" dirty="0">
                          <a:latin typeface="冬青黑体简体中文 W3"/>
                          <a:ea typeface="冬青黑体简体中文 W3"/>
                          <a:cs typeface="冬青黑体简体中文 W3"/>
                          <a:sym typeface="冬青黑体简体中文 W3"/>
                        </a:rPr>
                        <a:t>CC1</a:t>
                      </a:r>
                    </a:p>
                  </a:txBody>
                  <a:tcPr anchor="ctr" horzOverflow="overflow">
                    <a:lnR w="38100">
                      <a:solidFill>
                        <a:srgbClr val="FFFFFF"/>
                      </a:solidFill>
                      <a:miter lim="400000"/>
                    </a:lnR>
                    <a:lnT w="38100">
                      <a:solidFill>
                        <a:srgbClr val="FFFFFF"/>
                      </a:solidFill>
                      <a:miter lim="400000"/>
                    </a:lnT>
                    <a:solidFill>
                      <a:schemeClr val="accent2">
                        <a:hueOff val="167855"/>
                        <a:satOff val="17755"/>
                        <a:lumOff val="-16671"/>
                      </a:schemeClr>
                    </a:solidFill>
                  </a:tcPr>
                </a:tc>
                <a:extLst>
                  <a:ext uri="{0D108BD9-81ED-4DB2-BD59-A6C34878D82A}">
                    <a16:rowId xmlns:a16="http://schemas.microsoft.com/office/drawing/2014/main" val="10000"/>
                  </a:ext>
                </a:extLst>
              </a:tr>
              <a:tr h="724090">
                <a:tc>
                  <a:txBody>
                    <a:bodyPr/>
                    <a:lstStyle/>
                    <a:p>
                      <a:pPr defTabSz="457200">
                        <a:lnSpc>
                          <a:spcPts val="8700"/>
                        </a:lnSpc>
                        <a:defRPr sz="1800"/>
                      </a:pPr>
                      <a:r>
                        <a:rPr sz="3600" dirty="0">
                          <a:latin typeface="冬青黑体简体中文 W3"/>
                          <a:ea typeface="冬青黑体简体中文 W3"/>
                          <a:cs typeface="冬青黑体简体中文 W3"/>
                          <a:sym typeface="冬青黑体简体中文 W3"/>
                        </a:rPr>
                        <a:t>0</a:t>
                      </a:r>
                    </a:p>
                  </a:txBody>
                  <a:tcPr anchor="ctr" horzOverflow="overflow">
                    <a:lnR w="38100">
                      <a:solidFill>
                        <a:srgbClr val="FFFFFF"/>
                      </a:solidFill>
                      <a:miter lim="400000"/>
                    </a:lnR>
                    <a:solidFill>
                      <a:schemeClr val="accent3"/>
                    </a:solidFill>
                  </a:tcPr>
                </a:tc>
                <a:tc>
                  <a:txBody>
                    <a:bodyPr/>
                    <a:lstStyle/>
                    <a:p>
                      <a:pPr defTabSz="457200">
                        <a:lnSpc>
                          <a:spcPts val="8700"/>
                        </a:lnSpc>
                        <a:defRPr sz="1800"/>
                      </a:pPr>
                      <a:r>
                        <a:rPr sz="3600" dirty="0">
                          <a:latin typeface="冬青黑体简体中文 W3"/>
                          <a:ea typeface="冬青黑体简体中文 W3"/>
                          <a:cs typeface="冬青黑体简体中文 W3"/>
                          <a:sym typeface="冬青黑体简体中文 W3"/>
                        </a:rPr>
                        <a:t>0</a:t>
                      </a:r>
                    </a:p>
                  </a:txBody>
                  <a:tcPr anchor="ctr" horzOverflow="overflow">
                    <a:lnL w="38100">
                      <a:solidFill>
                        <a:srgbClr val="FFFFFF"/>
                      </a:solidFill>
                      <a:miter lim="400000"/>
                    </a:lnL>
                    <a:solidFill>
                      <a:srgbClr val="D6D5D5"/>
                    </a:solidFill>
                  </a:tcPr>
                </a:tc>
                <a:tc>
                  <a:txBody>
                    <a:bodyPr/>
                    <a:lstStyle/>
                    <a:p>
                      <a:pPr defTabSz="457200">
                        <a:lnSpc>
                          <a:spcPts val="8700"/>
                        </a:lnSpc>
                        <a:defRPr sz="1800"/>
                      </a:pPr>
                      <a:r>
                        <a:rPr sz="3600" dirty="0">
                          <a:latin typeface="冬青黑体简体中文 W3"/>
                          <a:ea typeface="冬青黑体简体中文 W3"/>
                          <a:cs typeface="冬青黑体简体中文 W3"/>
                          <a:sym typeface="冬青黑体简体中文 W3"/>
                        </a:rPr>
                        <a:t>0</a:t>
                      </a:r>
                    </a:p>
                  </a:txBody>
                  <a:tcPr anchor="ctr" horzOverflow="overflow">
                    <a:solidFill>
                      <a:srgbClr val="D6D5D5"/>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没有作案</a:t>
                      </a:r>
                    </a:p>
                  </a:txBody>
                  <a:tcPr anchor="ctr" horzOverflow="overflow">
                    <a:solidFill>
                      <a:schemeClr val="accent5">
                        <a:hueOff val="-152896"/>
                        <a:lumOff val="12368"/>
                      </a:schemeClr>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0</a:t>
                      </a:r>
                    </a:p>
                  </a:txBody>
                  <a:tcPr anchor="ctr" horzOverflow="overflow">
                    <a:lnR w="38100">
                      <a:solidFill>
                        <a:srgbClr val="FFFFFF"/>
                      </a:solidFill>
                      <a:miter lim="400000"/>
                    </a:lnR>
                    <a:solidFill>
                      <a:schemeClr val="accent2">
                        <a:hueOff val="167855"/>
                        <a:satOff val="17755"/>
                        <a:lumOff val="-16671"/>
                      </a:schemeClr>
                    </a:solidFill>
                  </a:tcPr>
                </a:tc>
                <a:extLst>
                  <a:ext uri="{0D108BD9-81ED-4DB2-BD59-A6C34878D82A}">
                    <a16:rowId xmlns:a16="http://schemas.microsoft.com/office/drawing/2014/main" val="10001"/>
                  </a:ext>
                </a:extLst>
              </a:tr>
              <a:tr h="724090">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1</a:t>
                      </a:r>
                    </a:p>
                  </a:txBody>
                  <a:tcPr anchor="ctr" horzOverflow="overflow">
                    <a:lnR w="38100">
                      <a:solidFill>
                        <a:srgbClr val="FFFFFF"/>
                      </a:solidFill>
                      <a:miter lim="400000"/>
                    </a:lnR>
                    <a:solidFill>
                      <a:schemeClr val="accent3"/>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1</a:t>
                      </a:r>
                    </a:p>
                  </a:txBody>
                  <a:tcPr anchor="ctr" horzOverflow="overflow">
                    <a:lnL w="38100">
                      <a:solidFill>
                        <a:srgbClr val="FFFFFF"/>
                      </a:solidFill>
                      <a:miter lim="400000"/>
                    </a:lnL>
                    <a:solidFill>
                      <a:srgbClr val="D6D5D5"/>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0</a:t>
                      </a:r>
                    </a:p>
                  </a:txBody>
                  <a:tcPr anchor="ctr" horzOverflow="overflow">
                    <a:solidFill>
                      <a:srgbClr val="D6D5D5"/>
                    </a:solidFill>
                  </a:tcPr>
                </a:tc>
                <a:tc>
                  <a:txBody>
                    <a:bodyPr/>
                    <a:lstStyle/>
                    <a:p>
                      <a:pPr defTabSz="457200">
                        <a:lnSpc>
                          <a:spcPts val="8700"/>
                        </a:lnSpc>
                        <a:defRPr sz="1800"/>
                      </a:pPr>
                      <a:r>
                        <a:rPr sz="3600" dirty="0" err="1">
                          <a:latin typeface="冬青黑体简体中文 W3"/>
                          <a:ea typeface="冬青黑体简体中文 W3"/>
                          <a:cs typeface="冬青黑体简体中文 W3"/>
                          <a:sym typeface="冬青黑体简体中文 W3"/>
                        </a:rPr>
                        <a:t>A作案</a:t>
                      </a:r>
                      <a:endParaRPr sz="3600" dirty="0">
                        <a:latin typeface="冬青黑体简体中文 W3"/>
                        <a:ea typeface="冬青黑体简体中文 W3"/>
                        <a:cs typeface="冬青黑体简体中文 W3"/>
                        <a:sym typeface="冬青黑体简体中文 W3"/>
                      </a:endParaRPr>
                    </a:p>
                  </a:txBody>
                  <a:tcPr anchor="ctr" horzOverflow="overflow">
                    <a:solidFill>
                      <a:schemeClr val="accent5">
                        <a:hueOff val="-152896"/>
                        <a:lumOff val="12368"/>
                      </a:schemeClr>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1</a:t>
                      </a:r>
                    </a:p>
                  </a:txBody>
                  <a:tcPr anchor="ctr" horzOverflow="overflow">
                    <a:lnR w="38100">
                      <a:solidFill>
                        <a:srgbClr val="FFFFFF"/>
                      </a:solidFill>
                      <a:miter lim="400000"/>
                    </a:lnR>
                    <a:solidFill>
                      <a:schemeClr val="accent2">
                        <a:hueOff val="167855"/>
                        <a:satOff val="17755"/>
                        <a:lumOff val="-16671"/>
                      </a:schemeClr>
                    </a:solidFill>
                  </a:tcPr>
                </a:tc>
                <a:extLst>
                  <a:ext uri="{0D108BD9-81ED-4DB2-BD59-A6C34878D82A}">
                    <a16:rowId xmlns:a16="http://schemas.microsoft.com/office/drawing/2014/main" val="10002"/>
                  </a:ext>
                </a:extLst>
              </a:tr>
              <a:tr h="553705">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1</a:t>
                      </a:r>
                    </a:p>
                  </a:txBody>
                  <a:tcPr anchor="ctr" horzOverflow="overflow">
                    <a:lnR w="38100">
                      <a:solidFill>
                        <a:srgbClr val="FFFFFF"/>
                      </a:solidFill>
                      <a:miter lim="400000"/>
                    </a:lnR>
                    <a:solidFill>
                      <a:schemeClr val="accent3"/>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0</a:t>
                      </a:r>
                    </a:p>
                  </a:txBody>
                  <a:tcPr anchor="ctr" horzOverflow="overflow">
                    <a:lnL w="38100">
                      <a:solidFill>
                        <a:srgbClr val="FFFFFF"/>
                      </a:solidFill>
                      <a:miter lim="400000"/>
                    </a:lnL>
                    <a:solidFill>
                      <a:srgbClr val="D6D5D5"/>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1</a:t>
                      </a:r>
                    </a:p>
                  </a:txBody>
                  <a:tcPr anchor="ctr" horzOverflow="overflow">
                    <a:solidFill>
                      <a:srgbClr val="D6D5D5"/>
                    </a:solidFill>
                  </a:tcPr>
                </a:tc>
                <a:tc>
                  <a:txBody>
                    <a:bodyPr/>
                    <a:lstStyle/>
                    <a:p>
                      <a:pPr defTabSz="457200">
                        <a:lnSpc>
                          <a:spcPts val="8700"/>
                        </a:lnSpc>
                        <a:defRPr sz="1800"/>
                      </a:pPr>
                      <a:r>
                        <a:rPr sz="3600" dirty="0" err="1">
                          <a:latin typeface="冬青黑体简体中文 W3"/>
                          <a:ea typeface="冬青黑体简体中文 W3"/>
                          <a:cs typeface="冬青黑体简体中文 W3"/>
                          <a:sym typeface="冬青黑体简体中文 W3"/>
                        </a:rPr>
                        <a:t>B作案</a:t>
                      </a:r>
                      <a:endParaRPr sz="3600" dirty="0">
                        <a:latin typeface="冬青黑体简体中文 W3"/>
                        <a:ea typeface="冬青黑体简体中文 W3"/>
                        <a:cs typeface="冬青黑体简体中文 W3"/>
                        <a:sym typeface="冬青黑体简体中文 W3"/>
                      </a:endParaRPr>
                    </a:p>
                  </a:txBody>
                  <a:tcPr anchor="ctr" horzOverflow="overflow">
                    <a:solidFill>
                      <a:schemeClr val="accent5">
                        <a:hueOff val="-152896"/>
                        <a:lumOff val="12368"/>
                      </a:schemeClr>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1</a:t>
                      </a:r>
                    </a:p>
                  </a:txBody>
                  <a:tcPr anchor="ctr" horzOverflow="overflow">
                    <a:lnR w="38100">
                      <a:solidFill>
                        <a:srgbClr val="FFFFFF"/>
                      </a:solidFill>
                      <a:miter lim="400000"/>
                    </a:lnR>
                    <a:solidFill>
                      <a:schemeClr val="accent2">
                        <a:hueOff val="167855"/>
                        <a:satOff val="17755"/>
                        <a:lumOff val="-16671"/>
                      </a:schemeClr>
                    </a:solidFill>
                  </a:tcPr>
                </a:tc>
                <a:extLst>
                  <a:ext uri="{0D108BD9-81ED-4DB2-BD59-A6C34878D82A}">
                    <a16:rowId xmlns:a16="http://schemas.microsoft.com/office/drawing/2014/main" val="10003"/>
                  </a:ext>
                </a:extLst>
              </a:tr>
              <a:tr h="724090">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1</a:t>
                      </a:r>
                    </a:p>
                  </a:txBody>
                  <a:tcPr anchor="ctr" horzOverflow="overflow">
                    <a:lnR w="38100">
                      <a:solidFill>
                        <a:srgbClr val="FFFFFF"/>
                      </a:solidFill>
                      <a:miter lim="400000"/>
                    </a:lnR>
                    <a:lnB w="38100">
                      <a:solidFill>
                        <a:srgbClr val="FFFFFF"/>
                      </a:solidFill>
                      <a:miter lim="400000"/>
                    </a:lnB>
                    <a:solidFill>
                      <a:schemeClr val="accent3"/>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1</a:t>
                      </a:r>
                    </a:p>
                  </a:txBody>
                  <a:tcPr anchor="ctr" horzOverflow="overflow">
                    <a:lnL w="38100">
                      <a:solidFill>
                        <a:srgbClr val="FFFFFF"/>
                      </a:solidFill>
                      <a:miter lim="400000"/>
                    </a:lnL>
                    <a:lnB w="38100">
                      <a:solidFill>
                        <a:srgbClr val="FFFFFF"/>
                      </a:solidFill>
                      <a:miter lim="400000"/>
                    </a:lnB>
                    <a:solidFill>
                      <a:srgbClr val="D6D5D5"/>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1</a:t>
                      </a:r>
                    </a:p>
                  </a:txBody>
                  <a:tcPr anchor="ctr" horzOverflow="overflow">
                    <a:lnB w="38100">
                      <a:solidFill>
                        <a:srgbClr val="FFFFFF"/>
                      </a:solidFill>
                      <a:miter lim="400000"/>
                    </a:lnB>
                    <a:solidFill>
                      <a:srgbClr val="D6D5D5"/>
                    </a:solidFill>
                  </a:tcPr>
                </a:tc>
                <a:tc>
                  <a:txBody>
                    <a:bodyPr/>
                    <a:lstStyle/>
                    <a:p>
                      <a:pPr defTabSz="457200">
                        <a:lnSpc>
                          <a:spcPts val="8700"/>
                        </a:lnSpc>
                        <a:defRPr sz="1800"/>
                      </a:pPr>
                      <a:r>
                        <a:rPr sz="3600">
                          <a:latin typeface="冬青黑体简体中文 W3"/>
                          <a:ea typeface="冬青黑体简体中文 W3"/>
                          <a:cs typeface="冬青黑体简体中文 W3"/>
                          <a:sym typeface="冬青黑体简体中文 W3"/>
                        </a:rPr>
                        <a:t>AB都作案</a:t>
                      </a:r>
                    </a:p>
                  </a:txBody>
                  <a:tcPr anchor="ctr" horzOverflow="overflow">
                    <a:lnB w="38100">
                      <a:solidFill>
                        <a:srgbClr val="FFFFFF"/>
                      </a:solidFill>
                      <a:miter lim="400000"/>
                    </a:lnB>
                    <a:solidFill>
                      <a:schemeClr val="accent5">
                        <a:hueOff val="-152896"/>
                        <a:lumOff val="12368"/>
                      </a:schemeClr>
                    </a:solidFill>
                  </a:tcPr>
                </a:tc>
                <a:tc>
                  <a:txBody>
                    <a:bodyPr/>
                    <a:lstStyle/>
                    <a:p>
                      <a:pPr defTabSz="457200">
                        <a:lnSpc>
                          <a:spcPts val="8700"/>
                        </a:lnSpc>
                        <a:defRPr sz="1800"/>
                      </a:pPr>
                      <a:r>
                        <a:rPr sz="3600" dirty="0">
                          <a:latin typeface="冬青黑体简体中文 W3"/>
                          <a:ea typeface="冬青黑体简体中文 W3"/>
                          <a:cs typeface="冬青黑体简体中文 W3"/>
                          <a:sym typeface="冬青黑体简体中文 W3"/>
                        </a:rPr>
                        <a:t>1</a:t>
                      </a:r>
                    </a:p>
                  </a:txBody>
                  <a:tcPr anchor="ctr" horzOverflow="overflow">
                    <a:lnR w="38100">
                      <a:solidFill>
                        <a:srgbClr val="FFFFFF"/>
                      </a:solidFill>
                      <a:miter lim="400000"/>
                    </a:lnR>
                    <a:lnB w="38100">
                      <a:solidFill>
                        <a:srgbClr val="FFFFFF"/>
                      </a:solidFill>
                      <a:miter lim="400000"/>
                    </a:lnB>
                    <a:solidFill>
                      <a:schemeClr val="accent2">
                        <a:hueOff val="167855"/>
                        <a:satOff val="17755"/>
                        <a:lumOff val="-16671"/>
                      </a:schemeClr>
                    </a:solidFill>
                  </a:tcPr>
                </a:tc>
                <a:extLst>
                  <a:ext uri="{0D108BD9-81ED-4DB2-BD59-A6C34878D82A}">
                    <a16:rowId xmlns:a16="http://schemas.microsoft.com/office/drawing/2014/main" val="10004"/>
                  </a:ext>
                </a:extLst>
              </a:tr>
            </a:tbl>
          </a:graphicData>
        </a:graphic>
      </p:graphicFrame>
      <p:sp>
        <p:nvSpPr>
          <p:cNvPr id="227" name="灯片编号占位符 1"/>
          <p:cNvSpPr txBox="1">
            <a:spLocks noGrp="1"/>
          </p:cNvSpPr>
          <p:nvPr>
            <p:ph type="sldNum" sz="quarter" idx="2"/>
          </p:nvPr>
        </p:nvSpPr>
        <p:spPr>
          <a:xfrm>
            <a:off x="12387945" y="9176053"/>
            <a:ext cx="478081" cy="46024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72</a:t>
            </a:fld>
            <a:endParaRPr/>
          </a:p>
        </p:txBody>
      </p:sp>
      <p:sp>
        <p:nvSpPr>
          <p:cNvPr id="228" name="CC1：A和B至少有一人作案"/>
          <p:cNvSpPr txBox="1">
            <a:spLocks noGrp="1"/>
          </p:cNvSpPr>
          <p:nvPr>
            <p:ph type="title"/>
          </p:nvPr>
        </p:nvSpPr>
        <p:spPr>
          <a:prstGeom prst="rect">
            <a:avLst/>
          </a:prstGeom>
        </p:spPr>
        <p:txBody>
          <a:bodyPr/>
          <a:lstStyle/>
          <a:p>
            <a:r>
              <a:t>CC1：A和B至少有一人作案</a:t>
            </a:r>
          </a:p>
        </p:txBody>
      </p:sp>
      <p:sp>
        <p:nvSpPr>
          <p:cNvPr id="9" name="文本框 8">
            <a:extLst>
              <a:ext uri="{FF2B5EF4-FFF2-40B4-BE49-F238E27FC236}">
                <a16:creationId xmlns:a16="http://schemas.microsoft.com/office/drawing/2014/main" id="{53B21E0B-DE1B-427B-8AA4-3D4A4C780BAD}"/>
              </a:ext>
            </a:extLst>
          </p:cNvPr>
          <p:cNvSpPr txBox="1"/>
          <p:nvPr/>
        </p:nvSpPr>
        <p:spPr>
          <a:xfrm>
            <a:off x="525463" y="2137422"/>
            <a:ext cx="12161837" cy="16884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dirty="0">
                <a:solidFill>
                  <a:srgbClr val="FF0000"/>
                </a:solidFill>
              </a:rPr>
              <a:t>线索</a:t>
            </a:r>
            <a:r>
              <a:rPr lang="en-US" altLang="zh-CN" dirty="0">
                <a:solidFill>
                  <a:srgbClr val="FF0000"/>
                </a:solidFill>
              </a:rPr>
              <a:t>CC1</a:t>
            </a:r>
            <a:r>
              <a:rPr lang="zh-CN" altLang="en-US" dirty="0">
                <a:solidFill>
                  <a:srgbClr val="FF0000"/>
                </a:solidFill>
              </a:rPr>
              <a:t>是否成立，与</a:t>
            </a:r>
            <a:r>
              <a:rPr lang="en-US" altLang="zh-CN" dirty="0">
                <a:solidFill>
                  <a:srgbClr val="FF0000"/>
                </a:solidFill>
              </a:rPr>
              <a:t>A</a:t>
            </a:r>
            <a:r>
              <a:rPr lang="zh-CN" altLang="en-US" dirty="0">
                <a:solidFill>
                  <a:srgbClr val="FF0000"/>
                </a:solidFill>
              </a:rPr>
              <a:t>和</a:t>
            </a:r>
            <a:r>
              <a:rPr lang="en-US" altLang="zh-CN" dirty="0">
                <a:solidFill>
                  <a:srgbClr val="FF0000"/>
                </a:solidFill>
              </a:rPr>
              <a:t>B</a:t>
            </a:r>
            <a:r>
              <a:rPr lang="zh-CN" altLang="en-US" dirty="0">
                <a:solidFill>
                  <a:srgbClr val="FF0000"/>
                </a:solidFill>
              </a:rPr>
              <a:t>的作案状态是密切相关的。</a:t>
            </a:r>
            <a:r>
              <a:rPr lang="zh-CN" altLang="en-US" b="0" dirty="0"/>
              <a:t>“</a:t>
            </a:r>
            <a:r>
              <a:rPr lang="en-US" altLang="zh-CN" b="0" dirty="0"/>
              <a:t>A</a:t>
            </a:r>
            <a:r>
              <a:rPr lang="zh-CN" altLang="en-US" b="0" dirty="0"/>
              <a:t>和</a:t>
            </a:r>
            <a:r>
              <a:rPr lang="en-US" altLang="zh-CN" b="0" dirty="0"/>
              <a:t>B</a:t>
            </a:r>
            <a:r>
              <a:rPr lang="zh-CN" altLang="en-US" b="0" dirty="0"/>
              <a:t>至少</a:t>
            </a:r>
            <a:r>
              <a:rPr lang="en-US" altLang="zh-CN" b="0" dirty="0"/>
              <a:t>....”</a:t>
            </a:r>
            <a:r>
              <a:rPr lang="zh-CN" altLang="en-US" b="0" dirty="0"/>
              <a:t>的意思是：“要么一人，要么两人”。若令逻辑变量</a:t>
            </a:r>
            <a:r>
              <a:rPr lang="en-US" altLang="zh-CN" b="0" dirty="0"/>
              <a:t>A</a:t>
            </a:r>
            <a:r>
              <a:rPr lang="zh-CN" altLang="en-US" b="0" dirty="0"/>
              <a:t>表示</a:t>
            </a:r>
            <a:r>
              <a:rPr lang="en-US" altLang="zh-CN" b="0" dirty="0"/>
              <a:t>A</a:t>
            </a:r>
            <a:r>
              <a:rPr lang="zh-CN" altLang="en-US" b="0" dirty="0"/>
              <a:t>是否作案的状态，逻辑变量</a:t>
            </a:r>
            <a:r>
              <a:rPr lang="en-US" altLang="zh-CN" b="0" dirty="0"/>
              <a:t>B</a:t>
            </a:r>
            <a:r>
              <a:rPr lang="zh-CN" altLang="en-US" b="0" dirty="0"/>
              <a:t>表示</a:t>
            </a:r>
            <a:r>
              <a:rPr lang="en-US" altLang="zh-CN" b="0" dirty="0"/>
              <a:t>B</a:t>
            </a:r>
            <a:r>
              <a:rPr lang="zh-CN" altLang="en-US" b="0" dirty="0"/>
              <a:t>是否作案的状态，则上面的线索内容写成逻辑表示式来表示就是： </a:t>
            </a:r>
            <a:r>
              <a:rPr lang="en-US" altLang="zh-CN" dirty="0">
                <a:solidFill>
                  <a:srgbClr val="FF0000"/>
                </a:solidFill>
              </a:rPr>
              <a:t>CC1 = A || B </a:t>
            </a:r>
            <a:r>
              <a:rPr lang="zh-CN" altLang="en-US" dirty="0">
                <a:solidFill>
                  <a:srgbClr val="FF0000"/>
                </a:solidFill>
              </a:rPr>
              <a:t>。</a:t>
            </a:r>
            <a:r>
              <a:rPr lang="zh-CN" altLang="en-US" b="0" dirty="0">
                <a:solidFill>
                  <a:schemeClr val="tx1"/>
                </a:solidFill>
              </a:rPr>
              <a:t>证明如下：</a:t>
            </a:r>
            <a:endParaRPr lang="en-US" altLang="zh-CN" b="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73</a:t>
            </a:fld>
            <a:endParaRPr/>
          </a:p>
        </p:txBody>
      </p:sp>
      <p:sp>
        <p:nvSpPr>
          <p:cNvPr id="244" name="CC2：A和D不可能是同案犯"/>
          <p:cNvSpPr txBox="1">
            <a:spLocks noGrp="1"/>
          </p:cNvSpPr>
          <p:nvPr>
            <p:ph type="title"/>
          </p:nvPr>
        </p:nvSpPr>
        <p:spPr>
          <a:prstGeom prst="rect">
            <a:avLst/>
          </a:prstGeom>
        </p:spPr>
        <p:txBody>
          <a:bodyPr/>
          <a:lstStyle/>
          <a:p>
            <a:r>
              <a:t>CC2：A和D不可能是同案犯</a:t>
            </a:r>
          </a:p>
        </p:txBody>
      </p:sp>
      <p:sp>
        <p:nvSpPr>
          <p:cNvPr id="245" name="Shape 50"/>
          <p:cNvSpPr txBox="1">
            <a:spLocks noGrp="1"/>
          </p:cNvSpPr>
          <p:nvPr>
            <p:ph type="body" sz="half" idx="4294967295"/>
          </p:nvPr>
        </p:nvSpPr>
        <p:spPr>
          <a:xfrm>
            <a:off x="547201" y="1977583"/>
            <a:ext cx="12017614" cy="2587608"/>
          </a:xfrm>
          <a:prstGeom prst="rect">
            <a:avLst/>
          </a:prstGeom>
        </p:spPr>
        <p:txBody>
          <a:bodyPr lIns="65022" tIns="65022" rIns="65022" bIns="65022" anchor="t">
            <a:normAutofit/>
          </a:bodyPr>
          <a:lstStyle/>
          <a:p>
            <a:pPr marL="487680" indent="-487680" defTabSz="1300480">
              <a:lnSpc>
                <a:spcPct val="130000"/>
              </a:lnSpc>
              <a:spcBef>
                <a:spcPts val="0"/>
              </a:spcBef>
              <a:buClr>
                <a:srgbClr val="FFFF00"/>
              </a:buClr>
              <a:buSzTx/>
              <a:buFont typeface="Wingdings"/>
              <a:buNone/>
              <a:defRPr>
                <a:latin typeface="冬青黑体简体中文 W3"/>
                <a:ea typeface="冬青黑体简体中文 W3"/>
                <a:cs typeface="冬青黑体简体中文 W3"/>
                <a:sym typeface="冬青黑体简体中文 W3"/>
              </a:defRPr>
            </a:pPr>
            <a:r>
              <a:rPr sz="2400" dirty="0" err="1"/>
              <a:t>可做如下分析</a:t>
            </a:r>
            <a:r>
              <a:rPr sz="2400" dirty="0"/>
              <a:t>：</a:t>
            </a:r>
          </a:p>
          <a:p>
            <a:pPr defTabSz="1300480">
              <a:lnSpc>
                <a:spcPct val="130000"/>
              </a:lnSpc>
              <a:spcBef>
                <a:spcPts val="0"/>
              </a:spcBef>
              <a:defRPr>
                <a:latin typeface="冬青黑体简体中文 W3"/>
                <a:ea typeface="冬青黑体简体中文 W3"/>
                <a:cs typeface="冬青黑体简体中文 W3"/>
                <a:sym typeface="冬青黑体简体中文 W3"/>
              </a:defRPr>
            </a:pPr>
            <a:r>
              <a:rPr sz="2400" dirty="0" err="1"/>
              <a:t>如果</a:t>
            </a:r>
            <a:r>
              <a:rPr sz="2400" dirty="0"/>
              <a:t> A 和 D </a:t>
            </a:r>
            <a:r>
              <a:rPr sz="2400" dirty="0" err="1"/>
              <a:t>是同案犯，则应写成</a:t>
            </a:r>
            <a:r>
              <a:rPr sz="2400" dirty="0"/>
              <a:t> </a:t>
            </a:r>
            <a:r>
              <a:rPr sz="2400" dirty="0">
                <a:solidFill>
                  <a:schemeClr val="accent5">
                    <a:hueOff val="-82419"/>
                    <a:satOff val="-9513"/>
                    <a:lumOff val="-16343"/>
                  </a:schemeClr>
                </a:solidFill>
                <a:latin typeface="冬青黑体简体中文 W6"/>
                <a:ea typeface="冬青黑体简体中文 W6"/>
                <a:cs typeface="冬青黑体简体中文 W6"/>
                <a:sym typeface="冬青黑体简体中文 W6"/>
              </a:rPr>
              <a:t>A &amp;&amp; D</a:t>
            </a:r>
          </a:p>
          <a:p>
            <a:pPr defTabSz="1300480">
              <a:lnSpc>
                <a:spcPct val="130000"/>
              </a:lnSpc>
              <a:spcBef>
                <a:spcPts val="0"/>
              </a:spcBef>
              <a:defRPr>
                <a:latin typeface="冬青黑体简体中文 W3"/>
                <a:ea typeface="冬青黑体简体中文 W3"/>
                <a:cs typeface="冬青黑体简体中文 W3"/>
                <a:sym typeface="冬青黑体简体中文 W3"/>
              </a:defRPr>
            </a:pPr>
            <a:r>
              <a:rPr sz="2400" dirty="0" err="1"/>
              <a:t>所以，对于“A</a:t>
            </a:r>
            <a:r>
              <a:rPr sz="2400" dirty="0"/>
              <a:t> 和 D </a:t>
            </a:r>
            <a:r>
              <a:rPr sz="2400" dirty="0" err="1"/>
              <a:t>不可能是同案犯</a:t>
            </a:r>
            <a:r>
              <a:rPr sz="2400" dirty="0"/>
              <a:t>”，</a:t>
            </a:r>
            <a:r>
              <a:rPr sz="2400" dirty="0" err="1"/>
              <a:t>应写成</a:t>
            </a:r>
            <a:r>
              <a:rPr sz="2400" dirty="0"/>
              <a:t> </a:t>
            </a:r>
            <a:r>
              <a:rPr sz="2400" dirty="0">
                <a:solidFill>
                  <a:schemeClr val="accent5">
                    <a:hueOff val="-82419"/>
                    <a:satOff val="-9513"/>
                    <a:lumOff val="-16343"/>
                  </a:schemeClr>
                </a:solidFill>
                <a:latin typeface="冬青黑体简体中文 W6"/>
                <a:ea typeface="冬青黑体简体中文 W6"/>
                <a:cs typeface="冬青黑体简体中文 W6"/>
                <a:sym typeface="冬青黑体简体中文 W6"/>
              </a:rPr>
              <a:t>!( A &amp;&amp; D )</a:t>
            </a:r>
          </a:p>
          <a:p>
            <a:pPr marL="487680" indent="-487680" defTabSz="1300480">
              <a:lnSpc>
                <a:spcPct val="130000"/>
              </a:lnSpc>
              <a:spcBef>
                <a:spcPts val="0"/>
              </a:spcBef>
              <a:buClr>
                <a:srgbClr val="FFFF00"/>
              </a:buClr>
              <a:buSzTx/>
              <a:buFont typeface="Wingdings"/>
              <a:buNone/>
              <a:defRPr>
                <a:latin typeface="冬青黑体简体中文 W3"/>
                <a:ea typeface="冬青黑体简体中文 W3"/>
                <a:cs typeface="冬青黑体简体中文 W3"/>
                <a:sym typeface="冬青黑体简体中文 W3"/>
              </a:defRPr>
            </a:pPr>
            <a:r>
              <a:rPr sz="2400" dirty="0" err="1"/>
              <a:t>因此有</a:t>
            </a:r>
            <a:r>
              <a:rPr sz="2400" dirty="0"/>
              <a:t> </a:t>
            </a:r>
            <a:r>
              <a:rPr sz="2400" dirty="0">
                <a:solidFill>
                  <a:schemeClr val="accent5">
                    <a:hueOff val="-82419"/>
                    <a:satOff val="-9513"/>
                    <a:lumOff val="-16343"/>
                  </a:schemeClr>
                </a:solidFill>
                <a:latin typeface="冬青黑体简体中文 W6"/>
                <a:ea typeface="冬青黑体简体中文 W6"/>
                <a:cs typeface="冬青黑体简体中文 W6"/>
                <a:sym typeface="冬青黑体简体中文 W6"/>
              </a:rPr>
              <a:t>CC2 = !( A &amp;&amp; D )</a:t>
            </a:r>
          </a:p>
          <a:p>
            <a:pPr marL="0" indent="0">
              <a:lnSpc>
                <a:spcPct val="130000"/>
              </a:lnSpc>
              <a:spcBef>
                <a:spcPts val="0"/>
              </a:spcBef>
              <a:buSzTx/>
              <a:buNone/>
              <a:defRPr sz="3000">
                <a:solidFill>
                  <a:schemeClr val="accent1">
                    <a:lumOff val="-13575"/>
                  </a:schemeClr>
                </a:solidFill>
                <a:latin typeface="冬青黑体简体中文 W6"/>
                <a:ea typeface="冬青黑体简体中文 W6"/>
                <a:cs typeface="冬青黑体简体中文 W6"/>
                <a:sym typeface="冬青黑体简体中文 W6"/>
              </a:defRPr>
            </a:pPr>
            <a:r>
              <a:rPr sz="2400" dirty="0" err="1"/>
              <a:t>以上几条结论，都可以使用前一页的方法</a:t>
            </a:r>
            <a:r>
              <a:rPr sz="2400" dirty="0"/>
              <a:t>，</a:t>
            </a:r>
            <a:r>
              <a:rPr lang="zh-CN" altLang="en-US" sz="2400" dirty="0"/>
              <a:t>通过</a:t>
            </a:r>
            <a:r>
              <a:rPr sz="2400" dirty="0" err="1"/>
              <a:t>表格来证明</a:t>
            </a:r>
            <a:r>
              <a:rPr lang="zh-CN" altLang="en-US" sz="2400" dirty="0"/>
              <a:t>：</a:t>
            </a:r>
            <a:endParaRPr sz="2400" dirty="0"/>
          </a:p>
        </p:txBody>
      </p:sp>
      <p:graphicFrame>
        <p:nvGraphicFramePr>
          <p:cNvPr id="246" name="表格"/>
          <p:cNvGraphicFramePr/>
          <p:nvPr>
            <p:extLst>
              <p:ext uri="{D42A27DB-BD31-4B8C-83A1-F6EECF244321}">
                <p14:modId xmlns:p14="http://schemas.microsoft.com/office/powerpoint/2010/main" val="498723301"/>
              </p:ext>
            </p:extLst>
          </p:nvPr>
        </p:nvGraphicFramePr>
        <p:xfrm>
          <a:off x="2344192" y="4666790"/>
          <a:ext cx="8033045" cy="4867910"/>
        </p:xfrm>
        <a:graphic>
          <a:graphicData uri="http://schemas.openxmlformats.org/drawingml/2006/table">
            <a:tbl>
              <a:tblPr>
                <a:tableStyleId>{33BA23B1-9221-436E-865A-0063620EA4FD}</a:tableStyleId>
              </a:tblPr>
              <a:tblGrid>
                <a:gridCol w="1501486">
                  <a:extLst>
                    <a:ext uri="{9D8B030D-6E8A-4147-A177-3AD203B41FA5}">
                      <a16:colId xmlns:a16="http://schemas.microsoft.com/office/drawing/2014/main" val="20000"/>
                    </a:ext>
                  </a:extLst>
                </a:gridCol>
                <a:gridCol w="1494513">
                  <a:extLst>
                    <a:ext uri="{9D8B030D-6E8A-4147-A177-3AD203B41FA5}">
                      <a16:colId xmlns:a16="http://schemas.microsoft.com/office/drawing/2014/main" val="20001"/>
                    </a:ext>
                  </a:extLst>
                </a:gridCol>
                <a:gridCol w="1455000">
                  <a:extLst>
                    <a:ext uri="{9D8B030D-6E8A-4147-A177-3AD203B41FA5}">
                      <a16:colId xmlns:a16="http://schemas.microsoft.com/office/drawing/2014/main" val="20002"/>
                    </a:ext>
                  </a:extLst>
                </a:gridCol>
                <a:gridCol w="1926085">
                  <a:extLst>
                    <a:ext uri="{9D8B030D-6E8A-4147-A177-3AD203B41FA5}">
                      <a16:colId xmlns:a16="http://schemas.microsoft.com/office/drawing/2014/main" val="20003"/>
                    </a:ext>
                  </a:extLst>
                </a:gridCol>
                <a:gridCol w="1655961">
                  <a:extLst>
                    <a:ext uri="{9D8B030D-6E8A-4147-A177-3AD203B41FA5}">
                      <a16:colId xmlns:a16="http://schemas.microsoft.com/office/drawing/2014/main" val="20004"/>
                    </a:ext>
                  </a:extLst>
                </a:gridCol>
              </a:tblGrid>
              <a:tr h="614974">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A &amp;&amp; D</a:t>
                      </a:r>
                    </a:p>
                  </a:txBody>
                  <a:tcPr marL="62230" marR="62230" marT="62230" marB="62230" anchor="ctr" horzOverflow="overflow">
                    <a:lnR w="38100">
                      <a:solidFill>
                        <a:srgbClr val="FFFFFF"/>
                      </a:solidFill>
                      <a:miter lim="400000"/>
                    </a:lnR>
                    <a:lnT w="38100">
                      <a:solidFill>
                        <a:srgbClr val="FFFFFF"/>
                      </a:solidFill>
                      <a:miter lim="400000"/>
                    </a:lnT>
                    <a:solidFill>
                      <a:schemeClr val="accent3"/>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A</a:t>
                      </a:r>
                    </a:p>
                  </a:txBody>
                  <a:tcPr marL="62230" marR="62230" marT="62230" marB="62230" anchor="ctr" horzOverflow="overflow">
                    <a:lnL w="38100">
                      <a:solidFill>
                        <a:srgbClr val="FFFFFF"/>
                      </a:solidFill>
                      <a:miter lim="400000"/>
                    </a:lnL>
                    <a:lnT w="38100">
                      <a:solidFill>
                        <a:srgbClr val="FFFFFF"/>
                      </a:solidFill>
                      <a:miter lim="400000"/>
                    </a:lnT>
                    <a:solidFill>
                      <a:srgbClr val="BBE7E7"/>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D</a:t>
                      </a:r>
                    </a:p>
                  </a:txBody>
                  <a:tcPr marL="62230" marR="62230" marT="62230" marB="62230" anchor="ctr" horzOverflow="overflow">
                    <a:lnT w="38100">
                      <a:solidFill>
                        <a:srgbClr val="FFFFFF"/>
                      </a:solidFill>
                      <a:miter lim="400000"/>
                    </a:lnT>
                    <a:solidFill>
                      <a:srgbClr val="BBE7E7"/>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含义</a:t>
                      </a:r>
                    </a:p>
                  </a:txBody>
                  <a:tcPr marL="62230" marR="62230" marT="62230" marB="62230" anchor="ctr" horzOverflow="overflow">
                    <a:lnT w="38100">
                      <a:solidFill>
                        <a:srgbClr val="FFFFFF"/>
                      </a:solidFill>
                      <a:miter lim="400000"/>
                    </a:lnT>
                    <a:solidFill>
                      <a:schemeClr val="accent5">
                        <a:hueOff val="-152896"/>
                        <a:lumOff val="12368"/>
                      </a:schemeClr>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CC2</a:t>
                      </a:r>
                    </a:p>
                  </a:txBody>
                  <a:tcPr marL="62230" marR="62230" marT="62230" marB="62230" anchor="ctr" horzOverflow="overflow">
                    <a:lnR w="38100">
                      <a:solidFill>
                        <a:srgbClr val="FFFFFF"/>
                      </a:solidFill>
                      <a:miter lim="400000"/>
                    </a:lnR>
                    <a:lnT w="38100">
                      <a:solidFill>
                        <a:srgbClr val="FFFFFF"/>
                      </a:solidFill>
                      <a:miter lim="400000"/>
                    </a:lnT>
                    <a:solidFill>
                      <a:schemeClr val="accent2">
                        <a:hueOff val="167855"/>
                        <a:satOff val="17755"/>
                        <a:lumOff val="-16671"/>
                      </a:schemeClr>
                    </a:solidFill>
                  </a:tcPr>
                </a:tc>
                <a:extLst>
                  <a:ext uri="{0D108BD9-81ED-4DB2-BD59-A6C34878D82A}">
                    <a16:rowId xmlns:a16="http://schemas.microsoft.com/office/drawing/2014/main" val="10000"/>
                  </a:ext>
                </a:extLst>
              </a:tr>
              <a:tr h="614974">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0</a:t>
                      </a:r>
                    </a:p>
                  </a:txBody>
                  <a:tcPr marL="62230" marR="62230" marT="62230" marB="62230" anchor="ctr" horzOverflow="overflow">
                    <a:lnR w="38100">
                      <a:solidFill>
                        <a:srgbClr val="FFFFFF"/>
                      </a:solidFill>
                      <a:miter lim="400000"/>
                    </a:lnR>
                    <a:solidFill>
                      <a:schemeClr val="accent3"/>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0</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0</a:t>
                      </a:r>
                    </a:p>
                  </a:txBody>
                  <a:tcPr marL="62230" marR="62230" marT="62230" marB="62230" anchor="ctr" horzOverflow="overflow">
                    <a:solidFill>
                      <a:srgbClr val="D6D5D5"/>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均不作案</a:t>
                      </a:r>
                    </a:p>
                  </a:txBody>
                  <a:tcPr marL="62230" marR="62230" marT="62230" marB="62230" anchor="ctr" horzOverflow="overflow">
                    <a:solidFill>
                      <a:schemeClr val="accent5">
                        <a:hueOff val="-152896"/>
                        <a:lumOff val="12368"/>
                      </a:schemeClr>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1</a:t>
                      </a:r>
                    </a:p>
                  </a:txBody>
                  <a:tcPr marL="62230" marR="62230" marT="62230" marB="62230" anchor="ctr" horzOverflow="overflow">
                    <a:lnR w="38100">
                      <a:solidFill>
                        <a:srgbClr val="FFFFFF"/>
                      </a:solidFill>
                      <a:miter lim="400000"/>
                    </a:lnR>
                    <a:solidFill>
                      <a:schemeClr val="accent2">
                        <a:hueOff val="167855"/>
                        <a:satOff val="17755"/>
                        <a:lumOff val="-16671"/>
                      </a:schemeClr>
                    </a:solidFill>
                  </a:tcPr>
                </a:tc>
                <a:extLst>
                  <a:ext uri="{0D108BD9-81ED-4DB2-BD59-A6C34878D82A}">
                    <a16:rowId xmlns:a16="http://schemas.microsoft.com/office/drawing/2014/main" val="10001"/>
                  </a:ext>
                </a:extLst>
              </a:tr>
              <a:tr h="614974">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0</a:t>
                      </a:r>
                    </a:p>
                  </a:txBody>
                  <a:tcPr marL="62230" marR="62230" marT="62230" marB="62230" anchor="ctr" horzOverflow="overflow">
                    <a:lnR w="38100">
                      <a:solidFill>
                        <a:srgbClr val="FFFFFF"/>
                      </a:solidFill>
                      <a:miter lim="400000"/>
                    </a:lnR>
                    <a:solidFill>
                      <a:schemeClr val="accent3"/>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1</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0</a:t>
                      </a:r>
                    </a:p>
                  </a:txBody>
                  <a:tcPr marL="62230" marR="62230" marT="62230" marB="62230" anchor="ctr" horzOverflow="overflow">
                    <a:solidFill>
                      <a:srgbClr val="D6D5D5"/>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A作案</a:t>
                      </a:r>
                    </a:p>
                  </a:txBody>
                  <a:tcPr marL="62230" marR="62230" marT="62230" marB="62230" anchor="ctr" horzOverflow="overflow">
                    <a:solidFill>
                      <a:schemeClr val="accent5">
                        <a:hueOff val="-152896"/>
                        <a:lumOff val="12368"/>
                      </a:schemeClr>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1</a:t>
                      </a:r>
                    </a:p>
                  </a:txBody>
                  <a:tcPr marL="62230" marR="62230" marT="62230" marB="62230" anchor="ctr" horzOverflow="overflow">
                    <a:lnR w="38100">
                      <a:solidFill>
                        <a:srgbClr val="FFFFFF"/>
                      </a:solidFill>
                      <a:miter lim="400000"/>
                    </a:lnR>
                    <a:solidFill>
                      <a:schemeClr val="accent2">
                        <a:hueOff val="167855"/>
                        <a:satOff val="17755"/>
                        <a:lumOff val="-16671"/>
                      </a:schemeClr>
                    </a:solidFill>
                  </a:tcPr>
                </a:tc>
                <a:extLst>
                  <a:ext uri="{0D108BD9-81ED-4DB2-BD59-A6C34878D82A}">
                    <a16:rowId xmlns:a16="http://schemas.microsoft.com/office/drawing/2014/main" val="10002"/>
                  </a:ext>
                </a:extLst>
              </a:tr>
              <a:tr h="614974">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0</a:t>
                      </a:r>
                    </a:p>
                  </a:txBody>
                  <a:tcPr marL="62230" marR="62230" marT="62230" marB="62230" anchor="ctr" horzOverflow="overflow">
                    <a:lnR w="38100">
                      <a:solidFill>
                        <a:srgbClr val="FFFFFF"/>
                      </a:solidFill>
                      <a:miter lim="400000"/>
                    </a:lnR>
                    <a:solidFill>
                      <a:schemeClr val="accent3"/>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0</a:t>
                      </a:r>
                    </a:p>
                  </a:txBody>
                  <a:tcPr marL="62230" marR="62230" marT="62230" marB="62230" anchor="ctr" horzOverflow="overflow">
                    <a:lnL w="38100">
                      <a:solidFill>
                        <a:srgbClr val="FFFFFF"/>
                      </a:solidFill>
                      <a:miter lim="400000"/>
                    </a:lnL>
                    <a:solidFill>
                      <a:srgbClr val="D6D5D5"/>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1</a:t>
                      </a:r>
                    </a:p>
                  </a:txBody>
                  <a:tcPr marL="62230" marR="62230" marT="62230" marB="62230" anchor="ctr" horzOverflow="overflow">
                    <a:solidFill>
                      <a:srgbClr val="D6D5D5"/>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D作案</a:t>
                      </a:r>
                    </a:p>
                  </a:txBody>
                  <a:tcPr marL="62230" marR="62230" marT="62230" marB="62230" anchor="ctr" horzOverflow="overflow">
                    <a:solidFill>
                      <a:schemeClr val="accent5">
                        <a:hueOff val="-152896"/>
                        <a:lumOff val="12368"/>
                      </a:schemeClr>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1</a:t>
                      </a:r>
                    </a:p>
                  </a:txBody>
                  <a:tcPr marL="62230" marR="62230" marT="62230" marB="62230" anchor="ctr" horzOverflow="overflow">
                    <a:lnR w="38100">
                      <a:solidFill>
                        <a:srgbClr val="FFFFFF"/>
                      </a:solidFill>
                      <a:miter lim="400000"/>
                    </a:lnR>
                    <a:solidFill>
                      <a:schemeClr val="accent2">
                        <a:hueOff val="167855"/>
                        <a:satOff val="17755"/>
                        <a:lumOff val="-16671"/>
                      </a:schemeClr>
                    </a:solidFill>
                  </a:tcPr>
                </a:tc>
                <a:extLst>
                  <a:ext uri="{0D108BD9-81ED-4DB2-BD59-A6C34878D82A}">
                    <a16:rowId xmlns:a16="http://schemas.microsoft.com/office/drawing/2014/main" val="10003"/>
                  </a:ext>
                </a:extLst>
              </a:tr>
              <a:tr h="614974">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1</a:t>
                      </a:r>
                    </a:p>
                  </a:txBody>
                  <a:tcPr marL="62230" marR="62230" marT="62230" marB="62230" anchor="ctr" horzOverflow="overflow">
                    <a:lnR w="38100">
                      <a:solidFill>
                        <a:srgbClr val="FFFFFF"/>
                      </a:solidFill>
                      <a:miter lim="400000"/>
                    </a:lnR>
                    <a:lnB w="38100">
                      <a:solidFill>
                        <a:srgbClr val="FFFFFF"/>
                      </a:solidFill>
                      <a:miter lim="400000"/>
                    </a:lnB>
                    <a:solidFill>
                      <a:schemeClr val="accent3"/>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1</a:t>
                      </a:r>
                    </a:p>
                  </a:txBody>
                  <a:tcPr marL="62230" marR="62230" marT="62230" marB="62230" anchor="ctr" horzOverflow="overflow">
                    <a:lnL w="38100">
                      <a:solidFill>
                        <a:srgbClr val="FFFFFF"/>
                      </a:solidFill>
                      <a:miter lim="400000"/>
                    </a:lnL>
                    <a:lnB w="38100">
                      <a:solidFill>
                        <a:srgbClr val="FFFFFF"/>
                      </a:solidFill>
                      <a:miter lim="400000"/>
                    </a:lnB>
                    <a:solidFill>
                      <a:srgbClr val="D6D5D5"/>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1</a:t>
                      </a:r>
                    </a:p>
                  </a:txBody>
                  <a:tcPr marL="62230" marR="62230" marT="62230" marB="62230" anchor="ctr" horzOverflow="overflow">
                    <a:lnB w="38100">
                      <a:solidFill>
                        <a:srgbClr val="FFFFFF"/>
                      </a:solidFill>
                      <a:miter lim="400000"/>
                    </a:lnB>
                    <a:solidFill>
                      <a:srgbClr val="D6D5D5"/>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AD都作案</a:t>
                      </a:r>
                    </a:p>
                  </a:txBody>
                  <a:tcPr marL="62230" marR="62230" marT="62230" marB="62230" anchor="ctr" horzOverflow="overflow">
                    <a:lnB w="38100">
                      <a:solidFill>
                        <a:srgbClr val="FFFFFF"/>
                      </a:solidFill>
                      <a:miter lim="400000"/>
                    </a:lnB>
                    <a:solidFill>
                      <a:schemeClr val="accent5">
                        <a:hueOff val="-152896"/>
                        <a:lumOff val="12368"/>
                      </a:schemeClr>
                    </a:solidFill>
                  </a:tcPr>
                </a:tc>
                <a:tc>
                  <a:txBody>
                    <a:bodyPr/>
                    <a:lstStyle/>
                    <a:p>
                      <a:pPr defTabSz="457200">
                        <a:lnSpc>
                          <a:spcPts val="8000"/>
                        </a:lnSpc>
                        <a:defRPr sz="1800"/>
                      </a:pPr>
                      <a:r>
                        <a:rPr sz="2600">
                          <a:latin typeface="冬青黑体简体中文 W3"/>
                          <a:ea typeface="冬青黑体简体中文 W3"/>
                          <a:cs typeface="冬青黑体简体中文 W3"/>
                          <a:sym typeface="冬青黑体简体中文 W3"/>
                        </a:rPr>
                        <a:t>0</a:t>
                      </a:r>
                    </a:p>
                  </a:txBody>
                  <a:tcPr marL="62230" marR="62230" marT="62230" marB="62230" anchor="ctr" horzOverflow="overflow">
                    <a:lnR w="38100">
                      <a:solidFill>
                        <a:srgbClr val="FFFFFF"/>
                      </a:solidFill>
                      <a:miter lim="400000"/>
                    </a:lnR>
                    <a:lnB w="38100">
                      <a:solidFill>
                        <a:srgbClr val="FFFFFF"/>
                      </a:solidFill>
                      <a:miter lim="400000"/>
                    </a:lnB>
                    <a:solidFill>
                      <a:schemeClr val="accent2">
                        <a:hueOff val="167855"/>
                        <a:satOff val="17755"/>
                        <a:lumOff val="-16671"/>
                      </a:schemeClr>
                    </a:solidFill>
                  </a:tcPr>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74</a:t>
            </a:fld>
            <a:endParaRPr/>
          </a:p>
        </p:txBody>
      </p:sp>
      <p:sp>
        <p:nvSpPr>
          <p:cNvPr id="249" name="CC3：A、E、F中至少有两人涉嫌作案"/>
          <p:cNvSpPr txBox="1">
            <a:spLocks noGrp="1"/>
          </p:cNvSpPr>
          <p:nvPr>
            <p:ph type="title"/>
          </p:nvPr>
        </p:nvSpPr>
        <p:spPr>
          <a:xfrm>
            <a:off x="547201" y="354125"/>
            <a:ext cx="10683490" cy="1152045"/>
          </a:xfrm>
          <a:prstGeom prst="rect">
            <a:avLst/>
          </a:prstGeom>
        </p:spPr>
        <p:txBody>
          <a:bodyPr/>
          <a:lstStyle/>
          <a:p>
            <a:r>
              <a:t>CC3：A、E、F中至少有两人涉嫌作案</a:t>
            </a:r>
          </a:p>
        </p:txBody>
      </p:sp>
      <p:sp>
        <p:nvSpPr>
          <p:cNvPr id="250" name="经过分析，这条线索有三种可能（即在如下三种情形下线索为真）…"/>
          <p:cNvSpPr txBox="1"/>
          <p:nvPr/>
        </p:nvSpPr>
        <p:spPr>
          <a:xfrm>
            <a:off x="587060" y="2589595"/>
            <a:ext cx="12003286" cy="55516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lnSpc>
                <a:spcPct val="140000"/>
              </a:lnSpc>
              <a:defRPr sz="3200" b="0">
                <a:latin typeface="冬青黑体简体中文 W3"/>
                <a:ea typeface="冬青黑体简体中文 W3"/>
                <a:cs typeface="冬青黑体简体中文 W3"/>
                <a:sym typeface="冬青黑体简体中文 W3"/>
              </a:defRPr>
            </a:pPr>
            <a:r>
              <a:rPr err="1"/>
              <a:t>经过分析，这条线索有三种可能（即在如下三种情形下线索为真</a:t>
            </a:r>
            <a:r>
              <a:t>）</a:t>
            </a:r>
          </a:p>
          <a:p>
            <a:pPr marL="333374" indent="-333374" algn="l">
              <a:lnSpc>
                <a:spcPct val="140000"/>
              </a:lnSpc>
              <a:buSzPct val="145000"/>
              <a:buChar char="•"/>
              <a:defRPr sz="3200" b="0">
                <a:latin typeface="冬青黑体简体中文 W3"/>
                <a:ea typeface="冬青黑体简体中文 W3"/>
                <a:cs typeface="冬青黑体简体中文 W3"/>
                <a:sym typeface="冬青黑体简体中文 W3"/>
              </a:defRPr>
            </a:pPr>
            <a:r>
              <a:t>第</a:t>
            </a:r>
            <a:r>
              <a:rPr lang="en-US" altLang="zh-CN"/>
              <a:t>1</a:t>
            </a:r>
            <a:r>
              <a:t>种：A 和 E </a:t>
            </a:r>
            <a:r>
              <a:rPr err="1"/>
              <a:t>作案，表示为（A</a:t>
            </a:r>
            <a:r>
              <a:t> &amp;&amp; E）</a:t>
            </a:r>
          </a:p>
          <a:p>
            <a:pPr marL="333374" indent="-333374" algn="l">
              <a:lnSpc>
                <a:spcPct val="140000"/>
              </a:lnSpc>
              <a:buSzPct val="145000"/>
              <a:buChar char="•"/>
              <a:defRPr sz="3200" b="0">
                <a:latin typeface="冬青黑体简体中文 W3"/>
                <a:ea typeface="冬青黑体简体中文 W3"/>
                <a:cs typeface="冬青黑体简体中文 W3"/>
                <a:sym typeface="冬青黑体简体中文 W3"/>
              </a:defRPr>
            </a:pPr>
            <a:r>
              <a:t>第</a:t>
            </a:r>
            <a:r>
              <a:rPr lang="en-US" altLang="zh-CN"/>
              <a:t>2</a:t>
            </a:r>
            <a:r>
              <a:t>种：A 和 F </a:t>
            </a:r>
            <a:r>
              <a:rPr err="1"/>
              <a:t>作案，表示为（A</a:t>
            </a:r>
            <a:r>
              <a:t> &amp;&amp; F）</a:t>
            </a:r>
          </a:p>
          <a:p>
            <a:pPr marL="333374" indent="-333374" algn="l">
              <a:lnSpc>
                <a:spcPct val="140000"/>
              </a:lnSpc>
              <a:buSzPct val="145000"/>
              <a:buChar char="•"/>
              <a:defRPr sz="3200" b="0">
                <a:latin typeface="冬青黑体简体中文 W3"/>
                <a:ea typeface="冬青黑体简体中文 W3"/>
                <a:cs typeface="冬青黑体简体中文 W3"/>
                <a:sym typeface="冬青黑体简体中文 W3"/>
              </a:defRPr>
            </a:pPr>
            <a:r>
              <a:t>第</a:t>
            </a:r>
            <a:r>
              <a:rPr lang="en-US" altLang="zh-CN"/>
              <a:t>3</a:t>
            </a:r>
            <a:r>
              <a:t>种：E 和 F </a:t>
            </a:r>
            <a:r>
              <a:rPr err="1"/>
              <a:t>作案，表示为（E</a:t>
            </a:r>
            <a:r>
              <a:t> &amp;&amp; F）</a:t>
            </a:r>
          </a:p>
          <a:p>
            <a:pPr algn="l">
              <a:lnSpc>
                <a:spcPct val="140000"/>
              </a:lnSpc>
              <a:defRPr sz="3200" b="0">
                <a:latin typeface="冬青黑体简体中文 W3"/>
                <a:ea typeface="冬青黑体简体中文 W3"/>
                <a:cs typeface="冬青黑体简体中文 W3"/>
                <a:sym typeface="冬青黑体简体中文 W3"/>
              </a:defRPr>
            </a:pPr>
            <a:endParaRPr/>
          </a:p>
          <a:p>
            <a:pPr algn="l">
              <a:lnSpc>
                <a:spcPct val="140000"/>
              </a:lnSpc>
              <a:defRPr sz="3200" b="0">
                <a:latin typeface="冬青黑体简体中文 W3"/>
                <a:ea typeface="冬青黑体简体中文 W3"/>
                <a:cs typeface="冬青黑体简体中文 W3"/>
                <a:sym typeface="冬青黑体简体中文 W3"/>
              </a:defRPr>
            </a:pPr>
            <a:r>
              <a:rPr err="1"/>
              <a:t>从线索内容看，以上三种可能性之间是</a:t>
            </a:r>
            <a:r>
              <a:t> </a:t>
            </a:r>
            <a:r>
              <a:rPr>
                <a:solidFill>
                  <a:schemeClr val="accent5">
                    <a:hueOff val="-82419"/>
                    <a:satOff val="-9513"/>
                    <a:lumOff val="-16343"/>
                  </a:schemeClr>
                </a:solidFill>
              </a:rPr>
              <a:t>或</a:t>
            </a:r>
            <a:r>
              <a:t> </a:t>
            </a:r>
            <a:r>
              <a:rPr err="1"/>
              <a:t>的关系，因此有</a:t>
            </a:r>
            <a:endParaRPr/>
          </a:p>
          <a:p>
            <a:pPr algn="l">
              <a:lnSpc>
                <a:spcPct val="140000"/>
              </a:lnSpc>
              <a:defRPr sz="3200" b="0">
                <a:latin typeface="冬青黑体简体中文 W3"/>
                <a:ea typeface="冬青黑体简体中文 W3"/>
                <a:cs typeface="冬青黑体简体中文 W3"/>
                <a:sym typeface="冬青黑体简体中文 W3"/>
              </a:defRPr>
            </a:pPr>
            <a:endParaRPr/>
          </a:p>
          <a:p>
            <a:pPr algn="l">
              <a:lnSpc>
                <a:spcPct val="140000"/>
              </a:lnSpc>
              <a:defRPr sz="3200" b="0">
                <a:solidFill>
                  <a:schemeClr val="accent5">
                    <a:hueOff val="-82419"/>
                    <a:satOff val="-9513"/>
                    <a:lumOff val="-16343"/>
                  </a:schemeClr>
                </a:solidFill>
                <a:latin typeface="冬青黑体简体中文 W6"/>
                <a:ea typeface="冬青黑体简体中文 W6"/>
                <a:cs typeface="冬青黑体简体中文 W6"/>
                <a:sym typeface="冬青黑体简体中文 W6"/>
              </a:defRPr>
            </a:pPr>
            <a:r>
              <a:t>      CC3 = (A &amp;&amp; E）</a:t>
            </a:r>
            <a:r>
              <a:rPr>
                <a:solidFill>
                  <a:srgbClr val="000000"/>
                </a:solidFill>
              </a:rPr>
              <a:t>||</a:t>
            </a:r>
            <a:r>
              <a:t>（A &amp;&amp; F）</a:t>
            </a:r>
            <a:r>
              <a:rPr>
                <a:solidFill>
                  <a:srgbClr val="000000"/>
                </a:solidFill>
              </a:rPr>
              <a:t>||</a:t>
            </a:r>
            <a:r>
              <a:t>（E &amp;&amp; F)</a:t>
            </a:r>
          </a:p>
        </p:txBody>
      </p:sp>
      <p:sp>
        <p:nvSpPr>
          <p:cNvPr id="251" name="线条"/>
          <p:cNvSpPr/>
          <p:nvPr/>
        </p:nvSpPr>
        <p:spPr>
          <a:xfrm flipH="1">
            <a:off x="4318007" y="6752257"/>
            <a:ext cx="3451531" cy="827104"/>
          </a:xfrm>
          <a:prstGeom prst="line">
            <a:avLst/>
          </a:prstGeom>
          <a:ln w="25400">
            <a:solidFill>
              <a:schemeClr val="accent3">
                <a:hueOff val="914337"/>
                <a:satOff val="31515"/>
                <a:lumOff val="-30790"/>
              </a:schemeClr>
            </a:solidFill>
            <a:miter lim="400000"/>
            <a:tailEnd type="triangle"/>
          </a:ln>
        </p:spPr>
        <p:txBody>
          <a:bodyPr lIns="50800" tIns="50800" rIns="50800" bIns="50800" anchor="ctr"/>
          <a:lstStyle/>
          <a:p>
            <a:pPr>
              <a:defRPr sz="3600" b="0">
                <a:solidFill>
                  <a:srgbClr val="FFFFFF"/>
                </a:solidFill>
                <a:latin typeface="+mn-lt"/>
                <a:ea typeface="+mn-ea"/>
                <a:cs typeface="+mn-cs"/>
                <a:sym typeface="Helvetica Neue Medium"/>
              </a:defRPr>
            </a:pPr>
            <a:endParaRPr/>
          </a:p>
        </p:txBody>
      </p:sp>
      <p:sp>
        <p:nvSpPr>
          <p:cNvPr id="252" name="线条"/>
          <p:cNvSpPr/>
          <p:nvPr/>
        </p:nvSpPr>
        <p:spPr>
          <a:xfrm flipH="1">
            <a:off x="6664960" y="6747065"/>
            <a:ext cx="1240459" cy="827105"/>
          </a:xfrm>
          <a:prstGeom prst="line">
            <a:avLst/>
          </a:prstGeom>
          <a:ln w="25400">
            <a:solidFill>
              <a:schemeClr val="accent3">
                <a:hueOff val="914337"/>
                <a:satOff val="31515"/>
                <a:lumOff val="-30790"/>
              </a:schemeClr>
            </a:solidFill>
            <a:miter lim="400000"/>
            <a:tailEnd type="triangle"/>
          </a:ln>
        </p:spPr>
        <p:txBody>
          <a:bodyPr lIns="50800" tIns="50800" rIns="50800" bIns="50800" anchor="ctr"/>
          <a:lstStyle/>
          <a:p>
            <a:pPr>
              <a:defRPr sz="3600" b="0">
                <a:solidFill>
                  <a:srgbClr val="FFFFFF"/>
                </a:solidFill>
                <a:latin typeface="+mn-lt"/>
                <a:ea typeface="+mn-ea"/>
                <a:cs typeface="+mn-cs"/>
                <a:sym typeface="Helvetica Neue Medium"/>
              </a:defRPr>
            </a:pPr>
            <a:endParaRP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75</a:t>
            </a:fld>
            <a:endParaRPr/>
          </a:p>
        </p:txBody>
      </p:sp>
      <p:sp>
        <p:nvSpPr>
          <p:cNvPr id="255" name="CC4：B和C或同时作案，或都与本案无关"/>
          <p:cNvSpPr txBox="1">
            <a:spLocks noGrp="1"/>
          </p:cNvSpPr>
          <p:nvPr>
            <p:ph type="title"/>
          </p:nvPr>
        </p:nvSpPr>
        <p:spPr>
          <a:xfrm>
            <a:off x="547201" y="354125"/>
            <a:ext cx="11593841" cy="1152045"/>
          </a:xfrm>
          <a:prstGeom prst="rect">
            <a:avLst/>
          </a:prstGeom>
        </p:spPr>
        <p:txBody>
          <a:bodyPr/>
          <a:lstStyle/>
          <a:p>
            <a:r>
              <a:t>CC4：B和C或同时作案，或都与本案无关</a:t>
            </a:r>
          </a:p>
        </p:txBody>
      </p:sp>
      <p:sp>
        <p:nvSpPr>
          <p:cNvPr id="256" name="经过分析，这条线索有两种可能…"/>
          <p:cNvSpPr txBox="1"/>
          <p:nvPr/>
        </p:nvSpPr>
        <p:spPr>
          <a:xfrm>
            <a:off x="547201" y="2432220"/>
            <a:ext cx="8258671" cy="48891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lnSpc>
                <a:spcPct val="200000"/>
              </a:lnSpc>
              <a:defRPr sz="3200" b="0">
                <a:latin typeface="冬青黑体简体中文 W3"/>
                <a:ea typeface="冬青黑体简体中文 W3"/>
                <a:cs typeface="冬青黑体简体中文 W3"/>
                <a:sym typeface="冬青黑体简体中文 W3"/>
              </a:defRPr>
            </a:pPr>
            <a:r>
              <a:rPr err="1"/>
              <a:t>经过分析，这条线索有两种可能</a:t>
            </a:r>
            <a:endParaRPr/>
          </a:p>
          <a:p>
            <a:pPr marL="333374" indent="-333374" algn="l">
              <a:lnSpc>
                <a:spcPct val="200000"/>
              </a:lnSpc>
              <a:buSzPct val="145000"/>
              <a:buChar char="•"/>
              <a:defRPr sz="3200" b="0">
                <a:latin typeface="冬青黑体简体中文 W3"/>
                <a:ea typeface="冬青黑体简体中文 W3"/>
                <a:cs typeface="冬青黑体简体中文 W3"/>
                <a:sym typeface="冬青黑体简体中文 W3"/>
              </a:defRPr>
            </a:pPr>
            <a:r>
              <a:t>第</a:t>
            </a:r>
            <a:r>
              <a:rPr lang="en-US" altLang="zh-CN"/>
              <a:t>1</a:t>
            </a:r>
            <a:r>
              <a:t>种：同时作案，表示为（B &amp;&amp; C）</a:t>
            </a:r>
          </a:p>
          <a:p>
            <a:pPr marL="333374" indent="-333374" algn="l">
              <a:lnSpc>
                <a:spcPct val="200000"/>
              </a:lnSpc>
              <a:buSzPct val="145000"/>
              <a:buChar char="•"/>
              <a:defRPr sz="3200" b="0">
                <a:latin typeface="冬青黑体简体中文 W3"/>
                <a:ea typeface="冬青黑体简体中文 W3"/>
                <a:cs typeface="冬青黑体简体中文 W3"/>
                <a:sym typeface="冬青黑体简体中文 W3"/>
              </a:defRPr>
            </a:pPr>
            <a:r>
              <a:t>第</a:t>
            </a:r>
            <a:r>
              <a:rPr lang="en-US" altLang="zh-CN"/>
              <a:t>2</a:t>
            </a:r>
            <a:r>
              <a:t>种：都与本案无关，表示为（!B &amp;&amp; !C）</a:t>
            </a:r>
          </a:p>
          <a:p>
            <a:pPr algn="l">
              <a:lnSpc>
                <a:spcPct val="200000"/>
              </a:lnSpc>
              <a:defRPr sz="3200" b="0">
                <a:latin typeface="冬青黑体简体中文 W3"/>
                <a:ea typeface="冬青黑体简体中文 W3"/>
                <a:cs typeface="冬青黑体简体中文 W3"/>
                <a:sym typeface="冬青黑体简体中文 W3"/>
              </a:defRPr>
            </a:pPr>
            <a:r>
              <a:rPr err="1"/>
              <a:t>两种可能的情况是</a:t>
            </a:r>
            <a:r>
              <a:t> 或 </a:t>
            </a:r>
            <a:r>
              <a:rPr err="1"/>
              <a:t>的关系，因此有</a:t>
            </a:r>
            <a:r>
              <a:t> </a:t>
            </a:r>
            <a:br>
              <a:rPr/>
            </a:br>
            <a:r>
              <a:t>	  </a:t>
            </a:r>
            <a:r>
              <a:rPr>
                <a:solidFill>
                  <a:schemeClr val="accent5">
                    <a:hueOff val="-82419"/>
                    <a:satOff val="-9513"/>
                    <a:lumOff val="-16343"/>
                  </a:schemeClr>
                </a:solidFill>
                <a:latin typeface="冬青黑体简体中文 W6"/>
                <a:ea typeface="冬青黑体简体中文 W6"/>
                <a:cs typeface="冬青黑体简体中文 W6"/>
                <a:sym typeface="冬青黑体简体中文 W6"/>
              </a:rPr>
              <a:t>CC4 = (B &amp;&amp; C) || (!B &amp;&amp; !C)</a:t>
            </a:r>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76</a:t>
            </a:fld>
            <a:endParaRPr/>
          </a:p>
        </p:txBody>
      </p:sp>
      <p:sp>
        <p:nvSpPr>
          <p:cNvPr id="259" name="CC5：C、D中有且仅有一人作案"/>
          <p:cNvSpPr txBox="1">
            <a:spLocks noGrp="1"/>
          </p:cNvSpPr>
          <p:nvPr>
            <p:ph type="title"/>
          </p:nvPr>
        </p:nvSpPr>
        <p:spPr>
          <a:xfrm>
            <a:off x="547201" y="354125"/>
            <a:ext cx="9301628" cy="1152045"/>
          </a:xfrm>
          <a:prstGeom prst="rect">
            <a:avLst/>
          </a:prstGeom>
        </p:spPr>
        <p:txBody>
          <a:bodyPr/>
          <a:lstStyle/>
          <a:p>
            <a:r>
              <a:t>CC5：C、D中有且仅有一人作案</a:t>
            </a:r>
          </a:p>
        </p:txBody>
      </p:sp>
      <p:sp>
        <p:nvSpPr>
          <p:cNvPr id="260" name="经过分析，这条线索有两种可能…"/>
          <p:cNvSpPr txBox="1"/>
          <p:nvPr/>
        </p:nvSpPr>
        <p:spPr>
          <a:xfrm>
            <a:off x="643439" y="2735100"/>
            <a:ext cx="8830944" cy="3719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lnSpc>
                <a:spcPct val="150000"/>
              </a:lnSpc>
              <a:defRPr sz="3200" b="0">
                <a:latin typeface="冬青黑体简体中文 W3"/>
                <a:ea typeface="冬青黑体简体中文 W3"/>
                <a:cs typeface="冬青黑体简体中文 W3"/>
                <a:sym typeface="冬青黑体简体中文 W3"/>
              </a:defRPr>
            </a:pPr>
            <a:r>
              <a:rPr err="1"/>
              <a:t>经过分析，这条线索有两种可能</a:t>
            </a:r>
            <a:endParaRPr/>
          </a:p>
          <a:p>
            <a:pPr marL="333374" indent="-333374" algn="l">
              <a:lnSpc>
                <a:spcPct val="150000"/>
              </a:lnSpc>
              <a:buSzPct val="145000"/>
              <a:buChar char="•"/>
              <a:defRPr sz="3200" b="0">
                <a:latin typeface="冬青黑体简体中文 W3"/>
                <a:ea typeface="冬青黑体简体中文 W3"/>
                <a:cs typeface="冬青黑体简体中文 W3"/>
                <a:sym typeface="冬青黑体简体中文 W3"/>
              </a:defRPr>
            </a:pPr>
            <a:r>
              <a:t>第</a:t>
            </a:r>
            <a:r>
              <a:rPr lang="en-US" altLang="zh-CN"/>
              <a:t>1</a:t>
            </a:r>
            <a:r>
              <a:t>种：C作案且D不作案，表示为（C &amp;&amp; !D）</a:t>
            </a:r>
          </a:p>
          <a:p>
            <a:pPr marL="333374" indent="-333374" algn="l">
              <a:lnSpc>
                <a:spcPct val="150000"/>
              </a:lnSpc>
              <a:buSzPct val="145000"/>
              <a:buChar char="•"/>
              <a:defRPr sz="3200" b="0">
                <a:latin typeface="冬青黑体简体中文 W3"/>
                <a:ea typeface="冬青黑体简体中文 W3"/>
                <a:cs typeface="冬青黑体简体中文 W3"/>
                <a:sym typeface="冬青黑体简体中文 W3"/>
              </a:defRPr>
            </a:pPr>
            <a:r>
              <a:t>第</a:t>
            </a:r>
            <a:r>
              <a:rPr lang="en-US" altLang="zh-CN"/>
              <a:t>2</a:t>
            </a:r>
            <a:r>
              <a:t>种：D作案且C不作案，表示为（D &amp;&amp; !C）</a:t>
            </a:r>
          </a:p>
          <a:p>
            <a:pPr algn="l">
              <a:lnSpc>
                <a:spcPct val="150000"/>
              </a:lnSpc>
              <a:defRPr sz="3200" b="0">
                <a:latin typeface="冬青黑体简体中文 W3"/>
                <a:ea typeface="冬青黑体简体中文 W3"/>
                <a:cs typeface="冬青黑体简体中文 W3"/>
                <a:sym typeface="冬青黑体简体中文 W3"/>
              </a:defRPr>
            </a:pPr>
            <a:r>
              <a:rPr err="1"/>
              <a:t>两种可能的情况是</a:t>
            </a:r>
            <a:r>
              <a:t> 或 </a:t>
            </a:r>
            <a:r>
              <a:rPr err="1"/>
              <a:t>的关系，因此有</a:t>
            </a:r>
            <a:r>
              <a:t> </a:t>
            </a:r>
            <a:br>
              <a:rPr/>
            </a:br>
            <a:r>
              <a:t>	  </a:t>
            </a:r>
            <a:r>
              <a:rPr>
                <a:solidFill>
                  <a:schemeClr val="accent5">
                    <a:hueOff val="-82419"/>
                    <a:satOff val="-9513"/>
                    <a:lumOff val="-16343"/>
                  </a:schemeClr>
                </a:solidFill>
                <a:latin typeface="冬青黑体简体中文 W6"/>
                <a:ea typeface="冬青黑体简体中文 W6"/>
                <a:cs typeface="冬青黑体简体中文 W6"/>
                <a:sym typeface="冬青黑体简体中文 W6"/>
              </a:rPr>
              <a:t>CC5 = (C &amp;&amp; !D) || (D &amp;&amp; !C)</a:t>
            </a:r>
          </a:p>
        </p:txBody>
      </p:sp>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77</a:t>
            </a:fld>
            <a:endParaRPr/>
          </a:p>
        </p:txBody>
      </p:sp>
      <p:sp>
        <p:nvSpPr>
          <p:cNvPr id="263" name="CC6：如果D没有参与作案，则E也不可能参与作案"/>
          <p:cNvSpPr txBox="1">
            <a:spLocks noGrp="1"/>
          </p:cNvSpPr>
          <p:nvPr>
            <p:ph type="title"/>
          </p:nvPr>
        </p:nvSpPr>
        <p:spPr>
          <a:xfrm>
            <a:off x="547201" y="354125"/>
            <a:ext cx="11995412" cy="1152045"/>
          </a:xfrm>
          <a:prstGeom prst="rect">
            <a:avLst/>
          </a:prstGeom>
        </p:spPr>
        <p:txBody>
          <a:bodyPr/>
          <a:lstStyle>
            <a:lvl1pPr>
              <a:defRPr sz="4000"/>
            </a:lvl1pPr>
          </a:lstStyle>
          <a:p>
            <a:r>
              <a:t>CC6：如果D没有参与作案，则E也不可能参与作案</a:t>
            </a:r>
          </a:p>
        </p:txBody>
      </p:sp>
      <p:sp>
        <p:nvSpPr>
          <p:cNvPr id="264" name="经过分析，这条线索有两种可能性：（1）D作案；（2）D不作案…"/>
          <p:cNvSpPr txBox="1"/>
          <p:nvPr/>
        </p:nvSpPr>
        <p:spPr>
          <a:xfrm>
            <a:off x="632215" y="2350004"/>
            <a:ext cx="11910398" cy="66719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lnSpc>
                <a:spcPct val="150000"/>
              </a:lnSpc>
              <a:defRPr sz="3200" b="0">
                <a:latin typeface="冬青黑体简体中文 W3"/>
                <a:ea typeface="冬青黑体简体中文 W3"/>
                <a:cs typeface="冬青黑体简体中文 W3"/>
                <a:sym typeface="冬青黑体简体中文 W3"/>
              </a:defRPr>
            </a:pPr>
            <a:r>
              <a:rPr err="1"/>
              <a:t>经过分析，这条线索有两种可能性</a:t>
            </a:r>
            <a:r>
              <a:t>：（1）</a:t>
            </a:r>
            <a:r>
              <a:rPr>
                <a:highlight>
                  <a:srgbClr val="FFFF00"/>
                </a:highlight>
              </a:rPr>
              <a:t>D作案</a:t>
            </a:r>
            <a:r>
              <a:t>；（2）</a:t>
            </a:r>
            <a:r>
              <a:rPr>
                <a:highlight>
                  <a:srgbClr val="00FFFF"/>
                </a:highlight>
              </a:rPr>
              <a:t>D</a:t>
            </a:r>
            <a:r>
              <a:rPr lang="zh-CN" altLang="en-US">
                <a:highlight>
                  <a:srgbClr val="00FFFF"/>
                </a:highlight>
              </a:rPr>
              <a:t>未</a:t>
            </a:r>
            <a:r>
              <a:rPr err="1">
                <a:highlight>
                  <a:srgbClr val="00FFFF"/>
                </a:highlight>
              </a:rPr>
              <a:t>作案</a:t>
            </a:r>
            <a:endParaRPr>
              <a:highlight>
                <a:srgbClr val="00FFFF"/>
              </a:highlight>
            </a:endParaRPr>
          </a:p>
          <a:p>
            <a:pPr marL="444500" indent="-444500" algn="l">
              <a:lnSpc>
                <a:spcPct val="150000"/>
              </a:lnSpc>
              <a:buSzPct val="145000"/>
              <a:buChar char="•"/>
              <a:defRPr sz="3200" b="0">
                <a:latin typeface="冬青黑体简体中文 W3"/>
                <a:ea typeface="冬青黑体简体中文 W3"/>
                <a:cs typeface="冬青黑体简体中文 W3"/>
                <a:sym typeface="冬青黑体简体中文 W3"/>
              </a:defRPr>
            </a:pPr>
            <a:r>
              <a:t>对于可能性（1）</a:t>
            </a:r>
            <a:r>
              <a:rPr>
                <a:highlight>
                  <a:srgbClr val="FFFF00"/>
                </a:highlight>
              </a:rPr>
              <a:t>D作案</a:t>
            </a:r>
            <a:r>
              <a:t>：依题意，E可能作案，也可能不作案，说明在此种情况下，线索CC6与E是否作案的状态无关，因此，直接用D来描述。</a:t>
            </a:r>
          </a:p>
          <a:p>
            <a:pPr marL="444500" indent="-444500" algn="l">
              <a:lnSpc>
                <a:spcPct val="150000"/>
              </a:lnSpc>
              <a:buSzPct val="145000"/>
              <a:buChar char="•"/>
              <a:defRPr sz="3200" b="0">
                <a:latin typeface="冬青黑体简体中文 W3"/>
                <a:ea typeface="冬青黑体简体中文 W3"/>
                <a:cs typeface="冬青黑体简体中文 W3"/>
                <a:sym typeface="冬青黑体简体中文 W3"/>
              </a:defRPr>
            </a:pPr>
            <a:r>
              <a:t>对于可能性（2）</a:t>
            </a:r>
            <a:r>
              <a:rPr>
                <a:highlight>
                  <a:srgbClr val="00FFFF"/>
                </a:highlight>
              </a:rPr>
              <a:t>D未作案</a:t>
            </a:r>
            <a:r>
              <a:t>：根据线索陈述的要求，E应该是没有作案的。因此，线索CC6可表示为：</a:t>
            </a:r>
            <a:r>
              <a:rPr>
                <a:solidFill>
                  <a:schemeClr val="accent5">
                    <a:hueOff val="-82419"/>
                    <a:satOff val="-9513"/>
                    <a:lumOff val="-16343"/>
                  </a:schemeClr>
                </a:solidFill>
                <a:latin typeface="冬青黑体简体中文 W6"/>
                <a:ea typeface="冬青黑体简体中文 W6"/>
                <a:cs typeface="冬青黑体简体中文 W6"/>
                <a:sym typeface="冬青黑体简体中文 W6"/>
              </a:rPr>
              <a:t>!D &amp;&amp; !E</a:t>
            </a:r>
          </a:p>
          <a:p>
            <a:pPr algn="l">
              <a:lnSpc>
                <a:spcPct val="150000"/>
              </a:lnSpc>
              <a:defRPr sz="3200" b="0">
                <a:latin typeface="冬青黑体简体中文 W3"/>
                <a:ea typeface="冬青黑体简体中文 W3"/>
                <a:cs typeface="冬青黑体简体中文 W3"/>
                <a:sym typeface="冬青黑体简体中文 W3"/>
              </a:defRPr>
            </a:pPr>
            <a:r>
              <a:t>综上所述，</a:t>
            </a:r>
            <a:r>
              <a:rPr>
                <a:solidFill>
                  <a:schemeClr val="accent5">
                    <a:hueOff val="-82419"/>
                    <a:satOff val="-9513"/>
                    <a:lumOff val="-16343"/>
                  </a:schemeClr>
                </a:solidFill>
                <a:latin typeface="冬青黑体简体中文 W6"/>
                <a:ea typeface="冬青黑体简体中文 W6"/>
                <a:cs typeface="冬青黑体简体中文 W6"/>
                <a:sym typeface="冬青黑体简体中文 W6"/>
              </a:rPr>
              <a:t>CC6 =  D || ( !D &amp;&amp; !E )</a:t>
            </a:r>
            <a:endParaRPr lang="en-US" altLang="zh-CN"/>
          </a:p>
          <a:p>
            <a:pPr algn="l" defTabSz="1300480">
              <a:lnSpc>
                <a:spcPct val="150000"/>
              </a:lnSpc>
              <a:defRPr sz="3200" b="0">
                <a:latin typeface="冬青黑体简体中文 W3"/>
                <a:ea typeface="冬青黑体简体中文 W3"/>
                <a:cs typeface="冬青黑体简体中文 W3"/>
                <a:sym typeface="冬青黑体简体中文 W3"/>
              </a:defRPr>
            </a:pPr>
            <a:r>
              <a:rPr lang="en-US" altLang="zh-CN">
                <a:solidFill>
                  <a:srgbClr val="0070C0"/>
                </a:solidFill>
              </a:rPr>
              <a:t>   【</a:t>
            </a:r>
            <a:r>
              <a:rPr err="1">
                <a:solidFill>
                  <a:srgbClr val="0070C0"/>
                </a:solidFill>
              </a:rPr>
              <a:t>注意</a:t>
            </a:r>
            <a:r>
              <a:rPr lang="en-US" altLang="zh-CN" err="1">
                <a:solidFill>
                  <a:srgbClr val="0070C0"/>
                </a:solidFill>
              </a:rPr>
              <a:t>】</a:t>
            </a:r>
            <a:r>
              <a:rPr err="1"/>
              <a:t>在上式中，运算符</a:t>
            </a:r>
            <a:r>
              <a:t>“||”</a:t>
            </a:r>
            <a:r>
              <a:rPr err="1"/>
              <a:t>的右边隐含着!D的意思，所以右半部分中的</a:t>
            </a:r>
            <a:r>
              <a:t> !D 可以去掉，即：</a:t>
            </a:r>
            <a:r>
              <a:rPr>
                <a:solidFill>
                  <a:schemeClr val="accent5">
                    <a:hueOff val="-82419"/>
                    <a:satOff val="-9513"/>
                    <a:lumOff val="-16343"/>
                  </a:schemeClr>
                </a:solidFill>
                <a:latin typeface="冬青黑体简体中文 W6"/>
                <a:ea typeface="冬青黑体简体中文 W6"/>
                <a:cs typeface="冬青黑体简体中文 W6"/>
                <a:sym typeface="冬青黑体简体中文 W6"/>
              </a:rPr>
              <a:t>CC6 ＝ D || !E</a:t>
            </a:r>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78</a:t>
            </a:fld>
            <a:endParaRPr/>
          </a:p>
        </p:txBody>
      </p:sp>
      <p:sp>
        <p:nvSpPr>
          <p:cNvPr id="267" name="任务3.2解题思路：枚举所有可能性"/>
          <p:cNvSpPr txBox="1">
            <a:spLocks noGrp="1"/>
          </p:cNvSpPr>
          <p:nvPr>
            <p:ph type="title"/>
          </p:nvPr>
        </p:nvSpPr>
        <p:spPr>
          <a:xfrm>
            <a:off x="547201" y="354125"/>
            <a:ext cx="8852634" cy="1152045"/>
          </a:xfrm>
          <a:prstGeom prst="rect">
            <a:avLst/>
          </a:prstGeom>
        </p:spPr>
        <p:txBody>
          <a:bodyPr/>
          <a:lstStyle>
            <a:lvl1pPr>
              <a:defRPr sz="4000"/>
            </a:lvl1pPr>
          </a:lstStyle>
          <a:p>
            <a:r>
              <a:t>任务3.</a:t>
            </a:r>
            <a:r>
              <a:rPr lang="en-US" altLang="zh-CN"/>
              <a:t>3</a:t>
            </a:r>
            <a:r>
              <a:t>解题思路：枚举所有可能性</a:t>
            </a:r>
          </a:p>
        </p:txBody>
      </p:sp>
      <p:sp>
        <p:nvSpPr>
          <p:cNvPr id="268" name="Shape 50"/>
          <p:cNvSpPr txBox="1">
            <a:spLocks noGrp="1"/>
          </p:cNvSpPr>
          <p:nvPr>
            <p:ph type="body" idx="4294967295"/>
          </p:nvPr>
        </p:nvSpPr>
        <p:spPr>
          <a:xfrm>
            <a:off x="547201" y="2164941"/>
            <a:ext cx="11898350" cy="7302740"/>
          </a:xfrm>
          <a:prstGeom prst="rect">
            <a:avLst/>
          </a:prstGeom>
        </p:spPr>
        <p:txBody>
          <a:bodyPr lIns="65022" tIns="65022" rIns="65022" bIns="65022" anchor="t">
            <a:normAutofit/>
          </a:bodyPr>
          <a:lstStyle/>
          <a:p>
            <a:pPr marL="0" indent="0" defTabSz="1248460">
              <a:lnSpc>
                <a:spcPct val="140000"/>
              </a:lnSpc>
              <a:spcBef>
                <a:spcPts val="0"/>
              </a:spcBef>
              <a:buClr>
                <a:srgbClr val="FFFF00"/>
              </a:buClr>
              <a:buSzTx/>
              <a:buFont typeface="Wingdings"/>
              <a:buNone/>
              <a:defRPr sz="3072">
                <a:latin typeface="冬青黑体简体中文 W3"/>
                <a:ea typeface="冬青黑体简体中文 W3"/>
                <a:cs typeface="冬青黑体简体中文 W3"/>
                <a:sym typeface="冬青黑体简体中文 W3"/>
              </a:defRPr>
            </a:pPr>
            <a:r>
              <a:rPr>
                <a:solidFill>
                  <a:schemeClr val="accent1">
                    <a:hueOff val="114395"/>
                    <a:lumOff val="-24975"/>
                  </a:schemeClr>
                </a:solidFill>
                <a:latin typeface="冬青黑体简体中文 W6"/>
                <a:ea typeface="冬青黑体简体中文 W6"/>
                <a:cs typeface="冬青黑体简体中文 W6"/>
                <a:sym typeface="冬青黑体简体中文 W6"/>
              </a:rPr>
              <a:t>总体思路：</a:t>
            </a:r>
            <a:r>
              <a:t>6</a:t>
            </a:r>
            <a:r>
              <a:rPr>
                <a:latin typeface="黑体"/>
                <a:ea typeface="黑体"/>
                <a:cs typeface="黑体"/>
                <a:sym typeface="黑体"/>
              </a:rPr>
              <a:t>个</a:t>
            </a:r>
            <a:r>
              <a:rPr lang="zh-CN" altLang="en-US">
                <a:latin typeface="黑体"/>
                <a:ea typeface="黑体"/>
                <a:cs typeface="黑体"/>
                <a:sym typeface="黑体"/>
              </a:rPr>
              <a:t>嫌疑人，</a:t>
            </a:r>
            <a:r>
              <a:rPr>
                <a:latin typeface="黑体"/>
                <a:ea typeface="黑体"/>
                <a:cs typeface="黑体"/>
                <a:sym typeface="黑体"/>
              </a:rPr>
              <a:t>每个人都有作案或不作案两种可能，因此有</a:t>
            </a:r>
            <a:r>
              <a:rPr>
                <a:solidFill>
                  <a:schemeClr val="accent5">
                    <a:hueOff val="-82419"/>
                    <a:satOff val="-9513"/>
                    <a:lumOff val="-16343"/>
                  </a:schemeClr>
                </a:solidFill>
                <a:latin typeface="冬青黑体简体中文 W6"/>
                <a:ea typeface="冬青黑体简体中文 W6"/>
                <a:cs typeface="冬青黑体简体中文 W6"/>
                <a:sym typeface="冬青黑体简体中文 W6"/>
              </a:rPr>
              <a:t>2</a:t>
            </a:r>
            <a:r>
              <a:rPr baseline="30203">
                <a:solidFill>
                  <a:schemeClr val="accent5">
                    <a:hueOff val="-82419"/>
                    <a:satOff val="-9513"/>
                    <a:lumOff val="-16343"/>
                  </a:schemeClr>
                </a:solidFill>
                <a:latin typeface="冬青黑体简体中文 W6"/>
                <a:ea typeface="冬青黑体简体中文 W6"/>
                <a:cs typeface="冬青黑体简体中文 W6"/>
                <a:sym typeface="冬青黑体简体中文 W6"/>
              </a:rPr>
              <a:t>6</a:t>
            </a:r>
            <a:r>
              <a:rPr baseline="30203"/>
              <a:t>  </a:t>
            </a:r>
            <a:r>
              <a:rPr err="1">
                <a:latin typeface="黑体"/>
                <a:ea typeface="黑体"/>
                <a:cs typeface="黑体"/>
                <a:sym typeface="黑体"/>
              </a:rPr>
              <a:t>种组合，从这些组合中</a:t>
            </a:r>
            <a:r>
              <a:rPr lang="zh-CN" altLang="en-US">
                <a:highlight>
                  <a:srgbClr val="FFFF00"/>
                </a:highlight>
                <a:latin typeface="黑体"/>
                <a:ea typeface="黑体"/>
                <a:cs typeface="黑体"/>
                <a:sym typeface="黑体"/>
              </a:rPr>
              <a:t>筛选</a:t>
            </a:r>
            <a:r>
              <a:rPr lang="zh-CN" altLang="en-US">
                <a:latin typeface="黑体"/>
                <a:ea typeface="黑体"/>
                <a:cs typeface="黑体"/>
                <a:sym typeface="黑体"/>
              </a:rPr>
              <a:t>出</a:t>
            </a:r>
            <a:r>
              <a:rPr err="1">
                <a:latin typeface="黑体"/>
                <a:ea typeface="黑体"/>
                <a:cs typeface="黑体"/>
                <a:sym typeface="黑体"/>
              </a:rPr>
              <a:t>符合条件的</a:t>
            </a:r>
            <a:r>
              <a:rPr lang="zh-CN" altLang="en-US">
                <a:latin typeface="黑体"/>
                <a:ea typeface="黑体"/>
                <a:cs typeface="黑体"/>
                <a:sym typeface="黑体"/>
              </a:rPr>
              <a:t>嫌疑人（</a:t>
            </a:r>
            <a:r>
              <a:rPr err="1">
                <a:latin typeface="黑体"/>
                <a:ea typeface="黑体"/>
                <a:cs typeface="黑体"/>
                <a:sym typeface="黑体"/>
              </a:rPr>
              <a:t>作案者</a:t>
            </a:r>
            <a:r>
              <a:rPr lang="zh-CN" altLang="en-US">
                <a:latin typeface="黑体"/>
                <a:ea typeface="黑体"/>
                <a:cs typeface="黑体"/>
                <a:sym typeface="黑体"/>
              </a:rPr>
              <a:t>）</a:t>
            </a:r>
            <a:r>
              <a:rPr>
                <a:latin typeface="黑体"/>
                <a:ea typeface="黑体"/>
                <a:cs typeface="黑体"/>
                <a:sym typeface="黑体"/>
              </a:rPr>
              <a:t>。</a:t>
            </a:r>
          </a:p>
          <a:p>
            <a:pPr marL="0" indent="0" defTabSz="1248460">
              <a:lnSpc>
                <a:spcPct val="140000"/>
              </a:lnSpc>
              <a:spcBef>
                <a:spcPts val="0"/>
              </a:spcBef>
              <a:buClr>
                <a:srgbClr val="FFFF00"/>
              </a:buClr>
              <a:buSzTx/>
              <a:buFont typeface="Wingdings"/>
              <a:buNone/>
              <a:defRPr sz="3072">
                <a:latin typeface="黑体"/>
                <a:ea typeface="黑体"/>
                <a:cs typeface="黑体"/>
                <a:sym typeface="黑体"/>
              </a:defRPr>
            </a:pPr>
            <a:endParaRPr>
              <a:latin typeface="黑体"/>
              <a:ea typeface="黑体"/>
              <a:cs typeface="黑体"/>
              <a:sym typeface="黑体"/>
            </a:endParaRPr>
          </a:p>
          <a:p>
            <a:pPr marL="0" indent="0" defTabSz="1248460">
              <a:lnSpc>
                <a:spcPct val="140000"/>
              </a:lnSpc>
              <a:spcBef>
                <a:spcPts val="0"/>
              </a:spcBef>
              <a:buClr>
                <a:srgbClr val="FFFF00"/>
              </a:buClr>
              <a:buSzTx/>
              <a:buFont typeface="Wingdings"/>
              <a:buNone/>
              <a:defRPr sz="3072">
                <a:latin typeface="黑体"/>
                <a:ea typeface="黑体"/>
                <a:cs typeface="黑体"/>
                <a:sym typeface="黑体"/>
              </a:defRPr>
            </a:pPr>
            <a:r>
              <a:rPr b="1" err="1">
                <a:solidFill>
                  <a:schemeClr val="accent1">
                    <a:hueOff val="114395"/>
                    <a:lumOff val="-24975"/>
                  </a:schemeClr>
                </a:solidFill>
              </a:rPr>
              <a:t>算法实现：</a:t>
            </a:r>
            <a:r>
              <a:rPr err="1"/>
              <a:t>定义</a:t>
            </a:r>
            <a:r>
              <a:rPr>
                <a:latin typeface="冬青黑体简体中文 W3"/>
                <a:ea typeface="冬青黑体简体中文 W3"/>
                <a:cs typeface="冬青黑体简体中文 W3"/>
                <a:sym typeface="冬青黑体简体中文 W3"/>
              </a:rPr>
              <a:t> 6 </a:t>
            </a:r>
            <a:r>
              <a:rPr err="1"/>
              <a:t>个整型变量，分别表示</a:t>
            </a:r>
            <a:r>
              <a:rPr>
                <a:latin typeface="冬青黑体简体中文 W3"/>
                <a:ea typeface="冬青黑体简体中文 W3"/>
                <a:cs typeface="冬青黑体简体中文 W3"/>
                <a:sym typeface="冬青黑体简体中文 W3"/>
              </a:rPr>
              <a:t> 6 </a:t>
            </a:r>
            <a:r>
              <a:t>个人</a:t>
            </a:r>
            <a:r>
              <a:rPr>
                <a:latin typeface="冬青黑体简体中文 W3"/>
                <a:ea typeface="冬青黑体简体中文 W3"/>
                <a:cs typeface="冬青黑体简体中文 W3"/>
                <a:sym typeface="冬青黑体简体中文 W3"/>
              </a:rPr>
              <a:t>A</a:t>
            </a:r>
            <a:r>
              <a:t>，</a:t>
            </a:r>
            <a:r>
              <a:rPr>
                <a:latin typeface="冬青黑体简体中文 W3"/>
                <a:ea typeface="冬青黑体简体中文 W3"/>
                <a:cs typeface="冬青黑体简体中文 W3"/>
                <a:sym typeface="冬青黑体简体中文 W3"/>
              </a:rPr>
              <a:t>B</a:t>
            </a:r>
            <a:r>
              <a:t>，</a:t>
            </a:r>
            <a:r>
              <a:rPr>
                <a:latin typeface="冬青黑体简体中文 W3"/>
                <a:ea typeface="冬青黑体简体中文 W3"/>
                <a:cs typeface="冬青黑体简体中文 W3"/>
                <a:sym typeface="冬青黑体简体中文 W3"/>
              </a:rPr>
              <a:t>C</a:t>
            </a:r>
            <a:r>
              <a:t>，</a:t>
            </a:r>
            <a:r>
              <a:rPr>
                <a:latin typeface="冬青黑体简体中文 W3"/>
                <a:ea typeface="冬青黑体简体中文 W3"/>
                <a:cs typeface="冬青黑体简体中文 W3"/>
                <a:sym typeface="冬青黑体简体中文 W3"/>
              </a:rPr>
              <a:t>D</a:t>
            </a:r>
            <a:r>
              <a:t>，</a:t>
            </a:r>
            <a:r>
              <a:rPr>
                <a:latin typeface="冬青黑体简体中文 W3"/>
                <a:ea typeface="冬青黑体简体中文 W3"/>
                <a:cs typeface="冬青黑体简体中文 W3"/>
                <a:sym typeface="冬青黑体简体中文 W3"/>
              </a:rPr>
              <a:t>E</a:t>
            </a:r>
            <a:r>
              <a:t>，</a:t>
            </a:r>
            <a:r>
              <a:rPr>
                <a:latin typeface="冬青黑体简体中文 W3"/>
                <a:ea typeface="冬青黑体简体中文 W3"/>
                <a:cs typeface="冬青黑体简体中文 W3"/>
                <a:sym typeface="冬青黑体简体中文 W3"/>
              </a:rPr>
              <a:t>F</a:t>
            </a:r>
            <a:r>
              <a:t>是否作案的状态，用0表示不作案，用1表示作案。</a:t>
            </a:r>
            <a:endParaRPr>
              <a:latin typeface="冬青黑体简体中文 W3"/>
              <a:ea typeface="冬青黑体简体中文 W3"/>
              <a:cs typeface="冬青黑体简体中文 W3"/>
              <a:sym typeface="冬青黑体简体中文 W3"/>
            </a:endParaRPr>
          </a:p>
          <a:p>
            <a:pPr marL="0" indent="0" defTabSz="1248460">
              <a:lnSpc>
                <a:spcPct val="140000"/>
              </a:lnSpc>
              <a:spcBef>
                <a:spcPts val="0"/>
              </a:spcBef>
              <a:buClr>
                <a:srgbClr val="FFFF00"/>
              </a:buClr>
              <a:buSzTx/>
              <a:buFont typeface="Wingdings"/>
              <a:buNone/>
              <a:defRPr sz="3072">
                <a:latin typeface="冬青黑体简体中文 W3"/>
                <a:ea typeface="冬青黑体简体中文 W3"/>
                <a:cs typeface="冬青黑体简体中文 W3"/>
                <a:sym typeface="冬青黑体简体中文 W3"/>
              </a:defRPr>
            </a:pPr>
            <a:endParaRPr>
              <a:latin typeface="冬青黑体简体中文 W3"/>
              <a:ea typeface="冬青黑体简体中文 W3"/>
              <a:cs typeface="冬青黑体简体中文 W3"/>
              <a:sym typeface="冬青黑体简体中文 W3"/>
            </a:endParaRPr>
          </a:p>
          <a:p>
            <a:pPr marL="0" indent="0" defTabSz="1248460">
              <a:lnSpc>
                <a:spcPct val="140000"/>
              </a:lnSpc>
              <a:spcBef>
                <a:spcPts val="0"/>
              </a:spcBef>
              <a:buClr>
                <a:srgbClr val="FFFF00"/>
              </a:buClr>
              <a:buSzTx/>
              <a:buFont typeface="Wingdings"/>
              <a:buNone/>
              <a:defRPr sz="3072">
                <a:latin typeface="黑体"/>
                <a:ea typeface="黑体"/>
                <a:cs typeface="黑体"/>
                <a:sym typeface="黑体"/>
              </a:defRPr>
            </a:pPr>
            <a:r>
              <a:rPr b="1">
                <a:solidFill>
                  <a:schemeClr val="accent1">
                    <a:hueOff val="114395"/>
                    <a:lumOff val="-24975"/>
                  </a:schemeClr>
                </a:solidFill>
              </a:rPr>
              <a:t>关键技术：</a:t>
            </a:r>
            <a:r>
              <a:t>如何枚举</a:t>
            </a:r>
            <a:r>
              <a:rPr lang="en-US" altLang="zh-CN">
                <a:solidFill>
                  <a:schemeClr val="accent5">
                    <a:hueOff val="-82419"/>
                    <a:satOff val="-9513"/>
                    <a:lumOff val="-16343"/>
                  </a:schemeClr>
                </a:solidFill>
                <a:latin typeface="冬青黑体简体中文 W6"/>
                <a:ea typeface="冬青黑体简体中文 W6"/>
                <a:cs typeface="冬青黑体简体中文 W6"/>
                <a:sym typeface="冬青黑体简体中文 W6"/>
              </a:rPr>
              <a:t>2</a:t>
            </a:r>
            <a:r>
              <a:rPr lang="en-US" altLang="zh-CN" baseline="30203">
                <a:solidFill>
                  <a:schemeClr val="accent5">
                    <a:hueOff val="-82419"/>
                    <a:satOff val="-9513"/>
                    <a:lumOff val="-16343"/>
                  </a:schemeClr>
                </a:solidFill>
                <a:latin typeface="冬青黑体简体中文 W6"/>
                <a:ea typeface="冬青黑体简体中文 W6"/>
                <a:cs typeface="冬青黑体简体中文 W6"/>
                <a:sym typeface="冬青黑体简体中文 W6"/>
              </a:rPr>
              <a:t>6</a:t>
            </a:r>
            <a:r>
              <a:rPr lang="zh-CN" altLang="en-US" baseline="30203"/>
              <a:t> </a:t>
            </a:r>
            <a:r>
              <a:rPr lang="zh-CN" altLang="en-US">
                <a:latin typeface="黑体"/>
                <a:ea typeface="黑体"/>
                <a:cs typeface="黑体"/>
                <a:sym typeface="黑体"/>
              </a:rPr>
              <a:t>种</a:t>
            </a:r>
            <a:r>
              <a:rPr err="1"/>
              <a:t>可能性</a:t>
            </a:r>
            <a:r>
              <a:rPr lang="zh-CN" altLang="en-US"/>
              <a:t>的组合</a:t>
            </a:r>
            <a:r>
              <a:t>？</a:t>
            </a:r>
            <a:r>
              <a:rPr lang="zh-CN" altLang="en-US"/>
              <a:t>即如何依次（有顺序）得到这些组合？</a:t>
            </a:r>
            <a:endParaRPr lang="en-US" altLang="zh-CN"/>
          </a:p>
          <a:p>
            <a:pPr marL="0" indent="0" defTabSz="1248460">
              <a:lnSpc>
                <a:spcPct val="140000"/>
              </a:lnSpc>
              <a:spcBef>
                <a:spcPts val="0"/>
              </a:spcBef>
              <a:buClr>
                <a:srgbClr val="FFFF00"/>
              </a:buClr>
              <a:buSzTx/>
              <a:buFont typeface="Wingdings"/>
              <a:buNone/>
              <a:defRPr sz="3072">
                <a:latin typeface="黑体"/>
                <a:ea typeface="黑体"/>
                <a:cs typeface="黑体"/>
                <a:sym typeface="黑体"/>
              </a:defRPr>
            </a:pPr>
            <a:endParaRPr lang="en-US" altLang="zh-CN"/>
          </a:p>
          <a:p>
            <a:pPr marL="0" indent="0" defTabSz="1248460">
              <a:lnSpc>
                <a:spcPct val="140000"/>
              </a:lnSpc>
              <a:spcBef>
                <a:spcPts val="0"/>
              </a:spcBef>
              <a:buClr>
                <a:srgbClr val="FFFF00"/>
              </a:buClr>
              <a:buSzTx/>
              <a:buFont typeface="Wingdings"/>
              <a:buNone/>
              <a:defRPr sz="3072">
                <a:latin typeface="黑体"/>
                <a:ea typeface="黑体"/>
                <a:cs typeface="黑体"/>
                <a:sym typeface="黑体"/>
              </a:defRPr>
            </a:pPr>
            <a:r>
              <a:rPr lang="zh-CN" altLang="en-US" sz="3072" b="1">
                <a:solidFill>
                  <a:schemeClr val="accent1">
                    <a:hueOff val="114395"/>
                    <a:lumOff val="-24975"/>
                  </a:schemeClr>
                </a:solidFill>
                <a:latin typeface="黑体"/>
                <a:ea typeface="黑体"/>
              </a:rPr>
              <a:t>解决方案：</a:t>
            </a:r>
            <a:r>
              <a:rPr err="1">
                <a:latin typeface="微软雅黑" panose="020B0503020204020204" pitchFamily="34" charset="-122"/>
                <a:ea typeface="微软雅黑" panose="020B0503020204020204" pitchFamily="34" charset="-122"/>
              </a:rPr>
              <a:t>使用</a:t>
            </a:r>
            <a:r>
              <a:rPr err="1">
                <a:latin typeface="微软雅黑" panose="020B0503020204020204" pitchFamily="34" charset="-122"/>
                <a:ea typeface="微软雅黑" panose="020B0503020204020204" pitchFamily="34" charset="-122"/>
                <a:cs typeface="冬青黑体简体中文 W3"/>
                <a:sym typeface="冬青黑体简体中文 W3"/>
              </a:rPr>
              <a:t>“</a:t>
            </a:r>
            <a:r>
              <a:rPr b="1" err="1">
                <a:solidFill>
                  <a:schemeClr val="accent5">
                    <a:hueOff val="-82419"/>
                    <a:satOff val="-9513"/>
                    <a:lumOff val="-16343"/>
                  </a:schemeClr>
                </a:solidFill>
                <a:latin typeface="微软雅黑" panose="020B0503020204020204" pitchFamily="34" charset="-122"/>
                <a:ea typeface="微软雅黑" panose="020B0503020204020204" pitchFamily="34" charset="-122"/>
                <a:cs typeface="华文隶书"/>
                <a:sym typeface="华文隶书"/>
              </a:rPr>
              <a:t>多重循环</a:t>
            </a:r>
            <a:r>
              <a:rPr>
                <a:latin typeface="微软雅黑" panose="020B0503020204020204" pitchFamily="34" charset="-122"/>
                <a:ea typeface="微软雅黑" panose="020B0503020204020204" pitchFamily="34" charset="-122"/>
                <a:cs typeface="冬青黑体简体中文 W3"/>
                <a:sym typeface="冬青黑体简体中文 W3"/>
              </a:rPr>
              <a:t>”</a:t>
            </a:r>
            <a:r>
              <a:rPr lang="zh-CN" altLang="en-US">
                <a:latin typeface="微软雅黑" panose="020B0503020204020204" pitchFamily="34" charset="-122"/>
                <a:ea typeface="微软雅黑" panose="020B0503020204020204" pitchFamily="34" charset="-122"/>
                <a:cs typeface="冬青黑体简体中文 W3"/>
                <a:sym typeface="冬青黑体简体中文 W3"/>
              </a:rPr>
              <a:t>新</a:t>
            </a:r>
            <a:r>
              <a:rPr>
                <a:latin typeface="微软雅黑" panose="020B0503020204020204" pitchFamily="34" charset="-122"/>
                <a:ea typeface="微软雅黑" panose="020B0503020204020204" pitchFamily="34" charset="-122"/>
              </a:rPr>
              <a:t>技术</a:t>
            </a:r>
            <a:r>
              <a:rPr lang="zh-CN" altLang="en-US">
                <a:latin typeface="微软雅黑" panose="020B0503020204020204" pitchFamily="34" charset="-122"/>
                <a:ea typeface="微软雅黑" panose="020B0503020204020204" pitchFamily="34" charset="-122"/>
              </a:rPr>
              <a:t>（马上介绍）</a:t>
            </a:r>
            <a:r>
              <a:t>！</a:t>
            </a:r>
            <a:r>
              <a:rPr lang="zh-CN" altLang="en-US"/>
              <a:t>即：</a:t>
            </a:r>
            <a:r>
              <a:rPr err="1"/>
              <a:t>每一重循环对应一个人，用来对他的是否作案的两种可能性分别进行测试</a:t>
            </a:r>
            <a:r>
              <a:t>！</a:t>
            </a:r>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79</a:t>
            </a:fld>
            <a:endParaRPr/>
          </a:p>
        </p:txBody>
      </p:sp>
      <p:sp>
        <p:nvSpPr>
          <p:cNvPr id="279" name="在任务3.2中使用多重循环语句"/>
          <p:cNvSpPr txBox="1">
            <a:spLocks noGrp="1"/>
          </p:cNvSpPr>
          <p:nvPr>
            <p:ph type="title"/>
          </p:nvPr>
        </p:nvSpPr>
        <p:spPr>
          <a:xfrm>
            <a:off x="547201" y="354125"/>
            <a:ext cx="7415699" cy="1152045"/>
          </a:xfrm>
          <a:prstGeom prst="rect">
            <a:avLst/>
          </a:prstGeom>
        </p:spPr>
        <p:txBody>
          <a:bodyPr/>
          <a:lstStyle/>
          <a:p>
            <a:pPr>
              <a:defRPr sz="4000"/>
            </a:pPr>
            <a:r>
              <a:t>在任务3.</a:t>
            </a:r>
            <a:r>
              <a:rPr lang="en-US" altLang="zh-CN"/>
              <a:t>3</a:t>
            </a:r>
            <a:r>
              <a:t>中使用</a:t>
            </a:r>
            <a:r>
              <a:rPr>
                <a:solidFill>
                  <a:schemeClr val="accent4">
                    <a:hueOff val="366961"/>
                    <a:satOff val="4172"/>
                    <a:lumOff val="11129"/>
                  </a:schemeClr>
                </a:solidFill>
              </a:rPr>
              <a:t>多重循环</a:t>
            </a:r>
            <a:r>
              <a:t>语句</a:t>
            </a:r>
          </a:p>
        </p:txBody>
      </p:sp>
      <p:sp>
        <p:nvSpPr>
          <p:cNvPr id="280" name="Shape 50"/>
          <p:cNvSpPr txBox="1">
            <a:spLocks noGrp="1"/>
          </p:cNvSpPr>
          <p:nvPr>
            <p:ph type="body" sz="quarter" idx="4294967295"/>
          </p:nvPr>
        </p:nvSpPr>
        <p:spPr>
          <a:xfrm>
            <a:off x="547200" y="2334531"/>
            <a:ext cx="12011639" cy="1455913"/>
          </a:xfrm>
          <a:prstGeom prst="rect">
            <a:avLst/>
          </a:prstGeom>
          <a:solidFill>
            <a:schemeClr val="accent4">
              <a:hueOff val="366961"/>
              <a:satOff val="4172"/>
              <a:lumOff val="11129"/>
            </a:schemeClr>
          </a:solidFill>
        </p:spPr>
        <p:txBody>
          <a:bodyPr lIns="65022" tIns="65022" rIns="65022" bIns="65022"/>
          <a:lstStyle/>
          <a:p>
            <a:pPr marL="0" indent="0" algn="just" defTabSz="1300480">
              <a:lnSpc>
                <a:spcPct val="140000"/>
              </a:lnSpc>
              <a:spcBef>
                <a:spcPts val="0"/>
              </a:spcBef>
              <a:buClr>
                <a:srgbClr val="FFFF00"/>
              </a:buClr>
              <a:buSzTx/>
              <a:buFont typeface="Wingdings"/>
              <a:buNone/>
              <a:defRPr>
                <a:latin typeface="黑体"/>
                <a:ea typeface="黑体"/>
                <a:cs typeface="黑体"/>
                <a:sym typeface="黑体"/>
              </a:defRPr>
            </a:pPr>
            <a:r>
              <a:rPr b="1" err="1">
                <a:solidFill>
                  <a:schemeClr val="accent1">
                    <a:hueOff val="114395"/>
                    <a:lumOff val="-24975"/>
                  </a:schemeClr>
                </a:solidFill>
              </a:rPr>
              <a:t>算法实现：</a:t>
            </a:r>
            <a:r>
              <a:rPr err="1"/>
              <a:t>定义</a:t>
            </a:r>
            <a:r>
              <a:rPr>
                <a:latin typeface="冬青黑体简体中文 W3"/>
                <a:ea typeface="冬青黑体简体中文 W3"/>
                <a:cs typeface="冬青黑体简体中文 W3"/>
                <a:sym typeface="冬青黑体简体中文 W3"/>
              </a:rPr>
              <a:t> 6 </a:t>
            </a:r>
            <a:r>
              <a:rPr err="1"/>
              <a:t>个整型变量</a:t>
            </a:r>
            <a:r>
              <a:rPr lang="en-US" altLang="zh-CN" err="1">
                <a:latin typeface="冬青黑体简体中文 W3"/>
                <a:ea typeface="冬青黑体简体中文 W3"/>
                <a:cs typeface="冬青黑体简体中文 W3"/>
                <a:sym typeface="冬青黑体简体中文 W3"/>
              </a:rPr>
              <a:t>A</a:t>
            </a:r>
            <a:r>
              <a:rPr lang="zh-CN" altLang="en-US"/>
              <a:t>，</a:t>
            </a:r>
            <a:r>
              <a:rPr lang="en-US" altLang="zh-CN">
                <a:latin typeface="冬青黑体简体中文 W3"/>
                <a:ea typeface="冬青黑体简体中文 W3"/>
                <a:cs typeface="冬青黑体简体中文 W3"/>
                <a:sym typeface="冬青黑体简体中文 W3"/>
              </a:rPr>
              <a:t>B</a:t>
            </a:r>
            <a:r>
              <a:rPr lang="zh-CN" altLang="en-US"/>
              <a:t>，</a:t>
            </a:r>
            <a:r>
              <a:rPr lang="en-US" altLang="zh-CN">
                <a:latin typeface="冬青黑体简体中文 W3"/>
                <a:ea typeface="冬青黑体简体中文 W3"/>
                <a:cs typeface="冬青黑体简体中文 W3"/>
                <a:sym typeface="冬青黑体简体中文 W3"/>
              </a:rPr>
              <a:t>C</a:t>
            </a:r>
            <a:r>
              <a:rPr lang="zh-CN" altLang="en-US"/>
              <a:t>，</a:t>
            </a:r>
            <a:r>
              <a:rPr lang="en-US" altLang="zh-CN">
                <a:latin typeface="冬青黑体简体中文 W3"/>
                <a:ea typeface="冬青黑体简体中文 W3"/>
                <a:cs typeface="冬青黑体简体中文 W3"/>
                <a:sym typeface="冬青黑体简体中文 W3"/>
              </a:rPr>
              <a:t>D</a:t>
            </a:r>
            <a:r>
              <a:rPr lang="zh-CN" altLang="en-US"/>
              <a:t>，</a:t>
            </a:r>
            <a:r>
              <a:rPr lang="en-US" altLang="zh-CN">
                <a:latin typeface="冬青黑体简体中文 W3"/>
                <a:ea typeface="冬青黑体简体中文 W3"/>
                <a:cs typeface="冬青黑体简体中文 W3"/>
                <a:sym typeface="冬青黑体简体中文 W3"/>
              </a:rPr>
              <a:t>E</a:t>
            </a:r>
            <a:r>
              <a:rPr lang="zh-CN" altLang="en-US"/>
              <a:t>，</a:t>
            </a:r>
            <a:r>
              <a:rPr lang="en-US" altLang="zh-CN" err="1">
                <a:latin typeface="冬青黑体简体中文 W3"/>
                <a:ea typeface="冬青黑体简体中文 W3"/>
                <a:cs typeface="冬青黑体简体中文 W3"/>
                <a:sym typeface="冬青黑体简体中文 W3"/>
              </a:rPr>
              <a:t>F</a:t>
            </a:r>
            <a:r>
              <a:rPr err="1"/>
              <a:t>，分别表示</a:t>
            </a:r>
            <a:r>
              <a:rPr>
                <a:latin typeface="冬青黑体简体中文 W3"/>
                <a:ea typeface="冬青黑体简体中文 W3"/>
                <a:cs typeface="冬青黑体简体中文 W3"/>
                <a:sym typeface="冬青黑体简体中文 W3"/>
              </a:rPr>
              <a:t> 6 </a:t>
            </a:r>
            <a:r>
              <a:rPr err="1"/>
              <a:t>个人</a:t>
            </a:r>
            <a:r>
              <a:t> 是否作案的状态，0表示不作案，1表示作案。</a:t>
            </a:r>
          </a:p>
        </p:txBody>
      </p:sp>
      <p:sp>
        <p:nvSpPr>
          <p:cNvPr id="281" name="for (int A=0; A&lt;=1; A++)…"/>
          <p:cNvSpPr txBox="1"/>
          <p:nvPr/>
        </p:nvSpPr>
        <p:spPr>
          <a:xfrm>
            <a:off x="857213" y="4155796"/>
            <a:ext cx="11290375" cy="46834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defRPr sz="3000">
                <a:solidFill>
                  <a:schemeClr val="accent5">
                    <a:hueOff val="-82419"/>
                    <a:satOff val="-9513"/>
                    <a:lumOff val="-16343"/>
                  </a:schemeClr>
                </a:solidFill>
                <a:latin typeface="Courier"/>
                <a:ea typeface="Courier"/>
                <a:cs typeface="Courier"/>
                <a:sym typeface="Courier"/>
              </a:defRPr>
            </a:pPr>
            <a:r>
              <a:t>for (int A=0; A&lt;=1; A++)</a:t>
            </a:r>
          </a:p>
          <a:p>
            <a:pPr algn="l">
              <a:defRPr sz="3000">
                <a:latin typeface="Courier"/>
                <a:ea typeface="Courier"/>
                <a:cs typeface="Courier"/>
                <a:sym typeface="Courier"/>
              </a:defRPr>
            </a:pPr>
            <a:r>
              <a:t>{</a:t>
            </a:r>
          </a:p>
          <a:p>
            <a:pPr algn="l">
              <a:defRPr sz="3000">
                <a:solidFill>
                  <a:schemeClr val="accent5">
                    <a:hueOff val="-82419"/>
                    <a:satOff val="-9513"/>
                    <a:lumOff val="-16343"/>
                  </a:schemeClr>
                </a:solidFill>
                <a:latin typeface="Courier"/>
                <a:ea typeface="Courier"/>
                <a:cs typeface="Courier"/>
                <a:sym typeface="Courier"/>
              </a:defRPr>
            </a:pPr>
            <a:r>
              <a:t>    for (int B=0; B&lt;=1; B++)</a:t>
            </a:r>
            <a:endParaRPr>
              <a:solidFill>
                <a:schemeClr val="accent3">
                  <a:hueOff val="914337"/>
                  <a:satOff val="31515"/>
                  <a:lumOff val="-30790"/>
                </a:schemeClr>
              </a:solidFill>
            </a:endParaRPr>
          </a:p>
          <a:p>
            <a:pPr algn="l">
              <a:defRPr sz="3000">
                <a:latin typeface="Courier"/>
                <a:ea typeface="Courier"/>
                <a:cs typeface="Courier"/>
                <a:sym typeface="Courier"/>
              </a:defRPr>
            </a:pPr>
            <a:r>
              <a:t>    {</a:t>
            </a:r>
          </a:p>
          <a:p>
            <a:pPr algn="l">
              <a:defRPr sz="3000">
                <a:solidFill>
                  <a:schemeClr val="accent5">
                    <a:hueOff val="-82419"/>
                    <a:satOff val="-9513"/>
                    <a:lumOff val="-16343"/>
                  </a:schemeClr>
                </a:solidFill>
                <a:latin typeface="Courier"/>
                <a:ea typeface="Courier"/>
                <a:cs typeface="Courier"/>
                <a:sym typeface="Courier"/>
              </a:defRPr>
            </a:pPr>
            <a:r>
              <a:t>        for (int C=0; C&lt;=1; C++)</a:t>
            </a:r>
            <a:endParaRPr>
              <a:solidFill>
                <a:schemeClr val="accent3">
                  <a:hueOff val="914337"/>
                  <a:satOff val="31515"/>
                  <a:lumOff val="-30790"/>
                </a:schemeClr>
              </a:solidFill>
            </a:endParaRPr>
          </a:p>
          <a:p>
            <a:pPr algn="l">
              <a:defRPr sz="3000">
                <a:latin typeface="Courier"/>
                <a:ea typeface="Courier"/>
                <a:cs typeface="Courier"/>
                <a:sym typeface="Courier"/>
              </a:defRPr>
            </a:pPr>
            <a:r>
              <a:t>        {</a:t>
            </a:r>
          </a:p>
          <a:p>
            <a:pPr algn="l">
              <a:defRPr sz="3000">
                <a:latin typeface="Courier"/>
                <a:ea typeface="Courier"/>
                <a:cs typeface="Courier"/>
                <a:sym typeface="Courier"/>
              </a:defRPr>
            </a:pPr>
            <a:r>
              <a:t>            ...</a:t>
            </a:r>
            <a:r>
              <a:rPr sz="2400">
                <a:solidFill>
                  <a:schemeClr val="accent3">
                    <a:hueOff val="914337"/>
                    <a:satOff val="31515"/>
                    <a:lumOff val="-30790"/>
                  </a:schemeClr>
                </a:solidFill>
              </a:rPr>
              <a:t> </a:t>
            </a:r>
            <a:r>
              <a:rPr sz="2400">
                <a:solidFill>
                  <a:schemeClr val="accent1">
                    <a:lumOff val="-13575"/>
                  </a:schemeClr>
                </a:solidFill>
              </a:rPr>
              <a:t>/// 继续对DEF三人是否作案进行循环枚举</a:t>
            </a:r>
          </a:p>
          <a:p>
            <a:pPr algn="l">
              <a:defRPr sz="3000">
                <a:latin typeface="Courier"/>
                <a:ea typeface="Courier"/>
                <a:cs typeface="Courier"/>
                <a:sym typeface="Courier"/>
              </a:defRPr>
            </a:pPr>
            <a:r>
              <a:t>        } </a:t>
            </a:r>
            <a:r>
              <a:rPr sz="2400">
                <a:solidFill>
                  <a:schemeClr val="accent3">
                    <a:hueOff val="914337"/>
                    <a:satOff val="31515"/>
                    <a:lumOff val="-30790"/>
                  </a:schemeClr>
                </a:solidFill>
              </a:rPr>
              <a:t>/// END_for_3</a:t>
            </a:r>
          </a:p>
          <a:p>
            <a:pPr algn="l">
              <a:defRPr sz="3000">
                <a:latin typeface="Courier"/>
                <a:ea typeface="Courier"/>
                <a:cs typeface="Courier"/>
                <a:sym typeface="Courier"/>
              </a:defRPr>
            </a:pPr>
            <a:r>
              <a:t>    } </a:t>
            </a:r>
            <a:r>
              <a:rPr sz="2400">
                <a:solidFill>
                  <a:schemeClr val="accent3">
                    <a:hueOff val="914337"/>
                    <a:satOff val="31515"/>
                    <a:lumOff val="-30790"/>
                  </a:schemeClr>
                </a:solidFill>
              </a:rPr>
              <a:t>/// END_for_2</a:t>
            </a:r>
          </a:p>
          <a:p>
            <a:pPr algn="l">
              <a:defRPr sz="3000">
                <a:latin typeface="Courier"/>
                <a:ea typeface="Courier"/>
                <a:cs typeface="Courier"/>
                <a:sym typeface="Courier"/>
              </a:defRPr>
            </a:pPr>
            <a:r>
              <a:t>} </a:t>
            </a:r>
            <a:r>
              <a:rPr sz="2400">
                <a:solidFill>
                  <a:schemeClr val="accent3">
                    <a:hueOff val="914337"/>
                    <a:satOff val="31515"/>
                    <a:lumOff val="-30790"/>
                  </a:schemeClr>
                </a:solidFill>
              </a:rPr>
              <a:t>/// END_for_1</a:t>
            </a:r>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圆角矩形"/>
          <p:cNvSpPr/>
          <p:nvPr/>
        </p:nvSpPr>
        <p:spPr>
          <a:xfrm>
            <a:off x="2060295" y="7156088"/>
            <a:ext cx="8203543" cy="1475306"/>
          </a:xfrm>
          <a:prstGeom prst="roundRect">
            <a:avLst>
              <a:gd name="adj" fmla="val 8622"/>
            </a:avLst>
          </a:prstGeom>
          <a:solidFill>
            <a:schemeClr val="accent4">
              <a:hueOff val="366961"/>
              <a:satOff val="4172"/>
              <a:lumOff val="11129"/>
            </a:schemeClr>
          </a:solidFill>
          <a:ln w="12700">
            <a:miter lim="400000"/>
          </a:ln>
        </p:spPr>
        <p:txBody>
          <a:bodyPr lIns="50800" tIns="50800" rIns="50800" bIns="50800" anchor="ctr"/>
          <a:lstStyle/>
          <a:p>
            <a:pPr>
              <a:defRPr sz="3600" b="0">
                <a:solidFill>
                  <a:srgbClr val="FFFFFF"/>
                </a:solidFill>
                <a:latin typeface="+mn-lt"/>
                <a:ea typeface="+mn-ea"/>
                <a:cs typeface="+mn-cs"/>
                <a:sym typeface="Helvetica Neue Medium"/>
              </a:defRPr>
            </a:pPr>
            <a:endParaRPr/>
          </a:p>
        </p:txBody>
      </p:sp>
      <p:sp>
        <p:nvSpPr>
          <p:cNvPr id="284" name="灯片编号占位符 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80</a:t>
            </a:fld>
            <a:endParaRPr/>
          </a:p>
        </p:txBody>
      </p:sp>
      <p:sp>
        <p:nvSpPr>
          <p:cNvPr id="285" name="在多重循环语句的循环体中进行判断"/>
          <p:cNvSpPr txBox="1">
            <a:spLocks noGrp="1"/>
          </p:cNvSpPr>
          <p:nvPr>
            <p:ph type="title"/>
          </p:nvPr>
        </p:nvSpPr>
        <p:spPr>
          <a:xfrm>
            <a:off x="547201" y="354125"/>
            <a:ext cx="8852634" cy="1152045"/>
          </a:xfrm>
          <a:prstGeom prst="rect">
            <a:avLst/>
          </a:prstGeom>
        </p:spPr>
        <p:txBody>
          <a:bodyPr/>
          <a:lstStyle/>
          <a:p>
            <a:pPr>
              <a:defRPr sz="4000"/>
            </a:pPr>
            <a:r>
              <a:t>在</a:t>
            </a:r>
            <a:r>
              <a:rPr>
                <a:solidFill>
                  <a:schemeClr val="accent4">
                    <a:hueOff val="366961"/>
                    <a:satOff val="4172"/>
                    <a:lumOff val="11129"/>
                  </a:schemeClr>
                </a:solidFill>
              </a:rPr>
              <a:t>多重循环</a:t>
            </a:r>
            <a:r>
              <a:t>语句的循环体中进行判断</a:t>
            </a:r>
          </a:p>
        </p:txBody>
      </p:sp>
      <p:sp>
        <p:nvSpPr>
          <p:cNvPr id="286" name="... /// 从A到E的外层循环…"/>
          <p:cNvSpPr txBox="1"/>
          <p:nvPr/>
        </p:nvSpPr>
        <p:spPr>
          <a:xfrm>
            <a:off x="857213" y="3722055"/>
            <a:ext cx="11264976" cy="5753101"/>
          </a:xfrm>
          <a:prstGeom prst="rect">
            <a:avLst/>
          </a:prstGeom>
          <a:ln w="25400">
            <a:solidFill>
              <a:schemeClr val="accent4">
                <a:hueOff val="-1081314"/>
                <a:satOff val="4338"/>
                <a:lumOff val="-8931"/>
              </a:schemeClr>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defRPr>
                <a:latin typeface="Courier"/>
                <a:ea typeface="Courier"/>
                <a:cs typeface="Courier"/>
                <a:sym typeface="Courier"/>
              </a:defRPr>
            </a:pPr>
            <a:r>
              <a:t>... </a:t>
            </a:r>
            <a:r>
              <a:rPr>
                <a:solidFill>
                  <a:schemeClr val="accent3">
                    <a:hueOff val="914337"/>
                    <a:satOff val="31515"/>
                    <a:lumOff val="-30790"/>
                  </a:schemeClr>
                </a:solidFill>
              </a:rPr>
              <a:t>/// 从A到E的外层循环</a:t>
            </a:r>
          </a:p>
          <a:p>
            <a:pPr algn="l">
              <a:defRPr>
                <a:solidFill>
                  <a:schemeClr val="accent5">
                    <a:hueOff val="-82419"/>
                    <a:satOff val="-9513"/>
                    <a:lumOff val="-16343"/>
                  </a:schemeClr>
                </a:solidFill>
                <a:latin typeface="Courier"/>
                <a:ea typeface="Courier"/>
                <a:cs typeface="Courier"/>
                <a:sym typeface="Courier"/>
              </a:defRPr>
            </a:pPr>
            <a:r>
              <a:t>   for (int F=0; F&lt;=1; F++)</a:t>
            </a:r>
            <a:r>
              <a:rPr>
                <a:solidFill>
                  <a:schemeClr val="accent3">
                    <a:hueOff val="914337"/>
                    <a:satOff val="31515"/>
                    <a:lumOff val="-30790"/>
                  </a:schemeClr>
                </a:solidFill>
              </a:rPr>
              <a:t> /// 最内层的循环（最后一个人）</a:t>
            </a:r>
          </a:p>
          <a:p>
            <a:pPr algn="l">
              <a:defRPr>
                <a:solidFill>
                  <a:schemeClr val="accent5">
                    <a:hueOff val="-82419"/>
                    <a:satOff val="-9513"/>
                    <a:lumOff val="-16343"/>
                  </a:schemeClr>
                </a:solidFill>
                <a:latin typeface="Courier"/>
                <a:ea typeface="Courier"/>
                <a:cs typeface="Courier"/>
                <a:sym typeface="Courier"/>
              </a:defRPr>
            </a:pPr>
            <a:r>
              <a:rPr>
                <a:solidFill>
                  <a:schemeClr val="accent3">
                    <a:hueOff val="914337"/>
                    <a:satOff val="31515"/>
                    <a:lumOff val="-30790"/>
                  </a:schemeClr>
                </a:solidFill>
              </a:rPr>
              <a:t>   </a:t>
            </a:r>
            <a:r>
              <a:t>{</a:t>
            </a:r>
          </a:p>
          <a:p>
            <a:pPr lvl="1" algn="l">
              <a:defRPr>
                <a:solidFill>
                  <a:schemeClr val="accent1">
                    <a:hueOff val="114395"/>
                    <a:lumOff val="-24975"/>
                  </a:schemeClr>
                </a:solidFill>
                <a:latin typeface="Courier"/>
                <a:ea typeface="Courier"/>
                <a:cs typeface="Courier"/>
                <a:sym typeface="Courier"/>
              </a:defRPr>
            </a:pPr>
            <a:r>
              <a:t>      cc1 = A || B;</a:t>
            </a:r>
          </a:p>
          <a:p>
            <a:pPr lvl="1" algn="l">
              <a:defRPr>
                <a:solidFill>
                  <a:schemeClr val="accent1">
                    <a:hueOff val="114395"/>
                    <a:lumOff val="-24975"/>
                  </a:schemeClr>
                </a:solidFill>
                <a:latin typeface="Courier"/>
                <a:ea typeface="Courier"/>
                <a:cs typeface="Courier"/>
                <a:sym typeface="Courier"/>
              </a:defRPr>
            </a:pPr>
            <a:r>
              <a:t>      cc2 = !(A &amp;&amp; D);</a:t>
            </a:r>
          </a:p>
          <a:p>
            <a:pPr lvl="1" algn="l">
              <a:defRPr>
                <a:solidFill>
                  <a:schemeClr val="accent1">
                    <a:hueOff val="114395"/>
                    <a:lumOff val="-24975"/>
                  </a:schemeClr>
                </a:solidFill>
                <a:latin typeface="Courier"/>
                <a:ea typeface="Courier"/>
                <a:cs typeface="Courier"/>
                <a:sym typeface="Courier"/>
              </a:defRPr>
            </a:pPr>
            <a:r>
              <a:t>      cc3 = (A &amp;&amp; E) || (A &amp;&amp; F) || (E &amp;&amp; F);</a:t>
            </a:r>
          </a:p>
          <a:p>
            <a:pPr lvl="1" algn="l">
              <a:defRPr>
                <a:solidFill>
                  <a:schemeClr val="accent1">
                    <a:hueOff val="114395"/>
                    <a:lumOff val="-24975"/>
                  </a:schemeClr>
                </a:solidFill>
                <a:latin typeface="Courier"/>
                <a:ea typeface="Courier"/>
                <a:cs typeface="Courier"/>
                <a:sym typeface="Courier"/>
              </a:defRPr>
            </a:pPr>
            <a:r>
              <a:t>      cc4 = (B &amp;&amp; C) || (!B &amp;&amp; !C);</a:t>
            </a:r>
          </a:p>
          <a:p>
            <a:pPr lvl="1" algn="l">
              <a:defRPr>
                <a:solidFill>
                  <a:schemeClr val="accent1">
                    <a:hueOff val="114395"/>
                    <a:lumOff val="-24975"/>
                  </a:schemeClr>
                </a:solidFill>
                <a:latin typeface="Courier"/>
                <a:ea typeface="Courier"/>
                <a:cs typeface="Courier"/>
                <a:sym typeface="Courier"/>
              </a:defRPr>
            </a:pPr>
            <a:r>
              <a:t>      cc5 = (C &amp;&amp; !D) || (D &amp;&amp; !C);</a:t>
            </a:r>
          </a:p>
          <a:p>
            <a:pPr lvl="1" algn="l">
              <a:defRPr>
                <a:solidFill>
                  <a:schemeClr val="accent1">
                    <a:hueOff val="114395"/>
                    <a:lumOff val="-24975"/>
                  </a:schemeClr>
                </a:solidFill>
                <a:latin typeface="Courier"/>
                <a:ea typeface="Courier"/>
                <a:cs typeface="Courier"/>
                <a:sym typeface="Courier"/>
              </a:defRPr>
            </a:pPr>
            <a:r>
              <a:t>      cc6 = D || !E;</a:t>
            </a:r>
          </a:p>
          <a:p>
            <a:pPr lvl="1" algn="l">
              <a:defRPr>
                <a:solidFill>
                  <a:schemeClr val="accent6">
                    <a:satOff val="-15808"/>
                    <a:lumOff val="-17557"/>
                  </a:schemeClr>
                </a:solidFill>
                <a:latin typeface="Courier"/>
                <a:ea typeface="Courier"/>
                <a:cs typeface="Courier"/>
                <a:sym typeface="Courier"/>
              </a:defRPr>
            </a:pPr>
            <a:r>
              <a:t>      if (cc1 + cc2 + cc3 + cc4 + cc5 + cc6 == 6)</a:t>
            </a:r>
          </a:p>
          <a:p>
            <a:pPr lvl="1" algn="l">
              <a:defRPr>
                <a:solidFill>
                  <a:schemeClr val="accent6">
                    <a:satOff val="-15808"/>
                    <a:lumOff val="-17557"/>
                  </a:schemeClr>
                </a:solidFill>
                <a:latin typeface="Courier"/>
                <a:ea typeface="Courier"/>
                <a:cs typeface="Courier"/>
                <a:sym typeface="Courier"/>
              </a:defRPr>
            </a:pPr>
            <a:r>
              <a:t>      {</a:t>
            </a:r>
          </a:p>
          <a:p>
            <a:pPr lvl="1" algn="l">
              <a:defRPr>
                <a:solidFill>
                  <a:schemeClr val="accent6">
                    <a:satOff val="-15808"/>
                    <a:lumOff val="-17557"/>
                  </a:schemeClr>
                </a:solidFill>
                <a:latin typeface="Courier"/>
                <a:ea typeface="Courier"/>
                <a:cs typeface="Courier"/>
                <a:sym typeface="Courier"/>
              </a:defRPr>
            </a:pPr>
            <a:r>
              <a:t>          /// ... </a:t>
            </a:r>
          </a:p>
          <a:p>
            <a:pPr lvl="1" algn="l">
              <a:defRPr>
                <a:solidFill>
                  <a:schemeClr val="accent6">
                    <a:satOff val="-15808"/>
                    <a:lumOff val="-17557"/>
                  </a:schemeClr>
                </a:solidFill>
                <a:latin typeface="Courier"/>
                <a:ea typeface="Courier"/>
                <a:cs typeface="Courier"/>
                <a:sym typeface="Courier"/>
              </a:defRPr>
            </a:pPr>
            <a:r>
              <a:t>      }</a:t>
            </a:r>
          </a:p>
          <a:p>
            <a:pPr algn="l">
              <a:defRPr>
                <a:latin typeface="Courier"/>
                <a:ea typeface="Courier"/>
                <a:cs typeface="Courier"/>
                <a:sym typeface="Courier"/>
              </a:defRPr>
            </a:pPr>
            <a:r>
              <a:t>   } </a:t>
            </a:r>
            <a:r>
              <a:rPr>
                <a:solidFill>
                  <a:schemeClr val="accent3">
                    <a:hueOff val="914337"/>
                    <a:satOff val="31515"/>
                    <a:lumOff val="-30790"/>
                  </a:schemeClr>
                </a:solidFill>
              </a:rPr>
              <a:t>/// END_for_6</a:t>
            </a:r>
          </a:p>
          <a:p>
            <a:pPr algn="l">
              <a:defRPr>
                <a:latin typeface="Courier"/>
                <a:ea typeface="Courier"/>
                <a:cs typeface="Courier"/>
                <a:sym typeface="Courier"/>
              </a:defRPr>
            </a:pPr>
            <a:r>
              <a:rPr>
                <a:solidFill>
                  <a:schemeClr val="accent3">
                    <a:hueOff val="914337"/>
                    <a:satOff val="31515"/>
                    <a:lumOff val="-30790"/>
                  </a:schemeClr>
                </a:solidFill>
              </a:rPr>
              <a:t>...</a:t>
            </a:r>
          </a:p>
        </p:txBody>
      </p:sp>
      <p:sp>
        <p:nvSpPr>
          <p:cNvPr id="287" name="Shape 50"/>
          <p:cNvSpPr txBox="1">
            <a:spLocks noGrp="1"/>
          </p:cNvSpPr>
          <p:nvPr>
            <p:ph type="body" sz="quarter" idx="4294967295"/>
          </p:nvPr>
        </p:nvSpPr>
        <p:spPr>
          <a:xfrm>
            <a:off x="547201" y="2083684"/>
            <a:ext cx="11840744" cy="1462230"/>
          </a:xfrm>
          <a:prstGeom prst="rect">
            <a:avLst/>
          </a:prstGeom>
          <a:solidFill>
            <a:schemeClr val="accent4">
              <a:hueOff val="366961"/>
              <a:satOff val="4172"/>
              <a:lumOff val="11129"/>
            </a:schemeClr>
          </a:solidFill>
        </p:spPr>
        <p:txBody>
          <a:bodyPr lIns="65022" tIns="65022" rIns="65022" bIns="65022"/>
          <a:lstStyle/>
          <a:p>
            <a:pPr marL="0" indent="0" algn="just" defTabSz="1300480">
              <a:lnSpc>
                <a:spcPct val="140000"/>
              </a:lnSpc>
              <a:spcBef>
                <a:spcPts val="0"/>
              </a:spcBef>
              <a:buClr>
                <a:srgbClr val="FFFF00"/>
              </a:buClr>
              <a:buSzTx/>
              <a:buFont typeface="Wingdings"/>
              <a:buNone/>
              <a:defRPr>
                <a:latin typeface="冬青黑体简体中文 W3"/>
                <a:ea typeface="冬青黑体简体中文 W3"/>
                <a:cs typeface="冬青黑体简体中文 W3"/>
                <a:sym typeface="冬青黑体简体中文 W3"/>
              </a:defRPr>
            </a:pPr>
            <a:r>
              <a:rPr err="1">
                <a:solidFill>
                  <a:schemeClr val="accent1">
                    <a:hueOff val="114395"/>
                    <a:lumOff val="-24975"/>
                  </a:schemeClr>
                </a:solidFill>
                <a:latin typeface="冬青黑体简体中文 W6"/>
                <a:ea typeface="冬青黑体简体中文 W6"/>
                <a:cs typeface="冬青黑体简体中文 W6"/>
                <a:sym typeface="冬青黑体简体中文 W6"/>
              </a:rPr>
              <a:t>总体思路</a:t>
            </a:r>
            <a:r>
              <a:rPr>
                <a:solidFill>
                  <a:schemeClr val="accent1">
                    <a:hueOff val="114395"/>
                    <a:lumOff val="-24975"/>
                  </a:schemeClr>
                </a:solidFill>
                <a:latin typeface="冬青黑体简体中文 W6"/>
                <a:ea typeface="冬青黑体简体中文 W6"/>
                <a:cs typeface="冬青黑体简体中文 W6"/>
                <a:sym typeface="冬青黑体简体中文 W6"/>
              </a:rPr>
              <a:t>：</a:t>
            </a:r>
            <a:r>
              <a:rPr lang="zh-CN" altLang="en-US"/>
              <a:t> </a:t>
            </a:r>
            <a:r>
              <a:rPr lang="en-US" altLang="zh-CN"/>
              <a:t>6</a:t>
            </a:r>
            <a:r>
              <a:rPr lang="zh-CN" altLang="en-US">
                <a:latin typeface="黑体"/>
                <a:ea typeface="黑体"/>
                <a:cs typeface="黑体"/>
                <a:sym typeface="黑体"/>
              </a:rPr>
              <a:t>个嫌疑人，每个人都有作案或不作案两种可能，因此有</a:t>
            </a:r>
            <a:r>
              <a:rPr lang="en-US" altLang="zh-CN">
                <a:solidFill>
                  <a:schemeClr val="accent5">
                    <a:hueOff val="-82419"/>
                    <a:satOff val="-9513"/>
                    <a:lumOff val="-16343"/>
                  </a:schemeClr>
                </a:solidFill>
                <a:latin typeface="冬青黑体简体中文 W6"/>
                <a:ea typeface="冬青黑体简体中文 W6"/>
                <a:cs typeface="冬青黑体简体中文 W6"/>
                <a:sym typeface="冬青黑体简体中文 W6"/>
              </a:rPr>
              <a:t>2</a:t>
            </a:r>
            <a:r>
              <a:rPr lang="en-US" altLang="zh-CN" baseline="30203">
                <a:solidFill>
                  <a:schemeClr val="accent5">
                    <a:hueOff val="-82419"/>
                    <a:satOff val="-9513"/>
                    <a:lumOff val="-16343"/>
                  </a:schemeClr>
                </a:solidFill>
                <a:latin typeface="冬青黑体简体中文 W6"/>
                <a:ea typeface="冬青黑体简体中文 W6"/>
                <a:cs typeface="冬青黑体简体中文 W6"/>
                <a:sym typeface="冬青黑体简体中文 W6"/>
              </a:rPr>
              <a:t>6</a:t>
            </a:r>
            <a:r>
              <a:rPr lang="zh-CN" altLang="en-US">
                <a:latin typeface="黑体"/>
                <a:ea typeface="黑体"/>
                <a:cs typeface="黑体"/>
                <a:sym typeface="黑体"/>
              </a:rPr>
              <a:t>种组合，从这些组合中</a:t>
            </a:r>
            <a:r>
              <a:rPr lang="zh-CN" altLang="en-US">
                <a:highlight>
                  <a:srgbClr val="FFFF00"/>
                </a:highlight>
                <a:latin typeface="黑体"/>
                <a:ea typeface="黑体"/>
                <a:cs typeface="黑体"/>
                <a:sym typeface="黑体"/>
              </a:rPr>
              <a:t>筛选</a:t>
            </a:r>
            <a:r>
              <a:rPr lang="zh-CN" altLang="en-US">
                <a:latin typeface="黑体"/>
                <a:ea typeface="黑体"/>
                <a:cs typeface="黑体"/>
                <a:sym typeface="黑体"/>
              </a:rPr>
              <a:t>出符合条件的嫌疑人（作案者）。</a:t>
            </a:r>
            <a:endParaRPr>
              <a:latin typeface="黑体"/>
              <a:ea typeface="黑体"/>
              <a:cs typeface="黑体"/>
              <a:sym typeface="黑体"/>
            </a:endParaRP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81</a:t>
            </a:fld>
            <a:endParaRPr/>
          </a:p>
        </p:txBody>
      </p:sp>
      <p:sp>
        <p:nvSpPr>
          <p:cNvPr id="293" name="#include &lt;iostream&gt;…"/>
          <p:cNvSpPr txBox="1"/>
          <p:nvPr/>
        </p:nvSpPr>
        <p:spPr>
          <a:xfrm>
            <a:off x="595526" y="-8127"/>
            <a:ext cx="10881184" cy="97698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defTabSz="439419">
              <a:lnSpc>
                <a:spcPct val="120000"/>
              </a:lnSpc>
              <a:tabLst>
                <a:tab pos="431800" algn="l"/>
              </a:tabLst>
              <a:defRPr sz="2100">
                <a:solidFill>
                  <a:srgbClr val="D12F1B"/>
                </a:solidFill>
                <a:latin typeface="Menlo"/>
                <a:ea typeface="Menlo"/>
                <a:cs typeface="Menlo"/>
                <a:sym typeface="Menlo"/>
              </a:defRPr>
            </a:pPr>
            <a:r>
              <a:rPr>
                <a:solidFill>
                  <a:srgbClr val="78492A"/>
                </a:solidFill>
                <a:latin typeface="Consolas" panose="020B0609020204030204" pitchFamily="49" charset="0"/>
              </a:rPr>
              <a:t>#include </a:t>
            </a:r>
            <a:r>
              <a:rPr>
                <a:latin typeface="Consolas" panose="020B0609020204030204" pitchFamily="49" charset="0"/>
              </a:rPr>
              <a:t>&lt;iostream&gt;</a:t>
            </a:r>
            <a:endParaRPr>
              <a:solidFill>
                <a:srgbClr val="000000"/>
              </a:solidFill>
              <a:latin typeface="Consolas" panose="020B0609020204030204" pitchFamily="49" charset="0"/>
              <a:ea typeface="Helvetica"/>
              <a:cs typeface="Helvetica"/>
              <a:sym typeface="Helvetica"/>
            </a:endParaRPr>
          </a:p>
          <a:p>
            <a:pPr algn="l" defTabSz="439419">
              <a:lnSpc>
                <a:spcPct val="120000"/>
              </a:lnSpc>
              <a:tabLst>
                <a:tab pos="431800" algn="l"/>
              </a:tabLst>
              <a:defRPr sz="2100">
                <a:solidFill>
                  <a:srgbClr val="BA2DA2"/>
                </a:solidFill>
                <a:latin typeface="Menlo"/>
                <a:ea typeface="Menlo"/>
                <a:cs typeface="Menlo"/>
                <a:sym typeface="Menlo"/>
              </a:defRPr>
            </a:pPr>
            <a:r>
              <a:rPr>
                <a:latin typeface="Consolas" panose="020B0609020204030204" pitchFamily="49" charset="0"/>
              </a:rPr>
              <a:t>using</a:t>
            </a:r>
            <a:r>
              <a:rPr>
                <a:solidFill>
                  <a:srgbClr val="000000"/>
                </a:solidFill>
                <a:latin typeface="Consolas" panose="020B0609020204030204" pitchFamily="49" charset="0"/>
              </a:rPr>
              <a:t> </a:t>
            </a:r>
            <a:r>
              <a:rPr>
                <a:latin typeface="Consolas" panose="020B0609020204030204" pitchFamily="49" charset="0"/>
              </a:rPr>
              <a:t>namespace</a:t>
            </a:r>
            <a:r>
              <a:rPr>
                <a:solidFill>
                  <a:srgbClr val="000000"/>
                </a:solidFill>
                <a:latin typeface="Consolas" panose="020B0609020204030204" pitchFamily="49" charset="0"/>
              </a:rPr>
              <a:t> </a:t>
            </a:r>
            <a:r>
              <a:rPr>
                <a:solidFill>
                  <a:srgbClr val="703DAA"/>
                </a:solidFill>
                <a:latin typeface="Consolas" panose="020B0609020204030204" pitchFamily="49" charset="0"/>
              </a:rPr>
              <a:t>std</a:t>
            </a:r>
            <a:r>
              <a:rPr>
                <a:solidFill>
                  <a:srgbClr val="000000"/>
                </a:solidFill>
                <a:latin typeface="Consolas" panose="020B0609020204030204" pitchFamily="49" charset="0"/>
              </a:rPr>
              <a:t>;</a:t>
            </a:r>
            <a:endParaRPr>
              <a:solidFill>
                <a:srgbClr val="000000"/>
              </a:solidFill>
              <a:latin typeface="Consolas" panose="020B0609020204030204" pitchFamily="49" charset="0"/>
              <a:ea typeface="Helvetica"/>
              <a:cs typeface="Helvetica"/>
              <a:sym typeface="Helvetica"/>
            </a:endParaRPr>
          </a:p>
          <a:p>
            <a:pPr algn="l" defTabSz="439419">
              <a:lnSpc>
                <a:spcPct val="120000"/>
              </a:lnSpc>
              <a:tabLst>
                <a:tab pos="431800" algn="l"/>
              </a:tabLst>
              <a:defRPr sz="2100">
                <a:solidFill>
                  <a:srgbClr val="CC0000"/>
                </a:solidFill>
                <a:latin typeface="Helvetica"/>
                <a:ea typeface="Helvetica"/>
                <a:cs typeface="Helvetica"/>
                <a:sym typeface="Helvetica"/>
              </a:defRPr>
            </a:pPr>
            <a:endParaRPr>
              <a:solidFill>
                <a:srgbClr val="000000"/>
              </a:solidFill>
              <a:latin typeface="Consolas" panose="020B0609020204030204" pitchFamily="49" charset="0"/>
            </a:endParaRPr>
          </a:p>
          <a:p>
            <a:pPr algn="l" defTabSz="439419">
              <a:lnSpc>
                <a:spcPct val="120000"/>
              </a:lnSpc>
              <a:tabLst>
                <a:tab pos="431800" algn="l"/>
              </a:tabLst>
              <a:defRPr sz="2100">
                <a:latin typeface="Menlo"/>
                <a:ea typeface="Menlo"/>
                <a:cs typeface="Menlo"/>
                <a:sym typeface="Menlo"/>
              </a:defRPr>
            </a:pPr>
            <a:r>
              <a:rPr>
                <a:solidFill>
                  <a:srgbClr val="BA2DA2"/>
                </a:solidFill>
                <a:latin typeface="Consolas" panose="020B0609020204030204" pitchFamily="49" charset="0"/>
              </a:rPr>
              <a:t>int</a:t>
            </a:r>
            <a:r>
              <a:rPr>
                <a:latin typeface="Consolas" panose="020B0609020204030204" pitchFamily="49" charset="0"/>
              </a:rPr>
              <a:t> main()</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int</a:t>
            </a:r>
            <a:r>
              <a:rPr>
                <a:latin typeface="Consolas" panose="020B0609020204030204" pitchFamily="49" charset="0"/>
              </a:rPr>
              <a:t> cc1, cc2, cc3, cc4, cc5, cc6;</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for</a:t>
            </a:r>
            <a:r>
              <a:rPr>
                <a:latin typeface="Consolas" panose="020B0609020204030204" pitchFamily="49" charset="0"/>
              </a:rPr>
              <a:t> (</a:t>
            </a:r>
            <a:r>
              <a:rPr>
                <a:solidFill>
                  <a:srgbClr val="BA2DA2"/>
                </a:solidFill>
                <a:latin typeface="Consolas" panose="020B0609020204030204" pitchFamily="49" charset="0"/>
              </a:rPr>
              <a:t>int</a:t>
            </a:r>
            <a:r>
              <a:rPr>
                <a:latin typeface="Consolas" panose="020B0609020204030204" pitchFamily="49" charset="0"/>
              </a:rPr>
              <a:t> A=</a:t>
            </a:r>
            <a:r>
              <a:rPr>
                <a:solidFill>
                  <a:srgbClr val="272AD8"/>
                </a:solidFill>
                <a:latin typeface="Consolas" panose="020B0609020204030204" pitchFamily="49" charset="0"/>
              </a:rPr>
              <a:t>0</a:t>
            </a:r>
            <a:r>
              <a:rPr>
                <a:latin typeface="Consolas" panose="020B0609020204030204" pitchFamily="49" charset="0"/>
              </a:rPr>
              <a:t>; A&lt;=</a:t>
            </a:r>
            <a:r>
              <a:rPr>
                <a:solidFill>
                  <a:srgbClr val="272AD8"/>
                </a:solidFill>
                <a:latin typeface="Consolas" panose="020B0609020204030204" pitchFamily="49" charset="0"/>
              </a:rPr>
              <a:t>1</a:t>
            </a:r>
            <a:r>
              <a:rPr>
                <a:latin typeface="Consolas" panose="020B0609020204030204" pitchFamily="49" charset="0"/>
              </a:rPr>
              <a:t>; A++)</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for</a:t>
            </a:r>
            <a:r>
              <a:rPr>
                <a:latin typeface="Consolas" panose="020B0609020204030204" pitchFamily="49" charset="0"/>
              </a:rPr>
              <a:t> (</a:t>
            </a:r>
            <a:r>
              <a:rPr>
                <a:solidFill>
                  <a:srgbClr val="BA2DA2"/>
                </a:solidFill>
                <a:latin typeface="Consolas" panose="020B0609020204030204" pitchFamily="49" charset="0"/>
              </a:rPr>
              <a:t>int</a:t>
            </a:r>
            <a:r>
              <a:rPr>
                <a:latin typeface="Consolas" panose="020B0609020204030204" pitchFamily="49" charset="0"/>
              </a:rPr>
              <a:t> B=</a:t>
            </a:r>
            <a:r>
              <a:rPr>
                <a:solidFill>
                  <a:srgbClr val="272AD8"/>
                </a:solidFill>
                <a:latin typeface="Consolas" panose="020B0609020204030204" pitchFamily="49" charset="0"/>
              </a:rPr>
              <a:t>0</a:t>
            </a:r>
            <a:r>
              <a:rPr>
                <a:latin typeface="Consolas" panose="020B0609020204030204" pitchFamily="49" charset="0"/>
              </a:rPr>
              <a:t>; B&lt;=</a:t>
            </a:r>
            <a:r>
              <a:rPr>
                <a:solidFill>
                  <a:srgbClr val="272AD8"/>
                </a:solidFill>
                <a:latin typeface="Consolas" panose="020B0609020204030204" pitchFamily="49" charset="0"/>
              </a:rPr>
              <a:t>1</a:t>
            </a:r>
            <a:r>
              <a:rPr>
                <a:latin typeface="Consolas" panose="020B0609020204030204" pitchFamily="49" charset="0"/>
              </a:rPr>
              <a:t>; B++)</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for</a:t>
            </a:r>
            <a:r>
              <a:rPr>
                <a:latin typeface="Consolas" panose="020B0609020204030204" pitchFamily="49" charset="0"/>
              </a:rPr>
              <a:t> (</a:t>
            </a:r>
            <a:r>
              <a:rPr>
                <a:solidFill>
                  <a:srgbClr val="BA2DA2"/>
                </a:solidFill>
                <a:latin typeface="Consolas" panose="020B0609020204030204" pitchFamily="49" charset="0"/>
              </a:rPr>
              <a:t>int</a:t>
            </a:r>
            <a:r>
              <a:rPr>
                <a:latin typeface="Consolas" panose="020B0609020204030204" pitchFamily="49" charset="0"/>
              </a:rPr>
              <a:t> C=</a:t>
            </a:r>
            <a:r>
              <a:rPr>
                <a:solidFill>
                  <a:srgbClr val="272AD8"/>
                </a:solidFill>
                <a:latin typeface="Consolas" panose="020B0609020204030204" pitchFamily="49" charset="0"/>
              </a:rPr>
              <a:t>0</a:t>
            </a:r>
            <a:r>
              <a:rPr>
                <a:latin typeface="Consolas" panose="020B0609020204030204" pitchFamily="49" charset="0"/>
              </a:rPr>
              <a:t>; C&lt;=</a:t>
            </a:r>
            <a:r>
              <a:rPr>
                <a:solidFill>
                  <a:srgbClr val="272AD8"/>
                </a:solidFill>
                <a:latin typeface="Consolas" panose="020B0609020204030204" pitchFamily="49" charset="0"/>
              </a:rPr>
              <a:t>1</a:t>
            </a:r>
            <a:r>
              <a:rPr>
                <a:latin typeface="Consolas" panose="020B0609020204030204" pitchFamily="49" charset="0"/>
              </a:rPr>
              <a:t>; C++)</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for</a:t>
            </a:r>
            <a:r>
              <a:rPr>
                <a:latin typeface="Consolas" panose="020B0609020204030204" pitchFamily="49" charset="0"/>
              </a:rPr>
              <a:t> (</a:t>
            </a:r>
            <a:r>
              <a:rPr>
                <a:solidFill>
                  <a:srgbClr val="BA2DA2"/>
                </a:solidFill>
                <a:latin typeface="Consolas" panose="020B0609020204030204" pitchFamily="49" charset="0"/>
              </a:rPr>
              <a:t>int</a:t>
            </a:r>
            <a:r>
              <a:rPr>
                <a:latin typeface="Consolas" panose="020B0609020204030204" pitchFamily="49" charset="0"/>
              </a:rPr>
              <a:t> D=</a:t>
            </a:r>
            <a:r>
              <a:rPr>
                <a:solidFill>
                  <a:srgbClr val="272AD8"/>
                </a:solidFill>
                <a:latin typeface="Consolas" panose="020B0609020204030204" pitchFamily="49" charset="0"/>
              </a:rPr>
              <a:t>0</a:t>
            </a:r>
            <a:r>
              <a:rPr>
                <a:latin typeface="Consolas" panose="020B0609020204030204" pitchFamily="49" charset="0"/>
              </a:rPr>
              <a:t>; D&lt;=</a:t>
            </a:r>
            <a:r>
              <a:rPr>
                <a:solidFill>
                  <a:srgbClr val="272AD8"/>
                </a:solidFill>
                <a:latin typeface="Consolas" panose="020B0609020204030204" pitchFamily="49" charset="0"/>
              </a:rPr>
              <a:t>1</a:t>
            </a:r>
            <a:r>
              <a:rPr>
                <a:latin typeface="Consolas" panose="020B0609020204030204" pitchFamily="49" charset="0"/>
              </a:rPr>
              <a:t>; D++)</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for</a:t>
            </a:r>
            <a:r>
              <a:rPr>
                <a:latin typeface="Consolas" panose="020B0609020204030204" pitchFamily="49" charset="0"/>
              </a:rPr>
              <a:t> (</a:t>
            </a:r>
            <a:r>
              <a:rPr>
                <a:solidFill>
                  <a:srgbClr val="BA2DA2"/>
                </a:solidFill>
                <a:latin typeface="Consolas" panose="020B0609020204030204" pitchFamily="49" charset="0"/>
              </a:rPr>
              <a:t>int</a:t>
            </a:r>
            <a:r>
              <a:rPr>
                <a:latin typeface="Consolas" panose="020B0609020204030204" pitchFamily="49" charset="0"/>
              </a:rPr>
              <a:t> E=</a:t>
            </a:r>
            <a:r>
              <a:rPr>
                <a:solidFill>
                  <a:srgbClr val="272AD8"/>
                </a:solidFill>
                <a:latin typeface="Consolas" panose="020B0609020204030204" pitchFamily="49" charset="0"/>
              </a:rPr>
              <a:t>0</a:t>
            </a:r>
            <a:r>
              <a:rPr>
                <a:latin typeface="Consolas" panose="020B0609020204030204" pitchFamily="49" charset="0"/>
              </a:rPr>
              <a:t>; E&lt;=</a:t>
            </a:r>
            <a:r>
              <a:rPr>
                <a:solidFill>
                  <a:srgbClr val="272AD8"/>
                </a:solidFill>
                <a:latin typeface="Consolas" panose="020B0609020204030204" pitchFamily="49" charset="0"/>
              </a:rPr>
              <a:t>1</a:t>
            </a:r>
            <a:r>
              <a:rPr>
                <a:latin typeface="Consolas" panose="020B0609020204030204" pitchFamily="49" charset="0"/>
              </a:rPr>
              <a:t>; E++)</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for</a:t>
            </a:r>
            <a:r>
              <a:rPr>
                <a:latin typeface="Consolas" panose="020B0609020204030204" pitchFamily="49" charset="0"/>
              </a:rPr>
              <a:t> (</a:t>
            </a:r>
            <a:r>
              <a:rPr>
                <a:solidFill>
                  <a:srgbClr val="BA2DA2"/>
                </a:solidFill>
                <a:latin typeface="Consolas" panose="020B0609020204030204" pitchFamily="49" charset="0"/>
              </a:rPr>
              <a:t>int</a:t>
            </a:r>
            <a:r>
              <a:rPr>
                <a:latin typeface="Consolas" panose="020B0609020204030204" pitchFamily="49" charset="0"/>
              </a:rPr>
              <a:t> F=</a:t>
            </a:r>
            <a:r>
              <a:rPr>
                <a:solidFill>
                  <a:srgbClr val="272AD8"/>
                </a:solidFill>
                <a:latin typeface="Consolas" panose="020B0609020204030204" pitchFamily="49" charset="0"/>
              </a:rPr>
              <a:t>0</a:t>
            </a:r>
            <a:r>
              <a:rPr>
                <a:latin typeface="Consolas" panose="020B0609020204030204" pitchFamily="49" charset="0"/>
              </a:rPr>
              <a:t>; F&lt;=</a:t>
            </a:r>
            <a:r>
              <a:rPr>
                <a:solidFill>
                  <a:srgbClr val="272AD8"/>
                </a:solidFill>
                <a:latin typeface="Consolas" panose="020B0609020204030204" pitchFamily="49" charset="0"/>
              </a:rPr>
              <a:t>1</a:t>
            </a:r>
            <a:r>
              <a:rPr>
                <a:latin typeface="Consolas" panose="020B0609020204030204" pitchFamily="49" charset="0"/>
              </a:rPr>
              <a:t>; F++)</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r>
              <a:rPr lang="en-US">
                <a:latin typeface="Consolas" panose="020B0609020204030204" pitchFamily="49" charset="0"/>
              </a:rPr>
              <a:t> </a:t>
            </a:r>
            <a:r>
              <a:rPr lang="en-US" altLang="zh-CN">
                <a:solidFill>
                  <a:srgbClr val="008400"/>
                </a:solidFill>
                <a:latin typeface="Consolas" panose="020B0609020204030204" pitchFamily="49" charset="0"/>
              </a:rPr>
              <a:t>/// </a:t>
            </a:r>
            <a:r>
              <a:rPr lang="zh-CN" altLang="en-US">
                <a:solidFill>
                  <a:srgbClr val="008400"/>
                </a:solidFill>
                <a:latin typeface="Consolas" panose="020B0609020204030204" pitchFamily="49" charset="0"/>
              </a:rPr>
              <a:t>最内层循环</a:t>
            </a:r>
            <a:r>
              <a:rPr lang="en-US" altLang="zh-CN">
                <a:solidFill>
                  <a:srgbClr val="008400"/>
                </a:solidFill>
                <a:latin typeface="Consolas" panose="020B0609020204030204" pitchFamily="49" charset="0"/>
              </a:rPr>
              <a:t>, </a:t>
            </a:r>
            <a:r>
              <a:rPr lang="zh-CN" altLang="en-US">
                <a:solidFill>
                  <a:srgbClr val="008400"/>
                </a:solidFill>
                <a:latin typeface="Consolas" panose="020B0609020204030204" pitchFamily="49" charset="0"/>
              </a:rPr>
              <a:t>最后一个人</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cc1 = A || B;</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cc2 = !(A &amp;&amp; D);</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cc3 = (A &amp;&amp; E) || (A &amp;&amp; F) || (E &amp;&amp; F);</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cc4 = (B &amp;&amp; C) || (!B &amp;&amp; !C);</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cc5 = (C &amp;&amp; !D) || (D &amp;&amp; !C);</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cc6 = D || !E;</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if</a:t>
            </a:r>
            <a:r>
              <a:rPr>
                <a:latin typeface="Consolas" panose="020B0609020204030204" pitchFamily="49" charset="0"/>
              </a:rPr>
              <a:t> (cc1 + cc2 + cc3 + cc4 + cc5 + cc6 == </a:t>
            </a:r>
            <a:r>
              <a:rPr>
                <a:solidFill>
                  <a:srgbClr val="272AD8"/>
                </a:solidFill>
                <a:latin typeface="Consolas" panose="020B0609020204030204" pitchFamily="49" charset="0"/>
              </a:rPr>
              <a:t>6</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p>
          <a:p>
            <a:pPr algn="l" defTabSz="439419">
              <a:lnSpc>
                <a:spcPct val="120000"/>
              </a:lnSpc>
              <a:tabLst>
                <a:tab pos="431800" algn="l"/>
              </a:tabLst>
              <a:defRPr sz="2100">
                <a:latin typeface="Menlo"/>
                <a:ea typeface="Menlo"/>
                <a:cs typeface="Menlo"/>
                <a:sym typeface="Menlo"/>
              </a:defRPr>
            </a:pP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100">
                <a:latin typeface="Menlo"/>
                <a:ea typeface="Menlo"/>
                <a:cs typeface="Menlo"/>
                <a:sym typeface="Menlo"/>
              </a:defRPr>
            </a:pPr>
            <a:r>
              <a:rPr>
                <a:latin typeface="Consolas" panose="020B0609020204030204" pitchFamily="49" charset="0"/>
              </a:rPr>
              <a:t>}</a:t>
            </a:r>
          </a:p>
        </p:txBody>
      </p:sp>
      <p:sp>
        <p:nvSpPr>
          <p:cNvPr id="294" name="此处代码见下一页"/>
          <p:cNvSpPr txBox="1"/>
          <p:nvPr/>
        </p:nvSpPr>
        <p:spPr>
          <a:xfrm>
            <a:off x="5671479" y="7985569"/>
            <a:ext cx="2552701" cy="520701"/>
          </a:xfrm>
          <a:prstGeom prst="rect">
            <a:avLst/>
          </a:prstGeom>
          <a:solidFill>
            <a:schemeClr val="accent3">
              <a:hueOff val="-274225"/>
              <a:satOff val="26768"/>
              <a:lumOff val="11368"/>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此处代码见下一页</a:t>
            </a:r>
          </a:p>
        </p:txBody>
      </p:sp>
      <p:sp>
        <p:nvSpPr>
          <p:cNvPr id="295" name="第1页，共2页"/>
          <p:cNvSpPr txBox="1"/>
          <p:nvPr/>
        </p:nvSpPr>
        <p:spPr>
          <a:xfrm>
            <a:off x="10930298" y="94065"/>
            <a:ext cx="1977239" cy="520701"/>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第1页，共2页</a:t>
            </a:r>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cout &lt;&lt; &quot;D: &quot;;…"/>
          <p:cNvSpPr txBox="1"/>
          <p:nvPr/>
        </p:nvSpPr>
        <p:spPr>
          <a:xfrm>
            <a:off x="2671939" y="815892"/>
            <a:ext cx="8539197" cy="81988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"D: "</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if</a:t>
            </a:r>
            <a:r>
              <a:rPr>
                <a:latin typeface="Consolas" panose="020B0609020204030204" pitchFamily="49" charset="0"/>
              </a:rPr>
              <a:t> (D)</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else</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不是罪犯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err="1">
                <a:solidFill>
                  <a:srgbClr val="3E1E81"/>
                </a:solidFill>
                <a:latin typeface="Consolas" panose="020B0609020204030204" pitchFamily="49" charset="0"/>
              </a:rPr>
              <a:t>endl</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solidFill>
                  <a:srgbClr val="CC0000"/>
                </a:solidFill>
                <a:latin typeface="Helvetica"/>
                <a:ea typeface="Helvetica"/>
                <a:cs typeface="Helvetica"/>
                <a:sym typeface="Helvetica"/>
              </a:defRPr>
            </a:pPr>
            <a:endParaRPr>
              <a:solidFill>
                <a:srgbClr val="000000"/>
              </a:solidFill>
              <a:latin typeface="Consolas" panose="020B0609020204030204" pitchFamily="49" charset="0"/>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"E: "</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if</a:t>
            </a:r>
            <a:r>
              <a:rPr>
                <a:latin typeface="Consolas" panose="020B0609020204030204" pitchFamily="49" charset="0"/>
              </a:rPr>
              <a:t> (E)</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else</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不是罪犯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err="1">
                <a:solidFill>
                  <a:srgbClr val="3E1E81"/>
                </a:solidFill>
                <a:latin typeface="Consolas" panose="020B0609020204030204" pitchFamily="49" charset="0"/>
              </a:rPr>
              <a:t>endl</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solidFill>
                  <a:srgbClr val="CC0000"/>
                </a:solidFill>
                <a:latin typeface="Helvetica"/>
                <a:ea typeface="Helvetica"/>
                <a:cs typeface="Helvetica"/>
                <a:sym typeface="Helvetica"/>
              </a:defRPr>
            </a:pPr>
            <a:endParaRPr>
              <a:solidFill>
                <a:srgbClr val="000000"/>
              </a:solidFill>
              <a:latin typeface="Consolas" panose="020B0609020204030204" pitchFamily="49" charset="0"/>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"F: "</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if</a:t>
            </a:r>
            <a:r>
              <a:rPr>
                <a:latin typeface="Consolas" panose="020B0609020204030204" pitchFamily="49" charset="0"/>
              </a:rPr>
              <a:t> (F)</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BA2DA2"/>
                </a:solidFill>
                <a:latin typeface="Consolas" panose="020B0609020204030204" pitchFamily="49" charset="0"/>
              </a:rPr>
              <a:t>else</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err="1">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不是罪犯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err="1">
                <a:solidFill>
                  <a:srgbClr val="3E1E81"/>
                </a:solidFill>
                <a:latin typeface="Consolas" panose="020B0609020204030204" pitchFamily="49" charset="0"/>
              </a:rPr>
              <a:t>endl</a:t>
            </a:r>
            <a:r>
              <a:rPr>
                <a:latin typeface="Consolas" panose="020B0609020204030204" pitchFamily="49" charset="0"/>
              </a:rPr>
              <a:t>;</a:t>
            </a:r>
          </a:p>
        </p:txBody>
      </p:sp>
      <p:sp>
        <p:nvSpPr>
          <p:cNvPr id="298"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82</a:t>
            </a:fld>
            <a:endParaRPr/>
          </a:p>
        </p:txBody>
      </p:sp>
      <p:sp>
        <p:nvSpPr>
          <p:cNvPr id="299" name="cout &lt;&lt; &quot;A: &quot;;…"/>
          <p:cNvSpPr txBox="1"/>
          <p:nvPr/>
        </p:nvSpPr>
        <p:spPr>
          <a:xfrm>
            <a:off x="1451758" y="815892"/>
            <a:ext cx="4141324" cy="81988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l" defTabSz="439419">
              <a:lnSpc>
                <a:spcPct val="120000"/>
              </a:lnSpc>
              <a:tabLst>
                <a:tab pos="431800" algn="l"/>
              </a:tabLst>
              <a:defRPr sz="2200">
                <a:latin typeface="Menlo"/>
                <a:ea typeface="Menlo"/>
                <a:cs typeface="Menlo"/>
                <a:sym typeface="Menlo"/>
              </a:defRPr>
            </a:pP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 "</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solidFill>
                  <a:srgbClr val="BA2DA2"/>
                </a:solidFill>
                <a:latin typeface="Consolas" panose="020B0609020204030204" pitchFamily="49" charset="0"/>
              </a:rPr>
              <a:t>if</a:t>
            </a:r>
            <a:r>
              <a:rPr>
                <a:latin typeface="Consolas" panose="020B0609020204030204" pitchFamily="49" charset="0"/>
              </a:rPr>
              <a:t> (A)</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lang="en-US">
                <a:solidFill>
                  <a:srgbClr val="703DAA"/>
                </a:solidFill>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solidFill>
                  <a:srgbClr val="BA2DA2"/>
                </a:solidFill>
                <a:latin typeface="Consolas" panose="020B0609020204030204" pitchFamily="49" charset="0"/>
              </a:rPr>
              <a:t>else</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lang="en-US">
                <a:solidFill>
                  <a:srgbClr val="703DAA"/>
                </a:solidFill>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不是罪犯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solidFill>
                  <a:srgbClr val="703DAA"/>
                </a:solidFill>
                <a:latin typeface="Consolas" panose="020B0609020204030204" pitchFamily="49" charset="0"/>
              </a:rPr>
              <a:t>cout</a:t>
            </a:r>
            <a:r>
              <a:rPr>
                <a:latin typeface="Consolas" panose="020B0609020204030204" pitchFamily="49" charset="0"/>
              </a:rPr>
              <a:t> &lt;&lt; </a:t>
            </a:r>
            <a:r>
              <a:rPr err="1">
                <a:solidFill>
                  <a:srgbClr val="3E1E81"/>
                </a:solidFill>
                <a:latin typeface="Consolas" panose="020B0609020204030204" pitchFamily="49" charset="0"/>
              </a:rPr>
              <a:t>endl</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"B: "</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solidFill>
                  <a:srgbClr val="BA2DA2"/>
                </a:solidFill>
                <a:latin typeface="Consolas" panose="020B0609020204030204" pitchFamily="49" charset="0"/>
              </a:rPr>
              <a:t>if</a:t>
            </a:r>
            <a:r>
              <a:rPr>
                <a:latin typeface="Consolas" panose="020B0609020204030204" pitchFamily="49" charset="0"/>
              </a:rPr>
              <a:t> (B)</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lang="en-US">
                <a:solidFill>
                  <a:srgbClr val="703DAA"/>
                </a:solidFill>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solidFill>
                  <a:srgbClr val="BA2DA2"/>
                </a:solidFill>
                <a:latin typeface="Consolas" panose="020B0609020204030204" pitchFamily="49" charset="0"/>
              </a:rPr>
              <a:t>else</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lang="en-US">
                <a:solidFill>
                  <a:srgbClr val="703DAA"/>
                </a:solidFill>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不是罪犯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solidFill>
                  <a:srgbClr val="703DAA"/>
                </a:solidFill>
                <a:latin typeface="Consolas" panose="020B0609020204030204" pitchFamily="49" charset="0"/>
              </a:rPr>
              <a:t>cout</a:t>
            </a:r>
            <a:r>
              <a:rPr>
                <a:latin typeface="Consolas" panose="020B0609020204030204" pitchFamily="49" charset="0"/>
              </a:rPr>
              <a:t> &lt;&lt; </a:t>
            </a:r>
            <a:r>
              <a:rPr err="1">
                <a:solidFill>
                  <a:srgbClr val="3E1E81"/>
                </a:solidFill>
                <a:latin typeface="Consolas" panose="020B0609020204030204" pitchFamily="49" charset="0"/>
              </a:rPr>
              <a:t>endl</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latin typeface="Consolas" panose="020B0609020204030204" pitchFamily="49" charset="0"/>
              </a:rPr>
              <a:t>                                </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"C: "</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solidFill>
                  <a:srgbClr val="BA2DA2"/>
                </a:solidFill>
                <a:latin typeface="Consolas" panose="020B0609020204030204" pitchFamily="49" charset="0"/>
              </a:rPr>
              <a:t>if</a:t>
            </a:r>
            <a:r>
              <a:rPr>
                <a:latin typeface="Consolas" panose="020B0609020204030204" pitchFamily="49" charset="0"/>
              </a:rPr>
              <a:t> (C)</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lang="en-US">
                <a:solidFill>
                  <a:srgbClr val="703DAA"/>
                </a:solidFill>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solidFill>
                  <a:srgbClr val="BA2DA2"/>
                </a:solidFill>
                <a:latin typeface="Consolas" panose="020B0609020204030204" pitchFamily="49" charset="0"/>
              </a:rPr>
              <a:t>else</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lang="en-US">
                <a:solidFill>
                  <a:srgbClr val="703DAA"/>
                </a:solidFill>
                <a:latin typeface="Consolas" panose="020B0609020204030204" pitchFamily="49" charset="0"/>
              </a:rPr>
              <a:t>    </a:t>
            </a:r>
            <a:r>
              <a:rPr>
                <a:solidFill>
                  <a:srgbClr val="703DAA"/>
                </a:solidFill>
                <a:latin typeface="Consolas" panose="020B0609020204030204" pitchFamily="49" charset="0"/>
              </a:rPr>
              <a:t>cout</a:t>
            </a:r>
            <a:r>
              <a:rPr>
                <a:latin typeface="Consolas" panose="020B0609020204030204" pitchFamily="49" charset="0"/>
              </a:rPr>
              <a:t> &lt;&lt; </a:t>
            </a:r>
            <a:r>
              <a:rPr>
                <a:solidFill>
                  <a:srgbClr val="D12F1B"/>
                </a:solidFill>
                <a:latin typeface="Consolas" panose="020B0609020204030204" pitchFamily="49" charset="0"/>
              </a:rPr>
              <a:t>"</a:t>
            </a:r>
            <a:r>
              <a:rPr err="1">
                <a:solidFill>
                  <a:srgbClr val="D12F1B"/>
                </a:solidFill>
                <a:latin typeface="Consolas" panose="020B0609020204030204" pitchFamily="49" charset="0"/>
              </a:rPr>
              <a:t>不是罪犯</a:t>
            </a:r>
            <a:r>
              <a:rPr>
                <a:solidFill>
                  <a:srgbClr val="D12F1B"/>
                </a:solidFill>
                <a:latin typeface="Consolas" panose="020B0609020204030204" pitchFamily="49" charset="0"/>
              </a:rPr>
              <a:t>"</a:t>
            </a:r>
            <a:r>
              <a:rPr>
                <a:latin typeface="Consolas" panose="020B0609020204030204" pitchFamily="49" charset="0"/>
              </a:rPr>
              <a:t>;</a:t>
            </a:r>
            <a:endParaRPr>
              <a:latin typeface="Consolas" panose="020B0609020204030204" pitchFamily="49" charset="0"/>
              <a:ea typeface="Helvetica"/>
              <a:cs typeface="Helvetica"/>
              <a:sym typeface="Helvetica"/>
            </a:endParaRPr>
          </a:p>
          <a:p>
            <a:pPr algn="l" defTabSz="439419">
              <a:lnSpc>
                <a:spcPct val="120000"/>
              </a:lnSpc>
              <a:tabLst>
                <a:tab pos="431800" algn="l"/>
              </a:tabLst>
              <a:defRPr sz="2200">
                <a:latin typeface="Menlo"/>
                <a:ea typeface="Menlo"/>
                <a:cs typeface="Menlo"/>
                <a:sym typeface="Menlo"/>
              </a:defRPr>
            </a:pPr>
            <a:r>
              <a:rPr>
                <a:solidFill>
                  <a:srgbClr val="703DAA"/>
                </a:solidFill>
                <a:latin typeface="Consolas" panose="020B0609020204030204" pitchFamily="49" charset="0"/>
              </a:rPr>
              <a:t>cout</a:t>
            </a:r>
            <a:r>
              <a:rPr>
                <a:latin typeface="Consolas" panose="020B0609020204030204" pitchFamily="49" charset="0"/>
              </a:rPr>
              <a:t> &lt;&lt; </a:t>
            </a:r>
            <a:r>
              <a:rPr err="1">
                <a:solidFill>
                  <a:srgbClr val="3E1E81"/>
                </a:solidFill>
                <a:latin typeface="Consolas" panose="020B0609020204030204" pitchFamily="49" charset="0"/>
              </a:rPr>
              <a:t>endl</a:t>
            </a:r>
            <a:r>
              <a:rPr>
                <a:latin typeface="Consolas" panose="020B0609020204030204" pitchFamily="49" charset="0"/>
              </a:rPr>
              <a:t>;</a:t>
            </a:r>
          </a:p>
        </p:txBody>
      </p:sp>
      <p:sp>
        <p:nvSpPr>
          <p:cNvPr id="300" name="第2页，共2页"/>
          <p:cNvSpPr txBox="1"/>
          <p:nvPr/>
        </p:nvSpPr>
        <p:spPr>
          <a:xfrm>
            <a:off x="10930298" y="94065"/>
            <a:ext cx="1977239" cy="520701"/>
          </a:xfrm>
          <a:prstGeom prst="rect">
            <a:avLst/>
          </a:prstGeom>
          <a:solidFill>
            <a:schemeClr val="accent4">
              <a:hueOff val="366961"/>
              <a:satOff val="4172"/>
              <a:lumOff val="11129"/>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第2页，共2页</a:t>
            </a:r>
          </a:p>
        </p:txBody>
      </p:sp>
      <p:cxnSp>
        <p:nvCxnSpPr>
          <p:cNvPr id="5" name="直接连接符 4">
            <a:extLst>
              <a:ext uri="{FF2B5EF4-FFF2-40B4-BE49-F238E27FC236}">
                <a16:creationId xmlns:a16="http://schemas.microsoft.com/office/drawing/2014/main" id="{C8A1272B-6CDD-49A2-A206-4D95E1C789FD}"/>
              </a:ext>
            </a:extLst>
          </p:cNvPr>
          <p:cNvCxnSpPr>
            <a:cxnSpLocks/>
          </p:cNvCxnSpPr>
          <p:nvPr/>
        </p:nvCxnSpPr>
        <p:spPr>
          <a:xfrm>
            <a:off x="6530722" y="9360851"/>
            <a:ext cx="0"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 name="矩形 6">
            <a:extLst>
              <a:ext uri="{FF2B5EF4-FFF2-40B4-BE49-F238E27FC236}">
                <a16:creationId xmlns:a16="http://schemas.microsoft.com/office/drawing/2014/main" id="{6D94475C-AAE8-4DA2-8C2B-9FA6CB7CCC15}"/>
              </a:ext>
            </a:extLst>
          </p:cNvPr>
          <p:cNvSpPr/>
          <p:nvPr/>
        </p:nvSpPr>
        <p:spPr>
          <a:xfrm>
            <a:off x="6405296" y="214939"/>
            <a:ext cx="97104" cy="9216828"/>
          </a:xfrm>
          <a:prstGeom prst="rect">
            <a:avLst/>
          </a:prstGeom>
          <a:solidFill>
            <a:schemeClr val="bg1">
              <a:lumMod val="85000"/>
            </a:schemeClr>
          </a:solidFill>
        </p:spPr>
        <p:txBody>
          <a:bodyPr rtlCol="0" anchor="ctr">
            <a:spAutoFit/>
          </a:bodyPr>
          <a:lstStyle/>
          <a:p>
            <a:pPr algn="l"/>
            <a:endParaRPr lang="zh-CN" altLang="en-US">
              <a:solidFill>
                <a:srgbClr val="0070C0"/>
              </a:solidFill>
              <a:latin typeface="Consolas" panose="020B0609020204030204" pitchFamily="49" charset="0"/>
            </a:endParaRPr>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83</a:t>
            </a:fld>
            <a:endParaRPr/>
          </a:p>
        </p:txBody>
      </p:sp>
      <p:sp>
        <p:nvSpPr>
          <p:cNvPr id="303" name="Shape 97"/>
          <p:cNvSpPr txBox="1"/>
          <p:nvPr/>
        </p:nvSpPr>
        <p:spPr>
          <a:xfrm>
            <a:off x="599086" y="2320482"/>
            <a:ext cx="11806628" cy="6269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spAutoFit/>
          </a:bodyPr>
          <a:lstStyle/>
          <a:p>
            <a:pPr algn="l" defTabSz="1300480">
              <a:lnSpc>
                <a:spcPct val="120000"/>
              </a:lnSpc>
              <a:spcBef>
                <a:spcPts val="2900"/>
              </a:spcBef>
              <a:defRPr sz="3200" b="0">
                <a:latin typeface="冬青黑体简体中文 W3"/>
                <a:ea typeface="冬青黑体简体中文 W3"/>
                <a:cs typeface="冬青黑体简体中文 W3"/>
                <a:sym typeface="冬青黑体简体中文 W3"/>
              </a:defRPr>
            </a:pPr>
            <a:r>
              <a:rPr lang="en-US" altLang="zh-CN"/>
              <a:t>        </a:t>
            </a:r>
            <a:r>
              <a:rPr err="1"/>
              <a:t>在输出每个人是否为罪犯时，可以使用下面的语句</a:t>
            </a:r>
            <a:r>
              <a:t>：</a:t>
            </a:r>
          </a:p>
          <a:p>
            <a:pPr algn="l" defTabSz="1300480">
              <a:lnSpc>
                <a:spcPct val="120000"/>
              </a:lnSpc>
              <a:spcBef>
                <a:spcPts val="2700"/>
              </a:spcBef>
              <a:defRPr sz="3000">
                <a:solidFill>
                  <a:schemeClr val="accent1">
                    <a:hueOff val="114395"/>
                    <a:lumOff val="-24975"/>
                  </a:schemeClr>
                </a:solidFill>
                <a:latin typeface="Courier"/>
                <a:ea typeface="Courier"/>
                <a:cs typeface="Courier"/>
                <a:sym typeface="Courier"/>
              </a:defRPr>
            </a:pPr>
            <a:r>
              <a:rPr err="1"/>
              <a:t>cout</a:t>
            </a:r>
            <a:r>
              <a:t> &lt;&lt; "A: " &lt;&lt; </a:t>
            </a:r>
            <a:r>
              <a:rPr>
                <a:solidFill>
                  <a:srgbClr val="5E5E5E"/>
                </a:solidFill>
              </a:rPr>
              <a:t>(A==1 ? "</a:t>
            </a:r>
            <a:r>
              <a:rPr err="1">
                <a:solidFill>
                  <a:srgbClr val="5E5E5E"/>
                </a:solidFill>
              </a:rPr>
              <a:t>是罪犯</a:t>
            </a:r>
            <a:r>
              <a:rPr>
                <a:solidFill>
                  <a:srgbClr val="5E5E5E"/>
                </a:solidFill>
              </a:rPr>
              <a:t>" : "</a:t>
            </a:r>
            <a:r>
              <a:rPr err="1">
                <a:solidFill>
                  <a:srgbClr val="5E5E5E"/>
                </a:solidFill>
              </a:rPr>
              <a:t>不是罪犯</a:t>
            </a:r>
            <a:r>
              <a:rPr>
                <a:solidFill>
                  <a:srgbClr val="5E5E5E"/>
                </a:solidFill>
              </a:rPr>
              <a:t>") </a:t>
            </a:r>
            <a:br>
              <a:rPr/>
            </a:br>
            <a:r>
              <a:t>     &lt;&lt; </a:t>
            </a:r>
            <a:r>
              <a:rPr err="1"/>
              <a:t>endl</a:t>
            </a:r>
            <a:r>
              <a:t>;</a:t>
            </a:r>
          </a:p>
          <a:p>
            <a:pPr algn="l" defTabSz="1300480">
              <a:lnSpc>
                <a:spcPct val="120000"/>
              </a:lnSpc>
              <a:spcBef>
                <a:spcPts val="2900"/>
              </a:spcBef>
              <a:defRPr sz="3200" b="0">
                <a:latin typeface="冬青黑体简体中文 W3"/>
                <a:ea typeface="冬青黑体简体中文 W3"/>
                <a:cs typeface="冬青黑体简体中文 W3"/>
                <a:sym typeface="冬青黑体简体中文 W3"/>
              </a:defRPr>
            </a:pPr>
            <a:r>
              <a:rPr err="1"/>
              <a:t>其中</a:t>
            </a:r>
            <a:r>
              <a:t>，</a:t>
            </a:r>
            <a:r>
              <a:rPr sz="3000" b="1">
                <a:solidFill>
                  <a:schemeClr val="accent1">
                    <a:hueOff val="114395"/>
                    <a:lumOff val="-24975"/>
                  </a:schemeClr>
                </a:solidFill>
                <a:latin typeface="Courier"/>
                <a:ea typeface="Courier"/>
                <a:cs typeface="Courier"/>
                <a:sym typeface="Courier"/>
              </a:rPr>
              <a:t> (A==1 ? "</a:t>
            </a:r>
            <a:r>
              <a:rPr sz="3000" b="1" err="1">
                <a:solidFill>
                  <a:schemeClr val="accent1">
                    <a:hueOff val="114395"/>
                    <a:lumOff val="-24975"/>
                  </a:schemeClr>
                </a:solidFill>
                <a:latin typeface="Courier"/>
                <a:ea typeface="Courier"/>
                <a:cs typeface="Courier"/>
                <a:sym typeface="Courier"/>
              </a:rPr>
              <a:t>是罪犯</a:t>
            </a:r>
            <a:r>
              <a:rPr sz="3000" b="1">
                <a:solidFill>
                  <a:schemeClr val="accent1">
                    <a:hueOff val="114395"/>
                    <a:lumOff val="-24975"/>
                  </a:schemeClr>
                </a:solidFill>
                <a:latin typeface="Courier"/>
                <a:ea typeface="Courier"/>
                <a:cs typeface="Courier"/>
                <a:sym typeface="Courier"/>
              </a:rPr>
              <a:t>" : "</a:t>
            </a:r>
            <a:r>
              <a:rPr sz="3000" b="1" err="1">
                <a:solidFill>
                  <a:schemeClr val="accent1">
                    <a:hueOff val="114395"/>
                    <a:lumOff val="-24975"/>
                  </a:schemeClr>
                </a:solidFill>
                <a:latin typeface="Courier"/>
                <a:ea typeface="Courier"/>
                <a:cs typeface="Courier"/>
                <a:sym typeface="Courier"/>
              </a:rPr>
              <a:t>不是罪犯</a:t>
            </a:r>
            <a:r>
              <a:rPr sz="3000" b="1">
                <a:solidFill>
                  <a:schemeClr val="accent1">
                    <a:hueOff val="114395"/>
                    <a:lumOff val="-24975"/>
                  </a:schemeClr>
                </a:solidFill>
                <a:latin typeface="Courier"/>
                <a:ea typeface="Courier"/>
                <a:cs typeface="Courier"/>
                <a:sym typeface="Courier"/>
              </a:rPr>
              <a:t>") </a:t>
            </a:r>
            <a:r>
              <a:rPr lang="zh-CN" altLang="en-US" sz="3000">
                <a:solidFill>
                  <a:schemeClr val="tx1"/>
                </a:solidFill>
                <a:highlight>
                  <a:srgbClr val="FFFF00"/>
                </a:highlight>
                <a:latin typeface="Courier"/>
                <a:ea typeface="Courier"/>
                <a:cs typeface="Courier"/>
                <a:sym typeface="Courier"/>
              </a:rPr>
              <a:t>条件</a:t>
            </a:r>
            <a:r>
              <a:rPr>
                <a:solidFill>
                  <a:schemeClr val="tx1"/>
                </a:solidFill>
                <a:highlight>
                  <a:srgbClr val="FFFF00"/>
                </a:highlight>
                <a:latin typeface="冬青黑体简体中文 W6"/>
                <a:ea typeface="冬青黑体简体中文 W6"/>
                <a:cs typeface="冬青黑体简体中文 W6"/>
                <a:sym typeface="冬青黑体简体中文 W6"/>
              </a:rPr>
              <a:t>运算符 ? : </a:t>
            </a:r>
            <a:r>
              <a:t>，</a:t>
            </a:r>
            <a:r>
              <a:rPr err="1"/>
              <a:t>该运算符的表达式由三部分组成，即</a:t>
            </a:r>
            <a:endParaRPr/>
          </a:p>
          <a:p>
            <a:pPr algn="l" defTabSz="1300480">
              <a:lnSpc>
                <a:spcPct val="120000"/>
              </a:lnSpc>
              <a:spcBef>
                <a:spcPts val="3400"/>
              </a:spcBef>
              <a:defRPr sz="3200" b="0">
                <a:latin typeface="冬青黑体简体中文 W3"/>
                <a:ea typeface="冬青黑体简体中文 W3"/>
                <a:cs typeface="冬青黑体简体中文 W3"/>
                <a:sym typeface="冬青黑体简体中文 W3"/>
              </a:defRPr>
            </a:pPr>
            <a:r>
              <a:t>        </a:t>
            </a:r>
            <a:r>
              <a:rPr>
                <a:latin typeface="冬青黑体简体中文 W6"/>
                <a:ea typeface="冬青黑体简体中文 W6"/>
                <a:cs typeface="冬青黑体简体中文 W6"/>
                <a:sym typeface="冬青黑体简体中文 W6"/>
              </a:rPr>
              <a:t> </a:t>
            </a:r>
            <a:r>
              <a:rPr err="1">
                <a:solidFill>
                  <a:schemeClr val="accent5">
                    <a:hueOff val="-82419"/>
                    <a:satOff val="-9513"/>
                    <a:lumOff val="-16343"/>
                  </a:schemeClr>
                </a:solidFill>
                <a:latin typeface="冬青黑体简体中文 W6"/>
                <a:ea typeface="冬青黑体简体中文 W6"/>
                <a:cs typeface="冬青黑体简体中文 W6"/>
                <a:sym typeface="冬青黑体简体中文 W6"/>
              </a:rPr>
              <a:t>条件判断式</a:t>
            </a:r>
            <a:r>
              <a:rPr>
                <a:latin typeface="冬青黑体简体中文 W6"/>
                <a:ea typeface="冬青黑体简体中文 W6"/>
                <a:cs typeface="冬青黑体简体中文 W6"/>
                <a:sym typeface="冬青黑体简体中文 W6"/>
              </a:rPr>
              <a:t> ?</a:t>
            </a:r>
            <a:r>
              <a:rPr>
                <a:solidFill>
                  <a:schemeClr val="accent3">
                    <a:hueOff val="914337"/>
                    <a:satOff val="31515"/>
                    <a:lumOff val="-30790"/>
                  </a:schemeClr>
                </a:solidFill>
                <a:latin typeface="冬青黑体简体中文 W6"/>
                <a:ea typeface="冬青黑体简体中文 W6"/>
                <a:cs typeface="冬青黑体简体中文 W6"/>
                <a:sym typeface="冬青黑体简体中文 W6"/>
              </a:rPr>
              <a:t> 结果1</a:t>
            </a:r>
            <a:r>
              <a:rPr>
                <a:solidFill>
                  <a:schemeClr val="accent3">
                    <a:hueOff val="362282"/>
                    <a:satOff val="31803"/>
                    <a:lumOff val="-18242"/>
                  </a:schemeClr>
                </a:solidFill>
                <a:latin typeface="冬青黑体简体中文 W6"/>
                <a:ea typeface="冬青黑体简体中文 W6"/>
                <a:cs typeface="冬青黑体简体中文 W6"/>
                <a:sym typeface="冬青黑体简体中文 W6"/>
              </a:rPr>
              <a:t> </a:t>
            </a:r>
            <a:r>
              <a:rPr>
                <a:latin typeface="冬青黑体简体中文 W6"/>
                <a:ea typeface="冬青黑体简体中文 W6"/>
                <a:cs typeface="冬青黑体简体中文 W6"/>
                <a:sym typeface="冬青黑体简体中文 W6"/>
              </a:rPr>
              <a:t>:</a:t>
            </a:r>
            <a:r>
              <a:rPr>
                <a:solidFill>
                  <a:schemeClr val="accent1">
                    <a:hueOff val="114395"/>
                    <a:lumOff val="-24975"/>
                  </a:schemeClr>
                </a:solidFill>
                <a:latin typeface="冬青黑体简体中文 W6"/>
                <a:ea typeface="冬青黑体简体中文 W6"/>
                <a:cs typeface="冬青黑体简体中文 W6"/>
                <a:sym typeface="冬青黑体简体中文 W6"/>
              </a:rPr>
              <a:t> 结果2</a:t>
            </a:r>
          </a:p>
          <a:p>
            <a:pPr algn="l" defTabSz="1300480">
              <a:lnSpc>
                <a:spcPct val="120000"/>
              </a:lnSpc>
              <a:spcBef>
                <a:spcPts val="2900"/>
              </a:spcBef>
              <a:defRPr sz="3200" b="0">
                <a:latin typeface="冬青黑体简体中文 W3"/>
                <a:ea typeface="冬青黑体简体中文 W3"/>
                <a:cs typeface="冬青黑体简体中文 W3"/>
                <a:sym typeface="冬青黑体简体中文 W3"/>
              </a:defRPr>
            </a:pPr>
            <a:r>
              <a:rPr err="1"/>
              <a:t>如果</a:t>
            </a:r>
            <a:r>
              <a:t> </a:t>
            </a:r>
            <a:r>
              <a:rPr err="1">
                <a:solidFill>
                  <a:schemeClr val="accent5">
                    <a:hueOff val="-82419"/>
                    <a:satOff val="-9513"/>
                    <a:lumOff val="-16343"/>
                  </a:schemeClr>
                </a:solidFill>
                <a:latin typeface="冬青黑体简体中文 W6"/>
                <a:ea typeface="冬青黑体简体中文 W6"/>
                <a:cs typeface="冬青黑体简体中文 W6"/>
                <a:sym typeface="冬青黑体简体中文 W6"/>
              </a:rPr>
              <a:t>条件判断式</a:t>
            </a:r>
            <a:r>
              <a:t> </a:t>
            </a:r>
            <a:r>
              <a:rPr err="1"/>
              <a:t>为真，则表达式返回</a:t>
            </a:r>
            <a:r>
              <a:t> 结果1；</a:t>
            </a:r>
            <a:br>
              <a:rPr/>
            </a:br>
            <a:r>
              <a:rPr err="1"/>
              <a:t>如果</a:t>
            </a:r>
            <a:r>
              <a:t> </a:t>
            </a:r>
            <a:r>
              <a:rPr err="1">
                <a:solidFill>
                  <a:schemeClr val="accent5">
                    <a:hueOff val="-82419"/>
                    <a:satOff val="-9513"/>
                    <a:lumOff val="-16343"/>
                  </a:schemeClr>
                </a:solidFill>
                <a:latin typeface="冬青黑体简体中文 W6"/>
                <a:ea typeface="冬青黑体简体中文 W6"/>
                <a:cs typeface="冬青黑体简体中文 W6"/>
                <a:sym typeface="冬青黑体简体中文 W6"/>
              </a:rPr>
              <a:t>条件判断式</a:t>
            </a:r>
            <a:r>
              <a:t> </a:t>
            </a:r>
            <a:r>
              <a:rPr err="1"/>
              <a:t>为假，则表达式返回</a:t>
            </a:r>
            <a:r>
              <a:t> 结果2。</a:t>
            </a:r>
          </a:p>
        </p:txBody>
      </p:sp>
      <p:sp>
        <p:nvSpPr>
          <p:cNvPr id="2" name="【编程技巧】选择运算符">
            <a:extLst>
              <a:ext uri="{FF2B5EF4-FFF2-40B4-BE49-F238E27FC236}">
                <a16:creationId xmlns:a16="http://schemas.microsoft.com/office/drawing/2014/main" id="{1B21F868-A2A1-C77D-D4B5-7443A0F6825E}"/>
              </a:ext>
            </a:extLst>
          </p:cNvPr>
          <p:cNvSpPr/>
          <p:nvPr/>
        </p:nvSpPr>
        <p:spPr>
          <a:xfrm>
            <a:off x="555755" y="349980"/>
            <a:ext cx="7714485" cy="1152044"/>
          </a:xfrm>
          <a:prstGeom prst="rect">
            <a:avLst/>
          </a:prstGeom>
          <a:solidFill>
            <a:srgbClr val="FF0000"/>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ctr"/>
          <a:lstStyle>
            <a:lvl1pPr algn="l">
              <a:defRPr sz="4600" b="0">
                <a:solidFill>
                  <a:srgbClr val="FFFFFF"/>
                </a:solidFill>
                <a:latin typeface="+mn-lt"/>
                <a:ea typeface="+mn-ea"/>
                <a:cs typeface="+mn-cs"/>
                <a:sym typeface="Helvetica Neue Medium"/>
              </a:defRPr>
            </a:lvl1pPr>
          </a:lstStyle>
          <a:p>
            <a:pPr algn="ctr"/>
            <a:r>
              <a:rPr lang="zh-CN" altLang="en-US"/>
              <a:t>使用</a:t>
            </a:r>
            <a:r>
              <a:rPr lang="zh-CN" altLang="en-US" b="1">
                <a:solidFill>
                  <a:srgbClr val="FFFF00"/>
                </a:solidFill>
              </a:rPr>
              <a:t>条件</a:t>
            </a:r>
            <a:r>
              <a:rPr b="1">
                <a:solidFill>
                  <a:srgbClr val="FFFF00"/>
                </a:solidFill>
              </a:rPr>
              <a:t>运算符</a:t>
            </a:r>
            <a:r>
              <a:rPr lang="zh-CN" altLang="en-US"/>
              <a:t>，简化代码</a:t>
            </a:r>
            <a:endParaRPr/>
          </a:p>
        </p:txBody>
      </p:sp>
      <p:sp>
        <p:nvSpPr>
          <p:cNvPr id="3" name="矩形: 圆角 2">
            <a:extLst>
              <a:ext uri="{FF2B5EF4-FFF2-40B4-BE49-F238E27FC236}">
                <a16:creationId xmlns:a16="http://schemas.microsoft.com/office/drawing/2014/main" id="{18D54244-7D9A-4BA2-AC32-F8BFC1422D2A}"/>
              </a:ext>
            </a:extLst>
          </p:cNvPr>
          <p:cNvSpPr/>
          <p:nvPr/>
        </p:nvSpPr>
        <p:spPr>
          <a:xfrm>
            <a:off x="4464050" y="3244850"/>
            <a:ext cx="6565900" cy="742950"/>
          </a:xfrm>
          <a:prstGeom prst="roundRect">
            <a:avLst/>
          </a:prstGeom>
          <a:ln w="28575">
            <a:solidFill>
              <a:srgbClr val="0070C0"/>
            </a:solidFill>
            <a:prstDash val="dash"/>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8" name="矩形: 圆角 7">
            <a:extLst>
              <a:ext uri="{FF2B5EF4-FFF2-40B4-BE49-F238E27FC236}">
                <a16:creationId xmlns:a16="http://schemas.microsoft.com/office/drawing/2014/main" id="{A9306EE9-023B-4DC9-8C66-73FDC7A711E2}"/>
              </a:ext>
            </a:extLst>
          </p:cNvPr>
          <p:cNvSpPr/>
          <p:nvPr/>
        </p:nvSpPr>
        <p:spPr>
          <a:xfrm>
            <a:off x="1250950" y="6292850"/>
            <a:ext cx="5321300" cy="742950"/>
          </a:xfrm>
          <a:prstGeom prst="roundRect">
            <a:avLst/>
          </a:prstGeom>
          <a:ln w="28575">
            <a:solidFill>
              <a:srgbClr val="0070C0"/>
            </a:solidFill>
            <a:prstDash val="dash"/>
          </a:ln>
        </p:spPr>
        <p:txBody>
          <a:bodyPr wrap="square" rtlCol="0" anchor="ctr">
            <a:spAutoFit/>
          </a:bodyPr>
          <a:lstStyle/>
          <a:p>
            <a:pPr algn="l"/>
            <a:endParaRPr lang="zh-CN" altLang="en-US">
              <a:solidFill>
                <a:srgbClr val="0070C0"/>
              </a:solidFill>
              <a:latin typeface="Consolas" panose="020B0609020204030204" pitchFamily="49" charset="0"/>
            </a:endParaRP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84</a:t>
            </a:fld>
            <a:endParaRPr/>
          </a:p>
        </p:txBody>
      </p:sp>
      <p:pic>
        <p:nvPicPr>
          <p:cNvPr id="2" name="图片 1">
            <a:extLst>
              <a:ext uri="{FF2B5EF4-FFF2-40B4-BE49-F238E27FC236}">
                <a16:creationId xmlns:a16="http://schemas.microsoft.com/office/drawing/2014/main" id="{A13F4D70-A854-493F-913F-1050A715C930}"/>
              </a:ext>
            </a:extLst>
          </p:cNvPr>
          <p:cNvPicPr>
            <a:picLocks noChangeAspect="1"/>
          </p:cNvPicPr>
          <p:nvPr/>
        </p:nvPicPr>
        <p:blipFill>
          <a:blip r:embed="rId2"/>
          <a:stretch>
            <a:fillRect/>
          </a:stretch>
        </p:blipFill>
        <p:spPr>
          <a:xfrm>
            <a:off x="547201" y="2138472"/>
            <a:ext cx="5692221" cy="4682592"/>
          </a:xfrm>
          <a:prstGeom prst="rect">
            <a:avLst/>
          </a:prstGeom>
          <a:effectLst>
            <a:outerShdw blurRad="50800" dist="38100" dir="2700000" algn="tl" rotWithShape="0">
              <a:prstClr val="black">
                <a:alpha val="40000"/>
              </a:prstClr>
            </a:outerShdw>
          </a:effectLst>
        </p:spPr>
      </p:pic>
      <p:pic>
        <p:nvPicPr>
          <p:cNvPr id="3" name="图片 2">
            <a:extLst>
              <a:ext uri="{FF2B5EF4-FFF2-40B4-BE49-F238E27FC236}">
                <a16:creationId xmlns:a16="http://schemas.microsoft.com/office/drawing/2014/main" id="{95C9233F-13FF-4667-9B49-A99E649B2881}"/>
              </a:ext>
            </a:extLst>
          </p:cNvPr>
          <p:cNvPicPr>
            <a:picLocks noChangeAspect="1"/>
          </p:cNvPicPr>
          <p:nvPr/>
        </p:nvPicPr>
        <p:blipFill rotWithShape="1">
          <a:blip r:embed="rId3"/>
          <a:srcRect t="943"/>
          <a:stretch/>
        </p:blipFill>
        <p:spPr>
          <a:xfrm>
            <a:off x="3035146" y="7804258"/>
            <a:ext cx="8492548" cy="1753646"/>
          </a:xfrm>
          <a:prstGeom prst="rect">
            <a:avLst/>
          </a:prstGeom>
          <a:effectLst>
            <a:outerShdw blurRad="50800" dist="38100" dir="2700000" algn="tl" rotWithShape="0">
              <a:prstClr val="black">
                <a:alpha val="40000"/>
              </a:prstClr>
            </a:outerShdw>
          </a:effectLst>
        </p:spPr>
      </p:pic>
      <p:sp>
        <p:nvSpPr>
          <p:cNvPr id="4" name="箭头: 下 3">
            <a:extLst>
              <a:ext uri="{FF2B5EF4-FFF2-40B4-BE49-F238E27FC236}">
                <a16:creationId xmlns:a16="http://schemas.microsoft.com/office/drawing/2014/main" id="{389DAF88-8117-436D-B392-69B898D6E668}"/>
              </a:ext>
            </a:extLst>
          </p:cNvPr>
          <p:cNvSpPr/>
          <p:nvPr/>
        </p:nvSpPr>
        <p:spPr>
          <a:xfrm>
            <a:off x="3099505" y="6918851"/>
            <a:ext cx="587611" cy="682388"/>
          </a:xfrm>
          <a:prstGeom prst="downArrow">
            <a:avLst/>
          </a:prstGeom>
          <a:solidFill>
            <a:srgbClr val="00B0F0"/>
          </a:solidFill>
          <a:ln>
            <a:solidFill>
              <a:schemeClr val="accent1"/>
            </a:solidFill>
          </a:ln>
        </p:spPr>
        <p:txBody>
          <a:bodyPr rtlCol="0" anchor="ctr">
            <a:spAutoFit/>
          </a:bodyPr>
          <a:lstStyle/>
          <a:p>
            <a:pPr algn="l"/>
            <a:endParaRPr lang="zh-CN" altLang="en-US">
              <a:solidFill>
                <a:srgbClr val="0070C0"/>
              </a:solidFill>
              <a:latin typeface="Consolas" panose="020B0609020204030204" pitchFamily="49" charset="0"/>
            </a:endParaRPr>
          </a:p>
        </p:txBody>
      </p:sp>
      <p:sp>
        <p:nvSpPr>
          <p:cNvPr id="5" name="文本框 4">
            <a:extLst>
              <a:ext uri="{FF2B5EF4-FFF2-40B4-BE49-F238E27FC236}">
                <a16:creationId xmlns:a16="http://schemas.microsoft.com/office/drawing/2014/main" id="{E500EE1A-01BA-41B4-85C0-EE55E0BB6E7B}"/>
              </a:ext>
            </a:extLst>
          </p:cNvPr>
          <p:cNvSpPr txBox="1"/>
          <p:nvPr/>
        </p:nvSpPr>
        <p:spPr>
          <a:xfrm>
            <a:off x="6416339" y="2193339"/>
            <a:ext cx="133369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70C0"/>
                </a:solidFill>
                <a:effectLst/>
                <a:uFillTx/>
                <a:latin typeface="Helvetica Neue"/>
                <a:ea typeface="Helvetica Neue"/>
                <a:cs typeface="Helvetica Neue"/>
                <a:sym typeface="Helvetica Neue"/>
              </a:rPr>
              <a:t>常规写法</a:t>
            </a:r>
          </a:p>
        </p:txBody>
      </p:sp>
      <p:sp>
        <p:nvSpPr>
          <p:cNvPr id="9" name="文本框 8">
            <a:extLst>
              <a:ext uri="{FF2B5EF4-FFF2-40B4-BE49-F238E27FC236}">
                <a16:creationId xmlns:a16="http://schemas.microsoft.com/office/drawing/2014/main" id="{404CB327-89D8-4DA9-A194-0D677261DFD4}"/>
              </a:ext>
            </a:extLst>
          </p:cNvPr>
          <p:cNvSpPr txBox="1"/>
          <p:nvPr/>
        </p:nvSpPr>
        <p:spPr>
          <a:xfrm>
            <a:off x="1646739" y="7024083"/>
            <a:ext cx="1333698"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1" i="0" u="none" strike="noStrike" cap="none" spc="0" normalizeH="0" baseline="0">
                <a:ln>
                  <a:noFill/>
                </a:ln>
                <a:solidFill>
                  <a:srgbClr val="0070C0"/>
                </a:solidFill>
                <a:effectLst/>
                <a:uFillTx/>
                <a:latin typeface="Helvetica Neue"/>
                <a:ea typeface="Helvetica Neue"/>
                <a:cs typeface="Helvetica Neue"/>
                <a:sym typeface="Helvetica Neue"/>
              </a:rPr>
              <a:t>简洁写法</a:t>
            </a:r>
          </a:p>
        </p:txBody>
      </p:sp>
      <p:sp>
        <p:nvSpPr>
          <p:cNvPr id="12" name="【编程技巧】选择运算符">
            <a:extLst>
              <a:ext uri="{FF2B5EF4-FFF2-40B4-BE49-F238E27FC236}">
                <a16:creationId xmlns:a16="http://schemas.microsoft.com/office/drawing/2014/main" id="{ECF9A91A-4A33-49AB-9419-B5A18F224876}"/>
              </a:ext>
            </a:extLst>
          </p:cNvPr>
          <p:cNvSpPr/>
          <p:nvPr/>
        </p:nvSpPr>
        <p:spPr>
          <a:xfrm>
            <a:off x="555755" y="349980"/>
            <a:ext cx="7714485" cy="1152044"/>
          </a:xfrm>
          <a:prstGeom prst="rect">
            <a:avLst/>
          </a:prstGeom>
          <a:solidFill>
            <a:srgbClr val="FF0000"/>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ctr"/>
          <a:lstStyle>
            <a:lvl1pPr algn="l">
              <a:defRPr sz="4600" b="0">
                <a:solidFill>
                  <a:srgbClr val="FFFFFF"/>
                </a:solidFill>
                <a:latin typeface="+mn-lt"/>
                <a:ea typeface="+mn-ea"/>
                <a:cs typeface="+mn-cs"/>
                <a:sym typeface="Helvetica Neue Medium"/>
              </a:defRPr>
            </a:lvl1pPr>
          </a:lstStyle>
          <a:p>
            <a:pPr algn="ctr"/>
            <a:r>
              <a:rPr lang="zh-CN" altLang="en-US"/>
              <a:t>使用</a:t>
            </a:r>
            <a:r>
              <a:rPr lang="zh-CN" altLang="en-US" b="1">
                <a:solidFill>
                  <a:srgbClr val="FFFF00"/>
                </a:solidFill>
              </a:rPr>
              <a:t>条件</a:t>
            </a:r>
            <a:r>
              <a:rPr b="1">
                <a:solidFill>
                  <a:srgbClr val="FFFF00"/>
                </a:solidFill>
              </a:rPr>
              <a:t>运算符</a:t>
            </a:r>
            <a:r>
              <a:rPr lang="zh-CN" altLang="en-US"/>
              <a:t>，简化代码</a:t>
            </a:r>
            <a:endParaRPr/>
          </a:p>
        </p:txBody>
      </p:sp>
      <p:sp>
        <p:nvSpPr>
          <p:cNvPr id="6" name="文本框 5">
            <a:extLst>
              <a:ext uri="{FF2B5EF4-FFF2-40B4-BE49-F238E27FC236}">
                <a16:creationId xmlns:a16="http://schemas.microsoft.com/office/drawing/2014/main" id="{2EBA5B86-7573-B7C6-07C0-29A13DA4A98C}"/>
              </a:ext>
            </a:extLst>
          </p:cNvPr>
          <p:cNvSpPr txBox="1"/>
          <p:nvPr/>
        </p:nvSpPr>
        <p:spPr>
          <a:xfrm>
            <a:off x="7585074" y="3648457"/>
            <a:ext cx="4149726" cy="2041585"/>
          </a:xfrm>
          <a:prstGeom prst="rect">
            <a:avLst/>
          </a:prstGeom>
          <a:solidFill>
            <a:schemeClr val="accent4">
              <a:lumMod val="20000"/>
              <a:lumOff val="80000"/>
            </a:schemeClr>
          </a:solidFill>
          <a:ln w="12700" cap="flat">
            <a:solidFill>
              <a:schemeClr val="bg1">
                <a:lumMod val="65000"/>
              </a:schemeClr>
            </a:solid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50000"/>
              </a:lnSpc>
              <a:spcBef>
                <a:spcPts val="0"/>
              </a:spcBef>
              <a:spcAft>
                <a:spcPts val="0"/>
              </a:spcAft>
              <a:buClrTx/>
              <a:buSzTx/>
              <a:buFontTx/>
              <a:buNone/>
              <a:tabLst/>
            </a:pPr>
            <a:r>
              <a:rPr kumimoji="0" lang="zh-CN" altLang="en-US" sz="3600" u="none" strike="noStrike" cap="none" spc="0" normalizeH="0" baseline="0" dirty="0">
                <a:ln>
                  <a:noFill/>
                </a:ln>
                <a:solidFill>
                  <a:srgbClr val="FF0000"/>
                </a:solidFill>
                <a:effectLst/>
                <a:uFillTx/>
                <a:latin typeface="Consolas" panose="020B0609020204030204" pitchFamily="49" charset="0"/>
                <a:sym typeface="Helvetica Neue"/>
              </a:rPr>
              <a:t>注意：</a:t>
            </a:r>
            <a:endParaRPr kumimoji="0" lang="en-US" altLang="zh-CN" sz="3600" u="none" strike="noStrike" cap="none" spc="0" normalizeH="0" baseline="0" dirty="0">
              <a:ln>
                <a:noFill/>
              </a:ln>
              <a:solidFill>
                <a:srgbClr val="FF0000"/>
              </a:solidFill>
              <a:effectLst/>
              <a:uFillTx/>
              <a:latin typeface="Consolas" panose="020B0609020204030204" pitchFamily="49" charset="0"/>
              <a:sym typeface="Helvetica Neue"/>
            </a:endParaRPr>
          </a:p>
          <a:p>
            <a:pPr marL="0" marR="0" indent="0" algn="l" defTabSz="584200" rtl="0" fontAlgn="auto" latinLnBrk="0" hangingPunct="0">
              <a:lnSpc>
                <a:spcPct val="150000"/>
              </a:lnSpc>
              <a:spcBef>
                <a:spcPts val="0"/>
              </a:spcBef>
              <a:spcAft>
                <a:spcPts val="0"/>
              </a:spcAft>
              <a:buClrTx/>
              <a:buSzTx/>
              <a:buFontTx/>
              <a:buNone/>
              <a:tabLst/>
            </a:pPr>
            <a:r>
              <a:rPr kumimoji="0" lang="zh-CN" altLang="en-US" u="none" strike="noStrike" cap="none" spc="0" normalizeH="0" baseline="0" dirty="0">
                <a:ln>
                  <a:noFill/>
                </a:ln>
                <a:solidFill>
                  <a:schemeClr val="tx1"/>
                </a:solidFill>
                <a:effectLst/>
                <a:uFillTx/>
                <a:latin typeface="Consolas" panose="020B0609020204030204" pitchFamily="49" charset="0"/>
                <a:sym typeface="Helvetica Neue"/>
              </a:rPr>
              <a:t>在</a:t>
            </a:r>
            <a:r>
              <a:rPr kumimoji="0" lang="en-US" altLang="zh-CN" u="none" strike="noStrike" cap="none" spc="0" normalizeH="0" baseline="0" dirty="0">
                <a:ln>
                  <a:noFill/>
                </a:ln>
                <a:solidFill>
                  <a:schemeClr val="tx1"/>
                </a:solidFill>
                <a:effectLst/>
                <a:uFillTx/>
                <a:latin typeface="Consolas" panose="020B0609020204030204" pitchFamily="49" charset="0"/>
                <a:sym typeface="Helvetica Neue"/>
              </a:rPr>
              <a:t>cout</a:t>
            </a:r>
            <a:r>
              <a:rPr kumimoji="0" lang="zh-CN" altLang="en-US" u="none" strike="noStrike" cap="none" spc="0" normalizeH="0" baseline="0" dirty="0">
                <a:ln>
                  <a:noFill/>
                </a:ln>
                <a:solidFill>
                  <a:schemeClr val="tx1"/>
                </a:solidFill>
                <a:effectLst/>
                <a:uFillTx/>
                <a:latin typeface="Consolas" panose="020B0609020204030204" pitchFamily="49" charset="0"/>
                <a:sym typeface="Helvetica Neue"/>
              </a:rPr>
              <a:t>语句中，要用括号（）把条件运算式括起来！</a:t>
            </a:r>
          </a:p>
        </p:txBody>
      </p:sp>
    </p:spTree>
    <p:extLst>
      <p:ext uri="{BB962C8B-B14F-4D97-AF65-F5344CB8AC3E}">
        <p14:creationId xmlns:p14="http://schemas.microsoft.com/office/powerpoint/2010/main" val="203959693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85</a:t>
            </a:fld>
            <a:endParaRPr/>
          </a:p>
        </p:txBody>
      </p:sp>
      <p:pic>
        <p:nvPicPr>
          <p:cNvPr id="311" name="image.png" descr="image.png"/>
          <p:cNvPicPr>
            <a:picLocks noChangeAspect="1"/>
          </p:cNvPicPr>
          <p:nvPr/>
        </p:nvPicPr>
        <p:blipFill>
          <a:blip r:embed="rId2"/>
          <a:srcRect t="2992"/>
          <a:stretch>
            <a:fillRect/>
          </a:stretch>
        </p:blipFill>
        <p:spPr>
          <a:xfrm>
            <a:off x="1965943" y="2062480"/>
            <a:ext cx="9059799" cy="7601912"/>
          </a:xfrm>
          <a:prstGeom prst="rect">
            <a:avLst/>
          </a:prstGeom>
          <a:ln w="12700">
            <a:miter lim="400000"/>
          </a:ln>
        </p:spPr>
      </p:pic>
      <p:sp>
        <p:nvSpPr>
          <p:cNvPr id="312" name="任务3.2的参考源代码和输出结果"/>
          <p:cNvSpPr txBox="1">
            <a:spLocks noGrp="1"/>
          </p:cNvSpPr>
          <p:nvPr>
            <p:ph type="title"/>
          </p:nvPr>
        </p:nvSpPr>
        <p:spPr>
          <a:prstGeom prst="rect">
            <a:avLst/>
          </a:prstGeom>
        </p:spPr>
        <p:txBody>
          <a:bodyPr/>
          <a:lstStyle>
            <a:lvl1pPr>
              <a:defRPr sz="4000"/>
            </a:lvl1pPr>
          </a:lstStyle>
          <a:p>
            <a:r>
              <a:t>任务3.</a:t>
            </a:r>
            <a:r>
              <a:rPr lang="en-US" altLang="zh-CN"/>
              <a:t>3</a:t>
            </a:r>
            <a:r>
              <a:t>的参考源代码和输出结果</a:t>
            </a:r>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86</a:t>
            </a:fld>
            <a:endParaRPr/>
          </a:p>
        </p:txBody>
      </p:sp>
      <p:sp>
        <p:nvSpPr>
          <p:cNvPr id="316" name="某地刑侦大队对涉及六个嫌疑人的一桩疑案进行分析，以下内容叙述的是刑侦队搜集到的线索和情报： A、B 至少有一人作案；…"/>
          <p:cNvSpPr txBox="1"/>
          <p:nvPr/>
        </p:nvSpPr>
        <p:spPr>
          <a:xfrm>
            <a:off x="642884" y="3759095"/>
            <a:ext cx="11719031" cy="5227713"/>
          </a:xfrm>
          <a:prstGeom prst="rect">
            <a:avLst/>
          </a:prstGeom>
          <a:noFill/>
          <a:ln w="19050">
            <a:solidFill>
              <a:schemeClr val="tx1"/>
            </a:solidFill>
            <a:prstDash val="dash"/>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p>
            <a:pPr algn="l">
              <a:lnSpc>
                <a:spcPct val="150000"/>
              </a:lnSpc>
              <a:defRPr sz="2500"/>
            </a:pPr>
            <a:r>
              <a:rPr dirty="0" err="1"/>
              <a:t>某地刑侦大队对涉及六个嫌疑人的一桩疑案进行分析，以下内容叙述的是刑侦队搜集到的线索和情报</a:t>
            </a:r>
            <a:r>
              <a:rPr dirty="0"/>
              <a:t>：</a:t>
            </a:r>
            <a:br>
              <a:rPr dirty="0"/>
            </a:br>
            <a:r>
              <a:rPr dirty="0"/>
              <a:t>A、B </a:t>
            </a:r>
            <a:r>
              <a:rPr dirty="0" err="1"/>
              <a:t>至少有一人作案</a:t>
            </a:r>
            <a:r>
              <a:rPr dirty="0"/>
              <a:t>；</a:t>
            </a:r>
          </a:p>
          <a:p>
            <a:pPr marL="444499" indent="-444499" algn="l">
              <a:lnSpc>
                <a:spcPct val="150000"/>
              </a:lnSpc>
              <a:buSzPct val="145000"/>
              <a:buChar char="•"/>
              <a:defRPr sz="2500">
                <a:solidFill>
                  <a:schemeClr val="accent1">
                    <a:lumOff val="-13575"/>
                  </a:schemeClr>
                </a:solidFill>
              </a:defRPr>
            </a:pPr>
            <a:r>
              <a:rPr dirty="0"/>
              <a:t>A、E、F </a:t>
            </a:r>
            <a:r>
              <a:rPr dirty="0" err="1"/>
              <a:t>三人中至少有两人参与作案</a:t>
            </a:r>
            <a:r>
              <a:rPr dirty="0"/>
              <a:t>；</a:t>
            </a:r>
          </a:p>
          <a:p>
            <a:pPr marL="444499" indent="-444499" algn="l">
              <a:lnSpc>
                <a:spcPct val="150000"/>
              </a:lnSpc>
              <a:buSzPct val="145000"/>
              <a:buChar char="•"/>
              <a:defRPr sz="2500">
                <a:solidFill>
                  <a:schemeClr val="accent1">
                    <a:lumOff val="-13575"/>
                  </a:schemeClr>
                </a:solidFill>
              </a:defRPr>
            </a:pPr>
            <a:r>
              <a:rPr dirty="0"/>
              <a:t>A、D </a:t>
            </a:r>
            <a:r>
              <a:rPr dirty="0" err="1"/>
              <a:t>不可能是同案犯</a:t>
            </a:r>
            <a:r>
              <a:rPr dirty="0"/>
              <a:t>；</a:t>
            </a:r>
          </a:p>
          <a:p>
            <a:pPr marL="444499" indent="-444499" algn="l">
              <a:lnSpc>
                <a:spcPct val="150000"/>
              </a:lnSpc>
              <a:buSzPct val="145000"/>
              <a:buChar char="•"/>
              <a:defRPr sz="2500">
                <a:solidFill>
                  <a:schemeClr val="accent1">
                    <a:lumOff val="-13575"/>
                  </a:schemeClr>
                </a:solidFill>
              </a:defRPr>
            </a:pPr>
            <a:r>
              <a:rPr dirty="0"/>
              <a:t>B、C </a:t>
            </a:r>
            <a:r>
              <a:rPr dirty="0" err="1"/>
              <a:t>或同时作案，或与本案无关</a:t>
            </a:r>
            <a:r>
              <a:rPr dirty="0"/>
              <a:t>；</a:t>
            </a:r>
          </a:p>
          <a:p>
            <a:pPr marL="444499" indent="-444499" algn="l">
              <a:lnSpc>
                <a:spcPct val="150000"/>
              </a:lnSpc>
              <a:buSzPct val="145000"/>
              <a:buChar char="•"/>
              <a:defRPr sz="2500">
                <a:solidFill>
                  <a:schemeClr val="accent1">
                    <a:lumOff val="-13575"/>
                  </a:schemeClr>
                </a:solidFill>
              </a:defRPr>
            </a:pPr>
            <a:r>
              <a:rPr dirty="0"/>
              <a:t>C、D </a:t>
            </a:r>
            <a:r>
              <a:rPr dirty="0" err="1"/>
              <a:t>中有且仅有一人作案</a:t>
            </a:r>
            <a:r>
              <a:rPr dirty="0"/>
              <a:t>；</a:t>
            </a:r>
          </a:p>
          <a:p>
            <a:pPr marL="444499" indent="-444499" algn="l">
              <a:lnSpc>
                <a:spcPct val="150000"/>
              </a:lnSpc>
              <a:buSzPct val="145000"/>
              <a:buChar char="•"/>
              <a:defRPr sz="2500">
                <a:solidFill>
                  <a:schemeClr val="accent1">
                    <a:lumOff val="-13575"/>
                  </a:schemeClr>
                </a:solidFill>
              </a:defRPr>
            </a:pPr>
            <a:r>
              <a:rPr dirty="0" err="1"/>
              <a:t>如果</a:t>
            </a:r>
            <a:r>
              <a:rPr dirty="0"/>
              <a:t> D </a:t>
            </a:r>
            <a:r>
              <a:rPr dirty="0" err="1"/>
              <a:t>没有参与作案，则</a:t>
            </a:r>
            <a:r>
              <a:rPr dirty="0"/>
              <a:t> E </a:t>
            </a:r>
            <a:r>
              <a:rPr dirty="0" err="1"/>
              <a:t>也不可能参与作案</a:t>
            </a:r>
            <a:r>
              <a:rPr dirty="0"/>
              <a:t>。</a:t>
            </a:r>
          </a:p>
          <a:p>
            <a:pPr algn="l">
              <a:lnSpc>
                <a:spcPct val="150000"/>
              </a:lnSpc>
              <a:defRPr sz="2500"/>
            </a:pPr>
            <a:r>
              <a:rPr dirty="0" err="1"/>
              <a:t>请你编写程序，将作案人找出来</a:t>
            </a:r>
            <a:r>
              <a:rPr dirty="0"/>
              <a:t>。</a:t>
            </a:r>
          </a:p>
        </p:txBody>
      </p:sp>
      <p:sp>
        <p:nvSpPr>
          <p:cNvPr id="319" name="不使用6重循环，直接对26种组合进行枚举？"/>
          <p:cNvSpPr/>
          <p:nvPr/>
        </p:nvSpPr>
        <p:spPr>
          <a:xfrm>
            <a:off x="592573" y="2295035"/>
            <a:ext cx="11819654" cy="1152044"/>
          </a:xfrm>
          <a:prstGeom prst="rect">
            <a:avLst/>
          </a:prstGeom>
          <a:solidFill>
            <a:srgbClr val="5E5E5E"/>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ctr"/>
          <a:lstStyle/>
          <a:p>
            <a:pPr>
              <a:defRPr sz="4600" b="0">
                <a:solidFill>
                  <a:srgbClr val="FFFFFF"/>
                </a:solidFill>
                <a:latin typeface="+mn-lt"/>
                <a:ea typeface="+mn-ea"/>
                <a:cs typeface="+mn-cs"/>
                <a:sym typeface="Helvetica Neue Medium"/>
              </a:defRPr>
            </a:pPr>
            <a:r>
              <a:rPr dirty="0"/>
              <a:t>不使用6重循环，</a:t>
            </a:r>
            <a:r>
              <a:rPr lang="zh-CN" altLang="en-US" dirty="0"/>
              <a:t>如何</a:t>
            </a:r>
            <a:r>
              <a:rPr dirty="0"/>
              <a:t>对</a:t>
            </a:r>
            <a:r>
              <a:rPr b="1" dirty="0">
                <a:solidFill>
                  <a:schemeClr val="accent5">
                    <a:hueOff val="-82419"/>
                    <a:satOff val="-9513"/>
                    <a:lumOff val="-16343"/>
                  </a:schemeClr>
                </a:solidFill>
                <a:latin typeface="Helvetica Neue"/>
                <a:ea typeface="Helvetica Neue"/>
                <a:cs typeface="Helvetica Neue"/>
                <a:sym typeface="Helvetica Neue"/>
              </a:rPr>
              <a:t>2</a:t>
            </a:r>
            <a:r>
              <a:rPr b="1" baseline="30800" dirty="0">
                <a:solidFill>
                  <a:schemeClr val="accent5">
                    <a:hueOff val="-82419"/>
                    <a:satOff val="-9513"/>
                    <a:lumOff val="-16343"/>
                  </a:schemeClr>
                </a:solidFill>
                <a:latin typeface="Helvetica Neue"/>
                <a:ea typeface="Helvetica Neue"/>
                <a:cs typeface="Helvetica Neue"/>
                <a:sym typeface="Helvetica Neue"/>
              </a:rPr>
              <a:t>6</a:t>
            </a:r>
            <a:r>
              <a:rPr dirty="0"/>
              <a:t>种组合进行枚举？</a:t>
            </a:r>
          </a:p>
        </p:txBody>
      </p:sp>
      <p:sp>
        <p:nvSpPr>
          <p:cNvPr id="320" name="课后思考题"/>
          <p:cNvSpPr>
            <a:spLocks noGrp="1"/>
          </p:cNvSpPr>
          <p:nvPr>
            <p:ph type="title"/>
          </p:nvPr>
        </p:nvSpPr>
        <p:spPr>
          <a:xfrm>
            <a:off x="547201" y="354125"/>
            <a:ext cx="3819059" cy="1152045"/>
          </a:xfrm>
          <a:prstGeom prst="rect">
            <a:avLst/>
          </a:prstGeom>
          <a:solidFill>
            <a:schemeClr val="accent1">
              <a:lumOff val="-13575"/>
            </a:schemeClr>
          </a:solidFill>
          <a:effectLst>
            <a:outerShdw blurRad="266700" dir="5400000" rotWithShape="0">
              <a:srgbClr val="000000"/>
            </a:outerShdw>
          </a:effectLst>
        </p:spPr>
        <p:txBody>
          <a:bodyPr/>
          <a:lstStyle/>
          <a:p>
            <a:r>
              <a:rPr dirty="0"/>
              <a:t>课后思考题</a:t>
            </a:r>
            <a:r>
              <a:rPr lang="en-US" dirty="0"/>
              <a:t>1</a:t>
            </a:r>
            <a:endParaRPr dirty="0"/>
          </a:p>
        </p:txBody>
      </p:sp>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幻灯片编号"/>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87</a:t>
            </a:fld>
            <a:endParaRPr/>
          </a:p>
        </p:txBody>
      </p:sp>
      <p:sp>
        <p:nvSpPr>
          <p:cNvPr id="319" name="不使用6重循环，直接对26种组合进行枚举？"/>
          <p:cNvSpPr/>
          <p:nvPr/>
        </p:nvSpPr>
        <p:spPr>
          <a:xfrm>
            <a:off x="547201" y="2805990"/>
            <a:ext cx="6291261" cy="914133"/>
          </a:xfrm>
          <a:prstGeom prst="rect">
            <a:avLst/>
          </a:prstGeom>
          <a:solidFill>
            <a:schemeClr val="bg1">
              <a:lumMod val="65000"/>
            </a:schemeClr>
          </a:solidFill>
          <a:ln w="12700">
            <a:miter lim="400000"/>
          </a:ln>
          <a:effectLst>
            <a:outerShdw blurRad="190500" dist="8455" dir="5400000" rotWithShape="0">
              <a:srgbClr val="000000"/>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2" tIns="65022" rIns="65022" bIns="65022" anchor="t"/>
          <a:lstStyle/>
          <a:p>
            <a:pPr algn="r">
              <a:lnSpc>
                <a:spcPct val="150000"/>
              </a:lnSpc>
              <a:defRPr sz="4600" b="0">
                <a:solidFill>
                  <a:srgbClr val="FFFFFF"/>
                </a:solidFill>
                <a:latin typeface="+mn-lt"/>
                <a:ea typeface="+mn-ea"/>
                <a:cs typeface="+mn-cs"/>
                <a:sym typeface="Helvetica Neue Medium"/>
              </a:defRPr>
            </a:pPr>
            <a:r>
              <a:rPr lang="zh-CN" altLang="en-US" sz="3600">
                <a:latin typeface="微软雅黑" panose="020B0503020204020204" pitchFamily="34" charset="-122"/>
                <a:ea typeface="微软雅黑" panose="020B0503020204020204" pitchFamily="34" charset="-122"/>
              </a:rPr>
              <a:t>能否进一步简化下面的代码？</a:t>
            </a:r>
            <a:endParaRPr sz="3600">
              <a:latin typeface="微软雅黑" panose="020B0503020204020204" pitchFamily="34" charset="-122"/>
              <a:ea typeface="微软雅黑" panose="020B0503020204020204" pitchFamily="34" charset="-122"/>
            </a:endParaRPr>
          </a:p>
        </p:txBody>
      </p:sp>
      <p:sp>
        <p:nvSpPr>
          <p:cNvPr id="320" name="课后思考题"/>
          <p:cNvSpPr>
            <a:spLocks noGrp="1"/>
          </p:cNvSpPr>
          <p:nvPr>
            <p:ph type="title"/>
          </p:nvPr>
        </p:nvSpPr>
        <p:spPr>
          <a:xfrm>
            <a:off x="547201" y="354125"/>
            <a:ext cx="3849539" cy="1152045"/>
          </a:xfrm>
          <a:prstGeom prst="rect">
            <a:avLst/>
          </a:prstGeom>
          <a:solidFill>
            <a:schemeClr val="tx1"/>
          </a:solidFill>
          <a:effectLst>
            <a:outerShdw blurRad="266700" dir="5400000" rotWithShape="0">
              <a:srgbClr val="000000"/>
            </a:outerShdw>
          </a:effectLst>
        </p:spPr>
        <p:txBody>
          <a:bodyPr/>
          <a:lstStyle/>
          <a:p>
            <a:r>
              <a:rPr dirty="0"/>
              <a:t>课后思考题</a:t>
            </a:r>
            <a:r>
              <a:rPr lang="en-US" dirty="0"/>
              <a:t>2</a:t>
            </a:r>
            <a:endParaRPr dirty="0"/>
          </a:p>
        </p:txBody>
      </p:sp>
      <p:pic>
        <p:nvPicPr>
          <p:cNvPr id="3" name="图片 2">
            <a:extLst>
              <a:ext uri="{FF2B5EF4-FFF2-40B4-BE49-F238E27FC236}">
                <a16:creationId xmlns:a16="http://schemas.microsoft.com/office/drawing/2014/main" id="{95C9233F-13FF-4667-9B49-A99E649B2881}"/>
              </a:ext>
            </a:extLst>
          </p:cNvPr>
          <p:cNvPicPr>
            <a:picLocks noChangeAspect="1"/>
          </p:cNvPicPr>
          <p:nvPr/>
        </p:nvPicPr>
        <p:blipFill rotWithShape="1">
          <a:blip r:embed="rId2"/>
          <a:srcRect t="943"/>
          <a:stretch/>
        </p:blipFill>
        <p:spPr>
          <a:xfrm>
            <a:off x="531897" y="4458149"/>
            <a:ext cx="12095088" cy="2497543"/>
          </a:xfrm>
          <a:prstGeom prst="rect">
            <a:avLst/>
          </a:prstGeom>
          <a:effectLst>
            <a:outerShdw blurRad="50800" dist="38100" dir="2700000" algn="tl" rotWithShape="0">
              <a:prstClr val="black">
                <a:alpha val="40000"/>
              </a:prstClr>
            </a:outerShdw>
          </a:effectLst>
        </p:spPr>
      </p:pic>
      <p:sp>
        <p:nvSpPr>
          <p:cNvPr id="6" name="文本框 5">
            <a:extLst>
              <a:ext uri="{FF2B5EF4-FFF2-40B4-BE49-F238E27FC236}">
                <a16:creationId xmlns:a16="http://schemas.microsoft.com/office/drawing/2014/main" id="{E46F3AAF-F83A-4871-84BF-3A8223057E76}"/>
              </a:ext>
            </a:extLst>
          </p:cNvPr>
          <p:cNvSpPr txBox="1"/>
          <p:nvPr/>
        </p:nvSpPr>
        <p:spPr>
          <a:xfrm>
            <a:off x="518390" y="7693718"/>
            <a:ext cx="598401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zh-CN" altLang="en-US" sz="2400" b="0" u="none" strike="noStrike" cap="none" spc="0" normalizeH="0" baseline="0" dirty="0">
                <a:ln>
                  <a:noFill/>
                </a:ln>
                <a:solidFill>
                  <a:schemeClr val="bg1">
                    <a:lumMod val="65000"/>
                  </a:schemeClr>
                </a:solidFill>
                <a:effectLst/>
                <a:uFillTx/>
                <a:latin typeface="Helvetica Neue"/>
                <a:ea typeface="Helvetica Neue"/>
                <a:cs typeface="Helvetica Neue"/>
                <a:sym typeface="Helvetica Neue"/>
              </a:rPr>
              <a:t>请至少用 </a:t>
            </a:r>
            <a:r>
              <a:rPr kumimoji="0" lang="en-US" altLang="zh-CN" sz="2400" b="0" u="none" strike="noStrike" cap="none" spc="0" normalizeH="0" baseline="0" dirty="0">
                <a:ln>
                  <a:noFill/>
                </a:ln>
                <a:solidFill>
                  <a:schemeClr val="bg1">
                    <a:lumMod val="65000"/>
                  </a:schemeClr>
                </a:solidFill>
                <a:effectLst/>
                <a:uFillTx/>
                <a:latin typeface="Helvetica Neue"/>
                <a:ea typeface="Helvetica Neue"/>
                <a:cs typeface="Helvetica Neue"/>
                <a:sym typeface="Helvetica Neue"/>
              </a:rPr>
              <a:t>3</a:t>
            </a:r>
            <a:r>
              <a:rPr kumimoji="0" lang="zh-CN" altLang="en-US" sz="2400" b="0" u="none" strike="noStrike" cap="none" spc="0" normalizeH="0" baseline="0" dirty="0">
                <a:ln>
                  <a:noFill/>
                </a:ln>
                <a:solidFill>
                  <a:schemeClr val="bg1">
                    <a:lumMod val="65000"/>
                  </a:schemeClr>
                </a:solidFill>
                <a:effectLst/>
                <a:uFillTx/>
                <a:latin typeface="Helvetica Neue"/>
                <a:ea typeface="Helvetica Neue"/>
                <a:cs typeface="Helvetica Neue"/>
                <a:sym typeface="Helvetica Neue"/>
              </a:rPr>
              <a:t>种 不同的办法</a:t>
            </a:r>
            <a:r>
              <a:rPr lang="zh-CN" altLang="en-US" b="0" dirty="0">
                <a:solidFill>
                  <a:schemeClr val="bg1">
                    <a:lumMod val="65000"/>
                  </a:schemeClr>
                </a:solidFill>
              </a:rPr>
              <a:t>来</a:t>
            </a:r>
            <a:r>
              <a:rPr kumimoji="0" lang="zh-CN" altLang="en-US" sz="2400" b="0" u="none" strike="noStrike" cap="none" spc="0" normalizeH="0" baseline="0" dirty="0">
                <a:ln>
                  <a:noFill/>
                </a:ln>
                <a:solidFill>
                  <a:schemeClr val="bg1">
                    <a:lumMod val="65000"/>
                  </a:schemeClr>
                </a:solidFill>
                <a:effectLst/>
                <a:uFillTx/>
                <a:latin typeface="Helvetica Neue"/>
                <a:ea typeface="Helvetica Neue"/>
                <a:cs typeface="Helvetica Neue"/>
                <a:sym typeface="Helvetica Neue"/>
              </a:rPr>
              <a:t>简化上述代码。</a:t>
            </a:r>
          </a:p>
        </p:txBody>
      </p:sp>
    </p:spTree>
    <p:extLst>
      <p:ext uri="{BB962C8B-B14F-4D97-AF65-F5344CB8AC3E}">
        <p14:creationId xmlns:p14="http://schemas.microsoft.com/office/powerpoint/2010/main" val="319800705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2" name="#include &lt;iostream&gt;…"/>
          <p:cNvSpPr txBox="1"/>
          <p:nvPr/>
        </p:nvSpPr>
        <p:spPr>
          <a:xfrm>
            <a:off x="2648041" y="3644965"/>
            <a:ext cx="9348581" cy="3455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2" tIns="65022" rIns="65022" bIns="65022">
            <a:spAutoFit/>
          </a:bodyPr>
          <a:lstStyle/>
          <a:p>
            <a:pPr marL="487680" indent="-487680" algn="l" defTabSz="1300480">
              <a:defRPr b="0">
                <a:solidFill>
                  <a:srgbClr val="75F84C"/>
                </a:solidFill>
                <a:latin typeface="Courier New"/>
                <a:ea typeface="Courier New"/>
                <a:cs typeface="Courier New"/>
                <a:sym typeface="Courier New"/>
              </a:defRPr>
            </a:pPr>
            <a:r>
              <a:rPr dirty="0"/>
              <a:t>#include &lt;iostream&gt;</a:t>
            </a:r>
          </a:p>
          <a:p>
            <a:pPr marL="487680" indent="-487680" algn="l" defTabSz="1300480">
              <a:defRPr b="0">
                <a:solidFill>
                  <a:srgbClr val="75F84C"/>
                </a:solidFill>
                <a:latin typeface="Courier New"/>
                <a:ea typeface="Courier New"/>
                <a:cs typeface="Courier New"/>
                <a:sym typeface="Courier New"/>
              </a:defRPr>
            </a:pPr>
            <a:r>
              <a:rPr dirty="0"/>
              <a:t>using namespace std;</a:t>
            </a:r>
          </a:p>
          <a:p>
            <a:pPr marL="487680" indent="-487680" algn="l" defTabSz="1300480">
              <a:defRPr b="0">
                <a:solidFill>
                  <a:srgbClr val="75F84C"/>
                </a:solidFill>
                <a:latin typeface="Courier New"/>
                <a:ea typeface="Courier New"/>
                <a:cs typeface="Courier New"/>
                <a:sym typeface="Courier New"/>
              </a:defRPr>
            </a:pPr>
            <a:endParaRPr dirty="0"/>
          </a:p>
          <a:p>
            <a:pPr marL="487680" indent="-487680" algn="l" defTabSz="1300480">
              <a:defRPr b="0">
                <a:solidFill>
                  <a:srgbClr val="75F84C"/>
                </a:solidFill>
                <a:latin typeface="Courier New"/>
                <a:ea typeface="Courier New"/>
                <a:cs typeface="Courier New"/>
                <a:sym typeface="Courier New"/>
              </a:defRPr>
            </a:pPr>
            <a:r>
              <a:rPr dirty="0"/>
              <a:t>int main()</a:t>
            </a:r>
          </a:p>
          <a:p>
            <a:pPr marL="487680" indent="-487680" algn="l" defTabSz="1300480">
              <a:defRPr b="0">
                <a:solidFill>
                  <a:srgbClr val="75F84C"/>
                </a:solidFill>
                <a:latin typeface="Courier New"/>
                <a:ea typeface="Courier New"/>
                <a:cs typeface="Courier New"/>
                <a:sym typeface="Courier New"/>
              </a:defRPr>
            </a:pPr>
            <a:r>
              <a:rPr dirty="0"/>
              <a:t>{</a:t>
            </a:r>
            <a:endParaRPr lang="en-US" dirty="0"/>
          </a:p>
          <a:p>
            <a:pPr marL="487680" indent="-487680" algn="l" defTabSz="1300480">
              <a:defRPr b="0">
                <a:solidFill>
                  <a:srgbClr val="75F84C"/>
                </a:solidFill>
                <a:latin typeface="Courier New"/>
                <a:ea typeface="Courier New"/>
                <a:cs typeface="Courier New"/>
                <a:sym typeface="Courier New"/>
              </a:defRPr>
            </a:pPr>
            <a:r>
              <a:rPr lang="en-US" dirty="0"/>
              <a:t>    </a:t>
            </a:r>
            <a:r>
              <a:rPr lang="en-US" dirty="0">
                <a:solidFill>
                  <a:srgbClr val="FFFF00"/>
                </a:solidFill>
                <a:latin typeface="Consolas" panose="020B0609020204030204" pitchFamily="49" charset="0"/>
              </a:rPr>
              <a:t>for (int </a:t>
            </a:r>
            <a:r>
              <a:rPr lang="en-US" dirty="0" err="1">
                <a:solidFill>
                  <a:srgbClr val="FFFF00"/>
                </a:solidFill>
                <a:latin typeface="Consolas" panose="020B0609020204030204" pitchFamily="49" charset="0"/>
              </a:rPr>
              <a:t>i</a:t>
            </a:r>
            <a:r>
              <a:rPr lang="en-US" dirty="0">
                <a:solidFill>
                  <a:srgbClr val="FFFF00"/>
                </a:solidFill>
                <a:latin typeface="Consolas" panose="020B0609020204030204" pitchFamily="49" charset="0"/>
              </a:rPr>
              <a:t> = 0; </a:t>
            </a:r>
            <a:r>
              <a:rPr lang="en-US" dirty="0" err="1">
                <a:solidFill>
                  <a:srgbClr val="FFFF00"/>
                </a:solidFill>
                <a:latin typeface="Consolas" panose="020B0609020204030204" pitchFamily="49" charset="0"/>
              </a:rPr>
              <a:t>i</a:t>
            </a:r>
            <a:r>
              <a:rPr lang="en-US" dirty="0">
                <a:solidFill>
                  <a:srgbClr val="FFFF00"/>
                </a:solidFill>
                <a:latin typeface="Consolas" panose="020B0609020204030204" pitchFamily="49" charset="0"/>
              </a:rPr>
              <a:t> &lt; 3; </a:t>
            </a:r>
            <a:r>
              <a:rPr lang="en-US" dirty="0" err="1">
                <a:solidFill>
                  <a:srgbClr val="FFFF00"/>
                </a:solidFill>
                <a:latin typeface="Consolas" panose="020B0609020204030204" pitchFamily="49" charset="0"/>
              </a:rPr>
              <a:t>i</a:t>
            </a:r>
            <a:r>
              <a:rPr lang="en-US" dirty="0">
                <a:solidFill>
                  <a:srgbClr val="FFFF00"/>
                </a:solidFill>
                <a:latin typeface="Consolas" panose="020B0609020204030204" pitchFamily="49" charset="0"/>
              </a:rPr>
              <a:t>++)</a:t>
            </a:r>
            <a:endParaRPr dirty="0">
              <a:solidFill>
                <a:srgbClr val="FFFF00"/>
              </a:solidFill>
              <a:latin typeface="Consolas" panose="020B0609020204030204" pitchFamily="49" charset="0"/>
            </a:endParaRPr>
          </a:p>
          <a:p>
            <a:pPr marL="487680" indent="-487680" algn="l" defTabSz="1300480">
              <a:defRPr b="0">
                <a:solidFill>
                  <a:srgbClr val="75F84C"/>
                </a:solidFill>
                <a:latin typeface="Courier New"/>
                <a:ea typeface="Courier New"/>
                <a:cs typeface="Courier New"/>
                <a:sym typeface="Courier New"/>
              </a:defRPr>
            </a:pPr>
            <a:r>
              <a:rPr dirty="0"/>
              <a:t>    </a:t>
            </a:r>
            <a:r>
              <a:rPr lang="en-US" dirty="0"/>
              <a:t>    </a:t>
            </a:r>
            <a:r>
              <a:rPr dirty="0"/>
              <a:t>cout &lt;&lt; </a:t>
            </a:r>
            <a:r>
              <a:rPr dirty="0">
                <a:solidFill>
                  <a:srgbClr val="FFFFFF"/>
                </a:solidFill>
              </a:rPr>
              <a:t>"</a:t>
            </a:r>
            <a:r>
              <a:rPr lang="en-US" dirty="0">
                <a:solidFill>
                  <a:srgbClr val="FFFFFF"/>
                </a:solidFill>
              </a:rPr>
              <a:t>End.</a:t>
            </a:r>
            <a:r>
              <a:rPr lang="en-US" altLang="zh-CN" dirty="0">
                <a:solidFill>
                  <a:srgbClr val="FFFFFF"/>
                </a:solidFill>
              </a:rPr>
              <a:t>"</a:t>
            </a:r>
            <a:r>
              <a:rPr lang="en-US" dirty="0">
                <a:solidFill>
                  <a:srgbClr val="FFFFFF"/>
                </a:solidFill>
              </a:rPr>
              <a:t> </a:t>
            </a:r>
            <a:r>
              <a:rPr lang="en-US" altLang="zh-CN" dirty="0">
                <a:solidFill>
                  <a:srgbClr val="FFFFFF"/>
                </a:solidFill>
              </a:rPr>
              <a:t>" </a:t>
            </a:r>
            <a:r>
              <a:rPr lang="en-US" dirty="0">
                <a:solidFill>
                  <a:srgbClr val="FFFFFF"/>
                </a:solidFill>
              </a:rPr>
              <a:t>See you later</a:t>
            </a:r>
            <a:r>
              <a:rPr b="1" dirty="0">
                <a:solidFill>
                  <a:srgbClr val="FFFFFF"/>
                </a:solidFill>
              </a:rPr>
              <a:t>!</a:t>
            </a:r>
            <a:r>
              <a:rPr dirty="0">
                <a:solidFill>
                  <a:srgbClr val="FFFFFF"/>
                </a:solidFill>
              </a:rPr>
              <a:t>"</a:t>
            </a:r>
            <a:r>
              <a:rPr dirty="0"/>
              <a:t> &lt;&lt; </a:t>
            </a:r>
            <a:r>
              <a:rPr dirty="0" err="1"/>
              <a:t>endl</a:t>
            </a:r>
            <a:r>
              <a:rPr dirty="0"/>
              <a:t>;</a:t>
            </a:r>
          </a:p>
          <a:p>
            <a:pPr marL="487680" lvl="1" indent="-487680" algn="l" defTabSz="1300480">
              <a:defRPr b="0">
                <a:solidFill>
                  <a:srgbClr val="75F84C"/>
                </a:solidFill>
                <a:latin typeface="Courier New"/>
                <a:ea typeface="Courier New"/>
                <a:cs typeface="Courier New"/>
                <a:sym typeface="Courier New"/>
              </a:defRPr>
            </a:pPr>
            <a:r>
              <a:rPr dirty="0"/>
              <a:t>    return </a:t>
            </a:r>
            <a:r>
              <a:rPr dirty="0">
                <a:solidFill>
                  <a:schemeClr val="accent4">
                    <a:hueOff val="366961"/>
                    <a:satOff val="4172"/>
                    <a:lumOff val="11129"/>
                  </a:schemeClr>
                </a:solidFill>
              </a:rPr>
              <a:t>0</a:t>
            </a:r>
            <a:r>
              <a:rPr dirty="0"/>
              <a:t>;</a:t>
            </a:r>
          </a:p>
          <a:p>
            <a:pPr marL="487680" lvl="1" indent="-487680" algn="l" defTabSz="1300480">
              <a:defRPr b="0">
                <a:solidFill>
                  <a:srgbClr val="75F84C"/>
                </a:solidFill>
                <a:latin typeface="Courier New"/>
                <a:ea typeface="Courier New"/>
                <a:cs typeface="Courier New"/>
                <a:sym typeface="Courier New"/>
              </a:defRPr>
            </a:pPr>
            <a:r>
              <a:rPr dirty="0"/>
              <a:t>}</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fill="hold" grpId="1" nodeType="afterEffect">
                                  <p:stCondLst>
                                    <p:cond delay="0"/>
                                  </p:stCondLst>
                                  <p:iterate>
                                    <p:tmAbs val="0"/>
                                  </p:iterate>
                                  <p:childTnLst>
                                    <p:set>
                                      <p:cBhvr>
                                        <p:cTn id="6" fill="hold"/>
                                        <p:tgtEl>
                                          <p:spTgt spid="322"/>
                                        </p:tgtEl>
                                        <p:attrNameLst>
                                          <p:attrName>style.visibility</p:attrName>
                                        </p:attrNameLst>
                                      </p:cBhvr>
                                      <p:to>
                                        <p:strVal val="visible"/>
                                      </p:to>
                                    </p:set>
                                    <p:animEffect transition="in" filter="dissolve">
                                      <p:cBhvr>
                                        <p:cTn id="7" dur="10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 grpId="1" animBg="1" advAuto="0"/>
    </p:bldLst>
  </p:timing>
</p:sld>
</file>

<file path=ppt/tags/tag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xml><?xml version="1.0" encoding="utf-8"?>
<p:tagLst xmlns:a="http://schemas.openxmlformats.org/drawingml/2006/main" xmlns:r="http://schemas.openxmlformats.org/officeDocument/2006/relationships" xmlns:p="http://schemas.openxmlformats.org/presentationml/2006/main">
  <p:tag name="PROBLEMSCORE" val="1.0"/>
  <p:tag name="PROBLEMSCORE_HALF" val="0.0"/>
  <p:tag name="RAINPROBLEMTYPE" val="MultipleChoice"/>
  <p:tag name="RAINPROBLEM" val="MultipleChoice"/>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4.0"/>
  <p:tag name="PROBLEMBLANK" val="[{&quot;num&quot;:1,&quot;caseSensitive&quot;:true,&quot;fuzzyMatch&quot;:false,&quot;Score&quot;:1.0,&quot;answers&quot;:[&quot;'C'&quot;,&quot;'C'&quot;]},{&quot;num&quot;:2,&quot;caseSensitive&quot;:false,&quot;fuzzyMatch&quot;:false,&quot;Score&quot;:1.0,&quot;answers&quot;:[&quot;3&quot;]},{&quot;num&quot;:3,&quot;caseSensitive&quot;:false,&quot;fuzzyMatch&quot;:false,&quot;Score&quot;:1.0,&quot;answers&quot;:[&quot;68&quot;]},{&quot;num&quot;:4,&quot;caseSensitive&quot;:false,&quot;fuzzyMatch&quot;:false,&quot;Score&quot;:1.0,&quot;answers&quot;:[&quot;3&quot;]}]"/>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37.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solidFill>
            <a:schemeClr val="tx1">
              <a:lumMod val="75000"/>
              <a:lumOff val="25000"/>
            </a:schemeClr>
          </a:solidFill>
        </a:ln>
      </a:spPr>
      <a:bodyPr rtlCol="0" anchor="ctr">
        <a:spAutoFit/>
      </a:bodyPr>
      <a:lstStyle>
        <a:defPPr algn="l">
          <a:defRPr>
            <a:solidFill>
              <a:srgbClr val="0070C0"/>
            </a:solidFill>
            <a:latin typeface="Consolas" panose="020B0609020204030204" pitchFamily="49" charset="0"/>
          </a:defRPr>
        </a:defPPr>
      </a:lst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50800" tIns="50800" rIns="50800" bIns="50800" numCol="1" spcCol="38100" rtlCol="0" anchor="ctr">
        <a:spAutoFit/>
      </a:bodyPr>
      <a:lstStyle>
        <a:defPPr marL="0" marR="0" indent="0" algn="l" defTabSz="584200" rtl="0" fontAlgn="auto" latinLnBrk="0" hangingPunct="0">
          <a:lnSpc>
            <a:spcPct val="120000"/>
          </a:lnSpc>
          <a:spcBef>
            <a:spcPts val="0"/>
          </a:spcBef>
          <a:spcAft>
            <a:spcPts val="0"/>
          </a:spcAft>
          <a:buClrTx/>
          <a:buSzTx/>
          <a:buFontTx/>
          <a:buNone/>
          <a:tabLst/>
          <a:defRPr kumimoji="0" sz="2000" b="0" u="none" strike="noStrike" cap="none" spc="0" normalizeH="0" baseline="0" dirty="0" smtClean="0">
            <a:ln>
              <a:noFill/>
            </a:ln>
            <a:solidFill>
              <a:srgbClr val="000000"/>
            </a:solidFill>
            <a:effectLst/>
            <a:uFillTx/>
            <a:latin typeface="Consolas" panose="020B0609020204030204" pitchFamily="49" charset="0"/>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8255</TotalTime>
  <Words>10070</Words>
  <Application>Microsoft Office PowerPoint</Application>
  <PresentationFormat>自定义</PresentationFormat>
  <Paragraphs>1412</Paragraphs>
  <Slides>88</Slides>
  <Notes>7</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88</vt:i4>
      </vt:variant>
    </vt:vector>
  </HeadingPairs>
  <TitlesOfParts>
    <vt:vector size="106" baseType="lpstr">
      <vt:lpstr>Courier</vt:lpstr>
      <vt:lpstr>Helvetica Neue</vt:lpstr>
      <vt:lpstr>Helvetica Neue Medium</vt:lpstr>
      <vt:lpstr>冬青黑体简体中文 W3</vt:lpstr>
      <vt:lpstr>冬青黑体简体中文 W6</vt:lpstr>
      <vt:lpstr>方正小标宋_GBK</vt:lpstr>
      <vt:lpstr>黑体</vt:lpstr>
      <vt:lpstr>华文仿宋</vt:lpstr>
      <vt:lpstr>华文中宋</vt:lpstr>
      <vt:lpstr>楷体</vt:lpstr>
      <vt:lpstr>微软雅黑</vt:lpstr>
      <vt:lpstr>微软雅黑</vt:lpstr>
      <vt:lpstr>Arial Black</vt:lpstr>
      <vt:lpstr>Consolas</vt:lpstr>
      <vt:lpstr>Courier New</vt:lpstr>
      <vt:lpstr>Lucida Console</vt:lpstr>
      <vt:lpstr>Wingdings</vt:lpstr>
      <vt:lpstr>White</vt:lpstr>
      <vt:lpstr>程序设计基础</vt:lpstr>
      <vt:lpstr>【调试技巧】有错误的示例代码（任务2.2）</vt:lpstr>
      <vt:lpstr>【调试技巧】有错误的示例代码（任务2.2）</vt:lpstr>
      <vt:lpstr>【调试技巧】有错误的示例代码（任务2.3）</vt:lpstr>
      <vt:lpstr>当有确切的测试数据让程序出错时 …..</vt:lpstr>
      <vt:lpstr>当有确切测试数据让程序出错时 …..</vt:lpstr>
      <vt:lpstr>上周作业题回顾</vt:lpstr>
      <vt:lpstr>奇数且3倍数</vt:lpstr>
      <vt:lpstr>判断闰年</vt:lpstr>
      <vt:lpstr>判断闰年</vt:lpstr>
      <vt:lpstr>第3讲 逻辑思维与计算机解题</vt:lpstr>
      <vt:lpstr>【任务3.1】谁做的好事？</vt:lpstr>
      <vt:lpstr>分析事件真相的可能性</vt:lpstr>
      <vt:lpstr>关键点1：如何实现推理？</vt:lpstr>
      <vt:lpstr>用枚举法验证各可能性</vt:lpstr>
      <vt:lpstr>用枚举法验证各可能性</vt:lpstr>
      <vt:lpstr>关键点2：如何表示语义？</vt:lpstr>
      <vt:lpstr>如何表达“假定做好事者是A”？</vt:lpstr>
      <vt:lpstr>如何表达“假定做好事者是A”？</vt:lpstr>
      <vt:lpstr>对假设进行验证</vt:lpstr>
      <vt:lpstr>判断性的话（命题）如何表示？</vt:lpstr>
      <vt:lpstr>逐一测试4种可能性：代入四句话中</vt:lpstr>
      <vt:lpstr>逐一测试4种可能性：代入四句话中</vt:lpstr>
      <vt:lpstr>逐一测试4种可能性：代入四句话中</vt:lpstr>
      <vt:lpstr>逐一测试4种可能性：代入四句话中</vt:lpstr>
      <vt:lpstr>如何对假设进行检验呢？</vt:lpstr>
      <vt:lpstr>如何数真话的数量（方法1）</vt:lpstr>
      <vt:lpstr>如何数真话的数量（方法2）</vt:lpstr>
      <vt:lpstr>如何枚举4种可能性呢？</vt:lpstr>
      <vt:lpstr>PowerPoint 演示文稿</vt:lpstr>
      <vt:lpstr>PowerPoint 演示文稿</vt:lpstr>
      <vt:lpstr>应尽量避免程序中出现重复代码</vt:lpstr>
      <vt:lpstr>出现“重复代码”时的风险和隐患</vt:lpstr>
      <vt:lpstr>需要用专门的语句表达重复</vt:lpstr>
      <vt:lpstr>使用“循环语句”表达重复</vt:lpstr>
      <vt:lpstr>for 循环语句</vt:lpstr>
      <vt:lpstr>如何理解循环语句的运行？</vt:lpstr>
      <vt:lpstr>【小练习】for 循环语句</vt:lpstr>
      <vt:lpstr>【小练习】for 循环语句</vt:lpstr>
      <vt:lpstr>【小练习】for 循环语句</vt:lpstr>
      <vt:lpstr>作业“回头再看” —— 奇数且3倍数 V1</vt:lpstr>
      <vt:lpstr>PowerPoint 演示文稿</vt:lpstr>
      <vt:lpstr>【任务3.1】方法1：循环仅用来控制重复的次数</vt:lpstr>
      <vt:lpstr>完整的算法实现</vt:lpstr>
      <vt:lpstr>【任务3.1】方法2：循环体用到了“循环变量”</vt:lpstr>
      <vt:lpstr>PowerPoint 演示文稿</vt:lpstr>
      <vt:lpstr>用标志变量记录是否有解</vt:lpstr>
      <vt:lpstr>PowerPoint 演示文稿</vt:lpstr>
      <vt:lpstr>算法优化 —— 当需要提前结束循环时</vt:lpstr>
      <vt:lpstr>【任务3.1】方法3：彻底“数字化”</vt:lpstr>
      <vt:lpstr>任务3.1的参考源代码简化版 V2</vt:lpstr>
      <vt:lpstr>【学而时习之】强制类型转换</vt:lpstr>
      <vt:lpstr>PowerPoint 演示文稿</vt:lpstr>
      <vt:lpstr>上周思考题解答</vt:lpstr>
      <vt:lpstr>程序设计策略：自顶向下，逐步求精</vt:lpstr>
      <vt:lpstr>程序设计策略：自顶向下，逐步求精</vt:lpstr>
      <vt:lpstr>程序设计策略：自顶向下，逐步求精</vt:lpstr>
      <vt:lpstr>程序设计策略：自顶向下，逐步求精</vt:lpstr>
      <vt:lpstr>程序设计策略：自顶向下，逐步求精</vt:lpstr>
      <vt:lpstr>二进制位运算</vt:lpstr>
      <vt:lpstr>二进制位运算：求指定位置的bit值</vt:lpstr>
      <vt:lpstr>程序设计策略：自顶向下，逐步求精</vt:lpstr>
      <vt:lpstr>PowerPoint 演示文稿</vt:lpstr>
      <vt:lpstr>【任务3.3】谁做的坏事？</vt:lpstr>
      <vt:lpstr>如何解决此类问题？</vt:lpstr>
      <vt:lpstr>逻辑与运算&amp;&amp;、逻辑或运算||</vt:lpstr>
      <vt:lpstr>作业“回头再看” —— 奇数且3倍数</vt:lpstr>
      <vt:lpstr>作业“回头再看” —— 判断闰年</vt:lpstr>
      <vt:lpstr>逻辑非运算！</vt:lpstr>
      <vt:lpstr>PowerPoint 演示文稿</vt:lpstr>
      <vt:lpstr>任务3.3解题思路：案情分析</vt:lpstr>
      <vt:lpstr>CC1：A和B至少有一人作案</vt:lpstr>
      <vt:lpstr>CC2：A和D不可能是同案犯</vt:lpstr>
      <vt:lpstr>CC3：A、E、F中至少有两人涉嫌作案</vt:lpstr>
      <vt:lpstr>CC4：B和C或同时作案，或都与本案无关</vt:lpstr>
      <vt:lpstr>CC5：C、D中有且仅有一人作案</vt:lpstr>
      <vt:lpstr>CC6：如果D没有参与作案，则E也不可能参与作案</vt:lpstr>
      <vt:lpstr>任务3.3解题思路：枚举所有可能性</vt:lpstr>
      <vt:lpstr>在任务3.3中使用多重循环语句</vt:lpstr>
      <vt:lpstr>在多重循环语句的循环体中进行判断</vt:lpstr>
      <vt:lpstr>PowerPoint 演示文稿</vt:lpstr>
      <vt:lpstr>PowerPoint 演示文稿</vt:lpstr>
      <vt:lpstr>PowerPoint 演示文稿</vt:lpstr>
      <vt:lpstr>PowerPoint 演示文稿</vt:lpstr>
      <vt:lpstr>任务3.3的参考源代码和输出结果</vt:lpstr>
      <vt:lpstr>课后思考题1</vt:lpstr>
      <vt:lpstr>课后思考题2</vt:lpstr>
      <vt:lpstr>PowerPoint 演示文稿</vt:lpstr>
    </vt:vector>
  </TitlesOfParts>
  <Company>清华大学计算机系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程序设计基础</dc:title>
  <dc:creator>xumx</dc:creator>
  <cp:keywords>2022秋</cp:keywords>
  <cp:lastModifiedBy>Mingxing Xu</cp:lastModifiedBy>
  <cp:revision>757</cp:revision>
  <cp:lastPrinted>2019-09-22T04:06:02Z</cp:lastPrinted>
  <dcterms:modified xsi:type="dcterms:W3CDTF">2024-09-22T13:41:14Z</dcterms:modified>
  <cp:category>讲义</cp:category>
</cp:coreProperties>
</file>